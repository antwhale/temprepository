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5"/>
  </p:notesMasterIdLst>
  <p:sldIdLst>
    <p:sldId id="258" r:id="rId2"/>
    <p:sldId id="266" r:id="rId3"/>
    <p:sldId id="330" r:id="rId4"/>
    <p:sldId id="746" r:id="rId5"/>
    <p:sldId id="749" r:id="rId6"/>
    <p:sldId id="784" r:id="rId7"/>
    <p:sldId id="754" r:id="rId8"/>
    <p:sldId id="756" r:id="rId9"/>
    <p:sldId id="758" r:id="rId10"/>
    <p:sldId id="764" r:id="rId11"/>
    <p:sldId id="791" r:id="rId12"/>
    <p:sldId id="792" r:id="rId13"/>
    <p:sldId id="793" r:id="rId14"/>
    <p:sldId id="755" r:id="rId15"/>
    <p:sldId id="788" r:id="rId16"/>
    <p:sldId id="789" r:id="rId17"/>
    <p:sldId id="790" r:id="rId18"/>
    <p:sldId id="786" r:id="rId19"/>
    <p:sldId id="787" r:id="rId20"/>
    <p:sldId id="751" r:id="rId21"/>
    <p:sldId id="271" r:id="rId22"/>
    <p:sldId id="269" r:id="rId23"/>
    <p:sldId id="785" r:id="rId24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EC6"/>
    <a:srgbClr val="0066FF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358" y="114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2026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MediaSession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에 존재하는 미디어 메타데이터를 활용하여 현재 진행중인 미디어 데이터를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를 이용하여 표시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라디오와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DMB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신호를 받아 사용자에게 원활한 서비스 제공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지니뮤직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서버 및 멜론뮤직 서버와의 연동을 통한 서비스 통신 프로토콜 일원화 및 블루링크 사용자 인증 지원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사운드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음성인식 매니저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키 매니저 등의 각종 매니저 및 내장 미디어 서버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연계 개발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 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차량 환경에서 해당 스트리밍 서비스의 편리한 사용을 위한 스트리밍 서비스 특화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HMI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00B4AB-2758-48F2-8597-E2BA7E9E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454" y="3283297"/>
            <a:ext cx="3347878" cy="26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23E8DF2-7A08-D068-BB72-83FF92E2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55128"/>
              </p:ext>
            </p:extLst>
          </p:nvPr>
        </p:nvGraphicFramePr>
        <p:xfrm>
          <a:off x="759723" y="1449287"/>
          <a:ext cx="8221392" cy="395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142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4431572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1612678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355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유지 보수 세부 항목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Radio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필드 성능 육성 및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13014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24723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필드 성능 육성 및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662989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MiniPlayer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MiniPlayer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04817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5694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필드 성능 육성 및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252842"/>
                  </a:ext>
                </a:extLst>
              </a:tr>
              <a:tr h="30199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RearCare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1869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26603"/>
                  </a:ext>
                </a:extLst>
              </a:tr>
              <a:tr h="30199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필드 성능 육성 및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92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2163BAD-3CF6-A74A-A8AA-0C443751E725}"/>
              </a:ext>
            </a:extLst>
          </p:cNvPr>
          <p:cNvSpPr/>
          <p:nvPr/>
        </p:nvSpPr>
        <p:spPr>
          <a:xfrm>
            <a:off x="796802" y="908049"/>
            <a:ext cx="8157410" cy="5247328"/>
          </a:xfrm>
          <a:prstGeom prst="roundRect">
            <a:avLst>
              <a:gd name="adj" fmla="val 167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8EBCD3E-5E4F-69FA-E2DA-1C674FA0038B}"/>
              </a:ext>
            </a:extLst>
          </p:cNvPr>
          <p:cNvCxnSpPr>
            <a:cxnSpLocks/>
            <a:stCxn id="34" idx="2"/>
            <a:endCxn id="5" idx="0"/>
          </p:cNvCxnSpPr>
          <p:nvPr/>
        </p:nvCxnSpPr>
        <p:spPr>
          <a:xfrm>
            <a:off x="5838038" y="1900809"/>
            <a:ext cx="28214" cy="31752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F7095EB-8C02-DB01-2971-DBC1182C84A8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387935" y="1589363"/>
            <a:ext cx="757475" cy="0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540DC8-4A50-4D1A-E96E-A3E2BAF56C0C}"/>
              </a:ext>
            </a:extLst>
          </p:cNvPr>
          <p:cNvSpPr txBox="1"/>
          <p:nvPr/>
        </p:nvSpPr>
        <p:spPr>
          <a:xfrm>
            <a:off x="2484543" y="1310487"/>
            <a:ext cx="564258" cy="2616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C00000"/>
                </a:solidFill>
              </a:rPr>
              <a:t>사양협의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92826E4-3417-1D01-FF09-54523FCDADE1}"/>
              </a:ext>
            </a:extLst>
          </p:cNvPr>
          <p:cNvCxnSpPr>
            <a:cxnSpLocks/>
            <a:stCxn id="39" idx="2"/>
            <a:endCxn id="13" idx="0"/>
          </p:cNvCxnSpPr>
          <p:nvPr/>
        </p:nvCxnSpPr>
        <p:spPr>
          <a:xfrm>
            <a:off x="3768302" y="1881560"/>
            <a:ext cx="1" cy="807623"/>
          </a:xfrm>
          <a:prstGeom prst="straightConnector1">
            <a:avLst/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BBC4E-CA2E-C9D9-2821-B63C6554580E}"/>
              </a:ext>
            </a:extLst>
          </p:cNvPr>
          <p:cNvSpPr txBox="1"/>
          <p:nvPr/>
        </p:nvSpPr>
        <p:spPr>
          <a:xfrm>
            <a:off x="3064060" y="2074934"/>
            <a:ext cx="1401026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요구사항</a:t>
            </a:r>
            <a:r>
              <a:rPr lang="en-US" altLang="ko-KR" sz="1100" b="1" dirty="0">
                <a:solidFill>
                  <a:srgbClr val="C00000"/>
                </a:solidFill>
              </a:rPr>
              <a:t>(New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ko-KR" sz="1100" b="1" dirty="0">
                <a:solidFill>
                  <a:srgbClr val="C00000"/>
                </a:solidFill>
              </a:rPr>
              <a:t>Feature)</a:t>
            </a: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상황 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0D8F0A-1DDF-19F2-D430-A0D175780B95}"/>
              </a:ext>
            </a:extLst>
          </p:cNvPr>
          <p:cNvSpPr/>
          <p:nvPr/>
        </p:nvSpPr>
        <p:spPr>
          <a:xfrm>
            <a:off x="3145411" y="2689183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설계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관리집단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(PM &amp; PL)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6D2EAC-248B-E888-6BC1-1CB89CE97F59}"/>
              </a:ext>
            </a:extLst>
          </p:cNvPr>
          <p:cNvSpPr/>
          <p:nvPr/>
        </p:nvSpPr>
        <p:spPr>
          <a:xfrm>
            <a:off x="5227018" y="3506361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DMB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7427A0F-85EC-660E-EA69-905CE57A7944}"/>
              </a:ext>
            </a:extLst>
          </p:cNvPr>
          <p:cNvSpPr/>
          <p:nvPr/>
        </p:nvSpPr>
        <p:spPr>
          <a:xfrm>
            <a:off x="5215147" y="2748456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Radio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03C8429-86C6-ED14-DC03-3D818598CCD8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4391194" y="3000456"/>
            <a:ext cx="823953" cy="173"/>
          </a:xfrm>
          <a:prstGeom prst="bentConnector3">
            <a:avLst>
              <a:gd name="adj1" fmla="val 50000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45AD3F4-0C52-608A-DDCC-88558829A4C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06253" y="3000629"/>
            <a:ext cx="739158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092677B-2709-16E0-AF57-F790A28A1FF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391194" y="3000629"/>
            <a:ext cx="835824" cy="757732"/>
          </a:xfrm>
          <a:prstGeom prst="bentConnector3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1F8FC0-3013-44AF-537F-CD6DE70275B8}"/>
              </a:ext>
            </a:extLst>
          </p:cNvPr>
          <p:cNvSpPr/>
          <p:nvPr/>
        </p:nvSpPr>
        <p:spPr>
          <a:xfrm>
            <a:off x="7288612" y="3776959"/>
            <a:ext cx="1245783" cy="622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사내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QC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팀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3ED8B2D-78DA-380A-60C3-EDFFB010672D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>
            <a:off x="6472801" y="3758361"/>
            <a:ext cx="815811" cy="330044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480D65F-F1A6-79DE-F2A1-46830FF9E6D6}"/>
              </a:ext>
            </a:extLst>
          </p:cNvPr>
          <p:cNvCxnSpPr>
            <a:cxnSpLocks/>
            <a:stCxn id="16" idx="3"/>
            <a:endCxn id="23" idx="1"/>
          </p:cNvCxnSpPr>
          <p:nvPr/>
        </p:nvCxnSpPr>
        <p:spPr>
          <a:xfrm>
            <a:off x="6460930" y="3000456"/>
            <a:ext cx="827682" cy="1087949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1AED313-BE06-2B43-B9A1-75FD0C04186F}"/>
              </a:ext>
            </a:extLst>
          </p:cNvPr>
          <p:cNvCxnSpPr>
            <a:cxnSpLocks/>
            <a:stCxn id="23" idx="2"/>
            <a:endCxn id="13" idx="2"/>
          </p:cNvCxnSpPr>
          <p:nvPr/>
        </p:nvCxnSpPr>
        <p:spPr>
          <a:xfrm rot="5400000" flipH="1">
            <a:off x="5296016" y="1784363"/>
            <a:ext cx="1087776" cy="4143201"/>
          </a:xfrm>
          <a:prstGeom prst="bentConnector3">
            <a:avLst>
              <a:gd name="adj1" fmla="val -135846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93D8CE5-AD3E-0365-0A84-8BDE6E5FA1BB}"/>
              </a:ext>
            </a:extLst>
          </p:cNvPr>
          <p:cNvSpPr/>
          <p:nvPr/>
        </p:nvSpPr>
        <p:spPr>
          <a:xfrm>
            <a:off x="7288612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모비스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QA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7FEA843-DEB0-EB51-E677-2E71AABDF3B2}"/>
              </a:ext>
            </a:extLst>
          </p:cNvPr>
          <p:cNvCxnSpPr>
            <a:cxnSpLocks/>
            <a:stCxn id="23" idx="0"/>
            <a:endCxn id="29" idx="2"/>
          </p:cNvCxnSpPr>
          <p:nvPr/>
        </p:nvCxnSpPr>
        <p:spPr>
          <a:xfrm flipV="1">
            <a:off x="7911504" y="1900809"/>
            <a:ext cx="0" cy="1876150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708F059-04EC-FACA-C3DB-8B581CC1E9F7}"/>
              </a:ext>
            </a:extLst>
          </p:cNvPr>
          <p:cNvSpPr txBox="1"/>
          <p:nvPr/>
        </p:nvSpPr>
        <p:spPr>
          <a:xfrm>
            <a:off x="7456252" y="2785291"/>
            <a:ext cx="91050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배포 버전 전달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1FA64-AB41-2531-F18B-F2671351C8DC}"/>
              </a:ext>
            </a:extLst>
          </p:cNvPr>
          <p:cNvSpPr txBox="1"/>
          <p:nvPr/>
        </p:nvSpPr>
        <p:spPr>
          <a:xfrm>
            <a:off x="3400694" y="3720893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분석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업무 등록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C2FF6-5118-25F6-4692-A3E871A28F62}"/>
              </a:ext>
            </a:extLst>
          </p:cNvPr>
          <p:cNvSpPr txBox="1"/>
          <p:nvPr/>
        </p:nvSpPr>
        <p:spPr>
          <a:xfrm>
            <a:off x="7247525" y="4771902"/>
            <a:ext cx="1340110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보고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C00000"/>
                </a:solidFill>
              </a:rPr>
              <a:t>(Defect, Improvement)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FC51562-CDEE-48E4-2793-9035351D4F17}"/>
              </a:ext>
            </a:extLst>
          </p:cNvPr>
          <p:cNvSpPr/>
          <p:nvPr/>
        </p:nvSpPr>
        <p:spPr>
          <a:xfrm>
            <a:off x="5215146" y="1277917"/>
            <a:ext cx="1245783" cy="622892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+mn-ea"/>
              </a:rPr>
              <a:t>인포방송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미디어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APP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팀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BF39448-B73F-44FE-1516-ACE0C7277C52}"/>
              </a:ext>
            </a:extLst>
          </p:cNvPr>
          <p:cNvCxnSpPr>
            <a:cxnSpLocks/>
            <a:stCxn id="39" idx="3"/>
            <a:endCxn id="34" idx="1"/>
          </p:cNvCxnSpPr>
          <p:nvPr/>
        </p:nvCxnSpPr>
        <p:spPr>
          <a:xfrm>
            <a:off x="4391194" y="1589363"/>
            <a:ext cx="823952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34FCE54-6411-2C41-C6ED-49EF8162197B}"/>
              </a:ext>
            </a:extLst>
          </p:cNvPr>
          <p:cNvCxnSpPr>
            <a:cxnSpLocks/>
            <a:stCxn id="34" idx="3"/>
            <a:endCxn id="29" idx="1"/>
          </p:cNvCxnSpPr>
          <p:nvPr/>
        </p:nvCxnSpPr>
        <p:spPr>
          <a:xfrm>
            <a:off x="6460929" y="1589363"/>
            <a:ext cx="827683" cy="0"/>
          </a:xfrm>
          <a:prstGeom prst="straightConnector1">
            <a:avLst/>
          </a:prstGeom>
          <a:ln w="12700"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011349-A33E-E007-642C-BA5A76D19DA6}"/>
              </a:ext>
            </a:extLst>
          </p:cNvPr>
          <p:cNvSpPr txBox="1"/>
          <p:nvPr/>
        </p:nvSpPr>
        <p:spPr>
          <a:xfrm>
            <a:off x="5559956" y="2127454"/>
            <a:ext cx="564257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>
                <a:solidFill>
                  <a:schemeClr val="tx1">
                    <a:lumMod val="65000"/>
                    <a:lumOff val="35000"/>
                  </a:schemeClr>
                </a:solidFill>
              </a:rPr>
              <a:t>업무보고</a:t>
            </a:r>
            <a:endParaRPr lang="ko-KR" altLang="en-US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8" name="Picture 2" descr="회장님차 납시오... 미국의 현대기아 그리고 제네시스 - 카가이">
            <a:extLst>
              <a:ext uri="{FF2B5EF4-FFF2-40B4-BE49-F238E27FC236}">
                <a16:creationId xmlns:a16="http://schemas.microsoft.com/office/drawing/2014/main" id="{4D71039E-2572-2EB9-7E1F-2C8CA029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971" y="1195176"/>
            <a:ext cx="1094964" cy="78837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현대모비스 로고">
            <a:extLst>
              <a:ext uri="{FF2B5EF4-FFF2-40B4-BE49-F238E27FC236}">
                <a16:creationId xmlns:a16="http://schemas.microsoft.com/office/drawing/2014/main" id="{41958764-FFC1-2262-668D-BCEFA022A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10" y="1297166"/>
            <a:ext cx="1245784" cy="58439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그림 39" descr="텍스트, 식탁용기구, 플레이트, 접시이(가) 표시된 사진&#10;&#10;자동 생성된 설명">
            <a:extLst>
              <a:ext uri="{FF2B5EF4-FFF2-40B4-BE49-F238E27FC236}">
                <a16:creationId xmlns:a16="http://schemas.microsoft.com/office/drawing/2014/main" id="{AAD44CA3-98B4-739A-C3A8-1FD4F9ADC5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14"/>
          <a:stretch/>
        </p:blipFill>
        <p:spPr>
          <a:xfrm>
            <a:off x="1071946" y="2727389"/>
            <a:ext cx="1443790" cy="406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1B403C6-683A-B4BE-5783-8E9B5C8DD39F}"/>
              </a:ext>
            </a:extLst>
          </p:cNvPr>
          <p:cNvSpPr/>
          <p:nvPr/>
        </p:nvSpPr>
        <p:spPr>
          <a:xfrm>
            <a:off x="5243360" y="5076065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RearCare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E6E2E47-CF5F-E4ED-20FB-53A0855EC5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4287" y="4709635"/>
            <a:ext cx="860217" cy="442451"/>
          </a:xfrm>
          <a:prstGeom prst="bentConnector3">
            <a:avLst>
              <a:gd name="adj1" fmla="val 100619"/>
            </a:avLst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65F625-0F83-7845-D1AB-C663608D56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212639" y="4698697"/>
            <a:ext cx="938634" cy="385627"/>
          </a:xfrm>
          <a:prstGeom prst="bentConnector3">
            <a:avLst>
              <a:gd name="adj1" fmla="val -101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6105E01-5878-12B8-AA43-0B80E46F6CA5}"/>
              </a:ext>
            </a:extLst>
          </p:cNvPr>
          <p:cNvSpPr/>
          <p:nvPr/>
        </p:nvSpPr>
        <p:spPr>
          <a:xfrm>
            <a:off x="5226478" y="4276857"/>
            <a:ext cx="1245783" cy="5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MiniPlyaer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05452CA-B3D8-FAF6-279B-78FA7C907698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H="1">
            <a:off x="4302304" y="3604683"/>
            <a:ext cx="1417200" cy="431148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D9588B61-354B-9930-7C9F-6C18F860EAFA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 flipV="1">
            <a:off x="6472261" y="4088405"/>
            <a:ext cx="816351" cy="440452"/>
          </a:xfrm>
          <a:prstGeom prst="bentConnector3">
            <a:avLst>
              <a:gd name="adj1" fmla="val 50000"/>
            </a:avLst>
          </a:prstGeom>
          <a:ln w="12700"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21B1BE5-AF2E-F6C6-6D92-DE78B62F4698}"/>
              </a:ext>
            </a:extLst>
          </p:cNvPr>
          <p:cNvSpPr txBox="1"/>
          <p:nvPr/>
        </p:nvSpPr>
        <p:spPr>
          <a:xfrm>
            <a:off x="4383172" y="4022564"/>
            <a:ext cx="72776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업무</a:t>
            </a:r>
            <a:r>
              <a:rPr lang="en-US" altLang="ko-KR" sz="1100" b="1" dirty="0">
                <a:solidFill>
                  <a:srgbClr val="C00000"/>
                </a:solidFill>
              </a:rPr>
              <a:t>(Task)</a:t>
            </a: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분석 </a:t>
            </a:r>
            <a:r>
              <a:rPr lang="en-US" altLang="ko-KR" sz="1100" b="1" dirty="0">
                <a:solidFill>
                  <a:srgbClr val="C00000"/>
                </a:solidFill>
              </a:rPr>
              <a:t>&amp; </a:t>
            </a:r>
            <a:r>
              <a:rPr lang="ko-KR" altLang="en-US" sz="1100" b="1" dirty="0">
                <a:solidFill>
                  <a:srgbClr val="C00000"/>
                </a:solidFill>
              </a:rPr>
              <a:t>분배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92D6B7-A251-25C9-2E36-86400266DFBF}"/>
              </a:ext>
            </a:extLst>
          </p:cNvPr>
          <p:cNvSpPr txBox="1"/>
          <p:nvPr/>
        </p:nvSpPr>
        <p:spPr>
          <a:xfrm>
            <a:off x="6717677" y="3930070"/>
            <a:ext cx="314189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이슈 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공유</a:t>
            </a:r>
          </a:p>
        </p:txBody>
      </p: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530081"/>
              </p:ext>
            </p:extLst>
          </p:nvPr>
        </p:nvGraphicFramePr>
        <p:xfrm>
          <a:off x="497458" y="1122392"/>
          <a:ext cx="8911085" cy="48533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0904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118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4980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512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51359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  <a:gridCol w="1112806">
                  <a:extLst>
                    <a:ext uri="{9D8B030D-6E8A-4147-A177-3AD203B41FA5}">
                      <a16:colId xmlns:a16="http://schemas.microsoft.com/office/drawing/2014/main" val="876780081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25.09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25.10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25.11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25.12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1DB3B90-B3F7-8E0C-03F3-ABD95C242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95"/>
              </p:ext>
            </p:extLst>
          </p:nvPr>
        </p:nvGraphicFramePr>
        <p:xfrm>
          <a:off x="681038" y="639313"/>
          <a:ext cx="8656953" cy="582126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1" i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AVNG5WIDE-430164</a:t>
                      </a:r>
                      <a:r>
                        <a:rPr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다른 기기에서 같은 아이디로 스트리밍 사용 중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헤드유닛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날씨 브리핑 중단됨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C9506D5A-2364-509C-9753-42AA691AC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514061"/>
              </p:ext>
            </p:extLst>
          </p:nvPr>
        </p:nvGraphicFramePr>
        <p:xfrm>
          <a:off x="575310" y="713375"/>
          <a:ext cx="8769985" cy="29517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[AVNG5WIDE-466338]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지도 화면에서 뮤직 스트리밍 곡 변경 동작 중 테마 변경 시 간헐적으로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빈화면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표시되며 뮤직 스트리밍 타이틀 미표시됨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28575" marB="28575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25-09-22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0C2-5DD7-6974-6D50-F9CDA1D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FAFB-7E34-15A4-EA27-EB04ACF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AF863B-5768-9AF5-0BFD-EC9CC493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08EA6A4-244B-503D-91D7-C6A396268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250113"/>
              </p:ext>
            </p:extLst>
          </p:nvPr>
        </p:nvGraphicFramePr>
        <p:xfrm>
          <a:off x="575310" y="680720"/>
          <a:ext cx="8769985" cy="29860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[AVNG5WIDE-467414]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CLONE - [25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 국내 업데이트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][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스트리밍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멜론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지니 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재생중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상단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출력 후 동의함 화면 진입 시 상단 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OSD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즉시 소거됨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25-10-15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24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344096"/>
              </p:ext>
            </p:extLst>
          </p:nvPr>
        </p:nvGraphicFramePr>
        <p:xfrm>
          <a:off x="575310" y="966470"/>
          <a:ext cx="8769985" cy="24798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[AVNG5WIDE-471908]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인치 차종 스트리밍 재생 중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SWRC[PWR]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롱키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입력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 버튼 입력 시 타 미디어와 동작 상이함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25-12-10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5CAE-BDFB-4E5C-DB44-667FC9A7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81F9C-BD5D-7E5C-5215-9A2D3FEB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4280D-49F6-B5B4-DE2C-15FB19B3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E05D2AA-EE42-3383-EE6E-2896C12C2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168729"/>
              </p:ext>
            </p:extLst>
          </p:nvPr>
        </p:nvGraphicFramePr>
        <p:xfrm>
          <a:off x="575310" y="672556"/>
          <a:ext cx="8769985" cy="35048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[TCI-70745]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코드 분석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243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2B86F84A-A274-22B1-D82F-E787B1653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56030"/>
              </p:ext>
            </p:extLst>
          </p:nvPr>
        </p:nvGraphicFramePr>
        <p:xfrm>
          <a:off x="575310" y="672556"/>
          <a:ext cx="8769985" cy="35962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[TCI-71012]</a:t>
                      </a:r>
                      <a:r>
                        <a:rPr lang="ko-KR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093E996C-B31E-FC53-0DEB-9C0D735E1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839966"/>
              </p:ext>
            </p:extLst>
          </p:nvPr>
        </p:nvGraphicFramePr>
        <p:xfrm>
          <a:off x="575310" y="672556"/>
          <a:ext cx="8769985" cy="35505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[TCI-71012]</a:t>
                      </a:r>
                      <a:r>
                        <a:rPr lang="ko-KR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[PBV IVI][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BC76-77E9-E6AE-C78A-DF2958B9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96C9-CBF5-865A-C1AD-A2B75961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40CC63-09BA-4969-EC00-E9466BE0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5609ADEA-50BC-B826-E1C5-661B48BF3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849018"/>
              </p:ext>
            </p:extLst>
          </p:nvPr>
        </p:nvGraphicFramePr>
        <p:xfrm>
          <a:off x="575310" y="672556"/>
          <a:ext cx="8769985" cy="35505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[TCI-71012]</a:t>
                      </a:r>
                      <a:r>
                        <a:rPr lang="ko-KR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[PBV IVI][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26-01-05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323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937A5-C2BD-CE75-BB9E-12C1845C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E4387-BAA0-7621-F171-62B4804F3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827247-59B6-B7FF-1651-D1D62DBB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C96B3543-96C6-1B88-9717-D1C5FE588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066487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9B80AC-A00C-00F6-80AF-AAF9601CFA2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A9A0DB5-BAF9-7000-C300-BD10CEC8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02" y="2641648"/>
            <a:ext cx="3865279" cy="1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15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03D61-3709-8F41-EC37-9D1403BA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8373F-2F88-304C-B944-09767126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47C348-A9DF-6262-C618-D6379827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87A46E2-B0FF-A02F-92DA-91CB2D0C9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33948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1" i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3191F1-4D5A-1036-16C2-5D2E14D547E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2E0ABD-C8EA-7471-3661-26442E3B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087" y="2762418"/>
            <a:ext cx="3865279" cy="1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83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FE63-A1A2-1A8F-DC92-63B2B0CA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7B9E2-F2DB-082D-6640-72F7FDD9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1F0C59-4BFD-7D8B-917C-B078D35E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2295432-4F19-8EBC-1D2C-AA094DC38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04731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0B4F16-3A06-D53B-B2C5-988AE44DD61E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1A1CF1-8740-EE8C-647D-0D42FCD7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75" y="2667528"/>
            <a:ext cx="3865279" cy="1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875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AD3A-7CA9-629B-AE90-34603872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BA293-0E8A-CFC5-D180-D5A9AC27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BDB576-84F5-ABD2-E071-A3F0DD41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85FECA08-EA5B-91C7-BC72-EC2685A66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63320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12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AVNG5WIDE-464582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[SW V&amp;V][25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차국내업데이트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][LID][AX1EV WIDE][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Musicstreaming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LID1112704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시 브랜드 네임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HMI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상이하게 표시함</a:t>
                      </a:r>
                    </a:p>
                    <a:p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25-12-01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EE2253-FB80-9DA4-BABF-64DEA2B52BAF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7815A5-09E8-4B8E-DC7A-399471427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02" y="2745166"/>
            <a:ext cx="3865279" cy="1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92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236118"/>
              </p:ext>
            </p:extLst>
          </p:nvPr>
        </p:nvGraphicFramePr>
        <p:xfrm>
          <a:off x="436389" y="776689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[REQ_01]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151866"/>
              </p:ext>
            </p:extLst>
          </p:nvPr>
        </p:nvGraphicFramePr>
        <p:xfrm>
          <a:off x="436388" y="4082809"/>
          <a:ext cx="8769985" cy="1858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https://confluence.mobis.co.kr/pages/viewpage.action?pageId=603374613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06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810669"/>
              </p:ext>
            </p:extLst>
          </p:nvPr>
        </p:nvGraphicFramePr>
        <p:xfrm>
          <a:off x="436389" y="916915"/>
          <a:ext cx="8769985" cy="9591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페이지에 첨부완료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AVNG5WIDE-464582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935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27817"/>
              </p:ext>
            </p:extLst>
          </p:nvPr>
        </p:nvGraphicFramePr>
        <p:xfrm>
          <a:off x="408373" y="1168372"/>
          <a:ext cx="9086377" cy="5332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hlinkClick r:id="rId3"/>
                        </a:rPr>
                        <a:t>Bitbucket</a:t>
                      </a:r>
                      <a:endParaRPr lang="en-US" altLang="ko-KR" sz="1000" dirty="0"/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81C4366-99AC-0C67-E785-46EFCD429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456447"/>
              </p:ext>
            </p:extLst>
          </p:nvPr>
        </p:nvGraphicFramePr>
        <p:xfrm>
          <a:off x="524238" y="1052653"/>
          <a:ext cx="8948920" cy="5498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912">
                  <a:extLst>
                    <a:ext uri="{9D8B030D-6E8A-4147-A177-3AD203B41FA5}">
                      <a16:colId xmlns:a16="http://schemas.microsoft.com/office/drawing/2014/main" val="2263447215"/>
                    </a:ext>
                  </a:extLst>
                </a:gridCol>
                <a:gridCol w="865712">
                  <a:extLst>
                    <a:ext uri="{9D8B030D-6E8A-4147-A177-3AD203B41FA5}">
                      <a16:colId xmlns:a16="http://schemas.microsoft.com/office/drawing/2014/main" val="2877506580"/>
                    </a:ext>
                  </a:extLst>
                </a:gridCol>
                <a:gridCol w="299402">
                  <a:extLst>
                    <a:ext uri="{9D8B030D-6E8A-4147-A177-3AD203B41FA5}">
                      <a16:colId xmlns:a16="http://schemas.microsoft.com/office/drawing/2014/main" val="1293115104"/>
                    </a:ext>
                  </a:extLst>
                </a:gridCol>
                <a:gridCol w="863962">
                  <a:extLst>
                    <a:ext uri="{9D8B030D-6E8A-4147-A177-3AD203B41FA5}">
                      <a16:colId xmlns:a16="http://schemas.microsoft.com/office/drawing/2014/main" val="1378031717"/>
                    </a:ext>
                  </a:extLst>
                </a:gridCol>
                <a:gridCol w="478825">
                  <a:extLst>
                    <a:ext uri="{9D8B030D-6E8A-4147-A177-3AD203B41FA5}">
                      <a16:colId xmlns:a16="http://schemas.microsoft.com/office/drawing/2014/main" val="2908318217"/>
                    </a:ext>
                  </a:extLst>
                </a:gridCol>
                <a:gridCol w="478825">
                  <a:extLst>
                    <a:ext uri="{9D8B030D-6E8A-4147-A177-3AD203B41FA5}">
                      <a16:colId xmlns:a16="http://schemas.microsoft.com/office/drawing/2014/main" val="4120229925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4067570310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3672960333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3739643477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1062365674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2305287306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3947823901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3197718636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287389542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2310699527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2206111332"/>
                    </a:ext>
                  </a:extLst>
                </a:gridCol>
                <a:gridCol w="558138">
                  <a:extLst>
                    <a:ext uri="{9D8B030D-6E8A-4147-A177-3AD203B41FA5}">
                      <a16:colId xmlns:a16="http://schemas.microsoft.com/office/drawing/2014/main" val="195121072"/>
                    </a:ext>
                  </a:extLst>
                </a:gridCol>
              </a:tblGrid>
              <a:tr h="121951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67312"/>
                  </a:ext>
                </a:extLst>
              </a:tr>
              <a:tr h="12195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568725"/>
                  </a:ext>
                </a:extLst>
              </a:tr>
              <a:tr h="188885">
                <a:tc rowSpan="21"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PBV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IVI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DMB </a:t>
                      </a:r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47247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76153"/>
                  </a:ext>
                </a:extLst>
              </a:tr>
              <a:tr h="1788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778806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176588"/>
                  </a:ext>
                </a:extLst>
              </a:tr>
              <a:tr h="1810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474798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Radio </a:t>
                      </a:r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446279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10573"/>
                  </a:ext>
                </a:extLst>
              </a:tr>
              <a:tr h="167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565656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074753"/>
                  </a:ext>
                </a:extLst>
              </a:tr>
              <a:tr h="1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447715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MiniPlayer</a:t>
                      </a:r>
                      <a:r>
                        <a:rPr lang="ko-KR" altLang="en-US" sz="800" dirty="0"/>
                        <a:t> 유지보수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630495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809049"/>
                  </a:ext>
                </a:extLst>
              </a:tr>
              <a:tr h="1871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034264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409898"/>
                  </a:ext>
                </a:extLst>
              </a:tr>
              <a:tr h="204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982838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RearCare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유지보수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749770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763442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4445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024049"/>
                  </a:ext>
                </a:extLst>
              </a:tr>
              <a:tr h="2089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756132"/>
                  </a:ext>
                </a:extLst>
              </a:tr>
              <a:tr h="283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인건비 소계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074507"/>
                  </a:ext>
                </a:extLst>
              </a:tr>
              <a:tr h="188885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 등급별 투입인력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     -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065866"/>
                  </a:ext>
                </a:extLst>
              </a:tr>
              <a:tr h="18888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304429"/>
                  </a:ext>
                </a:extLst>
              </a:tr>
              <a:tr h="2833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849851"/>
                  </a:ext>
                </a:extLst>
              </a:tr>
              <a:tr h="18888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676528"/>
                  </a:ext>
                </a:extLst>
              </a:tr>
              <a:tr h="2833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8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11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988530E-9AA5-8450-3184-8A21322DB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71649"/>
              </p:ext>
            </p:extLst>
          </p:nvPr>
        </p:nvGraphicFramePr>
        <p:xfrm>
          <a:off x="478540" y="990462"/>
          <a:ext cx="8948920" cy="5498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912">
                  <a:extLst>
                    <a:ext uri="{9D8B030D-6E8A-4147-A177-3AD203B41FA5}">
                      <a16:colId xmlns:a16="http://schemas.microsoft.com/office/drawing/2014/main" val="2635576205"/>
                    </a:ext>
                  </a:extLst>
                </a:gridCol>
                <a:gridCol w="865712">
                  <a:extLst>
                    <a:ext uri="{9D8B030D-6E8A-4147-A177-3AD203B41FA5}">
                      <a16:colId xmlns:a16="http://schemas.microsoft.com/office/drawing/2014/main" val="2477363262"/>
                    </a:ext>
                  </a:extLst>
                </a:gridCol>
                <a:gridCol w="299402">
                  <a:extLst>
                    <a:ext uri="{9D8B030D-6E8A-4147-A177-3AD203B41FA5}">
                      <a16:colId xmlns:a16="http://schemas.microsoft.com/office/drawing/2014/main" val="1859385112"/>
                    </a:ext>
                  </a:extLst>
                </a:gridCol>
                <a:gridCol w="863962">
                  <a:extLst>
                    <a:ext uri="{9D8B030D-6E8A-4147-A177-3AD203B41FA5}">
                      <a16:colId xmlns:a16="http://schemas.microsoft.com/office/drawing/2014/main" val="2774247434"/>
                    </a:ext>
                  </a:extLst>
                </a:gridCol>
                <a:gridCol w="478825">
                  <a:extLst>
                    <a:ext uri="{9D8B030D-6E8A-4147-A177-3AD203B41FA5}">
                      <a16:colId xmlns:a16="http://schemas.microsoft.com/office/drawing/2014/main" val="2347027067"/>
                    </a:ext>
                  </a:extLst>
                </a:gridCol>
                <a:gridCol w="478825">
                  <a:extLst>
                    <a:ext uri="{9D8B030D-6E8A-4147-A177-3AD203B41FA5}">
                      <a16:colId xmlns:a16="http://schemas.microsoft.com/office/drawing/2014/main" val="2940699234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3781884129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2666352977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1234470632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623965440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526793783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2819660210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547302799"/>
                    </a:ext>
                  </a:extLst>
                </a:gridCol>
                <a:gridCol w="463308">
                  <a:extLst>
                    <a:ext uri="{9D8B030D-6E8A-4147-A177-3AD203B41FA5}">
                      <a16:colId xmlns:a16="http://schemas.microsoft.com/office/drawing/2014/main" val="3689243993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2015741455"/>
                    </a:ext>
                  </a:extLst>
                </a:gridCol>
                <a:gridCol w="478824">
                  <a:extLst>
                    <a:ext uri="{9D8B030D-6E8A-4147-A177-3AD203B41FA5}">
                      <a16:colId xmlns:a16="http://schemas.microsoft.com/office/drawing/2014/main" val="4259271809"/>
                    </a:ext>
                  </a:extLst>
                </a:gridCol>
                <a:gridCol w="558138">
                  <a:extLst>
                    <a:ext uri="{9D8B030D-6E8A-4147-A177-3AD203B41FA5}">
                      <a16:colId xmlns:a16="http://schemas.microsoft.com/office/drawing/2014/main" val="2608325764"/>
                    </a:ext>
                  </a:extLst>
                </a:gridCol>
              </a:tblGrid>
              <a:tr h="121951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구     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인력 등급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투입 일정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212"/>
                  </a:ext>
                </a:extLst>
              </a:tr>
              <a:tr h="12195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5032" marR="5032" marT="503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11666"/>
                  </a:ext>
                </a:extLst>
              </a:tr>
              <a:tr h="188885">
                <a:tc rowSpan="21"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PBV</a:t>
                      </a:r>
                    </a:p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IVI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ko-KR" altLang="en-US" sz="900" u="none" strike="noStrike" dirty="0">
                          <a:effectLst/>
                        </a:rPr>
                        <a:t>유지보수</a:t>
                      </a:r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DMB </a:t>
                      </a:r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6490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57220"/>
                  </a:ext>
                </a:extLst>
              </a:tr>
              <a:tr h="1788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8808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663022"/>
                  </a:ext>
                </a:extLst>
              </a:tr>
              <a:tr h="1810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1.48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09335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Radio </a:t>
                      </a:r>
                      <a:r>
                        <a:rPr lang="ko-KR" altLang="en-US" sz="800" u="none" strike="noStrike" dirty="0">
                          <a:effectLst/>
                        </a:rPr>
                        <a:t>유지보수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266222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11238"/>
                  </a:ext>
                </a:extLst>
              </a:tr>
              <a:tr h="167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19754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53369"/>
                  </a:ext>
                </a:extLst>
              </a:tr>
              <a:tr h="1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0.25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1.53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868699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MiniPlayer</a:t>
                      </a:r>
                      <a:r>
                        <a:rPr lang="ko-KR" altLang="en-US" sz="800" dirty="0"/>
                        <a:t> 유지보수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726573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32616"/>
                  </a:ext>
                </a:extLst>
              </a:tr>
              <a:tr h="1871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86186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10408"/>
                  </a:ext>
                </a:extLst>
              </a:tr>
              <a:tr h="204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0.02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0.01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0.37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0.1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569654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/>
                        <a:t>RearCare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유지보수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786707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624755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98932"/>
                  </a:ext>
                </a:extLst>
              </a:tr>
              <a:tr h="18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070507"/>
                  </a:ext>
                </a:extLst>
              </a:tr>
              <a:tr h="2089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합계 </a:t>
                      </a:r>
                      <a:endParaRPr lang="ko-KR" altLang="en-US" sz="800" b="1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263600"/>
                  </a:ext>
                </a:extLst>
              </a:tr>
              <a:tr h="2833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인건비 소계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0.7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7213"/>
                  </a:ext>
                </a:extLst>
              </a:tr>
              <a:tr h="188885"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유지보수 등급별 투입인력</a:t>
                      </a:r>
                      <a:endParaRPr lang="ko-KR" altLang="en-US" sz="800" b="1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특급 개발자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     -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004363"/>
                  </a:ext>
                </a:extLst>
              </a:tr>
              <a:tr h="18888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고급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429523"/>
                  </a:ext>
                </a:extLst>
              </a:tr>
              <a:tr h="2833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중급 개발자 </a:t>
                      </a:r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727608"/>
                  </a:ext>
                </a:extLst>
              </a:tr>
              <a:tr h="18888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초급 개발자 </a:t>
                      </a:r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   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86095"/>
                  </a:ext>
                </a:extLst>
              </a:tr>
              <a:tr h="2833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투입인력 총합</a:t>
                      </a:r>
                      <a:endParaRPr lang="ko-KR" altLang="en-US" sz="8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합계 </a:t>
                      </a:r>
                      <a:endParaRPr lang="ko-KR" altLang="en-US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0.7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0.52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0.46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0.61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0.83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0.5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u="none" strike="noStrike" dirty="0"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800" b="1" u="none" strike="noStrike" dirty="0">
                          <a:effectLst/>
                          <a:latin typeface="+mj-ea"/>
                          <a:ea typeface="+mj-ea"/>
                        </a:rPr>
                        <a:t>- </a:t>
                      </a:r>
                      <a:endParaRPr lang="en-US" altLang="ko-KR" sz="800" b="1" i="0" u="none" strike="noStrike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ko-KR" altLang="en-US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3.62 </a:t>
                      </a:r>
                      <a:endParaRPr lang="en-US" altLang="ko-KR" sz="800" b="1" u="none" strike="noStrike" kern="12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646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20229</TotalTime>
  <Words>2240</Words>
  <Application>Microsoft Office PowerPoint</Application>
  <PresentationFormat>A4 용지(210x297mm)</PresentationFormat>
  <Paragraphs>780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Droid Sans Mono</vt:lpstr>
      <vt:lpstr>Noto Sans CJK KR</vt:lpstr>
      <vt:lpstr>Noto Serif CJK KR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내역(Radio)</vt:lpstr>
      <vt:lpstr>5. 유지보수 내역(DMB)</vt:lpstr>
      <vt:lpstr>5. 유지보수 내역(MiniPlayer)</vt:lpstr>
      <vt:lpstr>5. 유지보수 내역(RearCareMode)</vt:lpstr>
      <vt:lpstr>5. 유지보수 내역(Radio)</vt:lpstr>
      <vt:lpstr>5. 유지보수 내역(DMB)</vt:lpstr>
      <vt:lpstr>5. 유지보수 내역(MiniPlayer)</vt:lpstr>
      <vt:lpstr>5. 유지보수 내역(RearCareMode)</vt:lpstr>
      <vt:lpstr>5. 유지보수 내역(Radio)</vt:lpstr>
      <vt:lpstr>5. 유지보수 내역(DMB)</vt:lpstr>
      <vt:lpstr>5. 유지보수 내역(MiniPlayer)</vt:lpstr>
      <vt:lpstr>5. 유지보수 내역(RearCareMode)</vt:lpstr>
      <vt:lpstr>6. 유지보수 요청사항 처리</vt:lpstr>
      <vt:lpstr>6. 유지보수 요청사항 처리</vt:lpstr>
      <vt:lpstr>7. 용역 일정</vt:lpstr>
      <vt:lpstr>8. 최종개발 산출물</vt:lpstr>
      <vt:lpstr>9-1. 인력 투입(계약공수)</vt:lpstr>
      <vt:lpstr>9-2. 인력 투입(실제투입공수)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477</cp:revision>
  <cp:lastPrinted>2018-07-16T02:44:16Z</cp:lastPrinted>
  <dcterms:created xsi:type="dcterms:W3CDTF">2017-09-07T02:36:35Z</dcterms:created>
  <dcterms:modified xsi:type="dcterms:W3CDTF">2026-06-02T11:49:05Z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