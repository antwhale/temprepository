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7" r:id="rId2"/>
    <p:sldMasterId id="2147483652" r:id="rId3"/>
  </p:sldMasterIdLst>
  <p:notesMasterIdLst>
    <p:notesMasterId r:id="rId23"/>
  </p:notesMasterIdLst>
  <p:sldIdLst>
    <p:sldId id="363" r:id="rId4"/>
    <p:sldId id="343" r:id="rId5"/>
    <p:sldId id="362" r:id="rId6"/>
    <p:sldId id="366" r:id="rId7"/>
    <p:sldId id="367" r:id="rId8"/>
    <p:sldId id="368" r:id="rId9"/>
    <p:sldId id="369" r:id="rId10"/>
    <p:sldId id="264" r:id="rId11"/>
    <p:sldId id="356" r:id="rId12"/>
    <p:sldId id="365" r:id="rId13"/>
    <p:sldId id="342" r:id="rId14"/>
    <p:sldId id="349" r:id="rId15"/>
    <p:sldId id="376" r:id="rId16"/>
    <p:sldId id="373" r:id="rId17"/>
    <p:sldId id="374" r:id="rId18"/>
    <p:sldId id="375" r:id="rId19"/>
    <p:sldId id="370" r:id="rId20"/>
    <p:sldId id="371" r:id="rId21"/>
    <p:sldId id="372" r:id="rId22"/>
  </p:sldIdLst>
  <p:sldSz cx="9906000" cy="6858000" type="A4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5pPr>
    <a:lvl6pPr marL="22860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6pPr>
    <a:lvl7pPr marL="27432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7pPr>
    <a:lvl8pPr marL="32004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8pPr>
    <a:lvl9pPr marL="36576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D9D9D9"/>
    <a:srgbClr val="333399"/>
    <a:srgbClr val="000068"/>
    <a:srgbClr val="004200"/>
    <a:srgbClr val="002E00"/>
    <a:srgbClr val="006600"/>
    <a:srgbClr val="A2D668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97" autoAdjust="0"/>
    <p:restoredTop sz="90482" autoAdjust="0"/>
  </p:normalViewPr>
  <p:slideViewPr>
    <p:cSldViewPr>
      <p:cViewPr varScale="1">
        <p:scale>
          <a:sx n="165" d="100"/>
          <a:sy n="165" d="100"/>
        </p:scale>
        <p:origin x="1476" y="156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342" y="-10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6913" y="739775"/>
            <a:ext cx="5343525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6300"/>
            <a:ext cx="5389563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013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1013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65BCA0B-FEA2-4C6D-8135-B5F232A2F2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304506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E9D400E2-54F6-45F6-B69D-16D28510DA4D}" type="slidenum">
              <a:rPr lang="en-US" altLang="ko-KR" sz="1200" u="none" smtClean="0">
                <a:solidFill>
                  <a:schemeClr val="tx1"/>
                </a:solidFill>
                <a:latin typeface="굴림" charset="-127"/>
                <a:ea typeface="굴림" charset="-127"/>
              </a:rPr>
              <a:pPr eaLnBrk="1" hangingPunct="1"/>
              <a:t>3</a:t>
            </a:fld>
            <a:endParaRPr lang="en-US" altLang="ko-KR" sz="1200" u="none">
              <a:solidFill>
                <a:schemeClr val="tx1"/>
              </a:solidFill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BF4C3-4E3A-B369-6A52-2B0B64C3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ECA684A-D1B1-95A0-AF57-D56F4D7D8B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9F317C81-DA51-0633-335B-9132FAAC0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11FAFFB5-0200-BB05-9E6C-4203FF3EB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E9D400E2-54F6-45F6-B69D-16D28510DA4D}" type="slidenum">
              <a:rPr lang="en-US" altLang="ko-KR" sz="1200" u="none" smtClean="0">
                <a:solidFill>
                  <a:schemeClr val="tx1"/>
                </a:solidFill>
                <a:latin typeface="굴림" charset="-127"/>
                <a:ea typeface="굴림" charset="-127"/>
              </a:rPr>
              <a:pPr eaLnBrk="1" hangingPunct="1"/>
              <a:t>4</a:t>
            </a:fld>
            <a:endParaRPr lang="en-US" altLang="ko-KR" sz="1200" u="none">
              <a:solidFill>
                <a:schemeClr val="tx1"/>
              </a:solidFill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906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B951F-3829-D4DE-0EDA-C4F402361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FFA0FAB1-FFAE-D27D-6363-D3FC7015CA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9CE031C1-F84A-1DFF-088F-6D85AD6E5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ED12035E-D6CA-9220-E2CF-F6C520B72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E9D400E2-54F6-45F6-B69D-16D28510DA4D}" type="slidenum">
              <a:rPr lang="en-US" altLang="ko-KR" sz="1200" u="none" smtClean="0">
                <a:solidFill>
                  <a:schemeClr val="tx1"/>
                </a:solidFill>
                <a:latin typeface="굴림" charset="-127"/>
                <a:ea typeface="굴림" charset="-127"/>
              </a:rPr>
              <a:pPr eaLnBrk="1" hangingPunct="1"/>
              <a:t>5</a:t>
            </a:fld>
            <a:endParaRPr lang="en-US" altLang="ko-KR" sz="1200" u="none">
              <a:solidFill>
                <a:schemeClr val="tx1"/>
              </a:solidFill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2716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0DA8F-5C5B-1E10-DAB4-10666713C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4E50F59C-5D23-BFA3-AE9C-916920204D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B3C40B3E-566E-3B0D-725B-BAA599EAA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E650EB64-52C0-49D1-B608-7AC997181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E9D400E2-54F6-45F6-B69D-16D28510DA4D}" type="slidenum">
              <a:rPr lang="en-US" altLang="ko-KR" sz="1200" u="none" smtClean="0">
                <a:solidFill>
                  <a:schemeClr val="tx1"/>
                </a:solidFill>
                <a:latin typeface="굴림" charset="-127"/>
                <a:ea typeface="굴림" charset="-127"/>
              </a:rPr>
              <a:pPr eaLnBrk="1" hangingPunct="1"/>
              <a:t>6</a:t>
            </a:fld>
            <a:endParaRPr lang="en-US" altLang="ko-KR" sz="1200" u="none">
              <a:solidFill>
                <a:schemeClr val="tx1"/>
              </a:solidFill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7839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F61F6-3E23-D53B-A5E0-EF8675295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7CE1F424-2665-BE2E-5458-278C73C214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1D8ABD88-072A-3476-D641-5EC64528D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BCA93B21-096A-FBC8-C388-C662E5250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E9D400E2-54F6-45F6-B69D-16D28510DA4D}" type="slidenum">
              <a:rPr lang="en-US" altLang="ko-KR" sz="1200" u="none" smtClean="0">
                <a:solidFill>
                  <a:schemeClr val="tx1"/>
                </a:solidFill>
                <a:latin typeface="굴림" charset="-127"/>
                <a:ea typeface="굴림" charset="-127"/>
              </a:rPr>
              <a:pPr eaLnBrk="1" hangingPunct="1"/>
              <a:t>7</a:t>
            </a:fld>
            <a:endParaRPr lang="en-US" altLang="ko-KR" sz="1200" u="none">
              <a:solidFill>
                <a:schemeClr val="tx1"/>
              </a:solidFill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7517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marL="0" marR="0" lvl="0" indent="0" algn="r" defTabSz="9080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D400E2-54F6-45F6-B69D-16D28510DA4D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rPr>
              <a:pPr marL="0" marR="0" lvl="0" indent="0" algn="r" defTabSz="90805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charset="-127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91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DB99094-17D2-4010-A0AE-C527454DDB8A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11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12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1869F-D377-8B29-595F-98ADB449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D4D6D202-26DA-64E7-C140-B6799E2E27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6B49B2DA-DF29-464D-5752-CF0310F14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FC9DB84A-ED9E-5382-1F55-FB60CD829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13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14751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12797-7F4F-34A6-A7D2-F15D090A1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6969D338-2065-D3E5-BE6B-77C659ECD4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C63F6520-AD85-8D37-8D56-8771FD16C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DF7D163A-35B8-0DB9-03A0-9C64BC5875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14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4459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7478E-9B43-C02D-388E-7FFB47AD9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581A9E5B-BCC4-BC51-E098-B1A31EDEFB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CC7F16D3-AE09-8220-01B1-DB6B02C98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357A374F-E672-2ECD-6F70-B501D0DAF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15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1044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CEAA0-75BC-BB0D-9D7B-B5254C583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5452F93B-4A47-198E-101C-A27BD58F32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76B28D87-C251-6786-8CA3-FFDC35712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93E78178-3443-51A5-AD1C-ECB780AC0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16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4004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59522-9367-1D29-69D2-03DE4C49B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E67C817E-3483-05C8-B72E-C01187ADBC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2351230D-57EC-D509-05AF-062B46590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A5A04AE8-56CE-0837-DB3B-546AF40C7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17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50909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9A461-A236-D616-CFB0-807EDC350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CFF71ED9-4C99-ECF9-D968-5A36194117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65BA0127-5E3A-3B94-CD87-3C10E182F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8AFE464B-87BE-00EC-D429-3CCBB58CA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18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63767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B7661-4C05-F2F8-6B0E-7954AE0C9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6482F117-E6C5-0AFA-12B0-56AEFED8AC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57260996-992E-4AB4-A289-739CCF22D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C93A744B-C4F1-2724-5242-E0DD0182C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19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926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7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9271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17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125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1676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표지 복사"/>
          <p:cNvPicPr>
            <a:picLocks noChangeAspect="1" noChangeArrowheads="1"/>
          </p:cNvPicPr>
          <p:nvPr/>
        </p:nvPicPr>
        <p:blipFill>
          <a:blip r:embed="rId4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"/>
          <a:stretch>
            <a:fillRect/>
          </a:stretch>
        </p:blipFill>
        <p:spPr bwMode="auto">
          <a:xfrm>
            <a:off x="0" y="466725"/>
            <a:ext cx="9906000" cy="66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4" r:id="rId1"/>
    <p:sldLayoutId id="2147484372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9A77F8F-9608-4520-8017-5E4B26AB054F}" type="datetimeFigureOut">
              <a:rPr lang="ko-KR" altLang="en-US"/>
              <a:pPr>
                <a:defRPr/>
              </a:pPr>
              <a:t>2025-09-10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7E7F788-7958-4CC9-BA86-4417EA3464E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1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5" descr="표지 복사"/>
          <p:cNvPicPr>
            <a:picLocks noChangeAspect="1" noChangeArrowheads="1"/>
          </p:cNvPicPr>
          <p:nvPr/>
        </p:nvPicPr>
        <p:blipFill>
          <a:blip r:embed="rId4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"/>
          <a:stretch>
            <a:fillRect/>
          </a:stretch>
        </p:blipFill>
        <p:spPr bwMode="auto">
          <a:xfrm>
            <a:off x="0" y="466725"/>
            <a:ext cx="9906000" cy="66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7" descr="슬로건단독형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6581775"/>
            <a:ext cx="15875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33" descr="logo0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3"/>
          <a:stretch>
            <a:fillRect/>
          </a:stretch>
        </p:blipFill>
        <p:spPr bwMode="auto">
          <a:xfrm>
            <a:off x="8599488" y="19050"/>
            <a:ext cx="1249362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5" r:id="rId1"/>
    <p:sldLayoutId id="2147484356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2480" y="692696"/>
            <a:ext cx="9505055" cy="588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/>
          <a:p>
            <a:pPr marL="361950" indent="-361950">
              <a:spcBef>
                <a:spcPct val="20000"/>
              </a:spcBef>
            </a:pP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1. </a:t>
            </a:r>
            <a:r>
              <a:rPr lang="ko-KR" altLang="en-US" sz="2000" u="none" dirty="0">
                <a:latin typeface="현대하모니 M" pitchFamily="18" charset="-127"/>
                <a:ea typeface="현대하모니 M" pitchFamily="18" charset="-127"/>
              </a:rPr>
              <a:t>표지 제목은 </a:t>
            </a: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“</a:t>
            </a:r>
            <a:r>
              <a:rPr lang="ko-KR" altLang="en-US" sz="2000" u="none" dirty="0">
                <a:latin typeface="현대하모니 M" pitchFamily="18" charset="-127"/>
                <a:ea typeface="현대하모니 M" pitchFamily="18" charset="-127"/>
              </a:rPr>
              <a:t>용역과제 계획서</a:t>
            </a: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”</a:t>
            </a:r>
            <a:r>
              <a:rPr lang="ko-KR" altLang="en-US" sz="2000" u="none" dirty="0">
                <a:latin typeface="현대하모니 M" pitchFamily="18" charset="-127"/>
                <a:ea typeface="현대하모니 M" pitchFamily="18" charset="-127"/>
              </a:rPr>
              <a:t>로  함</a:t>
            </a:r>
            <a:endParaRPr lang="en-US" altLang="ko-KR" sz="2000" u="none" dirty="0">
              <a:latin typeface="현대하모니 M" pitchFamily="18" charset="-127"/>
              <a:ea typeface="현대하모니 M" pitchFamily="18" charset="-127"/>
            </a:endParaRPr>
          </a:p>
          <a:p>
            <a:pPr marL="361950" indent="-361950">
              <a:spcBef>
                <a:spcPct val="20000"/>
              </a:spcBef>
            </a:pP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2. </a:t>
            </a:r>
            <a:r>
              <a:rPr lang="ko-KR" altLang="en-US" sz="2000" dirty="0">
                <a:latin typeface="현대하모니 M" pitchFamily="18" charset="-127"/>
                <a:ea typeface="현대하모니 M" pitchFamily="18" charset="-127"/>
              </a:rPr>
              <a:t>요구사양</a:t>
            </a:r>
            <a:r>
              <a:rPr lang="en-US" altLang="ko-KR" sz="2000" dirty="0">
                <a:latin typeface="현대하모니 M" pitchFamily="18" charset="-127"/>
                <a:ea typeface="현대하모니 M" pitchFamily="18" charset="-127"/>
              </a:rPr>
              <a:t>, </a:t>
            </a:r>
            <a:r>
              <a:rPr lang="ko-KR" altLang="en-US" sz="2000" dirty="0">
                <a:latin typeface="현대하모니 M" pitchFamily="18" charset="-127"/>
                <a:ea typeface="현대하모니 M" pitchFamily="18" charset="-127"/>
              </a:rPr>
              <a:t>용역범위 상세</a:t>
            </a:r>
            <a:r>
              <a:rPr lang="en-US" altLang="ko-KR" sz="2000" dirty="0">
                <a:latin typeface="현대하모니 M" pitchFamily="18" charset="-127"/>
                <a:ea typeface="현대하모니 M" pitchFamily="18" charset="-127"/>
              </a:rPr>
              <a:t>, </a:t>
            </a:r>
            <a:r>
              <a:rPr lang="ko-KR" altLang="en-US" sz="2000" dirty="0">
                <a:latin typeface="현대하모니 M" pitchFamily="18" charset="-127"/>
                <a:ea typeface="현대하모니 M" pitchFamily="18" charset="-127"/>
              </a:rPr>
              <a:t>업무</a:t>
            </a:r>
            <a:r>
              <a:rPr lang="en-US" altLang="ko-KR" sz="2000" dirty="0">
                <a:latin typeface="현대하모니 M" pitchFamily="18" charset="-127"/>
                <a:ea typeface="현대하모니 M" pitchFamily="18" charset="-127"/>
              </a:rPr>
              <a:t> R&amp;R, </a:t>
            </a:r>
            <a:r>
              <a:rPr lang="ko-KR" altLang="en-US" sz="2000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용역산출물</a:t>
            </a:r>
            <a:r>
              <a:rPr lang="en-US" altLang="ko-KR" sz="2000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, </a:t>
            </a:r>
            <a:r>
              <a:rPr lang="ko-KR" altLang="en-US" sz="2000" dirty="0">
                <a:latin typeface="현대하모니 M" pitchFamily="18" charset="-127"/>
                <a:ea typeface="현대하모니 M" pitchFamily="18" charset="-127"/>
              </a:rPr>
              <a:t>평가 방법 및 기준</a:t>
            </a:r>
            <a:r>
              <a:rPr lang="en-US" altLang="ko-KR" sz="2000" dirty="0">
                <a:latin typeface="현대하모니 M" pitchFamily="18" charset="-127"/>
                <a:ea typeface="현대하모니 M" pitchFamily="18" charset="-127"/>
              </a:rPr>
              <a:t>, </a:t>
            </a:r>
            <a:r>
              <a:rPr lang="ko-KR" altLang="en-US" sz="2000" dirty="0">
                <a:latin typeface="현대하모니 M" pitchFamily="18" charset="-127"/>
                <a:ea typeface="현대하모니 M" pitchFamily="18" charset="-127"/>
              </a:rPr>
              <a:t>상세 일정</a:t>
            </a:r>
            <a:r>
              <a:rPr lang="en-US" altLang="ko-KR" sz="2000" dirty="0">
                <a:latin typeface="현대하모니 M" pitchFamily="18" charset="-127"/>
                <a:ea typeface="현대하모니 M" pitchFamily="18" charset="-127"/>
              </a:rPr>
              <a:t>, </a:t>
            </a:r>
            <a:r>
              <a:rPr lang="ko-KR" altLang="en-US" sz="2000" dirty="0">
                <a:latin typeface="현대하모니 M" pitchFamily="18" charset="-127"/>
                <a:ea typeface="현대하모니 M" pitchFamily="18" charset="-127"/>
              </a:rPr>
              <a:t>비용</a:t>
            </a:r>
            <a:r>
              <a:rPr lang="ko-KR" altLang="en-US" sz="2000" u="none" dirty="0">
                <a:latin typeface="현대하모니 M" pitchFamily="18" charset="-127"/>
                <a:ea typeface="현대하모니 M" pitchFamily="18" charset="-127"/>
              </a:rPr>
              <a:t> 등 포함 작성</a:t>
            </a:r>
            <a:endParaRPr lang="en-US" altLang="ko-KR" sz="2000" u="none" dirty="0">
              <a:latin typeface="현대하모니 M" pitchFamily="18" charset="-127"/>
              <a:ea typeface="현대하모니 M" pitchFamily="18" charset="-127"/>
            </a:endParaRPr>
          </a:p>
          <a:p>
            <a:pPr marL="361950" indent="-361950">
              <a:spcBef>
                <a:spcPct val="20000"/>
              </a:spcBef>
            </a:pP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3.</a:t>
            </a:r>
            <a:r>
              <a:rPr lang="ko-KR" altLang="en-US" sz="2000" u="none" dirty="0">
                <a:latin typeface="현대하모니 M" pitchFamily="18" charset="-127"/>
                <a:ea typeface="현대하모니 M" pitchFamily="18" charset="-127"/>
              </a:rPr>
              <a:t> 상기 </a:t>
            </a:r>
            <a:r>
              <a:rPr lang="en-US" altLang="ko-KR" sz="2000" dirty="0">
                <a:latin typeface="현대하모니 M" pitchFamily="18" charset="-127"/>
                <a:ea typeface="현대하모니 M" pitchFamily="18" charset="-127"/>
              </a:rPr>
              <a:t>“</a:t>
            </a:r>
            <a:r>
              <a:rPr lang="ko-KR" altLang="en-US" sz="2000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용역산출물</a:t>
            </a:r>
            <a:r>
              <a:rPr lang="en-US" altLang="ko-KR" sz="2000" dirty="0">
                <a:latin typeface="현대하모니 M" pitchFamily="18" charset="-127"/>
                <a:ea typeface="현대하모니 M" pitchFamily="18" charset="-127"/>
              </a:rPr>
              <a:t>”</a:t>
            </a:r>
            <a:r>
              <a:rPr lang="ko-KR" altLang="en-US" sz="2000" dirty="0">
                <a:latin typeface="현대하모니 M" pitchFamily="18" charset="-127"/>
                <a:ea typeface="현대하모니 M" pitchFamily="18" charset="-127"/>
              </a:rPr>
              <a:t>항목 작성 시 유의사항</a:t>
            </a:r>
            <a:endParaRPr lang="en-US" altLang="ko-KR" sz="2000" dirty="0">
              <a:latin typeface="현대하모니 M" pitchFamily="18" charset="-127"/>
              <a:ea typeface="현대하모니 M" pitchFamily="18" charset="-127"/>
            </a:endParaRPr>
          </a:p>
          <a:p>
            <a:pPr marL="361950" indent="-361950">
              <a:spcBef>
                <a:spcPct val="20000"/>
              </a:spcBef>
            </a:pPr>
            <a:r>
              <a:rPr lang="en-US" altLang="ko-KR" sz="1800" u="none" dirty="0">
                <a:latin typeface="현대하모니 M" pitchFamily="18" charset="-127"/>
                <a:ea typeface="현대하모니 M" pitchFamily="18" charset="-127"/>
              </a:rPr>
              <a:t>         i) </a:t>
            </a:r>
            <a:r>
              <a:rPr lang="ko-KR" altLang="en-US" sz="1800" u="none" dirty="0">
                <a:latin typeface="현대하모니 M" pitchFamily="18" charset="-127"/>
                <a:ea typeface="현대하모니 M" pitchFamily="18" charset="-127"/>
              </a:rPr>
              <a:t>본 기술용역 목적상 모비스가 제공받아야 할 산출물을 </a:t>
            </a:r>
            <a:r>
              <a:rPr lang="ko-KR" altLang="en-US" sz="1800" u="none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빠짐없이 기입</a:t>
            </a:r>
            <a:r>
              <a:rPr lang="ko-KR" altLang="en-US" sz="1800" u="none" dirty="0">
                <a:latin typeface="현대하모니 M" pitchFamily="18" charset="-127"/>
                <a:ea typeface="현대하모니 M" pitchFamily="18" charset="-127"/>
              </a:rPr>
              <a:t>할 것</a:t>
            </a:r>
            <a:endParaRPr lang="en-US" altLang="ko-KR" sz="1800" u="none" dirty="0">
              <a:latin typeface="현대하모니 M" pitchFamily="18" charset="-127"/>
              <a:ea typeface="현대하모니 M" pitchFamily="18" charset="-127"/>
            </a:endParaRPr>
          </a:p>
          <a:p>
            <a:pPr marL="361950" indent="-361950">
              <a:spcBef>
                <a:spcPct val="20000"/>
              </a:spcBef>
            </a:pPr>
            <a:r>
              <a:rPr lang="en-US" altLang="ko-KR" sz="1800" u="none" dirty="0">
                <a:latin typeface="현대하모니 M" pitchFamily="18" charset="-127"/>
                <a:ea typeface="현대하모니 M" pitchFamily="18" charset="-127"/>
              </a:rPr>
              <a:t>        ii) </a:t>
            </a:r>
            <a:r>
              <a:rPr lang="ko-KR" altLang="en-US" sz="1800" u="none" dirty="0">
                <a:latin typeface="현대하모니 M" pitchFamily="18" charset="-127"/>
                <a:ea typeface="현대하모니 M" pitchFamily="18" charset="-127"/>
              </a:rPr>
              <a:t>용역산출물의 항목명 및 제출형태를 </a:t>
            </a:r>
            <a:r>
              <a:rPr lang="ko-KR" altLang="en-US" sz="1800" u="none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최대한 구체적으로 명확하게 기재</a:t>
            </a:r>
            <a:r>
              <a:rPr lang="ko-KR" altLang="en-US" sz="1800" u="none" dirty="0">
                <a:latin typeface="현대하모니 M" pitchFamily="18" charset="-127"/>
                <a:ea typeface="현대하모니 M" pitchFamily="18" charset="-127"/>
              </a:rPr>
              <a:t>할 것</a:t>
            </a:r>
            <a:endParaRPr lang="en-US" altLang="ko-KR" sz="1800" u="none" dirty="0">
              <a:latin typeface="현대하모니 M" pitchFamily="18" charset="-127"/>
              <a:ea typeface="현대하모니 M" pitchFamily="18" charset="-127"/>
            </a:endParaRPr>
          </a:p>
          <a:p>
            <a:pPr marL="361950" indent="-361950">
              <a:spcBef>
                <a:spcPct val="20000"/>
              </a:spcBef>
            </a:pPr>
            <a:r>
              <a:rPr lang="en-US" altLang="ko-KR" sz="1800" u="none" dirty="0">
                <a:latin typeface="현대하모니 M" pitchFamily="18" charset="-127"/>
                <a:ea typeface="현대하모니 M" pitchFamily="18" charset="-127"/>
              </a:rPr>
              <a:t>       iii) </a:t>
            </a:r>
            <a:r>
              <a:rPr lang="ko-KR" altLang="en-US" sz="1800" u="none" dirty="0">
                <a:latin typeface="현대하모니 M" pitchFamily="18" charset="-127"/>
                <a:ea typeface="현대하모니 M" pitchFamily="18" charset="-127"/>
              </a:rPr>
              <a:t>단</a:t>
            </a:r>
            <a:r>
              <a:rPr lang="en-US" altLang="ko-KR" sz="1800" u="none" dirty="0">
                <a:latin typeface="현대하모니 M" pitchFamily="18" charset="-127"/>
                <a:ea typeface="현대하모니 M" pitchFamily="18" charset="-127"/>
              </a:rPr>
              <a:t>, </a:t>
            </a:r>
            <a:r>
              <a:rPr lang="ko-KR" altLang="en-US" sz="1800" u="none" dirty="0">
                <a:latin typeface="현대하모니 M" pitchFamily="18" charset="-127"/>
                <a:ea typeface="현대하모니 M" pitchFamily="18" charset="-127"/>
              </a:rPr>
              <a:t>용역산출물의 범위는 모비스가 지급하는 </a:t>
            </a:r>
            <a:r>
              <a:rPr lang="ko-KR" altLang="en-US" sz="1800" u="none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용역대금에 상응하는 적정 수준</a:t>
            </a:r>
            <a:r>
              <a:rPr lang="ko-KR" altLang="en-US" sz="1800" u="none" dirty="0">
                <a:latin typeface="현대하모니 M" pitchFamily="18" charset="-127"/>
                <a:ea typeface="현대하모니 M" pitchFamily="18" charset="-127"/>
              </a:rPr>
              <a:t>일 것</a:t>
            </a:r>
            <a:endParaRPr lang="en-US" altLang="ko-KR" sz="1800" u="none" dirty="0">
              <a:latin typeface="현대하모니 M" pitchFamily="18" charset="-127"/>
              <a:ea typeface="현대하모니 M" pitchFamily="18" charset="-127"/>
            </a:endParaRPr>
          </a:p>
          <a:p>
            <a:pPr marL="361950" indent="-361950">
              <a:spcBef>
                <a:spcPct val="20000"/>
              </a:spcBef>
            </a:pPr>
            <a:r>
              <a:rPr lang="en-US" altLang="ko-KR" sz="1800" u="none" dirty="0">
                <a:latin typeface="현대하모니 M" pitchFamily="18" charset="-127"/>
                <a:ea typeface="현대하모니 M" pitchFamily="18" charset="-127"/>
              </a:rPr>
              <a:t>           (</a:t>
            </a:r>
            <a:r>
              <a:rPr lang="ko-KR" altLang="en-US" sz="1800" u="none" dirty="0">
                <a:latin typeface="현대하모니 M" pitchFamily="18" charset="-127"/>
                <a:ea typeface="현대하모니 M" pitchFamily="18" charset="-127"/>
              </a:rPr>
              <a:t>모비스가 지급하는 용역대금 수준을 넘어서는 자료까지 과도하게 기재 금지</a:t>
            </a:r>
            <a:r>
              <a:rPr lang="en-US" altLang="ko-KR" sz="1800" u="none" dirty="0">
                <a:latin typeface="현대하모니 M" pitchFamily="18" charset="-127"/>
                <a:ea typeface="현대하모니 M" pitchFamily="18" charset="-127"/>
              </a:rPr>
              <a:t>)</a:t>
            </a:r>
          </a:p>
          <a:p>
            <a:pPr marL="361950" indent="-361950">
              <a:spcBef>
                <a:spcPct val="20000"/>
              </a:spcBef>
            </a:pPr>
            <a:r>
              <a:rPr lang="en-US" altLang="ko-KR" sz="1800" u="none" dirty="0">
                <a:latin typeface="현대하모니 M" pitchFamily="18" charset="-127"/>
                <a:ea typeface="현대하모니 M" pitchFamily="18" charset="-127"/>
              </a:rPr>
              <a:t>       iv)</a:t>
            </a:r>
            <a:r>
              <a:rPr lang="ko-KR" altLang="en-US" sz="1800" u="none" dirty="0"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en-US" altLang="ko-KR" sz="1800" u="none" dirty="0">
                <a:latin typeface="현대하모니 M" pitchFamily="18" charset="-127"/>
                <a:ea typeface="현대하모니 M" pitchFamily="18" charset="-127"/>
              </a:rPr>
              <a:t>“※ </a:t>
            </a:r>
            <a:r>
              <a:rPr lang="ko-KR" altLang="en-US" sz="1800" u="none" dirty="0">
                <a:latin typeface="현대하모니 M" pitchFamily="18" charset="-127"/>
                <a:ea typeface="현대하모니 M" pitchFamily="18" charset="-127"/>
              </a:rPr>
              <a:t>상기 용역산출물은 본 계약에 따라 모비스의 소유로 한다</a:t>
            </a:r>
            <a:r>
              <a:rPr lang="en-US" altLang="ko-KR" sz="1800" u="none" dirty="0">
                <a:latin typeface="현대하모니 M" pitchFamily="18" charset="-127"/>
                <a:ea typeface="현대하모니 M" pitchFamily="18" charset="-127"/>
              </a:rPr>
              <a:t>.”</a:t>
            </a:r>
            <a:r>
              <a:rPr lang="ko-KR" altLang="en-US" sz="1800" u="none" dirty="0"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800" u="none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문구 유지</a:t>
            </a:r>
            <a:r>
              <a:rPr lang="ko-KR" altLang="en-US" sz="1800" u="none" dirty="0">
                <a:latin typeface="현대하모니 M" pitchFamily="18" charset="-127"/>
                <a:ea typeface="현대하모니 M" pitchFamily="18" charset="-127"/>
              </a:rPr>
              <a:t>할 것</a:t>
            </a:r>
            <a:endParaRPr lang="en-US" altLang="ko-KR" sz="1800" u="none" dirty="0">
              <a:latin typeface="현대하모니 M" pitchFamily="18" charset="-127"/>
              <a:ea typeface="현대하모니 M" pitchFamily="18" charset="-127"/>
            </a:endParaRPr>
          </a:p>
          <a:p>
            <a:pPr marL="361950" indent="-361950">
              <a:spcBef>
                <a:spcPct val="20000"/>
              </a:spcBef>
            </a:pPr>
            <a:r>
              <a:rPr lang="en-US" altLang="ko-KR" sz="18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        v) </a:t>
            </a:r>
            <a:r>
              <a:rPr lang="ko-KR" altLang="en-US" sz="18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용역산출물의 </a:t>
            </a:r>
            <a:r>
              <a:rPr lang="ko-KR" altLang="en-US" sz="1800" u="none" dirty="0">
                <a:solidFill>
                  <a:srgbClr val="FF0000"/>
                </a:solidFill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검수 기준과 검수 방법을 구체적으로 기재</a:t>
            </a:r>
            <a:r>
              <a:rPr lang="ko-KR" altLang="en-US" sz="18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할 것</a:t>
            </a:r>
            <a:endParaRPr lang="en-US" altLang="ko-KR" sz="1800" u="none" dirty="0">
              <a:highlight>
                <a:srgbClr val="00FFFF"/>
              </a:highlight>
              <a:latin typeface="현대하모니 M" pitchFamily="18" charset="-127"/>
              <a:ea typeface="현대하모니 M" pitchFamily="18" charset="-127"/>
            </a:endParaRPr>
          </a:p>
          <a:p>
            <a:pPr marL="361950" indent="-361950">
              <a:spcBef>
                <a:spcPct val="20000"/>
              </a:spcBef>
            </a:pP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4. </a:t>
            </a:r>
            <a:r>
              <a:rPr lang="ko-KR" altLang="en-US" sz="2000" u="none" dirty="0">
                <a:latin typeface="현대하모니 M" pitchFamily="18" charset="-127"/>
                <a:ea typeface="현대하모니 M" pitchFamily="18" charset="-127"/>
              </a:rPr>
              <a:t>용역기관의 자체 양식을 사용하여 작성해도 무방하나</a:t>
            </a: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,</a:t>
            </a:r>
            <a:r>
              <a:rPr lang="ko-KR" altLang="en-US" sz="2000" u="none" dirty="0">
                <a:latin typeface="현대하모니 M" pitchFamily="18" charset="-127"/>
                <a:ea typeface="현대하모니 M" pitchFamily="18" charset="-127"/>
              </a:rPr>
              <a:t> 상기 </a:t>
            </a: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1~3</a:t>
            </a:r>
            <a:r>
              <a:rPr lang="ko-KR" altLang="en-US" sz="2000" u="none" dirty="0">
                <a:latin typeface="현대하모니 M" pitchFamily="18" charset="-127"/>
                <a:ea typeface="현대하모니 M" pitchFamily="18" charset="-127"/>
              </a:rPr>
              <a:t>번의 요구항목들은 반드시 포함되어야 함</a:t>
            </a:r>
            <a:endParaRPr lang="en-US" altLang="ko-KR" sz="2000" u="none" dirty="0">
              <a:latin typeface="현대하모니 M" pitchFamily="18" charset="-127"/>
              <a:ea typeface="현대하모니 M" pitchFamily="18" charset="-127"/>
            </a:endParaRPr>
          </a:p>
          <a:p>
            <a:pPr marL="361950" indent="-361950">
              <a:spcBef>
                <a:spcPct val="20000"/>
              </a:spcBef>
            </a:pP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5. </a:t>
            </a:r>
            <a:r>
              <a:rPr lang="ko-KR" altLang="en-US" sz="2000" u="none" dirty="0">
                <a:latin typeface="현대하모니 M" pitchFamily="18" charset="-127"/>
                <a:ea typeface="현대하모니 M" pitchFamily="18" charset="-127"/>
              </a:rPr>
              <a:t>용역 일정은 계약 기간에 내에 </a:t>
            </a:r>
            <a:r>
              <a:rPr lang="ko-KR" altLang="en-US" sz="2000" u="none" dirty="0" err="1">
                <a:latin typeface="현대하모니 M" pitchFamily="18" charset="-127"/>
                <a:ea typeface="현대하모니 M" pitchFamily="18" charset="-127"/>
              </a:rPr>
              <a:t>일정별</a:t>
            </a:r>
            <a:r>
              <a:rPr lang="ko-KR" altLang="en-US" sz="2000" u="none" dirty="0">
                <a:latin typeface="현대하모니 M" pitchFamily="18" charset="-127"/>
                <a:ea typeface="현대하모니 M" pitchFamily="18" charset="-127"/>
              </a:rPr>
              <a:t> 수행 업무 작성 요망</a:t>
            </a:r>
            <a:endParaRPr lang="en-US" altLang="ko-KR" sz="2000" u="none" dirty="0">
              <a:latin typeface="현대하모니 M" pitchFamily="18" charset="-127"/>
              <a:ea typeface="현대하모니 M" pitchFamily="18" charset="-127"/>
            </a:endParaRPr>
          </a:p>
          <a:p>
            <a:pPr marL="361950" indent="-361950">
              <a:spcBef>
                <a:spcPct val="20000"/>
              </a:spcBef>
            </a:pP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6. </a:t>
            </a:r>
            <a:r>
              <a:rPr lang="ko-KR" altLang="en-US" sz="2000" u="none" dirty="0">
                <a:latin typeface="현대하모니 M" pitchFamily="18" charset="-127"/>
                <a:ea typeface="현대하모니 M" pitchFamily="18" charset="-127"/>
              </a:rPr>
              <a:t>용역 비용은 견적서 금액에 맞춰 작성 </a:t>
            </a: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(</a:t>
            </a:r>
            <a:r>
              <a:rPr lang="ko-KR" altLang="en-US" sz="2000" u="none" dirty="0">
                <a:latin typeface="현대하모니 M" pitchFamily="18" charset="-127"/>
                <a:ea typeface="현대하모니 M" pitchFamily="18" charset="-127"/>
              </a:rPr>
              <a:t>절사 금액 반영</a:t>
            </a: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), </a:t>
            </a:r>
            <a:r>
              <a:rPr lang="ko-KR" altLang="en-US" sz="20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직접비 상세 내역 첨부</a:t>
            </a:r>
            <a:r>
              <a:rPr lang="en-US" altLang="ko-KR" sz="20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2000" u="none" dirty="0">
                <a:latin typeface="현대하모니 M" pitchFamily="18" charset="-127"/>
                <a:ea typeface="현대하모니 M" pitchFamily="18" charset="-127"/>
              </a:rPr>
              <a:t>요망</a:t>
            </a:r>
            <a:endParaRPr lang="en-US" altLang="ko-KR" sz="2000" u="none" dirty="0">
              <a:latin typeface="현대하모니 M" pitchFamily="18" charset="-127"/>
              <a:ea typeface="현대하모니 M" pitchFamily="18" charset="-127"/>
            </a:endParaRPr>
          </a:p>
          <a:p>
            <a:pPr marL="361950" indent="-361950">
              <a:spcBef>
                <a:spcPct val="20000"/>
              </a:spcBef>
            </a:pP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7. </a:t>
            </a:r>
            <a:r>
              <a:rPr lang="ko-KR" altLang="en-US" sz="2000" u="none" dirty="0">
                <a:latin typeface="현대하모니 M" pitchFamily="18" charset="-127"/>
                <a:ea typeface="현대하모니 M" pitchFamily="18" charset="-127"/>
              </a:rPr>
              <a:t>본 용역과제 계획서는 기술용역계약서에 첨부되는 문서이므로</a:t>
            </a: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,</a:t>
            </a:r>
            <a:r>
              <a:rPr lang="ko-KR" altLang="en-US" sz="2000" u="none" dirty="0">
                <a:latin typeface="현대하모니 M" pitchFamily="18" charset="-127"/>
                <a:ea typeface="현대하모니 M" pitchFamily="18" charset="-127"/>
              </a:rPr>
              <a:t> 수행해야 할 용역업무 내용이 모두 포함되어야 하며</a:t>
            </a: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, </a:t>
            </a:r>
            <a:r>
              <a:rPr lang="ko-KR" altLang="en-US" sz="20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양방의 합의가 필요함 </a:t>
            </a:r>
            <a:r>
              <a:rPr lang="en-US" altLang="ko-KR" sz="20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(</a:t>
            </a:r>
            <a:r>
              <a:rPr lang="ko-KR" altLang="en-US" sz="20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실제 업무내용</a:t>
            </a:r>
            <a:r>
              <a:rPr lang="en-US" altLang="ko-KR" sz="20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/</a:t>
            </a:r>
            <a:r>
              <a:rPr lang="ko-KR" altLang="en-US" sz="20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범위 명확히 명시 필요</a:t>
            </a:r>
            <a:r>
              <a:rPr lang="en-US" altLang="ko-KR" sz="20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)</a:t>
            </a:r>
          </a:p>
          <a:p>
            <a:pPr marL="361950" indent="-361950">
              <a:spcBef>
                <a:spcPct val="20000"/>
              </a:spcBef>
            </a:pPr>
            <a:r>
              <a:rPr lang="en-US" altLang="ko-KR" sz="20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8. </a:t>
            </a:r>
            <a:r>
              <a:rPr lang="ko-KR" altLang="en-US" sz="20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본 용역과제계획서에 기재 되지 않은 사항은 기관에 배포된</a:t>
            </a:r>
            <a:r>
              <a:rPr lang="en-US" altLang="ko-KR" sz="20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‘</a:t>
            </a:r>
            <a:r>
              <a:rPr lang="ko-KR" altLang="en-US" sz="20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제안요청서</a:t>
            </a:r>
            <a:r>
              <a:rPr lang="en-US" altLang="ko-KR" sz="20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(SR)’</a:t>
            </a:r>
            <a:r>
              <a:rPr lang="ko-KR" altLang="en-US" sz="20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를 준수함</a:t>
            </a:r>
            <a:r>
              <a:rPr lang="en-US" altLang="ko-KR" sz="2000" u="none" dirty="0">
                <a:highlight>
                  <a:srgbClr val="00FFFF"/>
                </a:highlight>
                <a:latin typeface="현대하모니 M" pitchFamily="18" charset="-127"/>
                <a:ea typeface="현대하모니 M" pitchFamily="18" charset="-127"/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046534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3124925" y="4797152"/>
            <a:ext cx="3567250" cy="885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900" indent="-342900" algn="ctr">
              <a:spcBef>
                <a:spcPct val="20000"/>
              </a:spcBef>
            </a:pPr>
            <a:r>
              <a:rPr lang="en-US" altLang="ko-KR" sz="2400" u="none" dirty="0">
                <a:latin typeface="현대하모니 M" pitchFamily="18" charset="-127"/>
                <a:ea typeface="현대하모니 M" pitchFamily="18" charset="-127"/>
              </a:rPr>
              <a:t>2025.</a:t>
            </a:r>
            <a:r>
              <a:rPr lang="ko-KR" altLang="en-US" sz="2400" u="none" dirty="0"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en-US" altLang="ko-KR" sz="2400" u="none" dirty="0">
                <a:latin typeface="현대하모니 M" pitchFamily="18" charset="-127"/>
                <a:ea typeface="현대하모니 M" pitchFamily="18" charset="-127"/>
              </a:rPr>
              <a:t>09. 09 </a:t>
            </a:r>
          </a:p>
          <a:p>
            <a:pPr marL="342900" indent="-342900" algn="ctr">
              <a:spcBef>
                <a:spcPct val="20000"/>
              </a:spcBef>
            </a:pPr>
            <a:r>
              <a:rPr lang="ko-KR" altLang="en-US" sz="2400" u="none" dirty="0">
                <a:latin typeface="현대하모니 M" pitchFamily="18" charset="-127"/>
                <a:ea typeface="현대하모니 M" pitchFamily="18" charset="-127"/>
              </a:rPr>
              <a:t>주식회사 </a:t>
            </a:r>
            <a:r>
              <a:rPr lang="ko-KR" altLang="en-US" sz="2400" u="none" dirty="0" err="1">
                <a:latin typeface="현대하모니 M" pitchFamily="18" charset="-127"/>
                <a:ea typeface="현대하모니 M" pitchFamily="18" charset="-127"/>
              </a:rPr>
              <a:t>투비원솔루션즈</a:t>
            </a:r>
            <a:endParaRPr lang="en-US" altLang="ko-KR" sz="2400" u="none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7173" name="AutoShape 5" descr="표지 -white33"/>
          <p:cNvSpPr>
            <a:spLocks noChangeArrowheads="1"/>
          </p:cNvSpPr>
          <p:nvPr/>
        </p:nvSpPr>
        <p:spPr bwMode="auto">
          <a:xfrm>
            <a:off x="595313" y="1412875"/>
            <a:ext cx="8715375" cy="1516063"/>
          </a:xfrm>
          <a:prstGeom prst="roundRect">
            <a:avLst>
              <a:gd name="adj" fmla="val 6667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ko-KR" altLang="en-US" sz="28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용역과제 계획서</a:t>
            </a:r>
            <a:endParaRPr lang="en-US" altLang="ko-KR" sz="2800" u="none" dirty="0">
              <a:solidFill>
                <a:srgbClr val="000000"/>
              </a:solidFill>
              <a:latin typeface="현대하모니 B" pitchFamily="18" charset="-127"/>
              <a:ea typeface="현대하모니 B" pitchFamily="18" charset="-127"/>
            </a:endParaRPr>
          </a:p>
          <a:p>
            <a:pPr algn="ctr">
              <a:spcBef>
                <a:spcPct val="50000"/>
              </a:spcBef>
            </a:pPr>
            <a:r>
              <a:rPr lang="en-US" altLang="ko-KR" sz="28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- </a:t>
            </a: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2025</a:t>
            </a:r>
            <a:r>
              <a:rPr lang="ko-KR" altLang="en-US" sz="2000" u="none" dirty="0">
                <a:solidFill>
                  <a:srgbClr val="000000"/>
                </a:solidFill>
                <a:ea typeface="현대하모니 B" pitchFamily="18" charset="-127"/>
              </a:rPr>
              <a:t>년도 표준형 </a:t>
            </a: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5</a:t>
            </a:r>
            <a:r>
              <a:rPr lang="ko-KR" altLang="en-US" sz="2000" u="none" dirty="0">
                <a:solidFill>
                  <a:srgbClr val="000000"/>
                </a:solidFill>
                <a:ea typeface="현대하모니 B" pitchFamily="18" charset="-127"/>
              </a:rPr>
              <a:t>세대 와이드 </a:t>
            </a:r>
            <a:r>
              <a:rPr lang="en-US" altLang="ko-KR" sz="2000" u="none" dirty="0">
                <a:latin typeface="현대하모니 M" pitchFamily="18" charset="-127"/>
                <a:ea typeface="현대하모니 M" pitchFamily="18" charset="-127"/>
              </a:rPr>
              <a:t>AVN</a:t>
            </a:r>
            <a:r>
              <a:rPr lang="ko-KR" altLang="en-US" sz="2000" u="none" dirty="0">
                <a:solidFill>
                  <a:srgbClr val="000000"/>
                </a:solidFill>
                <a:ea typeface="현대하모니 B" pitchFamily="18" charset="-127"/>
              </a:rPr>
              <a:t>제품 </a:t>
            </a:r>
            <a:r>
              <a:rPr lang="ko-KR" altLang="en-US" sz="2000" u="none" dirty="0" err="1">
                <a:solidFill>
                  <a:srgbClr val="000000"/>
                </a:solidFill>
                <a:ea typeface="현대하모니 B" pitchFamily="18" charset="-127"/>
              </a:rPr>
              <a:t>뮤직스트리밍</a:t>
            </a:r>
            <a:r>
              <a:rPr lang="ko-KR" altLang="en-US" sz="2000" u="none" dirty="0">
                <a:solidFill>
                  <a:srgbClr val="000000"/>
                </a:solidFill>
                <a:ea typeface="현대하모니 B" pitchFamily="18" charset="-127"/>
              </a:rPr>
              <a:t> 유지보수 개발</a:t>
            </a:r>
            <a:r>
              <a:rPr lang="en-US" altLang="ko-KR" sz="2800" u="none" dirty="0">
                <a:solidFill>
                  <a:srgbClr val="000000"/>
                </a:solidFill>
                <a:latin typeface="현대하모니 B" pitchFamily="18" charset="-127"/>
                <a:ea typeface="현대하모니 B"/>
              </a:rPr>
              <a:t>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용역 개요 및 내용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7" name="AutoShape 761"/>
          <p:cNvSpPr>
            <a:spLocks noChangeArrowheads="1"/>
          </p:cNvSpPr>
          <p:nvPr/>
        </p:nvSpPr>
        <p:spPr bwMode="auto">
          <a:xfrm>
            <a:off x="296863" y="708249"/>
            <a:ext cx="2196753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6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1)</a:t>
            </a:r>
            <a:r>
              <a:rPr lang="en-US" altLang="ko-KR" sz="16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6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용역 개요</a:t>
            </a:r>
          </a:p>
        </p:txBody>
      </p:sp>
      <p:sp>
        <p:nvSpPr>
          <p:cNvPr id="40" name="오각형 22"/>
          <p:cNvSpPr>
            <a:spLocks noChangeArrowheads="1"/>
          </p:cNvSpPr>
          <p:nvPr/>
        </p:nvSpPr>
        <p:spPr bwMode="auto">
          <a:xfrm>
            <a:off x="631825" y="1196752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용역 목적</a:t>
            </a:r>
          </a:p>
        </p:txBody>
      </p:sp>
      <p:sp>
        <p:nvSpPr>
          <p:cNvPr id="41" name="TextBox 23"/>
          <p:cNvSpPr txBox="1">
            <a:spLocks noChangeArrowheads="1"/>
          </p:cNvSpPr>
          <p:nvPr/>
        </p:nvSpPr>
        <p:spPr bwMode="auto">
          <a:xfrm flipH="1">
            <a:off x="1917698" y="1196752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en-US" altLang="ko-KR" sz="1600" u="none" dirty="0">
                <a:latin typeface="현대하모니 M" pitchFamily="18" charset="-127"/>
                <a:ea typeface="현대하모니 M" pitchFamily="18" charset="-127"/>
              </a:rPr>
              <a:t>2025</a:t>
            </a:r>
            <a:r>
              <a:rPr lang="ko-KR" altLang="en-US" sz="1600" u="none" dirty="0">
                <a:solidFill>
                  <a:srgbClr val="000000"/>
                </a:solidFill>
                <a:ea typeface="현대하모니 B" pitchFamily="18" charset="-127"/>
              </a:rPr>
              <a:t>년도 표준형 </a:t>
            </a:r>
            <a:r>
              <a:rPr lang="en-US" altLang="ko-KR" sz="1600" u="none" dirty="0">
                <a:latin typeface="현대하모니 M" pitchFamily="18" charset="-127"/>
                <a:ea typeface="현대하모니 M" pitchFamily="18" charset="-127"/>
              </a:rPr>
              <a:t>5</a:t>
            </a:r>
            <a:r>
              <a:rPr lang="ko-KR" altLang="en-US" sz="1600" u="none" dirty="0">
                <a:solidFill>
                  <a:srgbClr val="000000"/>
                </a:solidFill>
                <a:ea typeface="현대하모니 B" pitchFamily="18" charset="-127"/>
              </a:rPr>
              <a:t>세대 와이드 </a:t>
            </a:r>
            <a:r>
              <a:rPr lang="en-US" altLang="ko-KR" sz="1600" u="none" dirty="0">
                <a:latin typeface="현대하모니 M" pitchFamily="18" charset="-127"/>
                <a:ea typeface="현대하모니 M" pitchFamily="18" charset="-127"/>
              </a:rPr>
              <a:t>AVN</a:t>
            </a:r>
            <a:r>
              <a:rPr lang="ko-KR" altLang="en-US" sz="1600" u="none" dirty="0">
                <a:solidFill>
                  <a:srgbClr val="000000"/>
                </a:solidFill>
                <a:ea typeface="현대하모니 B" pitchFamily="18" charset="-127"/>
              </a:rPr>
              <a:t>제품 </a:t>
            </a:r>
            <a:r>
              <a:rPr lang="ko-KR" altLang="en-US" sz="1600" u="none" dirty="0" err="1">
                <a:solidFill>
                  <a:srgbClr val="000000"/>
                </a:solidFill>
                <a:ea typeface="현대하모니 B" pitchFamily="18" charset="-127"/>
              </a:rPr>
              <a:t>뮤직스트리밍</a:t>
            </a:r>
            <a:r>
              <a:rPr lang="ko-KR" altLang="en-US" sz="1600" u="none" dirty="0">
                <a:solidFill>
                  <a:srgbClr val="000000"/>
                </a:solidFill>
                <a:ea typeface="현대하모니 B" pitchFamily="18" charset="-127"/>
              </a:rPr>
              <a:t> 유지보수 개발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endParaRPr kumimoji="0" lang="en-US" altLang="ko-KR" sz="1600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44" name="오각형 22"/>
          <p:cNvSpPr>
            <a:spLocks noChangeArrowheads="1"/>
          </p:cNvSpPr>
          <p:nvPr/>
        </p:nvSpPr>
        <p:spPr bwMode="auto">
          <a:xfrm>
            <a:off x="631825" y="1844824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용역 기간</a:t>
            </a:r>
          </a:p>
        </p:txBody>
      </p:sp>
      <p:sp>
        <p:nvSpPr>
          <p:cNvPr id="45" name="TextBox 23"/>
          <p:cNvSpPr txBox="1">
            <a:spLocks noChangeArrowheads="1"/>
          </p:cNvSpPr>
          <p:nvPr/>
        </p:nvSpPr>
        <p:spPr bwMode="auto">
          <a:xfrm flipH="1">
            <a:off x="1928663" y="1844824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2025.09.30 ~ 2026.03.30 (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총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6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개월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)</a:t>
            </a:r>
          </a:p>
        </p:txBody>
      </p:sp>
      <p:sp>
        <p:nvSpPr>
          <p:cNvPr id="21" name="오각형 22"/>
          <p:cNvSpPr>
            <a:spLocks noChangeArrowheads="1"/>
          </p:cNvSpPr>
          <p:nvPr/>
        </p:nvSpPr>
        <p:spPr bwMode="auto">
          <a:xfrm>
            <a:off x="632520" y="2492896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용역 비용</a:t>
            </a:r>
          </a:p>
        </p:txBody>
      </p:sp>
      <p:sp>
        <p:nvSpPr>
          <p:cNvPr id="22" name="TextBox 23"/>
          <p:cNvSpPr txBox="1">
            <a:spLocks noChangeArrowheads="1"/>
          </p:cNvSpPr>
          <p:nvPr/>
        </p:nvSpPr>
        <p:spPr bwMode="auto">
          <a:xfrm flipH="1">
            <a:off x="1918393" y="2492896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endParaRPr kumimoji="0" lang="en-US" altLang="ko-KR" sz="1600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4" name="오각형 22">
            <a:extLst>
              <a:ext uri="{FF2B5EF4-FFF2-40B4-BE49-F238E27FC236}">
                <a16:creationId xmlns:a16="http://schemas.microsoft.com/office/drawing/2014/main" id="{5B9F9678-9F51-A8CE-68EB-ED921217D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74" y="3140968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기술개요</a:t>
            </a:r>
          </a:p>
        </p:txBody>
      </p:sp>
      <p:sp>
        <p:nvSpPr>
          <p:cNvPr id="9" name="TextBox 23">
            <a:extLst>
              <a:ext uri="{FF2B5EF4-FFF2-40B4-BE49-F238E27FC236}">
                <a16:creationId xmlns:a16="http://schemas.microsoft.com/office/drawing/2014/main" id="{7B6616B1-2BA2-1AC6-C6D8-467C87DA0F1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028138" y="3140968"/>
            <a:ext cx="3262264" cy="3240360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t" anchorCtr="0"/>
          <a:lstStyle/>
          <a:p>
            <a:pPr marL="285750" indent="-285750" fontAlgn="auto" latinLnBrk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1600" b="1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시스템 구성</a:t>
            </a:r>
            <a:endParaRPr kumimoji="0" lang="en-US" altLang="ko-KR" sz="1600" b="1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0" name="TextBox 23">
            <a:extLst>
              <a:ext uri="{FF2B5EF4-FFF2-40B4-BE49-F238E27FC236}">
                <a16:creationId xmlns:a16="http://schemas.microsoft.com/office/drawing/2014/main" id="{D1CF176F-7D84-2C9C-CDA2-92797861F43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917698" y="3140968"/>
            <a:ext cx="4110440" cy="3240360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t" anchorCtr="0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b="1" u="none" dirty="0">
                <a:solidFill>
                  <a:schemeClr val="tx1"/>
                </a:solidFill>
                <a:latin typeface="현대하모니 L"/>
                <a:ea typeface="현대하모니 B"/>
              </a:rPr>
              <a:t>기술 개요</a:t>
            </a:r>
          </a:p>
          <a:p>
            <a:pPr marL="360000" lvl="1" indent="-180000">
              <a:lnSpc>
                <a:spcPts val="2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200" u="none" dirty="0" err="1">
                <a:solidFill>
                  <a:schemeClr val="tx1"/>
                </a:solidFill>
                <a:latin typeface="현대하모니 L"/>
                <a:ea typeface="현대하모니 B"/>
              </a:rPr>
              <a:t>한국향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 스트리밍 서비스</a:t>
            </a: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(</a:t>
            </a:r>
            <a:r>
              <a:rPr lang="ko-KR" altLang="en-US" sz="1200" u="none" dirty="0" err="1">
                <a:solidFill>
                  <a:schemeClr val="tx1"/>
                </a:solidFill>
                <a:latin typeface="현대하모니 L"/>
                <a:ea typeface="현대하모니 B"/>
              </a:rPr>
              <a:t>지니뮤직</a:t>
            </a: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, 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멜론뮤직</a:t>
            </a: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,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 </a:t>
            </a: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QQ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뮤직</a:t>
            </a: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)</a:t>
            </a:r>
          </a:p>
          <a:p>
            <a:pPr marL="180000" lvl="1">
              <a:lnSpc>
                <a:spcPts val="2000"/>
              </a:lnSpc>
              <a:defRPr/>
            </a:pP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     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앱에 대한 유지보수를 수행</a:t>
            </a:r>
          </a:p>
          <a:p>
            <a:pPr marL="360000" lvl="1" indent="-180000">
              <a:lnSpc>
                <a:spcPts val="2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200" u="none" dirty="0" err="1">
                <a:solidFill>
                  <a:schemeClr val="tx1"/>
                </a:solidFill>
                <a:latin typeface="현대하모니 L"/>
                <a:ea typeface="현대하모니 B"/>
              </a:rPr>
              <a:t>지니뮤직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 서버 및 멜론뮤직 서버</a:t>
            </a: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,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 </a:t>
            </a: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QQ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뮤직 서버와의 </a:t>
            </a:r>
            <a:endParaRPr lang="en-US" altLang="ko-KR" sz="1200" u="none" dirty="0">
              <a:solidFill>
                <a:schemeClr val="tx1"/>
              </a:solidFill>
              <a:latin typeface="현대하모니 L"/>
              <a:ea typeface="현대하모니 B"/>
            </a:endParaRPr>
          </a:p>
          <a:p>
            <a:pPr marL="180000" lvl="1">
              <a:lnSpc>
                <a:spcPts val="2000"/>
              </a:lnSpc>
              <a:defRPr/>
            </a:pP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     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연동을 통한 서비스 통신 프로토콜 일원화 및 </a:t>
            </a:r>
            <a:endParaRPr lang="en-US" altLang="ko-KR" sz="1200" u="none" dirty="0">
              <a:solidFill>
                <a:schemeClr val="tx1"/>
              </a:solidFill>
              <a:latin typeface="현대하모니 L"/>
              <a:ea typeface="현대하모니 B"/>
            </a:endParaRPr>
          </a:p>
          <a:p>
            <a:pPr marL="180000" lvl="1">
              <a:lnSpc>
                <a:spcPts val="2000"/>
              </a:lnSpc>
              <a:defRPr/>
            </a:pP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     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블루링크</a:t>
            </a: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 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사용자 인증 지원</a:t>
            </a:r>
          </a:p>
          <a:p>
            <a:pPr marL="360000" lvl="1" indent="-180000">
              <a:lnSpc>
                <a:spcPts val="2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사운드 매니저</a:t>
            </a: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,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 음성인식 매니저</a:t>
            </a: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, 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키 매니저 등의 각종</a:t>
            </a:r>
            <a:endParaRPr lang="en-US" altLang="ko-KR" sz="1200" u="none" dirty="0">
              <a:solidFill>
                <a:schemeClr val="tx1"/>
              </a:solidFill>
              <a:latin typeface="현대하모니 L"/>
              <a:ea typeface="현대하모니 B"/>
            </a:endParaRPr>
          </a:p>
          <a:p>
            <a:pPr marL="180000" lvl="1">
              <a:lnSpc>
                <a:spcPts val="2000"/>
              </a:lnSpc>
              <a:defRPr/>
            </a:pP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     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매니저 및 내장 미디어 서버</a:t>
            </a: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/</a:t>
            </a:r>
            <a:r>
              <a:rPr lang="en-US" altLang="ko-KR" sz="1200" u="none" dirty="0" err="1">
                <a:solidFill>
                  <a:schemeClr val="tx1"/>
                </a:solidFill>
                <a:latin typeface="현대하모니 L"/>
                <a:ea typeface="현대하모니 B"/>
              </a:rPr>
              <a:t>HStreaming</a:t>
            </a: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 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연계 개발</a:t>
            </a: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 </a:t>
            </a:r>
          </a:p>
          <a:p>
            <a:pPr marL="360000" lvl="1" indent="-180000">
              <a:lnSpc>
                <a:spcPts val="2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차량 환경에서 해당 스트리밍 서비스의 편리한 사용을 </a:t>
            </a:r>
            <a:endParaRPr lang="en-US" altLang="ko-KR" sz="1200" u="none" dirty="0">
              <a:solidFill>
                <a:schemeClr val="tx1"/>
              </a:solidFill>
              <a:latin typeface="현대하모니 L"/>
              <a:ea typeface="현대하모니 B"/>
            </a:endParaRPr>
          </a:p>
          <a:p>
            <a:pPr marL="180000" lvl="1">
              <a:lnSpc>
                <a:spcPts val="2000"/>
              </a:lnSpc>
              <a:defRPr/>
            </a:pP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     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위한 스트리밍 서비스 특화 </a:t>
            </a:r>
            <a:r>
              <a:rPr lang="en-US" altLang="ko-KR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HMI </a:t>
            </a:r>
            <a:r>
              <a:rPr lang="ko-KR" altLang="en-US" sz="1200" u="none" dirty="0">
                <a:solidFill>
                  <a:schemeClr val="tx1"/>
                </a:solidFill>
                <a:latin typeface="현대하모니 L"/>
                <a:ea typeface="현대하모니 B"/>
              </a:rPr>
              <a:t>개발</a:t>
            </a:r>
          </a:p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kumimoji="0" lang="en-US" altLang="ko-KR" sz="1600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040EE1B-8DAA-1CE6-8F50-2CB9535E2B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421"/>
          <a:stretch/>
        </p:blipFill>
        <p:spPr>
          <a:xfrm>
            <a:off x="6177136" y="3717032"/>
            <a:ext cx="2825325" cy="239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280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F61D0-15E1-A3B9-E942-769049167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6DD15EF0-939B-2D4E-FF7F-7A547CE5D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용역 개요 및 내용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AutoShape 761">
            <a:extLst>
              <a:ext uri="{FF2B5EF4-FFF2-40B4-BE49-F238E27FC236}">
                <a16:creationId xmlns:a16="http://schemas.microsoft.com/office/drawing/2014/main" id="{90EFEF60-DF99-F39E-9B8A-CDD48D386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80" y="764704"/>
            <a:ext cx="2196753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6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용역 내용 및 범위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44F9A20-6ECB-7F90-FA74-4485ECD3B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257091"/>
              </p:ext>
            </p:extLst>
          </p:nvPr>
        </p:nvGraphicFramePr>
        <p:xfrm>
          <a:off x="272480" y="1238303"/>
          <a:ext cx="9217025" cy="4999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799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968248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8079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0482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ea typeface="현대하모니 M" pitchFamily="18" charset="-127"/>
                          <a:cs typeface="+mn-cs"/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ea typeface="현대하모니 M" pitchFamily="18" charset="-127"/>
                          <a:cs typeface="+mn-cs"/>
                        </a:rPr>
                        <a:t>유지 보수 세부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ea typeface="현대하모니 M" pitchFamily="18" charset="-127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274337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 err="1">
                          <a:latin typeface="현대하모니 L"/>
                          <a:ea typeface="현대하모니 B"/>
                        </a:rPr>
                        <a:t>지니뮤직</a:t>
                      </a:r>
                      <a:r>
                        <a:rPr lang="ko-KR" altLang="en-US" sz="1400" dirty="0">
                          <a:latin typeface="현대하모니 L"/>
                          <a:ea typeface="현대하모니 B"/>
                        </a:rPr>
                        <a:t> 재생목록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재생된 음원 재생목록 리스트에 추가</a:t>
                      </a:r>
                      <a:endParaRPr lang="en-US" altLang="ko-KR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274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재생목록 리스트 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274337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현대하모니 L"/>
                          <a:ea typeface="현대하모니 B"/>
                        </a:rPr>
                        <a:t>지니 차트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 err="1">
                          <a:latin typeface="현대하모니 L"/>
                          <a:ea typeface="현대하모니 B"/>
                        </a:rPr>
                        <a:t>지니뮤직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 지니 차트 </a:t>
                      </a: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CCS 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서버 연동</a:t>
                      </a:r>
                      <a:endParaRPr lang="en-US" altLang="ko-KR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2743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2743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27433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현대하모니 L"/>
                          <a:ea typeface="현대하모니 B"/>
                        </a:rPr>
                        <a:t>드라이빙</a:t>
                      </a:r>
                      <a:r>
                        <a:rPr lang="ko-KR" altLang="en-US" sz="1400" dirty="0">
                          <a:latin typeface="현대하모니 L"/>
                          <a:ea typeface="현대하모니 B"/>
                        </a:rPr>
                        <a:t> </a:t>
                      </a:r>
                      <a:r>
                        <a:rPr lang="ko-KR" altLang="en-US" sz="1400" dirty="0" err="1">
                          <a:latin typeface="현대하모니 L"/>
                          <a:ea typeface="현대하모니 B"/>
                        </a:rPr>
                        <a:t>추천곡</a:t>
                      </a:r>
                      <a:endParaRPr lang="ko-KR" altLang="en-US" sz="14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 err="1">
                          <a:latin typeface="현대하모니 L"/>
                          <a:ea typeface="현대하모니 B"/>
                        </a:rPr>
                        <a:t>지니뮤직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 </a:t>
                      </a:r>
                      <a:r>
                        <a:rPr lang="ko-KR" altLang="en-US" sz="1200" dirty="0" err="1">
                          <a:latin typeface="현대하모니 L"/>
                          <a:ea typeface="현대하모니 B"/>
                        </a:rPr>
                        <a:t>드라이빙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 </a:t>
                      </a:r>
                      <a:r>
                        <a:rPr lang="ko-KR" altLang="en-US" sz="1200" dirty="0" err="1">
                          <a:latin typeface="현대하모니 L"/>
                          <a:ea typeface="현대하모니 B"/>
                        </a:rPr>
                        <a:t>추천곡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 </a:t>
                      </a: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CCS 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서버 연동</a:t>
                      </a:r>
                      <a:endParaRPr lang="en-US" altLang="ko-KR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2743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음원 리스트</a:t>
                      </a: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, 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2743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27433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/>
                          <a:ea typeface="현대하모니 B"/>
                        </a:rPr>
                        <a:t>내 플레이 리스트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 err="1">
                          <a:latin typeface="현대하모니 L"/>
                          <a:ea typeface="현대하모니 B"/>
                        </a:rPr>
                        <a:t>지니뮤직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 내 플레이 리스트 </a:t>
                      </a: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CCS 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서버 연동</a:t>
                      </a:r>
                      <a:endParaRPr lang="en-US" altLang="ko-KR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2743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음원 리스트</a:t>
                      </a: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, 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2743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27433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/>
                          <a:ea typeface="현대하모니 B"/>
                        </a:rPr>
                        <a:t>최신 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 err="1">
                          <a:latin typeface="현대하모니 L"/>
                          <a:ea typeface="현대하모니 B"/>
                        </a:rPr>
                        <a:t>지니뮤직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 최신 음악 </a:t>
                      </a: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CCS 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서버 연동</a:t>
                      </a:r>
                      <a:endParaRPr lang="en-US" altLang="ko-KR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2743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  <a:tr h="2743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92514"/>
                  </a:ext>
                </a:extLst>
              </a:tr>
              <a:tr h="27433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/>
                          <a:ea typeface="현대하모니 B"/>
                        </a:rPr>
                        <a:t>곡 검색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 err="1">
                          <a:latin typeface="현대하모니 L"/>
                          <a:ea typeface="현대하모니 B"/>
                        </a:rPr>
                        <a:t>지니뮤직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 검색기능 </a:t>
                      </a: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CCS 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93838"/>
                  </a:ext>
                </a:extLst>
              </a:tr>
              <a:tr h="2743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곡</a:t>
                      </a: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, 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앨범 검색결과 목록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81613"/>
                  </a:ext>
                </a:extLst>
              </a:tr>
              <a:tr h="2743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595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2388CFF-1E53-CDDC-530E-98C826618D12}"/>
              </a:ext>
            </a:extLst>
          </p:cNvPr>
          <p:cNvSpPr txBox="1"/>
          <p:nvPr/>
        </p:nvSpPr>
        <p:spPr>
          <a:xfrm>
            <a:off x="2425048" y="770637"/>
            <a:ext cx="1659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u="none" dirty="0">
                <a:solidFill>
                  <a:schemeClr val="tx1"/>
                </a:solidFill>
                <a:latin typeface="현대하모니 L"/>
                <a:ea typeface="현대하모니 B"/>
              </a:rPr>
              <a:t>① </a:t>
            </a:r>
            <a:r>
              <a:rPr lang="en-US" altLang="ko-KR" sz="1600" b="1" u="none" dirty="0">
                <a:solidFill>
                  <a:schemeClr val="tx1"/>
                </a:solidFill>
                <a:latin typeface="현대하모니 L"/>
                <a:ea typeface="현대하모니 B"/>
              </a:rPr>
              <a:t>Genie Music</a:t>
            </a:r>
            <a:endParaRPr lang="ko-KR" altLang="en-US" sz="1600" b="1" u="none" dirty="0">
              <a:solidFill>
                <a:schemeClr val="tx1"/>
              </a:solidFill>
              <a:latin typeface="현대하모니 L"/>
              <a:ea typeface="현대하모니 B"/>
            </a:endParaRPr>
          </a:p>
        </p:txBody>
      </p:sp>
    </p:spTree>
    <p:extLst>
      <p:ext uri="{BB962C8B-B14F-4D97-AF65-F5344CB8AC3E}">
        <p14:creationId xmlns:p14="http://schemas.microsoft.com/office/powerpoint/2010/main" val="2547121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D4D30-4C1F-132A-E259-B50E0BEB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E438402B-B7C0-CE41-4B81-0FB3D5242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용역 개요 및 내용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AutoShape 761">
            <a:extLst>
              <a:ext uri="{FF2B5EF4-FFF2-40B4-BE49-F238E27FC236}">
                <a16:creationId xmlns:a16="http://schemas.microsoft.com/office/drawing/2014/main" id="{549D5A28-5B6E-DD26-FED1-B1F72E119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80" y="764704"/>
            <a:ext cx="2196753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6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용역 내용 및 범위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95DF8A-974C-D27A-1898-0973D99FE216}"/>
              </a:ext>
            </a:extLst>
          </p:cNvPr>
          <p:cNvSpPr txBox="1"/>
          <p:nvPr/>
        </p:nvSpPr>
        <p:spPr>
          <a:xfrm>
            <a:off x="2581378" y="770637"/>
            <a:ext cx="17235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u="none" dirty="0">
                <a:solidFill>
                  <a:schemeClr val="tx1"/>
                </a:solidFill>
                <a:latin typeface="현대하모니 L"/>
                <a:ea typeface="현대하모니 B"/>
              </a:rPr>
              <a:t>② </a:t>
            </a:r>
            <a:r>
              <a:rPr lang="en-US" altLang="ko-KR" sz="1600" b="1" u="none" dirty="0">
                <a:solidFill>
                  <a:schemeClr val="tx1"/>
                </a:solidFill>
                <a:latin typeface="현대하모니 L"/>
                <a:ea typeface="현대하모니 B"/>
              </a:rPr>
              <a:t>Melon Music</a:t>
            </a:r>
            <a:endParaRPr lang="ko-KR" altLang="en-US" sz="1600" b="1" u="none" dirty="0">
              <a:solidFill>
                <a:schemeClr val="tx1"/>
              </a:solidFill>
              <a:latin typeface="현대하모니 L"/>
              <a:ea typeface="현대하모니 B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DCEEF37-6B11-C601-C89B-17D8F8490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462373"/>
              </p:ext>
            </p:extLst>
          </p:nvPr>
        </p:nvGraphicFramePr>
        <p:xfrm>
          <a:off x="272480" y="1196753"/>
          <a:ext cx="9217024" cy="5269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800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968246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8079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2249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현대하모니 M" pitchFamily="18" charset="-127"/>
                          <a:cs typeface="+mn-cs"/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현대하모니 M" pitchFamily="18" charset="-127"/>
                          <a:cs typeface="+mn-cs"/>
                        </a:rPr>
                        <a:t>유지 보수 세부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현대하모니 M" pitchFamily="18" charset="-127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29024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>
                          <a:ea typeface="현대하모니 B"/>
                        </a:rPr>
                        <a:t>멜론</a:t>
                      </a:r>
                      <a:endParaRPr lang="en-US" altLang="ko-KR" sz="1400" dirty="0">
                        <a:ea typeface="현대하모니 B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>
                          <a:ea typeface="현대하모니 B"/>
                        </a:rPr>
                        <a:t>재생목록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L"/>
                        </a:rPr>
                        <a:t>재생된 음원 재생목록 리스트에 추가</a:t>
                      </a:r>
                      <a:endParaRPr lang="en-US" altLang="ko-KR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L"/>
                        </a:rPr>
                        <a:t>재생목록 리스트 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29024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ea typeface="현대하모니 B"/>
                        </a:rPr>
                        <a:t>24 Hits</a:t>
                      </a:r>
                      <a:endParaRPr lang="ko-KR" altLang="en-US" sz="14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현대하모니 L"/>
                          <a:cs typeface="+mn-cs"/>
                        </a:rPr>
                        <a:t>멜론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현대하모니 L"/>
                          <a:cs typeface="+mn-cs"/>
                        </a:rPr>
                        <a:t>24 Hits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현대하모니 L"/>
                          <a:cs typeface="+mn-cs"/>
                        </a:rPr>
                        <a:t>CCS </a:t>
                      </a:r>
                      <a:r>
                        <a:rPr lang="ko-KR" altLang="en-US" sz="1200" dirty="0">
                          <a:ea typeface="현대하모니 L"/>
                        </a:rPr>
                        <a:t>서버 연동</a:t>
                      </a:r>
                      <a:endParaRPr lang="en-US" altLang="ko-KR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L"/>
                        </a:rPr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L"/>
                        </a:rPr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29024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a typeface="현대하모니 B"/>
                        </a:rPr>
                        <a:t>좋아요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L"/>
                        </a:rPr>
                        <a:t>멜론 좋아요 </a:t>
                      </a:r>
                      <a:r>
                        <a:rPr lang="en-US" altLang="ko-KR" sz="1200" dirty="0">
                          <a:ea typeface="현대하모니 L"/>
                        </a:rPr>
                        <a:t>CCS </a:t>
                      </a:r>
                      <a:r>
                        <a:rPr lang="ko-KR" altLang="en-US" sz="1200" dirty="0">
                          <a:ea typeface="현대하모니 L"/>
                        </a:rPr>
                        <a:t>서버 연동</a:t>
                      </a:r>
                      <a:endParaRPr lang="en-US" altLang="ko-KR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L"/>
                        </a:rPr>
                        <a:t>음원 리스트</a:t>
                      </a:r>
                      <a:r>
                        <a:rPr lang="en-US" altLang="ko-KR" sz="1200" dirty="0">
                          <a:ea typeface="현대하모니 L"/>
                        </a:rPr>
                        <a:t>, </a:t>
                      </a:r>
                      <a:r>
                        <a:rPr lang="ko-KR" altLang="en-US" sz="1200" dirty="0">
                          <a:ea typeface="현대하모니 L"/>
                        </a:rPr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L"/>
                        </a:rPr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29024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a typeface="현대하모니 B"/>
                        </a:rPr>
                        <a:t>내 플레이 리스트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L"/>
                        </a:rPr>
                        <a:t>멜론 내 플레이 리스트 </a:t>
                      </a:r>
                      <a:r>
                        <a:rPr lang="en-US" altLang="ko-KR" sz="1200" dirty="0">
                          <a:ea typeface="현대하모니 L"/>
                        </a:rPr>
                        <a:t>CCS </a:t>
                      </a:r>
                      <a:r>
                        <a:rPr lang="ko-KR" altLang="en-US" sz="1200" dirty="0">
                          <a:ea typeface="현대하모니 L"/>
                        </a:rPr>
                        <a:t>서버 연동</a:t>
                      </a:r>
                      <a:endParaRPr lang="en-US" altLang="ko-KR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L"/>
                        </a:rPr>
                        <a:t>음원 리스트</a:t>
                      </a:r>
                      <a:r>
                        <a:rPr lang="en-US" altLang="ko-KR" sz="1200" dirty="0">
                          <a:ea typeface="현대하모니 L"/>
                        </a:rPr>
                        <a:t>, </a:t>
                      </a:r>
                      <a:r>
                        <a:rPr lang="ko-KR" altLang="en-US" sz="1200" dirty="0">
                          <a:ea typeface="현대하모니 L"/>
                        </a:rPr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L"/>
                        </a:rPr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29024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a typeface="현대하모니 B"/>
                        </a:rPr>
                        <a:t>최신 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L"/>
                        </a:rPr>
                        <a:t>멜론 최신 곡 </a:t>
                      </a:r>
                      <a:r>
                        <a:rPr lang="en-US" altLang="ko-KR" sz="1200" dirty="0">
                          <a:ea typeface="현대하모니 L"/>
                        </a:rPr>
                        <a:t>CCS </a:t>
                      </a:r>
                      <a:r>
                        <a:rPr lang="ko-KR" altLang="en-US" sz="1200" dirty="0">
                          <a:ea typeface="현대하모니 L"/>
                        </a:rPr>
                        <a:t>서버 연동</a:t>
                      </a:r>
                      <a:endParaRPr lang="en-US" altLang="ko-KR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L"/>
                        </a:rPr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L"/>
                        </a:rPr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92514"/>
                  </a:ext>
                </a:extLst>
              </a:tr>
              <a:tr h="29024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ea typeface="현대하모니 B"/>
                        </a:rPr>
                        <a:t>곡</a:t>
                      </a:r>
                      <a:r>
                        <a:rPr lang="en-US" altLang="ko-KR" sz="1400">
                          <a:ea typeface="현대하모니 B"/>
                        </a:rPr>
                        <a:t> </a:t>
                      </a:r>
                      <a:r>
                        <a:rPr lang="ko-KR" altLang="en-US" sz="1400">
                          <a:ea typeface="현대하모니 B"/>
                        </a:rPr>
                        <a:t>검색</a:t>
                      </a:r>
                      <a:endParaRPr lang="ko-KR" altLang="en-US" sz="14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L"/>
                        </a:rPr>
                        <a:t>멜론 검색기능 </a:t>
                      </a:r>
                      <a:r>
                        <a:rPr lang="en-US" altLang="ko-KR" sz="1200" dirty="0">
                          <a:ea typeface="현대하모니 L"/>
                        </a:rPr>
                        <a:t>CCS </a:t>
                      </a:r>
                      <a:r>
                        <a:rPr lang="ko-KR" altLang="en-US" sz="1200" dirty="0">
                          <a:ea typeface="현대하모니 L"/>
                        </a:rPr>
                        <a:t>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93838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L"/>
                        </a:rPr>
                        <a:t>곡</a:t>
                      </a:r>
                      <a:r>
                        <a:rPr lang="en-US" altLang="ko-KR" sz="1200" dirty="0">
                          <a:ea typeface="현대하모니 L"/>
                        </a:rPr>
                        <a:t>, </a:t>
                      </a:r>
                      <a:r>
                        <a:rPr lang="ko-KR" altLang="en-US" sz="1200" dirty="0">
                          <a:ea typeface="현대하모니 L"/>
                        </a:rPr>
                        <a:t>앨범 검색결과 목록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81613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>
                          <a:ea typeface="현대하모니 L"/>
                        </a:rPr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5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36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F3F0C-D6C1-CA71-05E2-393697AC7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09F7303A-E421-8869-9722-3F1EB5FB7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용역 개요 및 내용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AutoShape 761">
            <a:extLst>
              <a:ext uri="{FF2B5EF4-FFF2-40B4-BE49-F238E27FC236}">
                <a16:creationId xmlns:a16="http://schemas.microsoft.com/office/drawing/2014/main" id="{278CDC4A-2AC8-264C-2B66-100A5D3CA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80" y="764704"/>
            <a:ext cx="2196753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6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용역 내용 및 범위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839BC-7FB6-99FC-203C-E91EAB13D46C}"/>
              </a:ext>
            </a:extLst>
          </p:cNvPr>
          <p:cNvSpPr txBox="1"/>
          <p:nvPr/>
        </p:nvSpPr>
        <p:spPr>
          <a:xfrm>
            <a:off x="2604456" y="770637"/>
            <a:ext cx="12731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u="none" dirty="0">
                <a:solidFill>
                  <a:schemeClr val="tx1"/>
                </a:solidFill>
                <a:latin typeface="현대하모니 L"/>
                <a:ea typeface="현대하모니 B"/>
              </a:rPr>
              <a:t>③ </a:t>
            </a:r>
            <a:r>
              <a:rPr lang="en-US" altLang="ko-KR" sz="1600" b="1" u="none" dirty="0">
                <a:solidFill>
                  <a:schemeClr val="tx1"/>
                </a:solidFill>
                <a:latin typeface="현대하모니 L"/>
                <a:ea typeface="현대하모니 B"/>
              </a:rPr>
              <a:t>QQ Music</a:t>
            </a:r>
            <a:endParaRPr lang="ko-KR" altLang="en-US" sz="1600" b="1" u="none" dirty="0">
              <a:solidFill>
                <a:schemeClr val="tx1"/>
              </a:solidFill>
              <a:latin typeface="현대하모니 L"/>
              <a:ea typeface="현대하모니 B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FA604D-286F-6994-C424-EF10C7662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844965"/>
              </p:ext>
            </p:extLst>
          </p:nvPr>
        </p:nvGraphicFramePr>
        <p:xfrm>
          <a:off x="272480" y="1196753"/>
          <a:ext cx="9217024" cy="4963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800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968246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8079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2249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현대하모니 M" pitchFamily="18" charset="-127"/>
                          <a:cs typeface="+mn-cs"/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현대하모니 M" pitchFamily="18" charset="-127"/>
                          <a:cs typeface="+mn-cs"/>
                        </a:rPr>
                        <a:t>유지 보수 세부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현대하모니 M" pitchFamily="18" charset="-127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29024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>
                          <a:ea typeface="현대하모니 B"/>
                        </a:rPr>
                        <a:t>재생목록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B"/>
                        </a:rPr>
                        <a:t>재생된 음원 재생목록 리스트에 추가</a:t>
                      </a:r>
                      <a:endParaRPr lang="en-US" altLang="ko-KR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B"/>
                        </a:rPr>
                        <a:t>재생목록 리스트 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290241">
                <a:tc rowSpan="3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dirty="0">
                          <a:ea typeface="현대하모니 B"/>
                        </a:rPr>
                        <a:t>앨범 및 라디오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US" altLang="ko-KR" sz="1200" dirty="0" err="1">
                          <a:ea typeface="현대하모니 B"/>
                        </a:rPr>
                        <a:t>Tancent</a:t>
                      </a:r>
                      <a:r>
                        <a:rPr lang="en-US" altLang="ko-KR" sz="1200" dirty="0">
                          <a:ea typeface="현대하모니 B"/>
                        </a:rPr>
                        <a:t> </a:t>
                      </a:r>
                      <a:r>
                        <a:rPr lang="ko-KR" altLang="en-US" sz="1200" dirty="0">
                          <a:ea typeface="현대하모니 B"/>
                        </a:rPr>
                        <a:t>서버 연동</a:t>
                      </a:r>
                      <a:endParaRPr lang="en-US" altLang="ko-KR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B"/>
                        </a:rPr>
                        <a:t>앨범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200" dirty="0">
                          <a:ea typeface="현대하모니 B"/>
                        </a:rPr>
                        <a:t>라디오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29024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a typeface="현대하모니 B"/>
                        </a:rPr>
                        <a:t>좋아요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200" dirty="0" err="1">
                          <a:ea typeface="현대하모니 B"/>
                        </a:rPr>
                        <a:t>탄센트</a:t>
                      </a:r>
                      <a:r>
                        <a:rPr lang="ko-KR" altLang="en-US" sz="1200" dirty="0">
                          <a:ea typeface="현대하모니 B"/>
                        </a:rPr>
                        <a:t> 좋아요</a:t>
                      </a:r>
                      <a:r>
                        <a:rPr lang="en-US" altLang="ko-KR" sz="1200" dirty="0">
                          <a:ea typeface="현대하모니 B"/>
                        </a:rPr>
                        <a:t> </a:t>
                      </a:r>
                      <a:r>
                        <a:rPr lang="ko-KR" altLang="en-US" sz="1200" dirty="0">
                          <a:ea typeface="현대하모니 B"/>
                        </a:rPr>
                        <a:t>서버 연동</a:t>
                      </a:r>
                      <a:endParaRPr lang="en-US" altLang="ko-KR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B"/>
                        </a:rPr>
                        <a:t>음원 리스트</a:t>
                      </a:r>
                      <a:r>
                        <a:rPr lang="en-US" altLang="ko-KR" sz="1200" dirty="0">
                          <a:ea typeface="현대하모니 B"/>
                        </a:rPr>
                        <a:t>, </a:t>
                      </a:r>
                      <a:r>
                        <a:rPr lang="ko-KR" altLang="en-US" sz="1200" dirty="0">
                          <a:ea typeface="현대하모니 B"/>
                        </a:rPr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B"/>
                        </a:rPr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29024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a typeface="현대하모니 B"/>
                        </a:rPr>
                        <a:t>내 플레이 리스트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200" dirty="0" err="1">
                          <a:ea typeface="현대하모니 B"/>
                        </a:rPr>
                        <a:t>탄센트</a:t>
                      </a:r>
                      <a:r>
                        <a:rPr lang="ko-KR" altLang="en-US" sz="1200" dirty="0">
                          <a:ea typeface="현대하모니 B"/>
                        </a:rPr>
                        <a:t> 플레이 리스트</a:t>
                      </a:r>
                      <a:r>
                        <a:rPr lang="en-US" altLang="ko-KR" sz="1200" dirty="0">
                          <a:ea typeface="현대하모니 B"/>
                        </a:rPr>
                        <a:t> </a:t>
                      </a:r>
                      <a:r>
                        <a:rPr lang="ko-KR" altLang="en-US" sz="1200" dirty="0">
                          <a:ea typeface="현대하모니 B"/>
                        </a:rPr>
                        <a:t>서버 연동</a:t>
                      </a:r>
                      <a:endParaRPr lang="en-US" altLang="ko-KR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B"/>
                        </a:rPr>
                        <a:t>음원 리스트</a:t>
                      </a:r>
                      <a:r>
                        <a:rPr lang="en-US" altLang="ko-KR" sz="1200" dirty="0">
                          <a:ea typeface="현대하모니 B"/>
                        </a:rPr>
                        <a:t>, </a:t>
                      </a:r>
                      <a:r>
                        <a:rPr lang="ko-KR" altLang="en-US" sz="1200" dirty="0">
                          <a:ea typeface="현대하모니 B"/>
                        </a:rPr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ea typeface="현대하모니 B"/>
                        </a:rPr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1444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a typeface="현대하모니 B"/>
                        </a:rPr>
                        <a:t>로그인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200" dirty="0" err="1">
                          <a:ea typeface="현대하모니 B"/>
                        </a:rPr>
                        <a:t>탄센트</a:t>
                      </a:r>
                      <a:r>
                        <a:rPr lang="ko-KR" altLang="en-US" sz="1200" dirty="0">
                          <a:ea typeface="현대하모니 B"/>
                        </a:rPr>
                        <a:t> 로그인 서버 연동</a:t>
                      </a:r>
                      <a:endParaRPr lang="en-US" altLang="ko-KR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200" dirty="0" err="1">
                          <a:ea typeface="현대하모니 B"/>
                        </a:rPr>
                        <a:t>위챗</a:t>
                      </a:r>
                      <a:r>
                        <a:rPr lang="ko-KR" altLang="en-US" sz="1200" dirty="0">
                          <a:ea typeface="현대하모니 B"/>
                        </a:rPr>
                        <a:t> 로그인 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92514"/>
                  </a:ext>
                </a:extLst>
              </a:tr>
              <a:tr h="29024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ea typeface="현대하모니 B"/>
                        </a:rPr>
                        <a:t>곡</a:t>
                      </a:r>
                      <a:r>
                        <a:rPr lang="en-US" altLang="ko-KR" sz="1400">
                          <a:ea typeface="현대하모니 B"/>
                        </a:rPr>
                        <a:t> </a:t>
                      </a:r>
                      <a:r>
                        <a:rPr lang="ko-KR" altLang="en-US" sz="1400">
                          <a:ea typeface="현대하모니 B"/>
                        </a:rPr>
                        <a:t>검색</a:t>
                      </a:r>
                      <a:endParaRPr lang="ko-KR" altLang="en-US" sz="14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200" dirty="0" err="1">
                          <a:ea typeface="현대하모니 B"/>
                        </a:rPr>
                        <a:t>탄센트</a:t>
                      </a:r>
                      <a:r>
                        <a:rPr lang="ko-KR" altLang="en-US" sz="1200" dirty="0">
                          <a:ea typeface="현대하모니 B"/>
                        </a:rPr>
                        <a:t> 검색</a:t>
                      </a:r>
                      <a:r>
                        <a:rPr lang="en-US" altLang="ko-KR" sz="1200" dirty="0">
                          <a:ea typeface="현대하모니 B"/>
                        </a:rPr>
                        <a:t> </a:t>
                      </a:r>
                      <a:r>
                        <a:rPr lang="ko-KR" altLang="en-US" sz="1200" dirty="0">
                          <a:ea typeface="현대하모니 B"/>
                        </a:rPr>
                        <a:t>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93838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200" dirty="0">
                          <a:ea typeface="현대하모니 B"/>
                        </a:rPr>
                        <a:t>앨범 및 라디오 검색결과 목록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81613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>
                          <a:ea typeface="현대하모니 B"/>
                        </a:rPr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B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5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3738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C922A-EC99-ED8D-3179-1318CED82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29025FBA-EAB0-E000-3AFA-C483FBDD7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용역 개요 및 내용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AutoShape 761">
            <a:extLst>
              <a:ext uri="{FF2B5EF4-FFF2-40B4-BE49-F238E27FC236}">
                <a16:creationId xmlns:a16="http://schemas.microsoft.com/office/drawing/2014/main" id="{CEB6D1C6-C681-8795-097F-A30011A59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80" y="764704"/>
            <a:ext cx="2196753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6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용역 내용 및 범위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D7610-2BD3-2913-AC7F-7CB00A8BA693}"/>
              </a:ext>
            </a:extLst>
          </p:cNvPr>
          <p:cNvSpPr txBox="1"/>
          <p:nvPr/>
        </p:nvSpPr>
        <p:spPr>
          <a:xfrm>
            <a:off x="2576736" y="770637"/>
            <a:ext cx="846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u="none" dirty="0">
                <a:solidFill>
                  <a:schemeClr val="tx1"/>
                </a:solidFill>
                <a:latin typeface="현대하모니 L"/>
                <a:ea typeface="현대하모니 B"/>
              </a:rPr>
              <a:t>④ 공통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929F796-7AE0-7519-1FA5-A7D50B613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454061"/>
              </p:ext>
            </p:extLst>
          </p:nvPr>
        </p:nvGraphicFramePr>
        <p:xfrm>
          <a:off x="272480" y="1196753"/>
          <a:ext cx="9217024" cy="4282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800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968246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8079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2249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현대하모니 M" pitchFamily="18" charset="-127"/>
                          <a:cs typeface="+mn-cs"/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현대하모니 M" pitchFamily="18" charset="-127"/>
                          <a:cs typeface="+mn-cs"/>
                        </a:rPr>
                        <a:t>유지 보수 세부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현대하모니 M" pitchFamily="18" charset="-127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290241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현대하모니 L"/>
                          <a:ea typeface="현대하모니 L"/>
                        </a:rPr>
                        <a:t>스트리밍 </a:t>
                      </a:r>
                      <a:endParaRPr lang="en-US" altLang="ko-KR" sz="1400" dirty="0">
                        <a:latin typeface="현대하모니 L"/>
                        <a:ea typeface="현대하모니 L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현대하모니 L"/>
                          <a:ea typeface="현대하모니 L"/>
                        </a:rPr>
                        <a:t>플레이어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음원 재생 관련 </a:t>
                      </a:r>
                      <a:r>
                        <a:rPr lang="en-US" altLang="ko-KR" sz="1200" dirty="0">
                          <a:latin typeface="현대하모니 L"/>
                          <a:ea typeface="현대하모니 L"/>
                        </a:rPr>
                        <a:t>CCS </a:t>
                      </a: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서버 연동</a:t>
                      </a:r>
                      <a:endParaRPr lang="en-US" altLang="ko-KR" sz="1200" dirty="0">
                        <a:latin typeface="현대하모니 L"/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스트리밍 플레이어 연동하여 음원 재생</a:t>
                      </a:r>
                      <a:endParaRPr lang="en-US" altLang="ko-KR" sz="1200" dirty="0">
                        <a:latin typeface="현대하모니 L"/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스트리밍 뮤직 데이터 </a:t>
                      </a:r>
                      <a:r>
                        <a:rPr lang="ko-KR" altLang="en-US" sz="1200" dirty="0" err="1">
                          <a:latin typeface="현대하모니 L"/>
                          <a:ea typeface="현대하모니 L"/>
                        </a:rPr>
                        <a:t>캐싱</a:t>
                      </a: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 처리 로직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곡 정보 표출 관련 </a:t>
                      </a:r>
                      <a:r>
                        <a:rPr lang="en-US" altLang="ko-KR" sz="1200" dirty="0">
                          <a:latin typeface="현대하모니 L"/>
                          <a:ea typeface="현대하모니 L"/>
                        </a:rPr>
                        <a:t>GUI </a:t>
                      </a: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음원 가사 출력</a:t>
                      </a:r>
                      <a:endParaRPr lang="en-US" altLang="ko-KR" sz="1200" dirty="0">
                        <a:latin typeface="현대하모니 L"/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좋아요 기능 연동  </a:t>
                      </a:r>
                      <a:endParaRPr lang="en-US" altLang="ko-KR" sz="1200" dirty="0">
                        <a:latin typeface="현대하모니 L"/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2902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현대하모니 L"/>
                          <a:ea typeface="현대하모니 L"/>
                        </a:rPr>
                        <a:t>운전자 프로필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운전자 프로필 별 재생목록 별도 관리</a:t>
                      </a:r>
                      <a:endParaRPr lang="en-US" altLang="ko-KR" sz="1200" dirty="0">
                        <a:latin typeface="현대하모니 L"/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2902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운전자 프로필 별 플레이어 설정 정보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29024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>
                          <a:latin typeface="현대하모니 L"/>
                          <a:ea typeface="현대하모니 L"/>
                        </a:rPr>
                        <a:t>분할화면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dirty="0">
                          <a:latin typeface="현대하모니 L"/>
                          <a:ea typeface="현대하모니 L"/>
                        </a:rPr>
                        <a:t>IVI </a:t>
                      </a: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분할화면에 재생정보 전달하여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2902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현대하모니 L"/>
                          <a:ea typeface="현대하모니 L"/>
                        </a:rPr>
                        <a:t>모드매니져</a:t>
                      </a:r>
                      <a:endParaRPr lang="ko-KR" altLang="en-US" sz="1400" dirty="0">
                        <a:latin typeface="현대하모니 L"/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dirty="0">
                          <a:latin typeface="현대하모니 L"/>
                          <a:ea typeface="현대하모니 L"/>
                        </a:rPr>
                        <a:t>IVI </a:t>
                      </a: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기능 변경 시 지니</a:t>
                      </a:r>
                      <a:r>
                        <a:rPr lang="en-US" altLang="ko-KR" sz="1200" dirty="0">
                          <a:latin typeface="현대하모니 L"/>
                          <a:ea typeface="현대하모니 L"/>
                        </a:rPr>
                        <a:t>/</a:t>
                      </a: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멜론 모드변경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2902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현대하모니 L"/>
                          <a:ea typeface="현대하모니 L"/>
                        </a:rPr>
                        <a:t>인디케이터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재생중인 음원 정보 인디케이터로 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>
                          <a:latin typeface="현대하모니 L"/>
                          <a:ea typeface="현대하모니 L"/>
                        </a:rPr>
                        <a:t>단말기 </a:t>
                      </a:r>
                      <a:r>
                        <a:rPr lang="ko-KR" altLang="en-US" sz="1400" dirty="0" err="1">
                          <a:latin typeface="현대하모니 L"/>
                          <a:ea typeface="현대하모니 L"/>
                        </a:rPr>
                        <a:t>하드키</a:t>
                      </a:r>
                      <a:endParaRPr lang="ko-KR" altLang="en-US" sz="1400" dirty="0">
                        <a:latin typeface="현대하모니 L"/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 err="1">
                          <a:latin typeface="현대하모니 L"/>
                          <a:ea typeface="현대하모니 L"/>
                        </a:rPr>
                        <a:t>볼륨노브</a:t>
                      </a:r>
                      <a:r>
                        <a:rPr lang="en-US" altLang="ko-KR" sz="1200" dirty="0">
                          <a:latin typeface="현대하모니 L"/>
                          <a:ea typeface="현대하모니 L"/>
                        </a:rPr>
                        <a:t>, Seek </a:t>
                      </a: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버튼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2822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현대하모니 L"/>
                          <a:ea typeface="현대하모니 L"/>
                        </a:rPr>
                        <a:t>음성인식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음성인식을 이용한 음원 검색 및 명령어 처리</a:t>
                      </a:r>
                      <a:endParaRPr lang="ko-KR" altLang="en-US" dirty="0">
                        <a:latin typeface="현대하모니 L"/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ea typeface="현대하모니 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671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901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marR="0" lvl="0" indent="-508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2. 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업무별 수행 방안 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(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검수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포함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현대하모니 B" pitchFamily="18" charset="-127"/>
              <a:ea typeface="현대하모니 B" pitchFamily="18" charset="-127"/>
              <a:cs typeface="+mn-cs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B057B5A-D059-8CD2-B96E-8A4BDEF27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553827"/>
              </p:ext>
            </p:extLst>
          </p:nvPr>
        </p:nvGraphicFramePr>
        <p:xfrm>
          <a:off x="346930" y="1221155"/>
          <a:ext cx="8929688" cy="51066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834448901"/>
                    </a:ext>
                  </a:extLst>
                </a:gridCol>
                <a:gridCol w="1045258">
                  <a:extLst>
                    <a:ext uri="{9D8B030D-6E8A-4147-A177-3AD203B41FA5}">
                      <a16:colId xmlns:a16="http://schemas.microsoft.com/office/drawing/2014/main" val="2477019585"/>
                    </a:ext>
                  </a:extLst>
                </a:gridCol>
                <a:gridCol w="1544588">
                  <a:extLst>
                    <a:ext uri="{9D8B030D-6E8A-4147-A177-3AD203B41FA5}">
                      <a16:colId xmlns:a16="http://schemas.microsoft.com/office/drawing/2014/main" val="716681536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4197361404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915706603"/>
                    </a:ext>
                  </a:extLst>
                </a:gridCol>
                <a:gridCol w="1731330">
                  <a:extLst>
                    <a:ext uri="{9D8B030D-6E8A-4147-A177-3AD203B41FA5}">
                      <a16:colId xmlns:a16="http://schemas.microsoft.com/office/drawing/2014/main" val="3133949415"/>
                    </a:ext>
                  </a:extLst>
                </a:gridCol>
              </a:tblGrid>
              <a:tr h="3356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itchFamily="18" charset="-127"/>
                          <a:ea typeface="현대하모니 L" pitchFamily="18" charset="-127"/>
                        </a:rPr>
                        <a:t>구분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itchFamily="18" charset="-127"/>
                          <a:ea typeface="현대하모니 L" pitchFamily="18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현대하모니 L" pitchFamily="18" charset="-127"/>
                          <a:ea typeface="현대하모니 L" pitchFamily="18" charset="-127"/>
                        </a:rPr>
                        <a:t>1</a:t>
                      </a:r>
                      <a:endParaRPr lang="ko-KR" altLang="en-US" sz="12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현대하모니 L" pitchFamily="18" charset="-127"/>
                          <a:ea typeface="현대하모니 L" pitchFamily="18" charset="-127"/>
                        </a:rPr>
                        <a:t>2</a:t>
                      </a:r>
                      <a:endParaRPr lang="ko-KR" altLang="en-US" sz="12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현대하모니 L" pitchFamily="18" charset="-127"/>
                          <a:ea typeface="현대하모니 L" pitchFamily="18" charset="-127"/>
                        </a:rPr>
                        <a:t>3</a:t>
                      </a:r>
                      <a:endParaRPr lang="ko-KR" altLang="en-US" sz="12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현대하모니 L" pitchFamily="18" charset="-127"/>
                          <a:ea typeface="현대하모니 L" pitchFamily="18" charset="-127"/>
                        </a:rPr>
                        <a:t>4</a:t>
                      </a:r>
                      <a:endParaRPr lang="ko-KR" altLang="en-US" sz="12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440024"/>
                  </a:ext>
                </a:extLst>
              </a:tr>
              <a:tr h="208877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u="none" dirty="0">
                          <a:latin typeface="현대하모니 M" pitchFamily="18" charset="-127"/>
                          <a:ea typeface="현대하모니 L"/>
                        </a:rPr>
                        <a:t>2025</a:t>
                      </a:r>
                      <a:r>
                        <a:rPr lang="ko-KR" altLang="en-US" sz="1200" b="1" u="none" dirty="0">
                          <a:solidFill>
                            <a:srgbClr val="000000"/>
                          </a:solidFill>
                          <a:ea typeface="현대하모니 L"/>
                        </a:rPr>
                        <a:t>년도 표준형 </a:t>
                      </a:r>
                      <a:r>
                        <a:rPr lang="en-US" altLang="ko-KR" sz="1200" b="1" u="none" dirty="0">
                          <a:latin typeface="현대하모니 M" pitchFamily="18" charset="-127"/>
                          <a:ea typeface="현대하모니 L"/>
                        </a:rPr>
                        <a:t>5</a:t>
                      </a:r>
                      <a:r>
                        <a:rPr lang="ko-KR" altLang="en-US" sz="1200" b="1" u="none" dirty="0">
                          <a:solidFill>
                            <a:srgbClr val="000000"/>
                          </a:solidFill>
                          <a:ea typeface="현대하모니 L"/>
                        </a:rPr>
                        <a:t>세대 와이드 </a:t>
                      </a:r>
                      <a:r>
                        <a:rPr lang="en-US" altLang="ko-KR" sz="1200" b="1" u="none" dirty="0">
                          <a:latin typeface="현대하모니 M" pitchFamily="18" charset="-127"/>
                          <a:ea typeface="현대하모니 L"/>
                        </a:rPr>
                        <a:t>AVN</a:t>
                      </a:r>
                      <a:r>
                        <a:rPr lang="ko-KR" altLang="en-US" sz="1200" b="1" u="none" dirty="0">
                          <a:solidFill>
                            <a:srgbClr val="000000"/>
                          </a:solidFill>
                          <a:ea typeface="현대하모니 L"/>
                        </a:rPr>
                        <a:t>제품 </a:t>
                      </a:r>
                      <a:r>
                        <a:rPr lang="ko-KR" altLang="en-US" sz="1200" b="1" u="none" dirty="0" err="1">
                          <a:solidFill>
                            <a:srgbClr val="000000"/>
                          </a:solidFill>
                          <a:ea typeface="현대하모니 L"/>
                        </a:rPr>
                        <a:t>뮤직스트리밍</a:t>
                      </a:r>
                      <a:endParaRPr lang="en-US" altLang="ko-KR" sz="1200" b="1" u="none" dirty="0">
                        <a:solidFill>
                          <a:srgbClr val="000000"/>
                        </a:solidFill>
                        <a:ea typeface="현대하모니 L"/>
                      </a:endParaRPr>
                    </a:p>
                    <a:p>
                      <a:pPr algn="ctr" latinLnBrk="1"/>
                      <a:endParaRPr lang="en-US" altLang="ko-KR" sz="1200" b="1" u="none" dirty="0">
                        <a:solidFill>
                          <a:srgbClr val="000000"/>
                        </a:solidFill>
                        <a:ea typeface="현대하모니 L"/>
                      </a:endParaRPr>
                    </a:p>
                    <a:p>
                      <a:pPr algn="ctr" latinLnBrk="1"/>
                      <a:r>
                        <a:rPr lang="ko-KR" altLang="en-US" sz="1200" b="1" u="none" dirty="0">
                          <a:solidFill>
                            <a:srgbClr val="000000"/>
                          </a:solidFill>
                          <a:ea typeface="현대하모니 L"/>
                        </a:rPr>
                        <a:t> 유지보수 개발</a:t>
                      </a:r>
                      <a:r>
                        <a:rPr kumimoji="0" lang="ko-KR" altLang="en-US" sz="1200" b="1" u="none" kern="0" dirty="0">
                          <a:solidFill>
                            <a:sysClr val="windowText" lastClr="000000"/>
                          </a:solidFill>
                          <a:latin typeface="현대하모니 M" pitchFamily="18" charset="-127"/>
                          <a:ea typeface="현대하모니 L"/>
                        </a:rPr>
                        <a:t> </a:t>
                      </a:r>
                      <a:endParaRPr lang="ko-KR" altLang="en-US" sz="1200" b="1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112956"/>
                  </a:ext>
                </a:extLst>
              </a:tr>
              <a:tr h="26821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itchFamily="18" charset="-127"/>
                          <a:ea typeface="현대하모니 L"/>
                        </a:rPr>
                        <a:t>협력사</a:t>
                      </a:r>
                      <a:endParaRPr lang="en-US" altLang="ko-KR" sz="12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07719"/>
                  </a:ext>
                </a:extLst>
              </a:tr>
            </a:tbl>
          </a:graphicData>
        </a:graphic>
      </p:graphicFrame>
      <p:sp>
        <p:nvSpPr>
          <p:cNvPr id="8200" name="AutoShape 761">
            <a:extLst>
              <a:ext uri="{FF2B5EF4-FFF2-40B4-BE49-F238E27FC236}">
                <a16:creationId xmlns:a16="http://schemas.microsoft.com/office/drawing/2014/main" id="{ECCD9078-4AC0-7DBD-2131-4AFC36C5F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9" y="694267"/>
            <a:ext cx="1872084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 marL="0" marR="0" lvl="0" indent="0" algn="l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u="none" dirty="0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itchFamily="2" charset="2"/>
              </a:rPr>
              <a:t>1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itchFamily="2" charset="2"/>
              </a:rPr>
              <a:t>)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유지보수 업무절차</a:t>
            </a:r>
          </a:p>
        </p:txBody>
      </p:sp>
      <p:pic>
        <p:nvPicPr>
          <p:cNvPr id="5" name="Picture 4" descr="현대모비스 로고">
            <a:extLst>
              <a:ext uri="{FF2B5EF4-FFF2-40B4-BE49-F238E27FC236}">
                <a16:creationId xmlns:a16="http://schemas.microsoft.com/office/drawing/2014/main" id="{3C3F52EB-6F00-0390-0CBB-6210D7B50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077" y="2276872"/>
            <a:ext cx="897022" cy="420790"/>
          </a:xfrm>
          <a:prstGeom prst="roundRect">
            <a:avLst/>
          </a:prstGeom>
          <a:noFill/>
          <a:ln>
            <a:solidFill>
              <a:srgbClr val="000099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회장님차 납시오... 미국의 현대기아 그리고 제네시스 - 카가이">
            <a:extLst>
              <a:ext uri="{FF2B5EF4-FFF2-40B4-BE49-F238E27FC236}">
                <a16:creationId xmlns:a16="http://schemas.microsoft.com/office/drawing/2014/main" id="{02D5BF9E-AF74-014D-3D8E-4ACF732EB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766" y="2064173"/>
            <a:ext cx="1094964" cy="788374"/>
          </a:xfrm>
          <a:prstGeom prst="roundRect">
            <a:avLst>
              <a:gd name="adj" fmla="val 7570"/>
            </a:avLst>
          </a:prstGeom>
          <a:noFill/>
          <a:ln>
            <a:solidFill>
              <a:srgbClr val="000099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현대모비스 로고">
            <a:extLst>
              <a:ext uri="{FF2B5EF4-FFF2-40B4-BE49-F238E27FC236}">
                <a16:creationId xmlns:a16="http://schemas.microsoft.com/office/drawing/2014/main" id="{59E5A06D-B794-2C6B-94EB-A8C0BC0A0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200" y="2219059"/>
            <a:ext cx="1165695" cy="478603"/>
          </a:xfrm>
          <a:prstGeom prst="roundRect">
            <a:avLst>
              <a:gd name="adj" fmla="val 12583"/>
            </a:avLst>
          </a:prstGeom>
          <a:noFill/>
          <a:ln>
            <a:solidFill>
              <a:srgbClr val="000099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모서리가 둥근 직사각형 1">
            <a:extLst>
              <a:ext uri="{FF2B5EF4-FFF2-40B4-BE49-F238E27FC236}">
                <a16:creationId xmlns:a16="http://schemas.microsoft.com/office/drawing/2014/main" id="{40A79B3B-4931-2632-7303-D2FB70FDB036}"/>
              </a:ext>
            </a:extLst>
          </p:cNvPr>
          <p:cNvSpPr/>
          <p:nvPr/>
        </p:nvSpPr>
        <p:spPr bwMode="auto">
          <a:xfrm>
            <a:off x="7763059" y="2015000"/>
            <a:ext cx="1263247" cy="886721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00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모비스</a:t>
            </a:r>
            <a:r>
              <a:rPr lang="en-US" altLang="ko-KR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QA</a:t>
            </a:r>
            <a:endParaRPr lang="ko-KR" altLang="en-US" sz="1200" b="1" u="none" dirty="0">
              <a:solidFill>
                <a:schemeClr val="tx1"/>
              </a:solidFill>
              <a:latin typeface="+mn-ea"/>
              <a:ea typeface="현대하모니 L"/>
            </a:endParaRPr>
          </a:p>
        </p:txBody>
      </p:sp>
      <p:sp>
        <p:nvSpPr>
          <p:cNvPr id="15" name="모서리가 둥근 직사각형 1">
            <a:extLst>
              <a:ext uri="{FF2B5EF4-FFF2-40B4-BE49-F238E27FC236}">
                <a16:creationId xmlns:a16="http://schemas.microsoft.com/office/drawing/2014/main" id="{5C8A08C9-388E-B9A1-01DC-C7F6ACE825D9}"/>
              </a:ext>
            </a:extLst>
          </p:cNvPr>
          <p:cNvSpPr/>
          <p:nvPr/>
        </p:nvSpPr>
        <p:spPr bwMode="auto">
          <a:xfrm>
            <a:off x="5891041" y="5130812"/>
            <a:ext cx="1263247" cy="443361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u="none" dirty="0" err="1">
                <a:solidFill>
                  <a:schemeClr val="tx1"/>
                </a:solidFill>
                <a:latin typeface="+mn-ea"/>
                <a:ea typeface="현대하모니 L"/>
              </a:rPr>
              <a:t>지니뮤직</a:t>
            </a:r>
            <a:endParaRPr lang="ko-KR" altLang="en-US" sz="1200" b="1" u="none" dirty="0">
              <a:solidFill>
                <a:schemeClr val="tx1"/>
              </a:solidFill>
              <a:latin typeface="+mn-ea"/>
              <a:ea typeface="현대하모니 L"/>
            </a:endParaRPr>
          </a:p>
        </p:txBody>
      </p:sp>
      <p:pic>
        <p:nvPicPr>
          <p:cNvPr id="19" name="그림 18" descr="텍스트, 식탁용기구, 플레이트, 접시이(가) 표시된 사진&#10;&#10;자동 생성된 설명">
            <a:extLst>
              <a:ext uri="{FF2B5EF4-FFF2-40B4-BE49-F238E27FC236}">
                <a16:creationId xmlns:a16="http://schemas.microsoft.com/office/drawing/2014/main" id="{25C54CBA-0949-0099-8328-5E9A0B7CD2D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14"/>
          <a:stretch/>
        </p:blipFill>
        <p:spPr>
          <a:xfrm>
            <a:off x="2454561" y="4188023"/>
            <a:ext cx="1314148" cy="3700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BDA7022-5370-B9E0-1B0C-BE178CD4797F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711293" y="2458361"/>
            <a:ext cx="512907" cy="0"/>
          </a:xfrm>
          <a:prstGeom prst="straightConnector1">
            <a:avLst/>
          </a:prstGeom>
          <a:ln>
            <a:solidFill>
              <a:srgbClr val="00009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887995C-A9DD-7CB1-9630-9A1D08943C43}"/>
              </a:ext>
            </a:extLst>
          </p:cNvPr>
          <p:cNvCxnSpPr/>
          <p:nvPr/>
        </p:nvCxnSpPr>
        <p:spPr>
          <a:xfrm flipV="1">
            <a:off x="6522664" y="2887741"/>
            <a:ext cx="0" cy="224307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1">
            <a:extLst>
              <a:ext uri="{FF2B5EF4-FFF2-40B4-BE49-F238E27FC236}">
                <a16:creationId xmlns:a16="http://schemas.microsoft.com/office/drawing/2014/main" id="{8478DF0E-A824-D652-8979-20A54DFD5A31}"/>
              </a:ext>
            </a:extLst>
          </p:cNvPr>
          <p:cNvSpPr/>
          <p:nvPr/>
        </p:nvSpPr>
        <p:spPr bwMode="auto">
          <a:xfrm>
            <a:off x="5891041" y="4143423"/>
            <a:ext cx="1263247" cy="443361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멜론뮤직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8758FACE-3DEF-CF55-19FD-F05BAB4C0774}"/>
              </a:ext>
            </a:extLst>
          </p:cNvPr>
          <p:cNvCxnSpPr>
            <a:cxnSpLocks/>
            <a:stCxn id="19" idx="3"/>
            <a:endCxn id="14" idx="1"/>
          </p:cNvCxnSpPr>
          <p:nvPr/>
        </p:nvCxnSpPr>
        <p:spPr>
          <a:xfrm flipV="1">
            <a:off x="3768709" y="4365104"/>
            <a:ext cx="2122332" cy="7950"/>
          </a:xfrm>
          <a:prstGeom prst="straightConnector1">
            <a:avLst/>
          </a:prstGeom>
          <a:ln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1">
            <a:extLst>
              <a:ext uri="{FF2B5EF4-FFF2-40B4-BE49-F238E27FC236}">
                <a16:creationId xmlns:a16="http://schemas.microsoft.com/office/drawing/2014/main" id="{F3740D8E-E9F9-9104-FE61-1E9034341066}"/>
              </a:ext>
            </a:extLst>
          </p:cNvPr>
          <p:cNvSpPr/>
          <p:nvPr/>
        </p:nvSpPr>
        <p:spPr bwMode="auto">
          <a:xfrm>
            <a:off x="4158223" y="4143423"/>
            <a:ext cx="1263247" cy="443361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설계 </a:t>
            </a:r>
            <a:r>
              <a:rPr lang="en-US" altLang="ko-KR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&amp; </a:t>
            </a:r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관리집단</a:t>
            </a:r>
            <a:endParaRPr lang="en-US" altLang="ko-KR" sz="1200" b="1" u="none" dirty="0">
              <a:solidFill>
                <a:schemeClr val="tx1"/>
              </a:solidFill>
              <a:latin typeface="+mn-ea"/>
              <a:ea typeface="현대하모니 L"/>
            </a:endParaRPr>
          </a:p>
          <a:p>
            <a:pPr algn="ctr"/>
            <a:r>
              <a:rPr lang="en-US" altLang="ko-KR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(PM &amp; PL)</a:t>
            </a:r>
            <a:endParaRPr lang="ko-KR" altLang="en-US" sz="1200" b="1" u="none" dirty="0">
              <a:solidFill>
                <a:schemeClr val="tx1"/>
              </a:solidFill>
              <a:latin typeface="+mn-ea"/>
              <a:ea typeface="현대하모니 L"/>
            </a:endParaRP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13D64DF0-D20B-FD34-E119-D44F542FAAB0}"/>
              </a:ext>
            </a:extLst>
          </p:cNvPr>
          <p:cNvCxnSpPr>
            <a:endCxn id="15" idx="1"/>
          </p:cNvCxnSpPr>
          <p:nvPr/>
        </p:nvCxnSpPr>
        <p:spPr>
          <a:xfrm rot="16200000" flipH="1">
            <a:off x="5252361" y="4713813"/>
            <a:ext cx="987390" cy="289969"/>
          </a:xfrm>
          <a:prstGeom prst="bentConnector2">
            <a:avLst/>
          </a:prstGeom>
          <a:ln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1" name="직선 화살표 연결선 8200">
            <a:extLst>
              <a:ext uri="{FF2B5EF4-FFF2-40B4-BE49-F238E27FC236}">
                <a16:creationId xmlns:a16="http://schemas.microsoft.com/office/drawing/2014/main" id="{4B8BA810-5D58-BB94-4737-F869A2B6D15F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4789847" y="2705612"/>
            <a:ext cx="0" cy="1437811"/>
          </a:xfrm>
          <a:prstGeom prst="straightConnector1">
            <a:avLst/>
          </a:prstGeom>
          <a:ln>
            <a:solidFill>
              <a:srgbClr val="00009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6" name="직선 연결선 8205">
            <a:extLst>
              <a:ext uri="{FF2B5EF4-FFF2-40B4-BE49-F238E27FC236}">
                <a16:creationId xmlns:a16="http://schemas.microsoft.com/office/drawing/2014/main" id="{652EDC90-8450-70FF-925A-00BDA7D9A220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5389895" y="2458361"/>
            <a:ext cx="2373164" cy="0"/>
          </a:xfrm>
          <a:prstGeom prst="line">
            <a:avLst/>
          </a:prstGeom>
          <a:ln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">
            <a:extLst>
              <a:ext uri="{FF2B5EF4-FFF2-40B4-BE49-F238E27FC236}">
                <a16:creationId xmlns:a16="http://schemas.microsoft.com/office/drawing/2014/main" id="{8389578E-1715-5F3C-F283-1FA6F69B680E}"/>
              </a:ext>
            </a:extLst>
          </p:cNvPr>
          <p:cNvSpPr/>
          <p:nvPr/>
        </p:nvSpPr>
        <p:spPr bwMode="auto">
          <a:xfrm>
            <a:off x="5891041" y="2015000"/>
            <a:ext cx="1263247" cy="886721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IVI</a:t>
            </a:r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방송</a:t>
            </a:r>
            <a:r>
              <a:rPr lang="en-US" altLang="ko-KR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/</a:t>
            </a:r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미디어</a:t>
            </a:r>
            <a:br>
              <a:rPr lang="en-US" altLang="ko-KR" sz="1200" b="1" u="none" dirty="0">
                <a:solidFill>
                  <a:schemeClr val="tx1"/>
                </a:solidFill>
                <a:latin typeface="+mn-ea"/>
                <a:ea typeface="현대하모니 L"/>
              </a:rPr>
            </a:br>
            <a:r>
              <a:rPr lang="en-US" altLang="ko-KR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APP</a:t>
            </a:r>
            <a:r>
              <a:rPr lang="ko-KR" altLang="en-US" sz="1200" b="1" u="none" dirty="0" err="1">
                <a:solidFill>
                  <a:schemeClr val="tx1"/>
                </a:solidFill>
                <a:latin typeface="+mn-ea"/>
                <a:ea typeface="현대하모니 L"/>
              </a:rPr>
              <a:t>개발셀</a:t>
            </a:r>
            <a:endParaRPr lang="ko-KR" altLang="en-US" sz="1200" b="1" u="none" dirty="0">
              <a:solidFill>
                <a:schemeClr val="tx1"/>
              </a:solidFill>
              <a:latin typeface="+mn-ea"/>
              <a:ea typeface="현대하모니 L"/>
            </a:endParaRPr>
          </a:p>
        </p:txBody>
      </p:sp>
      <p:cxnSp>
        <p:nvCxnSpPr>
          <p:cNvPr id="8216" name="연결선: 꺾임 8215">
            <a:extLst>
              <a:ext uri="{FF2B5EF4-FFF2-40B4-BE49-F238E27FC236}">
                <a16:creationId xmlns:a16="http://schemas.microsoft.com/office/drawing/2014/main" id="{E236B807-146B-20CA-842B-BCEA13005E8B}"/>
              </a:ext>
            </a:extLst>
          </p:cNvPr>
          <p:cNvCxnSpPr>
            <a:cxnSpLocks/>
            <a:stCxn id="13" idx="2"/>
            <a:endCxn id="32" idx="2"/>
          </p:cNvCxnSpPr>
          <p:nvPr/>
        </p:nvCxnSpPr>
        <p:spPr>
          <a:xfrm rot="5400000">
            <a:off x="5749734" y="1941834"/>
            <a:ext cx="1685063" cy="3604836"/>
          </a:xfrm>
          <a:prstGeom prst="bentConnector3">
            <a:avLst>
              <a:gd name="adj1" fmla="val 186116"/>
            </a:avLst>
          </a:prstGeom>
          <a:ln>
            <a:solidFill>
              <a:srgbClr val="00009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">
            <a:extLst>
              <a:ext uri="{FF2B5EF4-FFF2-40B4-BE49-F238E27FC236}">
                <a16:creationId xmlns:a16="http://schemas.microsoft.com/office/drawing/2014/main" id="{7ADE9D03-5BEB-D967-509D-56819267B60D}"/>
              </a:ext>
            </a:extLst>
          </p:cNvPr>
          <p:cNvSpPr/>
          <p:nvPr/>
        </p:nvSpPr>
        <p:spPr bwMode="auto">
          <a:xfrm>
            <a:off x="7763058" y="4638976"/>
            <a:ext cx="1263247" cy="443361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사내</a:t>
            </a:r>
            <a:r>
              <a:rPr lang="en-US" altLang="ko-KR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QC</a:t>
            </a:r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팀</a:t>
            </a:r>
          </a:p>
        </p:txBody>
      </p:sp>
      <p:sp>
        <p:nvSpPr>
          <p:cNvPr id="8240" name="TextBox 8239">
            <a:extLst>
              <a:ext uri="{FF2B5EF4-FFF2-40B4-BE49-F238E27FC236}">
                <a16:creationId xmlns:a16="http://schemas.microsoft.com/office/drawing/2014/main" id="{2D10FBC2-2D72-D2F3-C448-A33D0D1081EE}"/>
              </a:ext>
            </a:extLst>
          </p:cNvPr>
          <p:cNvSpPr txBox="1"/>
          <p:nvPr/>
        </p:nvSpPr>
        <p:spPr>
          <a:xfrm>
            <a:off x="7939322" y="3926413"/>
            <a:ext cx="939360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u="none" dirty="0">
                <a:solidFill>
                  <a:srgbClr val="C00000"/>
                </a:solidFill>
                <a:ea typeface="현대하모니 L"/>
              </a:rPr>
              <a:t>배포 버전 전달</a:t>
            </a:r>
          </a:p>
        </p:txBody>
      </p:sp>
      <p:sp>
        <p:nvSpPr>
          <p:cNvPr id="8241" name="TextBox 8240">
            <a:extLst>
              <a:ext uri="{FF2B5EF4-FFF2-40B4-BE49-F238E27FC236}">
                <a16:creationId xmlns:a16="http://schemas.microsoft.com/office/drawing/2014/main" id="{F5AC9C08-0C7D-8980-9C7F-E917F023C709}"/>
              </a:ext>
            </a:extLst>
          </p:cNvPr>
          <p:cNvSpPr txBox="1"/>
          <p:nvPr/>
        </p:nvSpPr>
        <p:spPr>
          <a:xfrm>
            <a:off x="6240535" y="3790613"/>
            <a:ext cx="564257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u="none" dirty="0">
                <a:solidFill>
                  <a:schemeClr val="tx1">
                    <a:lumMod val="65000"/>
                    <a:lumOff val="35000"/>
                  </a:schemeClr>
                </a:solidFill>
                <a:ea typeface="현대하모니 L"/>
              </a:rPr>
              <a:t>업무보고</a:t>
            </a:r>
          </a:p>
        </p:txBody>
      </p:sp>
      <p:sp>
        <p:nvSpPr>
          <p:cNvPr id="8242" name="TextBox 8241">
            <a:extLst>
              <a:ext uri="{FF2B5EF4-FFF2-40B4-BE49-F238E27FC236}">
                <a16:creationId xmlns:a16="http://schemas.microsoft.com/office/drawing/2014/main" id="{6F935A6B-17A8-90FB-9A95-856CD32B8318}"/>
              </a:ext>
            </a:extLst>
          </p:cNvPr>
          <p:cNvSpPr txBox="1"/>
          <p:nvPr/>
        </p:nvSpPr>
        <p:spPr>
          <a:xfrm>
            <a:off x="4430847" y="5126492"/>
            <a:ext cx="705321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u="none" dirty="0">
                <a:solidFill>
                  <a:srgbClr val="C00000"/>
                </a:solidFill>
                <a:ea typeface="현대하모니 L"/>
              </a:rPr>
              <a:t>이슈 분석</a:t>
            </a:r>
            <a:endParaRPr lang="en-US" altLang="ko-KR" sz="1100" b="1" u="none" dirty="0">
              <a:solidFill>
                <a:srgbClr val="C00000"/>
              </a:solidFill>
              <a:ea typeface="현대하모니 L"/>
            </a:endParaRPr>
          </a:p>
          <a:p>
            <a:pPr algn="ctr"/>
            <a:r>
              <a:rPr lang="en-US" altLang="ko-KR" sz="1100" b="1" u="none" dirty="0">
                <a:solidFill>
                  <a:srgbClr val="C00000"/>
                </a:solidFill>
                <a:latin typeface="+mn-ea"/>
                <a:ea typeface="현대하모니 L"/>
              </a:rPr>
              <a:t>&amp;</a:t>
            </a:r>
            <a:r>
              <a:rPr lang="ko-KR" altLang="en-US" sz="1100" b="1" u="none" dirty="0">
                <a:solidFill>
                  <a:srgbClr val="C00000"/>
                </a:solidFill>
                <a:ea typeface="현대하모니 L"/>
              </a:rPr>
              <a:t>업무 등록</a:t>
            </a:r>
          </a:p>
        </p:txBody>
      </p:sp>
      <p:sp>
        <p:nvSpPr>
          <p:cNvPr id="8243" name="TextBox 8242">
            <a:extLst>
              <a:ext uri="{FF2B5EF4-FFF2-40B4-BE49-F238E27FC236}">
                <a16:creationId xmlns:a16="http://schemas.microsoft.com/office/drawing/2014/main" id="{E3362F74-2C52-4192-AAFA-2682B33E5691}"/>
              </a:ext>
            </a:extLst>
          </p:cNvPr>
          <p:cNvSpPr txBox="1"/>
          <p:nvPr/>
        </p:nvSpPr>
        <p:spPr>
          <a:xfrm>
            <a:off x="5290745" y="4723610"/>
            <a:ext cx="684482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u="none" dirty="0">
                <a:solidFill>
                  <a:srgbClr val="C00000"/>
                </a:solidFill>
                <a:ea typeface="현대하모니 L"/>
              </a:rPr>
              <a:t>업무</a:t>
            </a:r>
            <a:r>
              <a:rPr lang="en-US" altLang="ko-KR" sz="1100" b="1" u="none" dirty="0">
                <a:solidFill>
                  <a:srgbClr val="C00000"/>
                </a:solidFill>
                <a:latin typeface="+mn-ea"/>
                <a:ea typeface="현대하모니 L"/>
              </a:rPr>
              <a:t>(Task)</a:t>
            </a:r>
            <a:endParaRPr lang="en-US" altLang="ko-KR" sz="1100" b="1" u="none" dirty="0">
              <a:solidFill>
                <a:srgbClr val="C00000"/>
              </a:solidFill>
              <a:ea typeface="현대하모니 L"/>
            </a:endParaRPr>
          </a:p>
          <a:p>
            <a:pPr algn="ctr"/>
            <a:r>
              <a:rPr lang="ko-KR" altLang="en-US" sz="1100" b="1" u="none" dirty="0">
                <a:solidFill>
                  <a:srgbClr val="C00000"/>
                </a:solidFill>
                <a:ea typeface="현대하모니 L"/>
              </a:rPr>
              <a:t>분석분배</a:t>
            </a:r>
          </a:p>
        </p:txBody>
      </p:sp>
      <p:sp>
        <p:nvSpPr>
          <p:cNvPr id="8244" name="TextBox 8243">
            <a:extLst>
              <a:ext uri="{FF2B5EF4-FFF2-40B4-BE49-F238E27FC236}">
                <a16:creationId xmlns:a16="http://schemas.microsoft.com/office/drawing/2014/main" id="{6F4BE723-58A5-7EEE-FC47-66DFB406A62B}"/>
              </a:ext>
            </a:extLst>
          </p:cNvPr>
          <p:cNvSpPr txBox="1"/>
          <p:nvPr/>
        </p:nvSpPr>
        <p:spPr>
          <a:xfrm>
            <a:off x="7648132" y="5370932"/>
            <a:ext cx="1460336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u="none" dirty="0">
                <a:solidFill>
                  <a:srgbClr val="C00000"/>
                </a:solidFill>
                <a:latin typeface="+mn-ea"/>
                <a:ea typeface="현대하모니 L"/>
              </a:rPr>
              <a:t>이슈보고</a:t>
            </a:r>
            <a:endParaRPr lang="en-US" altLang="ko-KR" sz="1100" b="1" u="none" dirty="0">
              <a:solidFill>
                <a:srgbClr val="C00000"/>
              </a:solidFill>
              <a:latin typeface="+mn-ea"/>
              <a:ea typeface="현대하모니 L"/>
            </a:endParaRPr>
          </a:p>
          <a:p>
            <a:pPr algn="ctr"/>
            <a:r>
              <a:rPr lang="en-US" altLang="ko-KR" sz="1100" b="1" u="none" dirty="0">
                <a:solidFill>
                  <a:srgbClr val="C00000"/>
                </a:solidFill>
                <a:latin typeface="+mn-ea"/>
                <a:ea typeface="현대하모니 L"/>
              </a:rPr>
              <a:t>(Defect, Improvement)</a:t>
            </a:r>
          </a:p>
        </p:txBody>
      </p:sp>
      <p:pic>
        <p:nvPicPr>
          <p:cNvPr id="8245" name="그림 8244" descr="텍스트, 식탁용기구, 플레이트, 접시이(가) 표시된 사진&#10;&#10;자동 생성된 설명">
            <a:extLst>
              <a:ext uri="{FF2B5EF4-FFF2-40B4-BE49-F238E27FC236}">
                <a16:creationId xmlns:a16="http://schemas.microsoft.com/office/drawing/2014/main" id="{379AB0D3-E2A5-BA88-C35A-72389D972FE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14"/>
          <a:stretch/>
        </p:blipFill>
        <p:spPr>
          <a:xfrm>
            <a:off x="1570053" y="4642530"/>
            <a:ext cx="657070" cy="185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</p:pic>
      <p:sp>
        <p:nvSpPr>
          <p:cNvPr id="8247" name="TextBox 8246">
            <a:extLst>
              <a:ext uri="{FF2B5EF4-FFF2-40B4-BE49-F238E27FC236}">
                <a16:creationId xmlns:a16="http://schemas.microsoft.com/office/drawing/2014/main" id="{3A8FA519-6408-9B23-606A-AE575491E3B1}"/>
              </a:ext>
            </a:extLst>
          </p:cNvPr>
          <p:cNvSpPr txBox="1"/>
          <p:nvPr/>
        </p:nvSpPr>
        <p:spPr>
          <a:xfrm>
            <a:off x="4027388" y="2976388"/>
            <a:ext cx="1524456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u="none" dirty="0">
                <a:solidFill>
                  <a:srgbClr val="C00000"/>
                </a:solidFill>
                <a:ea typeface="현대하모니 B"/>
              </a:rPr>
              <a:t>요구사항</a:t>
            </a:r>
            <a:r>
              <a:rPr lang="en-US" altLang="ko-KR" sz="1100" b="1" u="none" dirty="0">
                <a:solidFill>
                  <a:srgbClr val="C00000"/>
                </a:solidFill>
                <a:latin typeface="+mn-ea"/>
                <a:ea typeface="현대하모니 L"/>
              </a:rPr>
              <a:t> (New Feature)</a:t>
            </a:r>
            <a:endParaRPr lang="en-US" altLang="ko-KR" sz="1100" b="1" u="none" dirty="0">
              <a:solidFill>
                <a:srgbClr val="C00000"/>
              </a:solidFill>
              <a:ea typeface="현대하모니 B"/>
            </a:endParaRPr>
          </a:p>
          <a:p>
            <a:pPr algn="ctr"/>
            <a:r>
              <a:rPr lang="en-US" altLang="ko-KR" sz="1100" b="1" u="none" dirty="0">
                <a:solidFill>
                  <a:srgbClr val="C00000"/>
                </a:solidFill>
                <a:latin typeface="+mn-ea"/>
                <a:ea typeface="현대하모니 L"/>
              </a:rPr>
              <a:t>&amp;</a:t>
            </a:r>
            <a:r>
              <a:rPr lang="en-US" altLang="ko-KR" sz="1100" b="1" u="none" dirty="0">
                <a:solidFill>
                  <a:srgbClr val="C00000"/>
                </a:solidFill>
                <a:ea typeface="현대하모니 B"/>
              </a:rPr>
              <a:t> </a:t>
            </a:r>
            <a:r>
              <a:rPr lang="ko-KR" altLang="en-US" sz="1100" b="1" u="none" dirty="0">
                <a:solidFill>
                  <a:srgbClr val="C00000"/>
                </a:solidFill>
                <a:ea typeface="현대하모니 B"/>
              </a:rPr>
              <a:t>상황 공유</a:t>
            </a:r>
          </a:p>
        </p:txBody>
      </p:sp>
      <p:cxnSp>
        <p:nvCxnSpPr>
          <p:cNvPr id="8249" name="연결선: 꺾임 8248">
            <a:extLst>
              <a:ext uri="{FF2B5EF4-FFF2-40B4-BE49-F238E27FC236}">
                <a16:creationId xmlns:a16="http://schemas.microsoft.com/office/drawing/2014/main" id="{0AA9F78B-29C5-239A-A6F8-FA3E580B8D1F}"/>
              </a:ext>
            </a:extLst>
          </p:cNvPr>
          <p:cNvCxnSpPr>
            <a:stCxn id="15" idx="3"/>
            <a:endCxn id="14" idx="3"/>
          </p:cNvCxnSpPr>
          <p:nvPr/>
        </p:nvCxnSpPr>
        <p:spPr>
          <a:xfrm flipV="1">
            <a:off x="7154288" y="4365104"/>
            <a:ext cx="12700" cy="987389"/>
          </a:xfrm>
          <a:prstGeom prst="bentConnector3">
            <a:avLst>
              <a:gd name="adj1" fmla="val 1800000"/>
            </a:avLst>
          </a:prstGeom>
          <a:ln>
            <a:solidFill>
              <a:srgbClr val="00009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50" name="TextBox 8249">
            <a:extLst>
              <a:ext uri="{FF2B5EF4-FFF2-40B4-BE49-F238E27FC236}">
                <a16:creationId xmlns:a16="http://schemas.microsoft.com/office/drawing/2014/main" id="{6478CD4A-8402-6728-6E6B-C4E8275D05C2}"/>
              </a:ext>
            </a:extLst>
          </p:cNvPr>
          <p:cNvSpPr txBox="1"/>
          <p:nvPr/>
        </p:nvSpPr>
        <p:spPr>
          <a:xfrm>
            <a:off x="7238474" y="4641194"/>
            <a:ext cx="282129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u="none" dirty="0">
                <a:solidFill>
                  <a:srgbClr val="C00000"/>
                </a:solidFill>
                <a:ea typeface="현대하모니 L"/>
              </a:rPr>
              <a:t>이슈</a:t>
            </a:r>
            <a:endParaRPr lang="en-US" altLang="ko-KR" sz="1100" b="1" u="none" dirty="0">
              <a:solidFill>
                <a:srgbClr val="C00000"/>
              </a:solidFill>
              <a:ea typeface="현대하모니 L"/>
            </a:endParaRPr>
          </a:p>
          <a:p>
            <a:pPr algn="ctr"/>
            <a:r>
              <a:rPr lang="ko-KR" altLang="en-US" sz="1100" b="1" u="none" dirty="0">
                <a:solidFill>
                  <a:srgbClr val="C00000"/>
                </a:solidFill>
                <a:ea typeface="현대하모니 L"/>
              </a:rPr>
              <a:t>공유</a:t>
            </a:r>
          </a:p>
        </p:txBody>
      </p:sp>
      <p:cxnSp>
        <p:nvCxnSpPr>
          <p:cNvPr id="8252" name="직선 화살표 연결선 8251">
            <a:extLst>
              <a:ext uri="{FF2B5EF4-FFF2-40B4-BE49-F238E27FC236}">
                <a16:creationId xmlns:a16="http://schemas.microsoft.com/office/drawing/2014/main" id="{D220EE9A-FACB-7370-1C30-C58E85FD7E79}"/>
              </a:ext>
            </a:extLst>
          </p:cNvPr>
          <p:cNvCxnSpPr>
            <a:stCxn id="8250" idx="3"/>
            <a:endCxn id="20" idx="1"/>
          </p:cNvCxnSpPr>
          <p:nvPr/>
        </p:nvCxnSpPr>
        <p:spPr>
          <a:xfrm>
            <a:off x="7520603" y="4856638"/>
            <a:ext cx="242455" cy="4019"/>
          </a:xfrm>
          <a:prstGeom prst="straightConnector1">
            <a:avLst/>
          </a:prstGeom>
          <a:ln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838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F615331-AF97-66F4-6E33-5FBC8B6A4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013182"/>
              </p:ext>
            </p:extLst>
          </p:nvPr>
        </p:nvGraphicFramePr>
        <p:xfrm>
          <a:off x="272480" y="726352"/>
          <a:ext cx="9360594" cy="25807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497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분 류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항 목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제출 </a:t>
                      </a:r>
                      <a:r>
                        <a:rPr lang="ko-KR" altLang="en-US" sz="1400" i="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형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제출 기한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비 고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49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보고서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완료보고서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완료 보고서</a:t>
                      </a:r>
                      <a:endParaRPr lang="en-US" altLang="ko-KR" sz="1200" dirty="0">
                        <a:latin typeface="현대하모니 L"/>
                        <a:ea typeface="현대하모니 B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S/W 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개발 내역 및 산출물 보고서</a:t>
                      </a:r>
                      <a:endParaRPr lang="en-US" altLang="ko-KR" sz="1200" dirty="0">
                        <a:latin typeface="현대하모니 L"/>
                        <a:ea typeface="현대하모니 B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소스 코드 </a:t>
                      </a: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/ 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릴리즈 노트</a:t>
                      </a:r>
                      <a:endParaRPr lang="en-US" altLang="ko-KR" sz="1200" dirty="0">
                        <a:latin typeface="현대하모니 L"/>
                        <a:ea typeface="현대하모니 B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S/W 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검증 보고서</a:t>
                      </a:r>
                      <a:endParaRPr lang="en-US" altLang="ko-KR" sz="1200" dirty="0">
                        <a:latin typeface="현대하모니 L"/>
                        <a:ea typeface="현대하모니 B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QAC / </a:t>
                      </a:r>
                      <a:r>
                        <a:rPr lang="en-US" altLang="ko-KR" sz="1200" dirty="0" err="1">
                          <a:latin typeface="현대하모니 L"/>
                          <a:ea typeface="현대하모니 B"/>
                        </a:rPr>
                        <a:t>CodeSonar</a:t>
                      </a:r>
                      <a:endParaRPr lang="en-US" altLang="ko-KR" sz="1200" dirty="0">
                        <a:latin typeface="현대하모니 L"/>
                        <a:ea typeface="현대하모니 B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M+6</a:t>
                      </a:r>
                      <a:br>
                        <a:rPr lang="en-US" altLang="ko-KR" sz="1200" dirty="0">
                          <a:latin typeface="현대하모니 L"/>
                          <a:ea typeface="현대하모니 B"/>
                        </a:rPr>
                      </a:b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(2026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년 </a:t>
                      </a: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03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월</a:t>
                      </a: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)</a:t>
                      </a: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L"/>
                        <a:ea typeface="현대하모니 B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6 M/M 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투입</a:t>
                      </a:r>
                      <a:endParaRPr lang="en-US" altLang="ko-KR" sz="1200" dirty="0">
                        <a:latin typeface="현대하모니 L"/>
                        <a:ea typeface="현대하모니 B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매주 주간</a:t>
                      </a:r>
                      <a:r>
                        <a:rPr lang="en-US" altLang="ko-KR" sz="1200" dirty="0">
                          <a:latin typeface="현대하모니 L"/>
                          <a:ea typeface="현대하모니 B"/>
                        </a:rPr>
                        <a:t> </a:t>
                      </a: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보고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99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월간 보고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현대하모니 L"/>
                          <a:ea typeface="현대하모니 B"/>
                          <a:cs typeface="+mn-cs"/>
                        </a:rPr>
                        <a:t>월간 수행 내역서 </a:t>
                      </a:r>
                      <a:endParaRPr lang="en-US" altLang="ko-KR" sz="1200" dirty="0">
                        <a:latin typeface="현대하모니 L"/>
                        <a:ea typeface="현대하모니 B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매월 말 일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매월 </a:t>
                      </a:r>
                      <a:endParaRPr lang="en-US" altLang="ko-KR" sz="1200" dirty="0">
                        <a:latin typeface="현대하모니 L"/>
                        <a:ea typeface="현대하모니 B"/>
                      </a:endParaRPr>
                    </a:p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현대하모니 L"/>
                          <a:ea typeface="현대하모니 B"/>
                        </a:rPr>
                        <a:t>월간 보고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0609266"/>
                  </a:ext>
                </a:extLst>
              </a:tr>
            </a:tbl>
          </a:graphicData>
        </a:graphic>
      </p:graphicFrame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3-1.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용역산출물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96" y="3463607"/>
            <a:ext cx="4259747" cy="2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ko-KR" sz="1200" u="none" dirty="0">
                <a:latin typeface="현대하모니 M" pitchFamily="18" charset="-127"/>
                <a:ea typeface="현대하모니 M" pitchFamily="18" charset="-127"/>
              </a:rPr>
              <a:t>※ </a:t>
            </a:r>
            <a:r>
              <a:rPr lang="ko-KR" altLang="en-US" sz="1200" u="none" dirty="0">
                <a:latin typeface="현대하모니 M" pitchFamily="18" charset="-127"/>
                <a:ea typeface="현대하모니 M" pitchFamily="18" charset="-127"/>
              </a:rPr>
              <a:t>상기 용역산출물은 본 계약에 따라 </a:t>
            </a:r>
            <a:r>
              <a:rPr lang="ko-KR" altLang="en-US" sz="1200" u="none" dirty="0" err="1">
                <a:latin typeface="현대하모니 M" pitchFamily="18" charset="-127"/>
                <a:ea typeface="현대하모니 M" pitchFamily="18" charset="-127"/>
              </a:rPr>
              <a:t>모비스의</a:t>
            </a:r>
            <a:r>
              <a:rPr lang="ko-KR" altLang="en-US" sz="1200" u="none" dirty="0">
                <a:latin typeface="현대하모니 M" pitchFamily="18" charset="-127"/>
                <a:ea typeface="현대하모니 M" pitchFamily="18" charset="-127"/>
              </a:rPr>
              <a:t> 소유로 한다</a:t>
            </a:r>
            <a:r>
              <a:rPr lang="en-US" altLang="ko-KR" sz="1200" u="none" dirty="0">
                <a:latin typeface="현대하모니 M" pitchFamily="18" charset="-127"/>
                <a:ea typeface="현대하모니 M" pitchFamily="18" charset="-127"/>
              </a:rPr>
              <a:t>.</a:t>
            </a:r>
            <a:r>
              <a:rPr lang="ko-KR" altLang="en-US" sz="1200" u="none" dirty="0">
                <a:latin typeface="현대하모니 M" pitchFamily="18" charset="-127"/>
                <a:ea typeface="현대하모니 M" pitchFamily="18" charset="-127"/>
              </a:rPr>
              <a:t> </a:t>
            </a:r>
            <a:endParaRPr lang="en-US" altLang="ko-KR" sz="1200" u="none" dirty="0">
              <a:latin typeface="현대하모니 M" pitchFamily="18" charset="-127"/>
              <a:ea typeface="현대하모니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390275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764450"/>
              </p:ext>
            </p:extLst>
          </p:nvPr>
        </p:nvGraphicFramePr>
        <p:xfrm>
          <a:off x="488950" y="908720"/>
          <a:ext cx="8928546" cy="56371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7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747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분 류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항 목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검수 기준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검수 방법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비 고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58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H/W </a:t>
                      </a: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및 기구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Mock-up</a:t>
                      </a:r>
                      <a:r>
                        <a:rPr lang="en-US" altLang="ko-KR" sz="1400" baseline="0" dirty="0">
                          <a:latin typeface="현대하모니 M" pitchFamily="18" charset="-127"/>
                          <a:ea typeface="현대하모니 M" pitchFamily="18" charset="-127"/>
                        </a:rPr>
                        <a:t> </a:t>
                      </a:r>
                      <a:r>
                        <a:rPr lang="ko-KR" altLang="en-US" sz="1400" baseline="0" dirty="0">
                          <a:latin typeface="현대하모니 M" pitchFamily="18" charset="-127"/>
                          <a:ea typeface="현대하모니 M" pitchFamily="18" charset="-127"/>
                        </a:rPr>
                        <a:t>샘플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highlight>
                          <a:srgbClr val="00FFFF"/>
                        </a:highlight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highlight>
                          <a:srgbClr val="00FFFF"/>
                        </a:highlight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58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터미널 </a:t>
                      </a:r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(</a:t>
                      </a:r>
                      <a:r>
                        <a:rPr lang="ko-KR" altLang="en-US" sz="1400" dirty="0" err="1">
                          <a:latin typeface="현대하모니 M" pitchFamily="18" charset="-127"/>
                          <a:ea typeface="현대하모니 M" pitchFamily="18" charset="-127"/>
                        </a:rPr>
                        <a:t>시작금형</a:t>
                      </a:r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)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highlight>
                          <a:srgbClr val="00FFFF"/>
                        </a:highlight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highlight>
                          <a:srgbClr val="00FFFF"/>
                        </a:highlight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en-US" altLang="ko-KR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5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S/W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표지판 인식 </a:t>
                      </a:r>
                      <a:r>
                        <a:rPr lang="ko-KR" altLang="en-US" sz="1400" dirty="0" err="1">
                          <a:latin typeface="현대하모니 M" pitchFamily="18" charset="-127"/>
                          <a:ea typeface="현대하모니 M" pitchFamily="18" charset="-127"/>
                        </a:rPr>
                        <a:t>로직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highlight>
                          <a:srgbClr val="00FFFF"/>
                        </a:highlight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400" dirty="0">
                          <a:highlight>
                            <a:srgbClr val="00FFFF"/>
                          </a:highlight>
                          <a:latin typeface="현대하모니 M" pitchFamily="18" charset="-127"/>
                          <a:ea typeface="현대하모니 M" pitchFamily="18" charset="-127"/>
                        </a:rPr>
                        <a:t> 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58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시험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현대하모니 M" pitchFamily="18" charset="-127"/>
                          <a:ea typeface="현대하모니 M" pitchFamily="18" charset="-127"/>
                        </a:rPr>
                        <a:t>단품</a:t>
                      </a: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 신뢰성 시험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58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36001" marR="36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현대하모니 M" pitchFamily="18" charset="-127"/>
                          <a:ea typeface="현대하모니 M" pitchFamily="18" charset="-127"/>
                        </a:rPr>
                        <a:t>실차</a:t>
                      </a: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 충돌 시험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5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해석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충돌 해석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58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보고서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중간보고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58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36001" marR="36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완료보고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유지보수 내용 및 공수 작성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유지보수 내용 및 공수 작성 확인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448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오픈 소스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검증성적서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현대하모니 M" pitchFamily="18" charset="-127"/>
                          <a:ea typeface="현대하모니 M" pitchFamily="18" charset="-127"/>
                        </a:rPr>
                        <a:t>CI/CD </a:t>
                      </a:r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빌드 및 동작테스트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b="0" dirty="0" err="1">
                          <a:latin typeface="현대하모니 M" pitchFamily="18" charset="-127"/>
                          <a:ea typeface="현대하모니 M" pitchFamily="18" charset="-127"/>
                        </a:rPr>
                        <a:t>실차</a:t>
                      </a:r>
                      <a:r>
                        <a:rPr lang="ko-KR" altLang="en-US" sz="1200" b="0" dirty="0">
                          <a:latin typeface="현대하모니 M" pitchFamily="18" charset="-127"/>
                          <a:ea typeface="현대하모니 M" pitchFamily="18" charset="-127"/>
                        </a:rPr>
                        <a:t> 검증 테스트</a:t>
                      </a:r>
                      <a:endParaRPr lang="en-US" altLang="ko-KR" sz="1200" b="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b="0" dirty="0" err="1">
                          <a:latin typeface="현대하모니 M" pitchFamily="18" charset="-127"/>
                          <a:ea typeface="현대하모니 M" pitchFamily="18" charset="-127"/>
                        </a:rPr>
                        <a:t>검증팀</a:t>
                      </a:r>
                      <a:r>
                        <a:rPr lang="ko-KR" altLang="en-US" sz="1200" b="0" dirty="0">
                          <a:latin typeface="현대하모니 M" pitchFamily="18" charset="-127"/>
                          <a:ea typeface="현대하모니 M" pitchFamily="18" charset="-127"/>
                        </a:rPr>
                        <a:t> 테스트</a:t>
                      </a:r>
                      <a:endParaRPr lang="en-US" altLang="ko-KR" sz="1200" b="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b="0" dirty="0" err="1">
                          <a:latin typeface="현대하모니 M" pitchFamily="18" charset="-127"/>
                          <a:ea typeface="현대하모니 M" pitchFamily="18" charset="-127"/>
                        </a:rPr>
                        <a:t>품질팀</a:t>
                      </a:r>
                      <a:r>
                        <a:rPr lang="ko-KR" altLang="en-US" sz="1200" b="0" dirty="0">
                          <a:latin typeface="현대하모니 M" pitchFamily="18" charset="-127"/>
                          <a:ea typeface="현대하모니 M" pitchFamily="18" charset="-127"/>
                        </a:rPr>
                        <a:t> 테스트</a:t>
                      </a:r>
                      <a:endParaRPr lang="en-US" altLang="ko-KR" sz="1200" b="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200" b="0" dirty="0">
                          <a:latin typeface="현대하모니 M" pitchFamily="18" charset="-127"/>
                          <a:ea typeface="현대하모니 M" pitchFamily="18" charset="-127"/>
                        </a:rPr>
                        <a:t>Pre-Audit </a:t>
                      </a:r>
                      <a:r>
                        <a:rPr lang="ko-KR" altLang="en-US" sz="1200" b="0" dirty="0">
                          <a:latin typeface="현대하모니 M" pitchFamily="18" charset="-127"/>
                          <a:ea typeface="현대하모니 M" pitchFamily="18" charset="-127"/>
                        </a:rPr>
                        <a:t>테스트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4653659"/>
                  </a:ext>
                </a:extLst>
              </a:tr>
              <a:tr h="56448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현대하모니 M" pitchFamily="18" charset="-127"/>
                          <a:ea typeface="현대하모니 M" pitchFamily="18" charset="-127"/>
                        </a:rPr>
                        <a:t>검증툴</a:t>
                      </a: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 보고서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0434582"/>
                  </a:ext>
                </a:extLst>
              </a:tr>
              <a:tr h="33058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사이버 보안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보안 기능</a:t>
                      </a:r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 </a:t>
                      </a: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사양 성적서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3675925"/>
                  </a:ext>
                </a:extLst>
              </a:tr>
              <a:tr h="33058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보안 </a:t>
                      </a:r>
                      <a:r>
                        <a:rPr lang="ko-KR" altLang="en-US" sz="1400" dirty="0" err="1">
                          <a:latin typeface="현대하모니 M" pitchFamily="18" charset="-127"/>
                          <a:ea typeface="현대하모니 M" pitchFamily="18" charset="-127"/>
                        </a:rPr>
                        <a:t>비기능</a:t>
                      </a:r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 </a:t>
                      </a: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사양 성적서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5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기타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시스템 사양서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7709939"/>
                  </a:ext>
                </a:extLst>
              </a:tr>
            </a:tbl>
          </a:graphicData>
        </a:graphic>
      </p:graphicFrame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3-2.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ko-KR" altLang="en-US" sz="2400" u="none" dirty="0">
                <a:solidFill>
                  <a:schemeClr val="tx1"/>
                </a:solidFill>
                <a:highlight>
                  <a:srgbClr val="00FFFF"/>
                </a:highlight>
                <a:latin typeface="현대하모니 B" pitchFamily="18" charset="-127"/>
                <a:ea typeface="현대하모니 B" pitchFamily="18" charset="-127"/>
              </a:rPr>
              <a:t>용역산출물의 검수 기준 및 방법 </a:t>
            </a:r>
            <a:endParaRPr lang="ko-KR" altLang="en-US" u="none" dirty="0">
              <a:solidFill>
                <a:schemeClr val="tx1"/>
              </a:solidFill>
              <a:highlight>
                <a:srgbClr val="00FFFF"/>
              </a:highlight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77285" y="6175642"/>
            <a:ext cx="7579566" cy="349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ko-KR" sz="1800" u="none" dirty="0">
                <a:latin typeface="현대하모니 M" pitchFamily="18" charset="-127"/>
                <a:ea typeface="현대하모니 M" pitchFamily="18" charset="-127"/>
              </a:rPr>
              <a:t>※ </a:t>
            </a:r>
            <a:r>
              <a:rPr lang="ko-KR" altLang="en-US" sz="1800" u="none" dirty="0">
                <a:latin typeface="현대하모니 M" pitchFamily="18" charset="-127"/>
                <a:ea typeface="현대하모니 M" pitchFamily="18" charset="-127"/>
              </a:rPr>
              <a:t>본 용역과제 계획서에 기재되지 않은 사항은 모비스의 제안요청 내용에 따른다</a:t>
            </a:r>
            <a:r>
              <a:rPr lang="en-US" altLang="ko-KR" sz="1800" u="none" dirty="0">
                <a:latin typeface="현대하모니 M" pitchFamily="18" charset="-127"/>
                <a:ea typeface="현대하모니 M" pitchFamily="18" charset="-127"/>
              </a:rPr>
              <a:t>.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89304" y="6193552"/>
            <a:ext cx="1874478" cy="3804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36000" tIns="36000" rIns="36000" bIns="36000">
            <a:spAutoFit/>
          </a:bodyPr>
          <a:lstStyle/>
          <a:p>
            <a:pPr>
              <a:spcBef>
                <a:spcPct val="20000"/>
              </a:spcBef>
            </a:pPr>
            <a:r>
              <a:rPr lang="ko-KR" altLang="en-US" sz="2000" u="none" dirty="0">
                <a:latin typeface="현대하모니 M" pitchFamily="18" charset="-127"/>
                <a:ea typeface="현대하모니 M" pitchFamily="18" charset="-127"/>
              </a:rPr>
              <a:t>→ 문구 변경 금지</a:t>
            </a:r>
            <a:endParaRPr lang="en-US" altLang="ko-KR" sz="2000" u="none" dirty="0">
              <a:latin typeface="현대하모니 M" pitchFamily="18" charset="-127"/>
              <a:ea typeface="현대하모니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740031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4.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용역 일정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039565"/>
              </p:ext>
            </p:extLst>
          </p:nvPr>
        </p:nvGraphicFramePr>
        <p:xfrm>
          <a:off x="488504" y="1157720"/>
          <a:ext cx="8929687" cy="50795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1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1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1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1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1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011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011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04776">
                <a:tc row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현대하모니 L" pitchFamily="18" charset="-127"/>
                          <a:ea typeface="현대하모니 L"/>
                        </a:rPr>
                        <a:t>‘25</a:t>
                      </a:r>
                      <a:r>
                        <a:rPr lang="ko-KR" altLang="en-US" sz="1400" b="1" dirty="0">
                          <a:latin typeface="현대하모니 L" pitchFamily="18" charset="-127"/>
                          <a:ea typeface="현대하모니 L"/>
                        </a:rPr>
                        <a:t>년</a:t>
                      </a:r>
                    </a:p>
                  </a:txBody>
                  <a:tcPr marL="91447" marR="91447" marT="45708" marB="45708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현대하모니 L" pitchFamily="18" charset="-127"/>
                          <a:ea typeface="현대하모니 L"/>
                        </a:rPr>
                        <a:t>‘26</a:t>
                      </a:r>
                      <a:r>
                        <a:rPr lang="ko-KR" altLang="en-US" sz="1400" b="1" dirty="0">
                          <a:latin typeface="현대하모니 L" pitchFamily="18" charset="-127"/>
                          <a:ea typeface="현대하모니 L"/>
                        </a:rPr>
                        <a:t>년</a:t>
                      </a:r>
                    </a:p>
                  </a:txBody>
                  <a:tcPr marL="91447" marR="91447" marT="45708" marB="45708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/>
                        </a:rPr>
                        <a:t>9</a:t>
                      </a:r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/>
                        </a:rPr>
                        <a:t>10</a:t>
                      </a:r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/>
                        </a:rPr>
                        <a:t>11</a:t>
                      </a:r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/>
                        </a:rPr>
                        <a:t>12</a:t>
                      </a:r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/>
                        </a:rPr>
                        <a:t>1</a:t>
                      </a:r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/>
                        </a:rPr>
                        <a:t>2</a:t>
                      </a:r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/>
                        </a:rPr>
                        <a:t>3</a:t>
                      </a:r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/>
                        </a:rPr>
                        <a:t>4</a:t>
                      </a:r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/>
                        </a:rPr>
                        <a:t>5</a:t>
                      </a:r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/>
                        </a:rPr>
                        <a:t>6</a:t>
                      </a:r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/>
                        </a:rPr>
                        <a:t>7</a:t>
                      </a:r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/>
                        </a:rPr>
                        <a:t>8</a:t>
                      </a:r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19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/>
                        </a:rPr>
                        <a:t>용역</a:t>
                      </a:r>
                      <a:r>
                        <a:rPr lang="en-US" altLang="ko-KR" sz="1400" dirty="0">
                          <a:latin typeface="현대하모니 L" pitchFamily="18" charset="-127"/>
                          <a:ea typeface="현대하모니 L"/>
                        </a:rPr>
                        <a:t> </a:t>
                      </a:r>
                      <a:r>
                        <a:rPr lang="ko-KR" altLang="en-US" sz="1400" dirty="0">
                          <a:latin typeface="현대하모니 L" pitchFamily="18" charset="-127"/>
                          <a:ea typeface="현대하모니 L"/>
                        </a:rPr>
                        <a:t>일정</a:t>
                      </a:r>
                    </a:p>
                  </a:txBody>
                  <a:tcPr marL="91447" marR="91447" marT="45708" marB="4570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80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aseline="0" dirty="0" err="1">
                          <a:latin typeface="현대하모니 L" pitchFamily="18" charset="-127"/>
                          <a:ea typeface="현대하모니 L"/>
                        </a:rPr>
                        <a:t>국내향</a:t>
                      </a:r>
                      <a:endParaRPr lang="en-US" altLang="ko-KR" sz="1400" baseline="0" dirty="0">
                        <a:latin typeface="현대하모니 L" pitchFamily="18" charset="-127"/>
                        <a:ea typeface="현대하모니 L"/>
                      </a:endParaRPr>
                    </a:p>
                    <a:p>
                      <a:pPr algn="ctr" latinLnBrk="1"/>
                      <a:r>
                        <a:rPr lang="ko-KR" altLang="en-US" sz="1400" baseline="0" dirty="0">
                          <a:latin typeface="현대하모니 L" pitchFamily="18" charset="-127"/>
                          <a:ea typeface="현대하모니 L"/>
                        </a:rPr>
                        <a:t>유지보수</a:t>
                      </a:r>
                      <a:endParaRPr lang="en-US" altLang="ko-KR" sz="1400" baseline="0" dirty="0">
                        <a:latin typeface="현대하모니 L" pitchFamily="18" charset="-127"/>
                        <a:ea typeface="현대하모니 L"/>
                      </a:endParaRPr>
                    </a:p>
                    <a:p>
                      <a:pPr algn="ctr" latinLnBrk="1"/>
                      <a:endParaRPr lang="ko-KR" altLang="en-US" sz="1400" baseline="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" name="타원 39"/>
          <p:cNvSpPr/>
          <p:nvPr/>
        </p:nvSpPr>
        <p:spPr bwMode="auto">
          <a:xfrm>
            <a:off x="2404871" y="2336428"/>
            <a:ext cx="179387" cy="1809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/>
          </a:p>
        </p:txBody>
      </p:sp>
      <p:sp>
        <p:nvSpPr>
          <p:cNvPr id="12368" name="TextBox 5"/>
          <p:cNvSpPr txBox="1">
            <a:spLocks noChangeArrowheads="1"/>
          </p:cNvSpPr>
          <p:nvPr/>
        </p:nvSpPr>
        <p:spPr bwMode="auto">
          <a:xfrm>
            <a:off x="2268091" y="1889384"/>
            <a:ext cx="46679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용역</a:t>
            </a:r>
            <a:endParaRPr lang="en-US" altLang="ko-KR" sz="1100" b="1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hangingPunct="1"/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착수</a:t>
            </a:r>
          </a:p>
        </p:txBody>
      </p:sp>
      <p:sp>
        <p:nvSpPr>
          <p:cNvPr id="12373" name="TextBox 20"/>
          <p:cNvSpPr txBox="1">
            <a:spLocks noChangeArrowheads="1"/>
          </p:cNvSpPr>
          <p:nvPr/>
        </p:nvSpPr>
        <p:spPr bwMode="auto">
          <a:xfrm>
            <a:off x="2258762" y="2511381"/>
            <a:ext cx="47160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9/30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4" name="직선 연결선 3"/>
          <p:cNvCxnSpPr>
            <a:cxnSpLocks/>
            <a:stCxn id="40" idx="6"/>
            <a:endCxn id="88" idx="2"/>
          </p:cNvCxnSpPr>
          <p:nvPr/>
        </p:nvCxnSpPr>
        <p:spPr bwMode="auto">
          <a:xfrm flipV="1">
            <a:off x="2584258" y="2420894"/>
            <a:ext cx="3589561" cy="6022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/>
          <p:cNvSpPr/>
          <p:nvPr/>
        </p:nvSpPr>
        <p:spPr bwMode="auto">
          <a:xfrm>
            <a:off x="6173819" y="2330406"/>
            <a:ext cx="179388" cy="1809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/>
          </a:p>
        </p:txBody>
      </p:sp>
      <p:sp>
        <p:nvSpPr>
          <p:cNvPr id="122" name="이등변 삼각형 121"/>
          <p:cNvSpPr/>
          <p:nvPr/>
        </p:nvSpPr>
        <p:spPr bwMode="auto">
          <a:xfrm rot="5400000">
            <a:off x="2437595" y="3555970"/>
            <a:ext cx="142875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3" name="이등변 삼각형 122"/>
          <p:cNvSpPr/>
          <p:nvPr/>
        </p:nvSpPr>
        <p:spPr bwMode="auto">
          <a:xfrm rot="16200000">
            <a:off x="6157001" y="3556763"/>
            <a:ext cx="144463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4" name="직선 연결선 123"/>
          <p:cNvCxnSpPr>
            <a:cxnSpLocks/>
            <a:stCxn id="122" idx="0"/>
            <a:endCxn id="123" idx="0"/>
          </p:cNvCxnSpPr>
          <p:nvPr/>
        </p:nvCxnSpPr>
        <p:spPr bwMode="auto">
          <a:xfrm>
            <a:off x="2563008" y="3609946"/>
            <a:ext cx="3612250" cy="792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17" name="TextBox 25"/>
          <p:cNvSpPr txBox="1">
            <a:spLocks noChangeArrowheads="1"/>
          </p:cNvSpPr>
          <p:nvPr/>
        </p:nvSpPr>
        <p:spPr bwMode="auto">
          <a:xfrm>
            <a:off x="2258762" y="3248054"/>
            <a:ext cx="431079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b="1" u="none" dirty="0" err="1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지니뮤직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 유지보수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기능변경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/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수정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예외상황 예방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/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처리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성능육성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  <a:endParaRPr lang="ko-KR" altLang="en-US" sz="1100" b="1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62" name="TextBox 9"/>
          <p:cNvSpPr txBox="1">
            <a:spLocks noChangeArrowheads="1"/>
          </p:cNvSpPr>
          <p:nvPr/>
        </p:nvSpPr>
        <p:spPr bwMode="auto">
          <a:xfrm>
            <a:off x="272480" y="764704"/>
            <a:ext cx="42450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용역 기간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: 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2025.09.30 ~ 2026.03.30 (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총 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6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개월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)</a:t>
            </a:r>
            <a:endParaRPr lang="en-US" altLang="ko-KR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42048B6-0832-2B17-9077-E2D6EC3C4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7159" y="1834073"/>
            <a:ext cx="93968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용역종료 및</a:t>
            </a:r>
            <a:endParaRPr lang="en-US" altLang="ko-KR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완료보고</a:t>
            </a:r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4DC9AFA6-150D-57E7-4414-46229FE498BB}"/>
              </a:ext>
            </a:extLst>
          </p:cNvPr>
          <p:cNvSpPr/>
          <p:nvPr/>
        </p:nvSpPr>
        <p:spPr bwMode="auto">
          <a:xfrm rot="5400000">
            <a:off x="2437595" y="4266015"/>
            <a:ext cx="142875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D2271272-9413-2073-1C5C-FE48B4ACAEA6}"/>
              </a:ext>
            </a:extLst>
          </p:cNvPr>
          <p:cNvSpPr/>
          <p:nvPr/>
        </p:nvSpPr>
        <p:spPr bwMode="auto">
          <a:xfrm rot="16200000">
            <a:off x="6157002" y="4266807"/>
            <a:ext cx="144463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06FE11-EA28-A2ED-10D6-17609A896653}"/>
              </a:ext>
            </a:extLst>
          </p:cNvPr>
          <p:cNvCxnSpPr>
            <a:cxnSpLocks/>
            <a:stCxn id="9" idx="0"/>
            <a:endCxn id="10" idx="0"/>
          </p:cNvCxnSpPr>
          <p:nvPr/>
        </p:nvCxnSpPr>
        <p:spPr bwMode="auto">
          <a:xfrm>
            <a:off x="2563008" y="4319991"/>
            <a:ext cx="3612251" cy="791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1E1EB8CE-5FDF-C6C2-FDC0-6DB6D82A2F11}"/>
              </a:ext>
            </a:extLst>
          </p:cNvPr>
          <p:cNvSpPr/>
          <p:nvPr/>
        </p:nvSpPr>
        <p:spPr bwMode="auto">
          <a:xfrm rot="5400000">
            <a:off x="2436156" y="5102200"/>
            <a:ext cx="142875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F24AD27B-22DB-5A0D-3D12-B6BDD393A11E}"/>
              </a:ext>
            </a:extLst>
          </p:cNvPr>
          <p:cNvSpPr/>
          <p:nvPr/>
        </p:nvSpPr>
        <p:spPr bwMode="auto">
          <a:xfrm rot="16200000">
            <a:off x="6155562" y="5102993"/>
            <a:ext cx="144463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0ACA3B3-A21A-FF5A-3D72-F85AA0DA8650}"/>
              </a:ext>
            </a:extLst>
          </p:cNvPr>
          <p:cNvCxnSpPr>
            <a:cxnSpLocks/>
            <a:stCxn id="13" idx="0"/>
            <a:endCxn id="14" idx="0"/>
          </p:cNvCxnSpPr>
          <p:nvPr/>
        </p:nvCxnSpPr>
        <p:spPr bwMode="auto">
          <a:xfrm>
            <a:off x="2561569" y="5156176"/>
            <a:ext cx="3612250" cy="792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25">
            <a:extLst>
              <a:ext uri="{FF2B5EF4-FFF2-40B4-BE49-F238E27FC236}">
                <a16:creationId xmlns:a16="http://schemas.microsoft.com/office/drawing/2014/main" id="{D7A3A1DF-6B3E-BB0E-55F3-BAEB4C673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972" y="4823574"/>
            <a:ext cx="428514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QQ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뮤직 유지보수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기능변경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/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수정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예외상황 예방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/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처리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성능육성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  <a:endParaRPr lang="ko-KR" altLang="en-US" sz="1100" b="1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525DE6FC-E804-78BC-4144-B7A6BEFFB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735" y="3923829"/>
            <a:ext cx="434926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멜론뮤직 유지보수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기능변경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/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수정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예외상황 예방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/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처리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lang="ko-KR" altLang="en-US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성능육성</a:t>
            </a:r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  <a:endParaRPr lang="ko-KR" altLang="en-US" sz="1100" b="1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1139F1A4-7AAF-E50A-B8BF-3DC7E92EA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5167" y="2561816"/>
            <a:ext cx="50366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b="1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M+6</a:t>
            </a:r>
            <a:endParaRPr lang="ko-KR" altLang="en-US" sz="1100" b="1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5.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용역 비용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460070"/>
              </p:ext>
            </p:extLst>
          </p:nvPr>
        </p:nvGraphicFramePr>
        <p:xfrm>
          <a:off x="488504" y="1119957"/>
          <a:ext cx="8568952" cy="33192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176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항목</a:t>
                      </a: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36000" marR="36000" marT="45735" marB="4573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용역 비용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천원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비고</a:t>
                      </a: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610"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인건비</a:t>
                      </a: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지니 뮤직 유지보수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  <a:cs typeface="+mn-cs"/>
                      </a:endParaRP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현대하모니 L" pitchFamily="18" charset="-127"/>
                          <a:ea typeface="현대하모니 L" pitchFamily="18" charset="-127"/>
                        </a:rPr>
                        <a:t>인건비 비율</a:t>
                      </a: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5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aseline="0" dirty="0">
                          <a:latin typeface="현대하모니 L" pitchFamily="18" charset="-127"/>
                          <a:ea typeface="현대하모니 L" pitchFamily="18" charset="-127"/>
                        </a:rPr>
                        <a:t>멜론 뮤직 유지보수</a:t>
                      </a:r>
                      <a:endParaRPr lang="ko-KR" altLang="en-US" sz="12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  <a:cs typeface="+mn-cs"/>
                      </a:endParaRP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68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35999" marR="35999" marT="45750" marB="4575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QQ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 뮤직 유지 보수</a:t>
                      </a: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153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간접 경비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제경비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  <a:cs typeface="+mn-cs"/>
                      </a:endParaRP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  <a:cs typeface="+mn-cs"/>
                      </a:endParaRP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  <a:cs typeface="+mn-cs"/>
                      </a:endParaRP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인건비의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30%</a:t>
                      </a:r>
                    </a:p>
                    <a:p>
                      <a:pPr marL="0" algn="l" defTabSz="914400" rtl="0" eaLnBrk="1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퇴직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충담금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, 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대 보험료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식대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교통비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파견비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 등</a:t>
                      </a: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153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 이윤</a:t>
                      </a: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  <a:cs typeface="+mn-cs"/>
                      </a:endParaRP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  <a:cs typeface="+mn-cs"/>
                      </a:endParaRP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인건비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+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간접경비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의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10%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  <a:cs typeface="+mn-cs"/>
                      </a:endParaRP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8153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견적가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  <a:cs typeface="+mn-cs"/>
                        </a:rPr>
                        <a:t> 조정</a:t>
                      </a: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  <a:cs typeface="+mn-cs"/>
                      </a:endParaRP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  <a:cs typeface="+mn-cs"/>
                      </a:endParaRP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208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총 액</a:t>
                      </a: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en-US" altLang="ko-KR" sz="1200" b="1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rPr>
                        <a:t>부가세 별도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35996" marR="35996" marT="45749" marB="45749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6" name="TextBox 9"/>
          <p:cNvSpPr txBox="1">
            <a:spLocks noChangeArrowheads="1"/>
          </p:cNvSpPr>
          <p:nvPr/>
        </p:nvSpPr>
        <p:spPr bwMode="auto">
          <a:xfrm>
            <a:off x="272480" y="692696"/>
            <a:ext cx="13099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용역 비용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:</a:t>
            </a:r>
            <a:endParaRPr lang="ko-KR" altLang="en-US" b="1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2063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B16BE-65C2-47C4-CD97-EE43941FE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FD41FC19-BDCB-F17D-76F1-67DBD1F19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6.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투입인력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E12C33D6-78C0-6706-E5D0-496CA583A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437010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용역 기간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:  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2025.09.30 ~ 2026.03.30 (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총 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6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개월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)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2FDBCF1-C2C9-633C-275F-F456C0C9A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477987"/>
              </p:ext>
            </p:extLst>
          </p:nvPr>
        </p:nvGraphicFramePr>
        <p:xfrm>
          <a:off x="681038" y="1082926"/>
          <a:ext cx="8219482" cy="5329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135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6726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3013">
                <a:tc rowSpan="2" gridSpan="2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현대하모니 L"/>
                        </a:rPr>
                        <a:t>구     분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현대하모니 L"/>
                        </a:rPr>
                        <a:t>인력 등급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b="1" u="none" strike="noStrike">
                          <a:effectLst/>
                          <a:latin typeface="+mn-ea"/>
                          <a:ea typeface="현대하모니 L"/>
                        </a:rPr>
                        <a:t>투입 일정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현대하모니 L"/>
                        </a:rPr>
                        <a:t>합계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013">
                <a:tc gridSpan="2"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현대하모니 L"/>
                        </a:rPr>
                        <a:t>10</a:t>
                      </a:r>
                      <a:endParaRPr lang="en-US" altLang="ko-KR" sz="1000" b="1" i="0" u="none" strike="noStrike" dirty="0"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현대하모니 L"/>
                        </a:rPr>
                        <a:t>11</a:t>
                      </a:r>
                      <a:endParaRPr lang="en-US" altLang="ko-KR" sz="1000" b="1" i="0" u="none" strike="noStrike"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현대하모니 L"/>
                        </a:rPr>
                        <a:t>12</a:t>
                      </a:r>
                      <a:endParaRPr lang="en-US" altLang="ko-KR" sz="1000" b="1" i="0" u="none" strike="noStrike" dirty="0"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현대하모니 L"/>
                        </a:rPr>
                        <a:t>1</a:t>
                      </a:r>
                      <a:endParaRPr lang="en-US" altLang="ko-KR" sz="1000" b="1" i="0" u="none" strike="noStrike" dirty="0"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현대하모니 L"/>
                        </a:rPr>
                        <a:t>2</a:t>
                      </a:r>
                      <a:endParaRPr lang="en-US" altLang="ko-KR" sz="1000" b="1" i="0" u="none" strike="noStrike"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현대하모니 L"/>
                        </a:rPr>
                        <a:t>3</a:t>
                      </a:r>
                      <a:endParaRPr lang="en-US" altLang="ko-KR" sz="1000" b="1" i="0" u="none" strike="noStrike" dirty="0"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 dirty="0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 dirty="0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 dirty="0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 dirty="0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 dirty="0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 dirty="0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652">
                <a:tc rowSpan="16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900" u="none" strike="noStrike" dirty="0" err="1">
                          <a:effectLst/>
                          <a:ea typeface="현대하모니 L"/>
                        </a:rPr>
                        <a:t>뮤직스트리밍</a:t>
                      </a:r>
                      <a:br>
                        <a:rPr lang="ko-KR" altLang="en-US" sz="900" u="none" strike="noStrike" dirty="0">
                          <a:effectLst/>
                          <a:ea typeface="현대하모니 L"/>
                        </a:rPr>
                      </a:br>
                      <a:r>
                        <a:rPr lang="ko-KR" altLang="en-US" sz="900" u="none" strike="noStrike" dirty="0">
                          <a:effectLst/>
                          <a:ea typeface="현대하모니 L"/>
                        </a:rPr>
                        <a:t>유지보수</a:t>
                      </a:r>
                      <a:endParaRPr lang="ko-KR" altLang="en-US" sz="9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800" u="none" strike="noStrike" dirty="0">
                          <a:effectLst/>
                          <a:ea typeface="현대하모니 L"/>
                        </a:rPr>
                        <a:t>지니 뮤직 유지보수</a:t>
                      </a:r>
                      <a:endParaRPr lang="ko-KR" altLang="en-US" sz="800" b="1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900" u="none" strike="noStrike" dirty="0">
                          <a:effectLst/>
                          <a:ea typeface="현대하모니 L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고급 개발자 </a:t>
                      </a:r>
                      <a:endParaRPr lang="ko-KR" altLang="en-US"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 dirty="0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 dirty="0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중급 개발자 </a:t>
                      </a:r>
                      <a:endParaRPr lang="ko-KR" altLang="en-US"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1.2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초급 개발자 </a:t>
                      </a:r>
                      <a:endParaRPr lang="ko-KR" altLang="en-US"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 dirty="0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 dirty="0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합계 </a:t>
                      </a:r>
                      <a:endParaRPr lang="ko-KR" altLang="en-US"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1.2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800" u="none" strike="noStrike" dirty="0">
                          <a:effectLst/>
                          <a:ea typeface="현대하모니 L"/>
                        </a:rPr>
                        <a:t>멜론 뮤직 유지보수</a:t>
                      </a:r>
                      <a:endParaRPr lang="ko-KR" altLang="en-US" sz="800" b="1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특급 개발자 </a:t>
                      </a:r>
                      <a:endParaRPr lang="ko-KR" altLang="en-US" sz="8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 dirty="0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고급 개발자 </a:t>
                      </a:r>
                      <a:endParaRPr lang="ko-KR" altLang="en-US"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중급 개발자 </a:t>
                      </a:r>
                      <a:endParaRPr lang="ko-KR" altLang="en-US"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1.2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초급 개발자 </a:t>
                      </a:r>
                      <a:endParaRPr lang="ko-KR" altLang="en-US"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 dirty="0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합계 </a:t>
                      </a:r>
                      <a:endParaRPr lang="ko-KR" altLang="en-US"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1.2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800" i="0" u="none" strike="noStrike">
                          <a:effectLst/>
                          <a:latin typeface="맑은 고딕"/>
                          <a:ea typeface="현대하모니 L"/>
                        </a:rPr>
                        <a:t>QQ</a:t>
                      </a:r>
                      <a:r>
                        <a:rPr lang="ko-KR" altLang="en-US" sz="800" i="0" u="none" strike="noStrike">
                          <a:effectLst/>
                          <a:latin typeface="맑은 고딕"/>
                          <a:ea typeface="현대하모니 L"/>
                        </a:rPr>
                        <a:t>뮤직</a:t>
                      </a:r>
                    </a:p>
                    <a:p>
                      <a:pPr lvl="0" algn="ctr">
                        <a:defRPr/>
                      </a:pPr>
                      <a:r>
                        <a:rPr lang="ko-KR" altLang="en-US" sz="800" i="0" u="none" strike="noStrike">
                          <a:effectLst/>
                          <a:latin typeface="맑은 고딕"/>
                          <a:ea typeface="현대하모니 L"/>
                        </a:rPr>
                        <a:t>유지보수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특급 개발자 </a:t>
                      </a:r>
                      <a:endParaRPr lang="ko-KR" altLang="en-US" sz="8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고급 개발자 </a:t>
                      </a:r>
                      <a:endParaRPr lang="ko-KR" altLang="en-US"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 dirty="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중급 개발자 </a:t>
                      </a:r>
                      <a:endParaRPr lang="ko-KR" altLang="en-US"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0.1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0.1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0.1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0.1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0.1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0.1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 dirty="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0.6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초급 개발자 </a:t>
                      </a:r>
                      <a:endParaRPr lang="ko-KR" altLang="en-US"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　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 dirty="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0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1652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합계 </a:t>
                      </a:r>
                      <a:endParaRPr lang="ko-KR" altLang="en-US"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0.1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0.1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0.1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0.1</a:t>
                      </a:r>
                      <a:endParaRPr lang="ko-KR" altLang="en-US" sz="1000" b="0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0.1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현대하모니 L"/>
                        </a:rPr>
                        <a:t>0.1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 dirty="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en-US" sz="1000" dirty="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현대하모니 L"/>
                        </a:rPr>
                        <a:t>0.6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1021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인건비 소계</a:t>
                      </a:r>
                      <a:endParaRPr lang="ko-KR" altLang="en-US" sz="9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 dirty="0">
                          <a:effectLst/>
                          <a:latin typeface="맑은 고딕"/>
                          <a:ea typeface="현대하모니 L"/>
                        </a:rPr>
                        <a:t>3.0</a:t>
                      </a:r>
                    </a:p>
                  </a:txBody>
                  <a:tcPr marL="5032" marR="5032" marT="5032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1021">
                <a:tc rowSpan="4" gridSpan="2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900" u="none" strike="noStrike" dirty="0">
                          <a:effectLst/>
                          <a:ea typeface="현대하모니 L"/>
                        </a:rPr>
                        <a:t>유지보수 등급별 투입인력</a:t>
                      </a:r>
                      <a:endParaRPr lang="ko-KR" altLang="en-US" sz="900" b="1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특급 개발자 </a:t>
                      </a:r>
                      <a:endParaRPr lang="ko-KR" altLang="en-US" sz="9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     -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1021">
                <a:tc gridSpan="2"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고급 개발자 </a:t>
                      </a:r>
                      <a:endParaRPr lang="ko-KR" altLang="en-US"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457200" latinLnBrk="0">
                        <a:buClr>
                          <a:schemeClr val="dk1"/>
                        </a:buClr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  <a:effectLst/>
                          <a:ea typeface="현대하모니 L"/>
                        </a:rPr>
                        <a:t>-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1878">
                <a:tc gridSpan="2"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중급 개발자 </a:t>
                      </a:r>
                      <a:endParaRPr lang="ko-KR" altLang="en-US"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 dirty="0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맑은 고딕"/>
                          <a:ea typeface="현대하모니 L"/>
                        </a:rPr>
                        <a:t>3.0</a:t>
                      </a:r>
                      <a:endParaRPr lang="en-US" altLang="ko-KR" sz="1000" b="1" u="none" strike="noStrike">
                        <a:effectLst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1878">
                <a:tc gridSpan="2"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900" u="none" strike="noStrike">
                          <a:effectLst/>
                          <a:ea typeface="현대하모니 L"/>
                        </a:rPr>
                        <a:t> 초급 개발자 </a:t>
                      </a:r>
                      <a:endParaRPr lang="ko-KR" altLang="en-US"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u="none" strike="noStrike">
                          <a:effectLst/>
                          <a:ea typeface="현대하모니 L"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u="none" strike="noStrike">
                          <a:effectLst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맑은 고딕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82103">
                <a:tc gridSpan="2"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b="1" u="none" strike="noStrike">
                          <a:effectLst/>
                          <a:latin typeface="+mn-ea"/>
                          <a:ea typeface="현대하모니 L"/>
                        </a:rPr>
                        <a:t>투입인력 총합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b="1" u="none" strike="noStrike">
                          <a:effectLst/>
                          <a:latin typeface="+mn-ea"/>
                          <a:ea typeface="현대하모니 L"/>
                        </a:rPr>
                        <a:t> 합계 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>
                          <a:effectLst/>
                          <a:latin typeface="+mn-ea"/>
                          <a:ea typeface="현대하모니 L"/>
                        </a:rPr>
                        <a:t>0.5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 sz="1000" b="1" i="0" u="none" strike="noStrike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b="1" u="none" strike="noStrike">
                          <a:effectLst/>
                          <a:latin typeface="+mn-ea"/>
                          <a:ea typeface="현대하모니 L"/>
                        </a:rPr>
                        <a:t>     </a:t>
                      </a:r>
                      <a:r>
                        <a:rPr lang="en-US" altLang="ko-KR" sz="1000" b="1" u="none" strike="noStrike">
                          <a:effectLst/>
                          <a:latin typeface="+mn-ea"/>
                          <a:ea typeface="현대하모니 L"/>
                        </a:rPr>
                        <a:t>- 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현대하모니 L"/>
                        </a:rPr>
                        <a:t>     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현대하모니 L"/>
                        </a:rPr>
                        <a:t>- 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000" b="1" i="0" u="none" strike="noStrike" dirty="0">
                          <a:effectLst/>
                          <a:latin typeface="맑은 고딕"/>
                          <a:ea typeface="현대하모니 L"/>
                        </a:rPr>
                        <a:t>3.0</a:t>
                      </a:r>
                      <a:endParaRPr lang="en-US" altLang="ko-KR" sz="1000" b="1" u="none" strike="noStrike" dirty="0">
                        <a:effectLst/>
                        <a:latin typeface="+mn-ea"/>
                        <a:ea typeface="현대하모니 L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993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2A69D-0968-D069-FB0A-4451712BF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418C5745-146B-BFC0-3874-86F0ABEC6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6.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프로젝트 관리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(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환경구축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)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65654B5E-4F86-501B-FAD1-83717606A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644439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ko-KR" altLang="en-US" b="1" u="none" dirty="0">
                <a:ea typeface="맑은 고딕" panose="020B0503020000020004" pitchFamily="50" charset="-127"/>
              </a:rPr>
              <a:t>투명한 프로젝트 관리 환경</a:t>
            </a:r>
            <a:r>
              <a:rPr lang="ko-KR" altLang="en-US" u="none" dirty="0">
                <a:ea typeface="맑은 고딕" panose="020B0503020000020004" pitchFamily="50" charset="-127"/>
              </a:rPr>
              <a:t>을 구축하여 신뢰성과 안정성을 확보하겠습니다</a:t>
            </a:r>
            <a:r>
              <a:rPr lang="en-US" altLang="ko-KR" u="none" dirty="0">
                <a:ea typeface="맑은 고딕" panose="020B0503020000020004" pitchFamily="50" charset="-127"/>
              </a:rPr>
              <a:t>.</a:t>
            </a:r>
            <a:endParaRPr lang="ko-KR" altLang="en-US" u="none" dirty="0">
              <a:ea typeface="맑은 고딕" panose="020B0503020000020004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F51A6D2-13FA-F0BC-BF80-F622A2B361EA}"/>
              </a:ext>
            </a:extLst>
          </p:cNvPr>
          <p:cNvSpPr/>
          <p:nvPr/>
        </p:nvSpPr>
        <p:spPr>
          <a:xfrm>
            <a:off x="864558" y="1943093"/>
            <a:ext cx="3719188" cy="4329369"/>
          </a:xfrm>
          <a:prstGeom prst="roundRect">
            <a:avLst>
              <a:gd name="adj" fmla="val 2405"/>
            </a:avLst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t" anchorCtr="0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스프린트 단위로 업무 계획 및 관리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스프린트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(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개인업무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)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 할당 및 관리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일정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(WBS) &amp; 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진척현황 캘린더 운영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각종 보고서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(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주간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, 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월간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 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등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) 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통합관리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이슈 타입 별 실시간 집계현황 공유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프로젝트 진행관련 회의록 공유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사양서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(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요구분석서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, MMI 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정의서 등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)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 관리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개발 문서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(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설계서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, API 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규격서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 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등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)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 관리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ko-KR" u="none" kern="0" dirty="0" err="1">
                <a:solidFill>
                  <a:sysClr val="windowText" lastClr="000000"/>
                </a:solidFill>
                <a:ea typeface="현대하모니 B"/>
              </a:rPr>
              <a:t>ConfluenceTM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 기반 수행관리 환경 구축</a:t>
            </a:r>
          </a:p>
        </p:txBody>
      </p:sp>
      <p:grpSp>
        <p:nvGrpSpPr>
          <p:cNvPr id="3" name="그룹 59">
            <a:extLst>
              <a:ext uri="{FF2B5EF4-FFF2-40B4-BE49-F238E27FC236}">
                <a16:creationId xmlns:a16="http://schemas.microsoft.com/office/drawing/2014/main" id="{95EFED6E-E4A2-88C3-B181-43E106DD4FA5}"/>
              </a:ext>
            </a:extLst>
          </p:cNvPr>
          <p:cNvGrpSpPr/>
          <p:nvPr/>
        </p:nvGrpSpPr>
        <p:grpSpPr>
          <a:xfrm>
            <a:off x="755021" y="1460409"/>
            <a:ext cx="3937274" cy="769945"/>
            <a:chOff x="505959" y="4766044"/>
            <a:chExt cx="4188511" cy="521513"/>
          </a:xfrm>
        </p:grpSpPr>
        <p:sp>
          <p:nvSpPr>
            <p:cNvPr id="4" name="이등변 삼각형 3">
              <a:extLst>
                <a:ext uri="{FF2B5EF4-FFF2-40B4-BE49-F238E27FC236}">
                  <a16:creationId xmlns:a16="http://schemas.microsoft.com/office/drawing/2014/main" id="{827F302C-C7B7-FA56-A78B-368A72078C34}"/>
                </a:ext>
              </a:extLst>
            </p:cNvPr>
            <p:cNvSpPr/>
            <p:nvPr/>
          </p:nvSpPr>
          <p:spPr>
            <a:xfrm rot="16200000" flipV="1">
              <a:off x="4548250" y="5141336"/>
              <a:ext cx="170706" cy="121735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</p:spPr>
          <p:txBody>
            <a:bodyPr lIns="0" tIns="0" rIns="0" bIns="0" rtlCol="0" anchor="ctr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ko-KR" altLang="en-US" sz="1100" u="none" kern="0" spc="-6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현대하모니 L"/>
                <a:sym typeface="HY견고딕" pitchFamily="18" charset="-127"/>
              </a:endParaRPr>
            </a:p>
          </p:txBody>
        </p:sp>
        <p:sp>
          <p:nvSpPr>
            <p:cNvPr id="5" name="이등변 삼각형 4">
              <a:extLst>
                <a:ext uri="{FF2B5EF4-FFF2-40B4-BE49-F238E27FC236}">
                  <a16:creationId xmlns:a16="http://schemas.microsoft.com/office/drawing/2014/main" id="{940D21C4-FC3C-2BD7-49EC-918E484E3EB0}"/>
                </a:ext>
              </a:extLst>
            </p:cNvPr>
            <p:cNvSpPr/>
            <p:nvPr/>
          </p:nvSpPr>
          <p:spPr>
            <a:xfrm rot="5400000" flipH="1" flipV="1">
              <a:off x="481474" y="5141336"/>
              <a:ext cx="170706" cy="121735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</p:spPr>
          <p:txBody>
            <a:bodyPr lIns="0" tIns="0" rIns="0" bIns="0" rtlCol="0" anchor="ctr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ko-KR" altLang="en-US" sz="1100" u="none" kern="0" spc="-6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현대하모니 L"/>
                <a:sym typeface="HY견고딕" pitchFamily="18" charset="-127"/>
              </a:endParaRPr>
            </a:p>
          </p:txBody>
        </p:sp>
        <p:sp>
          <p:nvSpPr>
            <p:cNvPr id="6" name="텍스트 개체 틀 1">
              <a:extLst>
                <a:ext uri="{FF2B5EF4-FFF2-40B4-BE49-F238E27FC236}">
                  <a16:creationId xmlns:a16="http://schemas.microsoft.com/office/drawing/2014/main" id="{B564FF3F-CEEB-8883-293F-77038AAF376D}"/>
                </a:ext>
              </a:extLst>
            </p:cNvPr>
            <p:cNvSpPr txBox="1">
              <a:spLocks/>
            </p:cNvSpPr>
            <p:nvPr/>
          </p:nvSpPr>
          <p:spPr>
            <a:xfrm>
              <a:off x="505959" y="4766044"/>
              <a:ext cx="4188511" cy="360000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rgbClr val="0033A1"/>
              </a:bgClr>
            </a:patt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R="0" lvl="0" indent="0" algn="ctr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b="1" u="none" spc="-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맑은 고딕" panose="020B0503020000020004" pitchFamily="50" charset="-127"/>
                  <a:ea typeface="현대하모니 L"/>
                </a:rPr>
                <a:t>프로젝트 관리 </a:t>
              </a:r>
              <a:r>
                <a:rPr lang="en-US" altLang="ko-KR" sz="1600" b="1" u="none" spc="-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맑은 고딕" panose="020B0503020000020004" pitchFamily="50" charset="-127"/>
                  <a:ea typeface="현대하모니 L"/>
                </a:rPr>
                <a:t>&amp; </a:t>
              </a:r>
              <a:r>
                <a:rPr lang="ko-KR" altLang="en-US" sz="1600" b="1" u="none" spc="-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맑은 고딕" panose="020B0503020000020004" pitchFamily="50" charset="-127"/>
                  <a:ea typeface="현대하모니 L"/>
                </a:rPr>
                <a:t>정보 공유</a:t>
              </a:r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F01DE3C-7974-CDA7-E974-5E93586914A0}"/>
              </a:ext>
            </a:extLst>
          </p:cNvPr>
          <p:cNvSpPr/>
          <p:nvPr/>
        </p:nvSpPr>
        <p:spPr>
          <a:xfrm>
            <a:off x="5318924" y="1943094"/>
            <a:ext cx="3719188" cy="4329368"/>
          </a:xfrm>
          <a:prstGeom prst="roundRect">
            <a:avLst>
              <a:gd name="adj" fmla="val 2405"/>
            </a:avLst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t" anchorCtr="0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프로젝트 워크플로우 관리 </a:t>
            </a:r>
            <a:r>
              <a:rPr kumimoji="0" lang="ko-KR" altLang="en-US" u="none" kern="0">
                <a:solidFill>
                  <a:sysClr val="windowText" lastClr="000000"/>
                </a:solidFill>
                <a:ea typeface="현대하모니 B"/>
              </a:rPr>
              <a:t>및 모니터링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ko-KR" altLang="en-US" u="none" kern="0">
                <a:solidFill>
                  <a:sysClr val="windowText" lastClr="000000"/>
                </a:solidFill>
                <a:ea typeface="현대하모니 B"/>
              </a:rPr>
              <a:t>스프린트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, 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릴리즈를 위한 </a:t>
            </a:r>
            <a:r>
              <a:rPr kumimoji="0" lang="ko-KR" altLang="en-US" u="none" kern="0">
                <a:solidFill>
                  <a:sysClr val="windowText" lastClr="000000"/>
                </a:solidFill>
                <a:ea typeface="현대하모니 B"/>
              </a:rPr>
              <a:t>타임라인 관리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ko-KR" altLang="en-US" u="none" kern="0">
                <a:solidFill>
                  <a:sysClr val="windowText" lastClr="000000"/>
                </a:solidFill>
                <a:ea typeface="현대하모니 B"/>
              </a:rPr>
              <a:t>개발범위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, 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타임라인을 위한 </a:t>
            </a:r>
            <a:r>
              <a:rPr kumimoji="0" lang="ko-KR" altLang="en-US" u="none" kern="0">
                <a:solidFill>
                  <a:sysClr val="windowText" lastClr="000000"/>
                </a:solidFill>
                <a:ea typeface="현대하모니 B"/>
              </a:rPr>
              <a:t>리소스 관리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ko-KR" altLang="en-US" u="none" kern="0">
                <a:solidFill>
                  <a:sysClr val="windowText" lastClr="000000"/>
                </a:solidFill>
                <a:ea typeface="현대하모니 B"/>
              </a:rPr>
              <a:t>이슈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, 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버그 관련 모든 업무 </a:t>
            </a:r>
            <a:r>
              <a:rPr kumimoji="0" lang="ko-KR" altLang="en-US" u="none" kern="0">
                <a:solidFill>
                  <a:sysClr val="windowText" lastClr="000000"/>
                </a:solidFill>
                <a:ea typeface="현대하모니 B"/>
              </a:rPr>
              <a:t>요소 추적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스크럼 기반의 개발 </a:t>
            </a:r>
            <a:r>
              <a:rPr kumimoji="0" lang="ko-KR" altLang="en-US" u="none" kern="0">
                <a:solidFill>
                  <a:sysClr val="windowText" lastClr="000000"/>
                </a:solidFill>
                <a:ea typeface="현대하모니 B"/>
              </a:rPr>
              <a:t>워크플로우 관리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릴리즈 기반의 프로젝트 </a:t>
            </a:r>
            <a:r>
              <a:rPr kumimoji="0" lang="ko-KR" altLang="en-US" u="none" kern="0">
                <a:solidFill>
                  <a:sysClr val="windowText" lastClr="000000"/>
                </a:solidFill>
                <a:ea typeface="현대하모니 B"/>
              </a:rPr>
              <a:t>생산성 관리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대시보드 형태의 개발 </a:t>
            </a:r>
            <a:r>
              <a:rPr kumimoji="0" lang="ko-KR" altLang="en-US" u="none" kern="0">
                <a:solidFill>
                  <a:sysClr val="windowText" lastClr="000000"/>
                </a:solidFill>
                <a:ea typeface="현대하모니 B"/>
              </a:rPr>
              <a:t>진척상황 모니터링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ko-KR" u="none" kern="0">
                <a:solidFill>
                  <a:sysClr val="windowText" lastClr="000000"/>
                </a:solidFill>
                <a:ea typeface="현대하모니 B"/>
              </a:rPr>
              <a:t>JIRA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TM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 활용 이슈 관리 </a:t>
            </a:r>
            <a:r>
              <a:rPr kumimoji="0" lang="ko-KR" altLang="en-US" u="none" kern="0">
                <a:solidFill>
                  <a:sysClr val="windowText" lastClr="000000"/>
                </a:solidFill>
                <a:ea typeface="현대하모니 B"/>
              </a:rPr>
              <a:t>환경 구축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ko-KR" u="none" kern="0">
                <a:solidFill>
                  <a:sysClr val="windowText" lastClr="000000"/>
                </a:solidFill>
                <a:ea typeface="현대하모니 B"/>
              </a:rPr>
              <a:t>BitbucketTM</a:t>
            </a:r>
            <a:r>
              <a:rPr kumimoji="0" lang="en-US" altLang="ko-KR" u="none" kern="0" dirty="0">
                <a:solidFill>
                  <a:sysClr val="windowText" lastClr="000000"/>
                </a:solidFill>
                <a:ea typeface="현대하모니 B"/>
              </a:rPr>
              <a:t> </a:t>
            </a:r>
            <a:r>
              <a:rPr kumimoji="0" lang="ko-KR" altLang="en-US" u="none" kern="0" dirty="0">
                <a:solidFill>
                  <a:sysClr val="windowText" lastClr="000000"/>
                </a:solidFill>
                <a:ea typeface="현대하모니 B"/>
              </a:rPr>
              <a:t>활용 </a:t>
            </a:r>
            <a:r>
              <a:rPr kumimoji="0" lang="ko-KR" altLang="en-US" u="none" kern="0">
                <a:solidFill>
                  <a:sysClr val="windowText" lastClr="000000"/>
                </a:solidFill>
                <a:ea typeface="현대하모니 B"/>
              </a:rPr>
              <a:t>소스코드 형상관리</a:t>
            </a:r>
            <a:endParaRPr kumimoji="0" lang="en-US" altLang="ko-KR" u="none" kern="0" dirty="0">
              <a:solidFill>
                <a:sysClr val="windowText" lastClr="000000"/>
              </a:solidFill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kumimoji="0" lang="ko-KR" altLang="en-US" u="none" kern="0" dirty="0">
              <a:solidFill>
                <a:sysClr val="windowText" lastClr="000000"/>
              </a:solidFill>
              <a:ea typeface="현대하모니 B"/>
            </a:endParaRPr>
          </a:p>
        </p:txBody>
      </p:sp>
      <p:grpSp>
        <p:nvGrpSpPr>
          <p:cNvPr id="8" name="그룹 59">
            <a:extLst>
              <a:ext uri="{FF2B5EF4-FFF2-40B4-BE49-F238E27FC236}">
                <a16:creationId xmlns:a16="http://schemas.microsoft.com/office/drawing/2014/main" id="{851BE8E0-A871-94C1-C913-FD74B9F249E8}"/>
              </a:ext>
            </a:extLst>
          </p:cNvPr>
          <p:cNvGrpSpPr/>
          <p:nvPr/>
        </p:nvGrpSpPr>
        <p:grpSpPr>
          <a:xfrm>
            <a:off x="5209387" y="1460409"/>
            <a:ext cx="3937274" cy="769945"/>
            <a:chOff x="505959" y="4766044"/>
            <a:chExt cx="4188511" cy="521513"/>
          </a:xfrm>
        </p:grpSpPr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4250EE8C-2FFB-562C-7617-FC2B4C953998}"/>
                </a:ext>
              </a:extLst>
            </p:cNvPr>
            <p:cNvSpPr/>
            <p:nvPr/>
          </p:nvSpPr>
          <p:spPr>
            <a:xfrm rot="16200000" flipV="1">
              <a:off x="4548250" y="5141336"/>
              <a:ext cx="170706" cy="121735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</p:spPr>
          <p:txBody>
            <a:bodyPr lIns="0" tIns="0" rIns="0" bIns="0" rtlCol="0" anchor="ctr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ko-KR" altLang="en-US" sz="1100" u="none" kern="0" spc="-6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현대하모니 L"/>
                <a:sym typeface="HY견고딕" pitchFamily="18" charset="-127"/>
              </a:endParaRPr>
            </a:p>
          </p:txBody>
        </p:sp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4CAC24C8-674E-F75F-44AF-7278DE0BCF95}"/>
                </a:ext>
              </a:extLst>
            </p:cNvPr>
            <p:cNvSpPr/>
            <p:nvPr/>
          </p:nvSpPr>
          <p:spPr>
            <a:xfrm rot="5400000" flipH="1" flipV="1">
              <a:off x="481474" y="5141336"/>
              <a:ext cx="170706" cy="121735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</p:spPr>
          <p:txBody>
            <a:bodyPr lIns="0" tIns="0" rIns="0" bIns="0" rtlCol="0" anchor="ctr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ko-KR" altLang="en-US" sz="1100" u="none" kern="0" spc="-6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현대하모니 L"/>
                <a:sym typeface="HY견고딕" pitchFamily="18" charset="-127"/>
              </a:endParaRPr>
            </a:p>
          </p:txBody>
        </p:sp>
        <p:sp>
          <p:nvSpPr>
            <p:cNvPr id="11" name="텍스트 개체 틀 1">
              <a:extLst>
                <a:ext uri="{FF2B5EF4-FFF2-40B4-BE49-F238E27FC236}">
                  <a16:creationId xmlns:a16="http://schemas.microsoft.com/office/drawing/2014/main" id="{36B1FCF5-D288-F438-2BF0-6F5DE4BFA766}"/>
                </a:ext>
              </a:extLst>
            </p:cNvPr>
            <p:cNvSpPr txBox="1">
              <a:spLocks/>
            </p:cNvSpPr>
            <p:nvPr/>
          </p:nvSpPr>
          <p:spPr>
            <a:xfrm>
              <a:off x="505959" y="4766044"/>
              <a:ext cx="4188511" cy="360000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rgbClr val="0033A1"/>
              </a:bgClr>
            </a:patt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R="0" lvl="0" indent="0" algn="ctr" defTabSz="914400" fontAlgn="auto" latinLnBrk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b="1" u="none" spc="-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맑은 고딕" panose="020B0503020000020004" pitchFamily="50" charset="-127"/>
                  <a:ea typeface="현대하모니 L"/>
                </a:rPr>
                <a:t>개발진척 </a:t>
              </a:r>
              <a:r>
                <a:rPr lang="en-US" altLang="ko-KR" sz="1600" b="1" u="none" spc="-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맑은 고딕" panose="020B0503020000020004" pitchFamily="50" charset="-127"/>
                  <a:ea typeface="현대하모니 L"/>
                </a:rPr>
                <a:t>&amp; </a:t>
              </a:r>
              <a:r>
                <a:rPr lang="ko-KR" altLang="en-US" sz="1600" b="1" u="none" spc="-5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맑은 고딕" panose="020B0503020000020004" pitchFamily="50" charset="-127"/>
                  <a:ea typeface="현대하모니 L"/>
                </a:rPr>
                <a:t>품질 관리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1854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95A5E-1722-B720-05DA-CA21D7714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C584DFF-A951-3752-4BC4-7B7E39CDD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6.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프로젝트 관리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(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수행관리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)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4583B50-9F44-5A5C-6A2B-DC3BD0C6A691}"/>
              </a:ext>
            </a:extLst>
          </p:cNvPr>
          <p:cNvSpPr/>
          <p:nvPr/>
        </p:nvSpPr>
        <p:spPr>
          <a:xfrm>
            <a:off x="344488" y="4365104"/>
            <a:ext cx="9289032" cy="1907358"/>
          </a:xfrm>
          <a:prstGeom prst="roundRect">
            <a:avLst>
              <a:gd name="adj" fmla="val 2405"/>
            </a:avLst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300" u="none" dirty="0">
                <a:latin typeface="+mn-ea"/>
                <a:ea typeface="현대하모니 B"/>
              </a:rPr>
              <a:t>개발할 제품에 대한 요구사항을 분석하여 정기적으로 요구사항 목록을 작성</a:t>
            </a:r>
            <a:endParaRPr lang="en-US" altLang="ko-KR" sz="1300" u="none" dirty="0">
              <a:latin typeface="+mn-ea"/>
              <a:ea typeface="현대하모니 B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300" u="none" dirty="0">
                <a:latin typeface="+mn-ea"/>
                <a:ea typeface="현대하모니 B"/>
              </a:rPr>
              <a:t>프로젝트 관리자</a:t>
            </a:r>
            <a:r>
              <a:rPr lang="en-US" altLang="ko-KR" sz="1300" u="none" dirty="0">
                <a:latin typeface="+mn-ea"/>
                <a:ea typeface="현대하모니 B"/>
              </a:rPr>
              <a:t>, </a:t>
            </a:r>
            <a:r>
              <a:rPr lang="ko-KR" altLang="en-US" sz="1300" u="none" dirty="0">
                <a:latin typeface="+mn-ea"/>
                <a:ea typeface="현대하모니 B"/>
              </a:rPr>
              <a:t>팀 프로젝트 리더가 참여하여 스프린트 목표와 요구사항</a:t>
            </a:r>
            <a:r>
              <a:rPr lang="en-US" altLang="ko-KR" sz="1300" u="none" dirty="0">
                <a:latin typeface="+mn-ea"/>
                <a:ea typeface="현대하모니 B"/>
              </a:rPr>
              <a:t> </a:t>
            </a:r>
            <a:r>
              <a:rPr lang="ko-KR" altLang="en-US" sz="1300" u="none" dirty="0">
                <a:latin typeface="+mn-ea"/>
                <a:ea typeface="현대하모니 B"/>
              </a:rPr>
              <a:t>처리 계획 수립</a:t>
            </a:r>
            <a:endParaRPr lang="en-US" altLang="ko-KR" sz="1300" u="none" dirty="0">
              <a:latin typeface="+mn-ea"/>
              <a:ea typeface="현대하모니 B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300" u="none" dirty="0">
                <a:latin typeface="+mn-ea"/>
                <a:ea typeface="현대하모니 B"/>
              </a:rPr>
              <a:t>각 요구사항을 </a:t>
            </a:r>
            <a:r>
              <a:rPr lang="en-US" altLang="ko-KR" sz="1300" u="none" dirty="0">
                <a:latin typeface="+mn-ea"/>
                <a:ea typeface="현대하모니 B"/>
              </a:rPr>
              <a:t>Task </a:t>
            </a:r>
            <a:r>
              <a:rPr lang="ko-KR" altLang="en-US" sz="1300" u="none" dirty="0">
                <a:latin typeface="+mn-ea"/>
                <a:ea typeface="현대하모니 B"/>
              </a:rPr>
              <a:t>단위로 나누어 개발자들이 작업할 수 있는 스프린트 </a:t>
            </a:r>
            <a:r>
              <a:rPr lang="ko-KR" altLang="en-US" sz="1300" u="none" dirty="0" err="1">
                <a:latin typeface="+mn-ea"/>
                <a:ea typeface="현대하모니 B"/>
              </a:rPr>
              <a:t>백로그</a:t>
            </a:r>
            <a:r>
              <a:rPr lang="en-US" altLang="ko-KR" sz="1300" u="none" dirty="0">
                <a:latin typeface="+mn-ea"/>
                <a:ea typeface="현대하모니 B"/>
              </a:rPr>
              <a:t>(</a:t>
            </a:r>
            <a:r>
              <a:rPr lang="ko-KR" altLang="en-US" sz="1300" u="none" dirty="0">
                <a:latin typeface="+mn-ea"/>
                <a:ea typeface="현대하모니 B"/>
              </a:rPr>
              <a:t>세부요구사양</a:t>
            </a:r>
            <a:r>
              <a:rPr lang="en-US" altLang="ko-KR" sz="1300" u="none" dirty="0">
                <a:latin typeface="+mn-ea"/>
                <a:ea typeface="현대하모니 B"/>
              </a:rPr>
              <a:t>)</a:t>
            </a:r>
            <a:r>
              <a:rPr lang="ko-KR" altLang="en-US" sz="1300" u="none" dirty="0">
                <a:latin typeface="+mn-ea"/>
                <a:ea typeface="현대하모니 B"/>
              </a:rPr>
              <a:t> 작성</a:t>
            </a:r>
            <a:endParaRPr lang="en-US" altLang="ko-KR" sz="1300" u="none" dirty="0">
              <a:latin typeface="+mn-ea"/>
              <a:ea typeface="현대하모니 B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300" u="none" dirty="0">
                <a:latin typeface="+mn-ea"/>
                <a:ea typeface="현대하모니 B"/>
              </a:rPr>
              <a:t>스프린트 수행 중에 문제점이나 장애요인 등을 공유하며 문제가 있는 경우 해결방안을 수립</a:t>
            </a:r>
            <a:endParaRPr lang="en-US" altLang="ko-KR" sz="1300" u="none" dirty="0">
              <a:latin typeface="+mn-ea"/>
              <a:ea typeface="현대하모니 B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300" u="none" dirty="0">
                <a:latin typeface="+mn-ea"/>
                <a:ea typeface="현대하모니 B"/>
              </a:rPr>
              <a:t>각 스프린트마다 목표를 달성하여 실행 가능한 모듈을 만들어서 공유</a:t>
            </a:r>
            <a:endParaRPr lang="en-US" altLang="ko-KR" sz="1300" u="none" dirty="0">
              <a:latin typeface="+mn-ea"/>
              <a:ea typeface="현대하모니 B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300" u="none" dirty="0">
                <a:latin typeface="+mn-ea"/>
                <a:ea typeface="현대하모니 B"/>
              </a:rPr>
              <a:t>스프린트 종료 후</a:t>
            </a:r>
            <a:r>
              <a:rPr lang="en-US" altLang="ko-KR" sz="1300" u="none" dirty="0">
                <a:latin typeface="+mn-ea"/>
                <a:ea typeface="현대하모니 B"/>
              </a:rPr>
              <a:t>, </a:t>
            </a:r>
            <a:r>
              <a:rPr lang="ko-KR" altLang="en-US" sz="1300" u="none" dirty="0">
                <a:latin typeface="+mn-ea"/>
                <a:ea typeface="현대하모니 B"/>
              </a:rPr>
              <a:t>수행 결과가 충분이 만족되는지를 피드백 받고 미진한 점을 도출함으로써 다음 스프린트를 개선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B7D6ACB-832C-A110-53FC-04A7B3F2E285}"/>
              </a:ext>
            </a:extLst>
          </p:cNvPr>
          <p:cNvSpPr/>
          <p:nvPr/>
        </p:nvSpPr>
        <p:spPr>
          <a:xfrm>
            <a:off x="344488" y="836712"/>
            <a:ext cx="9289032" cy="3456384"/>
          </a:xfrm>
          <a:prstGeom prst="roundRect">
            <a:avLst>
              <a:gd name="adj" fmla="val 2405"/>
            </a:avLst>
          </a:prstGeom>
          <a:noFill/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t" anchorCtr="0"/>
          <a:lstStyle/>
          <a:p>
            <a:pPr>
              <a:lnSpc>
                <a:spcPct val="150000"/>
              </a:lnSpc>
            </a:pPr>
            <a:endParaRPr lang="ko-KR" altLang="en-US" sz="1300" u="none" dirty="0">
              <a:latin typeface="+mn-ea"/>
              <a:ea typeface="현대하모니 B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347E14D-F3A5-A94B-2270-A08C13A91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233" b="11233"/>
          <a:stretch/>
        </p:blipFill>
        <p:spPr>
          <a:xfrm>
            <a:off x="1182104" y="714523"/>
            <a:ext cx="7257819" cy="316537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3F3FE9-5089-B389-0E4B-C75D3582074E}"/>
              </a:ext>
            </a:extLst>
          </p:cNvPr>
          <p:cNvSpPr txBox="1"/>
          <p:nvPr/>
        </p:nvSpPr>
        <p:spPr>
          <a:xfrm>
            <a:off x="1267299" y="3793987"/>
            <a:ext cx="998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u="none" dirty="0">
                <a:latin typeface="+mn-ea"/>
                <a:ea typeface="현대하모니 B"/>
              </a:rPr>
              <a:t>1) </a:t>
            </a:r>
            <a:r>
              <a:rPr lang="ko-KR" altLang="en-US" sz="1200" b="1" u="none" dirty="0">
                <a:latin typeface="+mn-ea"/>
                <a:ea typeface="현대하모니 B"/>
              </a:rPr>
              <a:t>요구사항</a:t>
            </a:r>
            <a:endParaRPr lang="en-US" altLang="ko-KR" sz="1200" b="1" u="none" dirty="0">
              <a:latin typeface="+mn-ea"/>
              <a:ea typeface="현대하모니 B"/>
            </a:endParaRPr>
          </a:p>
          <a:p>
            <a:pPr algn="ctr"/>
            <a:r>
              <a:rPr lang="ko-KR" altLang="en-US" sz="1200" b="1" u="none" dirty="0">
                <a:latin typeface="+mn-ea"/>
                <a:ea typeface="현대하모니 B"/>
              </a:rPr>
              <a:t>목록 작성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4C946B-E3F2-ABAE-4889-41D2FC8BF12B}"/>
              </a:ext>
            </a:extLst>
          </p:cNvPr>
          <p:cNvSpPr txBox="1"/>
          <p:nvPr/>
        </p:nvSpPr>
        <p:spPr>
          <a:xfrm>
            <a:off x="2273737" y="3793987"/>
            <a:ext cx="998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u="none" dirty="0">
                <a:latin typeface="+mn-ea"/>
                <a:ea typeface="현대하모니 B"/>
              </a:rPr>
              <a:t>2) </a:t>
            </a:r>
            <a:r>
              <a:rPr lang="ko-KR" altLang="en-US" sz="1200" b="1" u="none" dirty="0">
                <a:latin typeface="+mn-ea"/>
                <a:ea typeface="현대하모니 B"/>
              </a:rPr>
              <a:t>스프린트</a:t>
            </a:r>
            <a:br>
              <a:rPr lang="en-US" altLang="ko-KR" sz="1200" b="1" u="none" dirty="0">
                <a:latin typeface="+mn-ea"/>
                <a:ea typeface="현대하모니 B"/>
              </a:rPr>
            </a:br>
            <a:r>
              <a:rPr lang="ko-KR" altLang="en-US" sz="1200" b="1" u="none" dirty="0">
                <a:latin typeface="+mn-ea"/>
                <a:ea typeface="현대하모니 B"/>
              </a:rPr>
              <a:t>계획 회의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12CAD1-999B-048A-D693-FE4F57F50752}"/>
              </a:ext>
            </a:extLst>
          </p:cNvPr>
          <p:cNvSpPr txBox="1"/>
          <p:nvPr/>
        </p:nvSpPr>
        <p:spPr>
          <a:xfrm>
            <a:off x="3263559" y="3793987"/>
            <a:ext cx="998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u="none" dirty="0">
                <a:latin typeface="+mn-ea"/>
                <a:ea typeface="현대하모니 B"/>
              </a:rPr>
              <a:t>3) </a:t>
            </a:r>
            <a:r>
              <a:rPr lang="ko-KR" altLang="en-US" sz="1200" b="1" u="none" dirty="0">
                <a:latin typeface="+mn-ea"/>
                <a:ea typeface="현대하모니 B"/>
              </a:rPr>
              <a:t>스프린트</a:t>
            </a:r>
            <a:br>
              <a:rPr lang="en-US" altLang="ko-KR" sz="1200" b="1" u="none" dirty="0">
                <a:latin typeface="+mn-ea"/>
                <a:ea typeface="현대하모니 B"/>
              </a:rPr>
            </a:br>
            <a:r>
              <a:rPr lang="ko-KR" altLang="en-US" sz="1200" b="1" u="none" dirty="0">
                <a:latin typeface="+mn-ea"/>
                <a:ea typeface="현대하모니 B"/>
              </a:rPr>
              <a:t>백로그 작성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E4847E-736B-7F58-BD7C-4EB505D596B8}"/>
              </a:ext>
            </a:extLst>
          </p:cNvPr>
          <p:cNvSpPr txBox="1"/>
          <p:nvPr/>
        </p:nvSpPr>
        <p:spPr>
          <a:xfrm>
            <a:off x="4864714" y="2167698"/>
            <a:ext cx="9268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u="none" dirty="0">
                <a:latin typeface="현대하모니 L"/>
                <a:ea typeface="현대하모니 B"/>
              </a:rPr>
              <a:t>SPRINT</a:t>
            </a:r>
          </a:p>
          <a:p>
            <a:pPr algn="ctr"/>
            <a:r>
              <a:rPr lang="en-US" altLang="ko-KR" sz="1400" u="none" dirty="0">
                <a:latin typeface="현대하모니 L"/>
                <a:ea typeface="현대하모니 B"/>
              </a:rPr>
              <a:t>1~2 WEEK</a:t>
            </a:r>
            <a:endParaRPr lang="ko-KR" altLang="en-US" sz="1400" u="none" dirty="0">
              <a:latin typeface="현대하모니 L"/>
              <a:ea typeface="현대하모니 B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85505F-5870-9765-2195-A486130A96E9}"/>
              </a:ext>
            </a:extLst>
          </p:cNvPr>
          <p:cNvSpPr txBox="1"/>
          <p:nvPr/>
        </p:nvSpPr>
        <p:spPr>
          <a:xfrm>
            <a:off x="6091323" y="1677786"/>
            <a:ext cx="519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u="none" dirty="0">
                <a:latin typeface="현대하모니 L"/>
                <a:ea typeface="현대하모니 B"/>
              </a:rPr>
              <a:t>24 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A5D74B-49B3-9AF1-A1A4-30AB7CF686A8}"/>
              </a:ext>
            </a:extLst>
          </p:cNvPr>
          <p:cNvSpPr txBox="1"/>
          <p:nvPr/>
        </p:nvSpPr>
        <p:spPr>
          <a:xfrm>
            <a:off x="6740977" y="1446954"/>
            <a:ext cx="899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u="none" dirty="0">
                <a:latin typeface="+mn-ea"/>
                <a:ea typeface="현대하모니 B"/>
              </a:rPr>
              <a:t>4) </a:t>
            </a:r>
            <a:r>
              <a:rPr lang="ko-KR" altLang="en-US" sz="1200" b="1" u="none" dirty="0">
                <a:latin typeface="+mn-ea"/>
                <a:ea typeface="현대하모니 B"/>
              </a:rPr>
              <a:t>데일리 </a:t>
            </a:r>
            <a:endParaRPr lang="en-US" altLang="ko-KR" sz="1200" b="1" u="none" dirty="0">
              <a:latin typeface="+mn-ea"/>
              <a:ea typeface="현대하모니 B"/>
            </a:endParaRPr>
          </a:p>
          <a:p>
            <a:pPr algn="ctr"/>
            <a:r>
              <a:rPr lang="ko-KR" altLang="en-US" sz="1200" b="1" u="none" dirty="0">
                <a:latin typeface="+mn-ea"/>
                <a:ea typeface="현대하모니 B"/>
              </a:rPr>
              <a:t>미팅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72227C-1B52-15E6-5B79-76D5FA8F0B9A}"/>
              </a:ext>
            </a:extLst>
          </p:cNvPr>
          <p:cNvSpPr txBox="1"/>
          <p:nvPr/>
        </p:nvSpPr>
        <p:spPr>
          <a:xfrm>
            <a:off x="6792202" y="3793987"/>
            <a:ext cx="998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u="none" dirty="0">
                <a:latin typeface="+mn-ea"/>
                <a:ea typeface="현대하모니 B"/>
              </a:rPr>
              <a:t>5) </a:t>
            </a:r>
            <a:r>
              <a:rPr lang="ko-KR" altLang="en-US" sz="1200" b="1" u="none" dirty="0">
                <a:latin typeface="+mn-ea"/>
                <a:ea typeface="현대하모니 B"/>
              </a:rPr>
              <a:t>스프린트</a:t>
            </a:r>
            <a:br>
              <a:rPr lang="en-US" altLang="ko-KR" sz="1200" b="1" u="none" dirty="0">
                <a:latin typeface="+mn-ea"/>
                <a:ea typeface="현대하모니 B"/>
              </a:rPr>
            </a:br>
            <a:r>
              <a:rPr lang="ko-KR" altLang="en-US" sz="1200" b="1" u="none" dirty="0">
                <a:latin typeface="+mn-ea"/>
                <a:ea typeface="현대하모니 B"/>
              </a:rPr>
              <a:t>완료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F4F1D3-E772-FCC4-2F43-4B78307AAF00}"/>
              </a:ext>
            </a:extLst>
          </p:cNvPr>
          <p:cNvSpPr txBox="1"/>
          <p:nvPr/>
        </p:nvSpPr>
        <p:spPr>
          <a:xfrm>
            <a:off x="7621503" y="2909211"/>
            <a:ext cx="1003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u="none" dirty="0">
                <a:latin typeface="+mn-ea"/>
                <a:ea typeface="현대하모니 B"/>
              </a:rPr>
              <a:t>6) </a:t>
            </a:r>
            <a:r>
              <a:rPr lang="ko-KR" altLang="en-US" sz="1200" b="1" u="none" dirty="0">
                <a:latin typeface="+mn-ea"/>
                <a:ea typeface="현대하모니 B"/>
              </a:rPr>
              <a:t>스프린트</a:t>
            </a:r>
            <a:br>
              <a:rPr lang="en-US" altLang="ko-KR" sz="1200" b="1" u="none" dirty="0">
                <a:latin typeface="+mn-ea"/>
                <a:ea typeface="현대하모니 B"/>
              </a:rPr>
            </a:br>
            <a:r>
              <a:rPr lang="ko-KR" altLang="en-US" sz="1200" b="1" u="none" dirty="0">
                <a:latin typeface="+mn-ea"/>
                <a:ea typeface="현대하모니 B"/>
              </a:rPr>
              <a:t>리뷰 </a:t>
            </a:r>
            <a:r>
              <a:rPr lang="en-US" altLang="ko-KR" sz="1200" b="1" u="none" dirty="0">
                <a:latin typeface="+mn-ea"/>
                <a:ea typeface="현대하모니 B"/>
              </a:rPr>
              <a:t>&amp; </a:t>
            </a:r>
            <a:r>
              <a:rPr lang="ko-KR" altLang="en-US" sz="1200" b="1" u="none" dirty="0">
                <a:latin typeface="+mn-ea"/>
                <a:ea typeface="현대하모니 B"/>
              </a:rPr>
              <a:t>회고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F882B5-FB6F-2E4B-B3D3-21639E2AEF01}"/>
              </a:ext>
            </a:extLst>
          </p:cNvPr>
          <p:cNvSpPr txBox="1"/>
          <p:nvPr/>
        </p:nvSpPr>
        <p:spPr>
          <a:xfrm>
            <a:off x="1454084" y="2630531"/>
            <a:ext cx="7216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u="none" dirty="0">
                <a:latin typeface="현대하모니 L"/>
                <a:ea typeface="현대하모니 B"/>
              </a:rPr>
              <a:t>PM&amp;PL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227348-89AF-D839-88A3-FFC98CE48311}"/>
              </a:ext>
            </a:extLst>
          </p:cNvPr>
          <p:cNvSpPr txBox="1"/>
          <p:nvPr/>
        </p:nvSpPr>
        <p:spPr>
          <a:xfrm>
            <a:off x="2984796" y="2641106"/>
            <a:ext cx="575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u="none" dirty="0">
                <a:latin typeface="현대하모니 L"/>
                <a:ea typeface="현대하모니 B"/>
              </a:rPr>
              <a:t>Team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AA6032-E068-EA92-7394-91FEBE11BB36}"/>
              </a:ext>
            </a:extLst>
          </p:cNvPr>
          <p:cNvSpPr txBox="1"/>
          <p:nvPr/>
        </p:nvSpPr>
        <p:spPr>
          <a:xfrm>
            <a:off x="5091212" y="1268657"/>
            <a:ext cx="352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u="none" dirty="0">
                <a:latin typeface="현대하모니 L"/>
                <a:ea typeface="현대하모니 B"/>
              </a:rPr>
              <a:t>PL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2A3B14-57CC-91D3-C3D2-F07BB3FD814D}"/>
              </a:ext>
            </a:extLst>
          </p:cNvPr>
          <p:cNvSpPr txBox="1"/>
          <p:nvPr/>
        </p:nvSpPr>
        <p:spPr>
          <a:xfrm>
            <a:off x="978288" y="1070354"/>
            <a:ext cx="2823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u="none" dirty="0">
                <a:latin typeface="+mn-ea"/>
                <a:ea typeface="현대하모니 B"/>
              </a:rPr>
              <a:t>&lt;</a:t>
            </a:r>
            <a:r>
              <a:rPr lang="ko-KR" altLang="en-US" sz="1400" u="none" dirty="0">
                <a:latin typeface="+mn-ea"/>
                <a:ea typeface="현대하모니 B"/>
              </a:rPr>
              <a:t>애자일</a:t>
            </a:r>
            <a:r>
              <a:rPr lang="en-US" altLang="ko-KR" sz="1400" u="none" dirty="0">
                <a:latin typeface="+mn-ea"/>
                <a:ea typeface="현대하모니 B"/>
              </a:rPr>
              <a:t>(</a:t>
            </a:r>
            <a:r>
              <a:rPr lang="ko-KR" altLang="en-US" sz="1400" u="none" dirty="0">
                <a:latin typeface="+mn-ea"/>
                <a:ea typeface="현대하모니 B"/>
              </a:rPr>
              <a:t>스크럼</a:t>
            </a:r>
            <a:r>
              <a:rPr lang="en-US" altLang="ko-KR" sz="1400" u="none" dirty="0">
                <a:latin typeface="+mn-ea"/>
                <a:ea typeface="현대하모니 B"/>
              </a:rPr>
              <a:t>)</a:t>
            </a:r>
            <a:r>
              <a:rPr lang="ko-KR" altLang="en-US" sz="1400" u="none" dirty="0">
                <a:latin typeface="+mn-ea"/>
                <a:ea typeface="현대하모니 B"/>
              </a:rPr>
              <a:t> 개발방식 기반</a:t>
            </a:r>
            <a:r>
              <a:rPr lang="en-US" altLang="ko-KR" sz="1400" u="none" dirty="0">
                <a:latin typeface="+mn-ea"/>
                <a:ea typeface="현대하모니 B"/>
              </a:rPr>
              <a:t>&gt;</a:t>
            </a:r>
            <a:endParaRPr lang="ko-KR" altLang="en-US" sz="1400" u="none" dirty="0">
              <a:latin typeface="+mn-ea"/>
              <a:ea typeface="현대하모니 B"/>
            </a:endParaRPr>
          </a:p>
        </p:txBody>
      </p:sp>
    </p:spTree>
    <p:extLst>
      <p:ext uri="{BB962C8B-B14F-4D97-AF65-F5344CB8AC3E}">
        <p14:creationId xmlns:p14="http://schemas.microsoft.com/office/powerpoint/2010/main" val="270538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4662E-1D4F-0724-BAC2-A891648B4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7798A867-AE66-7EF6-577F-52C6E6E08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7.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프로젝트 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/>
              </a:rPr>
              <a:t>관리</a:t>
            </a:r>
            <a:r>
              <a:rPr lang="en-US" altLang="ko-KR" sz="2400" u="none" dirty="0">
                <a:ea typeface="현대하모니 B"/>
              </a:rPr>
              <a:t> (</a:t>
            </a:r>
            <a:r>
              <a:rPr lang="ko-KR" altLang="en-US" sz="2400" u="none" dirty="0">
                <a:ea typeface="현대하모니 B"/>
              </a:rPr>
              <a:t>위험</a:t>
            </a:r>
            <a:r>
              <a:rPr lang="en-US" altLang="ko-KR" sz="2400" u="none" dirty="0">
                <a:ea typeface="현대하모니 B"/>
              </a:rPr>
              <a:t>/</a:t>
            </a:r>
            <a:r>
              <a:rPr lang="ko-KR" altLang="en-US" sz="2400" u="none" dirty="0">
                <a:ea typeface="현대하모니 B"/>
              </a:rPr>
              <a:t>이슈관리</a:t>
            </a:r>
            <a:r>
              <a:rPr lang="en-US" altLang="ko-KR" sz="2400" u="none" dirty="0">
                <a:ea typeface="현대하모니 B"/>
              </a:rPr>
              <a:t>)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7FBC4F93-EA35-F67A-13C5-CC6793218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807" y="1124744"/>
            <a:ext cx="8000908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ko-KR" altLang="en-US" u="none" kern="900" dirty="0">
                <a:ln w="18415" cmpd="sng">
                  <a:noFill/>
                  <a:prstDash val="solid"/>
                </a:ln>
                <a:latin typeface="+mn-ea"/>
                <a:ea typeface="현대하모니 L"/>
              </a:rPr>
              <a:t>프로젝트 수행 도중 발생되는 </a:t>
            </a:r>
            <a:r>
              <a:rPr lang="ko-KR" altLang="en-US" b="1" u="none" kern="900" dirty="0">
                <a:ln w="18415" cmpd="sng">
                  <a:noFill/>
                  <a:prstDash val="solid"/>
                </a:ln>
                <a:latin typeface="+mn-ea"/>
                <a:ea typeface="현대하모니 L"/>
              </a:rPr>
              <a:t>위험</a:t>
            </a:r>
            <a:r>
              <a:rPr lang="en-US" altLang="ko-KR" b="1" u="none" kern="900" dirty="0">
                <a:ln w="18415" cmpd="sng">
                  <a:noFill/>
                  <a:prstDash val="solid"/>
                </a:ln>
                <a:latin typeface="+mn-ea"/>
                <a:ea typeface="현대하모니 L"/>
              </a:rPr>
              <a:t>/</a:t>
            </a:r>
            <a:r>
              <a:rPr lang="ko-KR" altLang="en-US" b="1" u="none" kern="900" dirty="0">
                <a:ln w="18415" cmpd="sng">
                  <a:noFill/>
                  <a:prstDash val="solid"/>
                </a:ln>
                <a:latin typeface="+mn-ea"/>
                <a:ea typeface="현대하모니 L"/>
              </a:rPr>
              <a:t>이슈를 식별하</a:t>
            </a:r>
            <a:r>
              <a:rPr lang="ko-KR" altLang="en-US" u="none" kern="900" dirty="0">
                <a:ln w="18415" cmpd="sng">
                  <a:noFill/>
                  <a:prstDash val="solid"/>
                </a:ln>
                <a:latin typeface="+mn-ea"/>
                <a:ea typeface="현대하모니 L"/>
              </a:rPr>
              <a:t>고 각 위험</a:t>
            </a:r>
            <a:r>
              <a:rPr lang="en-US" altLang="ko-KR" u="none" kern="900" dirty="0">
                <a:ln w="18415" cmpd="sng">
                  <a:noFill/>
                  <a:prstDash val="solid"/>
                </a:ln>
                <a:latin typeface="+mn-ea"/>
                <a:ea typeface="현대하모니 L"/>
              </a:rPr>
              <a:t>/</a:t>
            </a:r>
            <a:r>
              <a:rPr lang="ko-KR" altLang="en-US" u="none" kern="900" dirty="0">
                <a:ln w="18415" cmpd="sng">
                  <a:noFill/>
                  <a:prstDash val="solid"/>
                </a:ln>
                <a:latin typeface="+mn-ea"/>
                <a:ea typeface="현대하모니 L"/>
              </a:rPr>
              <a:t>이슈 별 </a:t>
            </a:r>
            <a:r>
              <a:rPr lang="ko-KR" altLang="en-US" b="1" u="none" kern="900" dirty="0">
                <a:ln w="18415" cmpd="sng">
                  <a:noFill/>
                  <a:prstDash val="solid"/>
                </a:ln>
                <a:latin typeface="+mn-ea"/>
                <a:ea typeface="현대하모니 L"/>
              </a:rPr>
              <a:t>대응 방안을 수립 </a:t>
            </a:r>
            <a:r>
              <a:rPr lang="ko-KR" altLang="en-US" u="none" kern="900" dirty="0">
                <a:ln w="18415" cmpd="sng">
                  <a:noFill/>
                  <a:prstDash val="solid"/>
                </a:ln>
                <a:latin typeface="+mn-ea"/>
                <a:ea typeface="현대하모니 L"/>
              </a:rPr>
              <a:t>후 실행</a:t>
            </a:r>
            <a:r>
              <a:rPr lang="en-US" altLang="ko-KR" u="none" kern="900" dirty="0">
                <a:ln w="18415" cmpd="sng">
                  <a:noFill/>
                  <a:prstDash val="solid"/>
                </a:ln>
                <a:latin typeface="+mn-ea"/>
                <a:ea typeface="현대하모니 L"/>
              </a:rPr>
              <a:t>.</a:t>
            </a:r>
          </a:p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/>
              </a:rPr>
              <a:t>▣ </a:t>
            </a:r>
            <a:r>
              <a:rPr lang="ko-KR" altLang="en-US" u="none" dirty="0">
                <a:ea typeface="현대하모니 L"/>
              </a:rPr>
              <a:t>식별된 위험</a:t>
            </a:r>
            <a:r>
              <a:rPr lang="en-US" altLang="ko-KR" u="none" dirty="0">
                <a:ea typeface="현대하모니 L"/>
              </a:rPr>
              <a:t>/</a:t>
            </a:r>
            <a:r>
              <a:rPr lang="ko-KR" altLang="en-US" u="none" dirty="0">
                <a:ea typeface="현대하모니 L"/>
              </a:rPr>
              <a:t>이슈의 각 항목들에 대해서는 </a:t>
            </a:r>
            <a:r>
              <a:rPr lang="ko-KR" altLang="en-US" b="1" u="none" dirty="0">
                <a:ea typeface="현대하모니 L"/>
              </a:rPr>
              <a:t>문서화</a:t>
            </a:r>
            <a:r>
              <a:rPr lang="ko-KR" altLang="en-US" u="none" dirty="0">
                <a:ea typeface="현대하모니 L"/>
              </a:rPr>
              <a:t>하여 주기적으로 </a:t>
            </a:r>
            <a:r>
              <a:rPr lang="ko-KR" altLang="en-US" b="1" u="none" dirty="0">
                <a:ea typeface="현대하모니 L"/>
              </a:rPr>
              <a:t>상태를 모니터링</a:t>
            </a:r>
            <a:r>
              <a:rPr lang="en-US" altLang="ko-KR" b="1" u="none" dirty="0">
                <a:ea typeface="현대하모니 L"/>
              </a:rPr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D227E02-9D4E-5644-ABCE-05E6700677C0}"/>
              </a:ext>
            </a:extLst>
          </p:cNvPr>
          <p:cNvSpPr/>
          <p:nvPr/>
        </p:nvSpPr>
        <p:spPr>
          <a:xfrm>
            <a:off x="683032" y="2153853"/>
            <a:ext cx="8353425" cy="1081216"/>
          </a:xfrm>
          <a:prstGeom prst="roundRect">
            <a:avLst>
              <a:gd name="adj" fmla="val 11969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none">
              <a:ea typeface="현대하모니 L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269DEE3-E189-9F58-212C-379EA39B8AAC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837808" y="2694461"/>
            <a:ext cx="395804" cy="0"/>
          </a:xfrm>
          <a:prstGeom prst="straightConnector1">
            <a:avLst/>
          </a:prstGeom>
          <a:ln w="19050">
            <a:solidFill>
              <a:srgbClr val="00009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C782F0F-1209-F8A9-C412-626CCDB9828A}"/>
              </a:ext>
            </a:extLst>
          </p:cNvPr>
          <p:cNvSpPr/>
          <p:nvPr/>
        </p:nvSpPr>
        <p:spPr>
          <a:xfrm>
            <a:off x="832792" y="2406137"/>
            <a:ext cx="1005016" cy="5766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0000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위험</a:t>
            </a:r>
            <a:r>
              <a:rPr lang="en-US" altLang="ko-KR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/</a:t>
            </a:r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이슈 식별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F8F225A-89E8-EF3F-3A0D-E94030FC2CD5}"/>
              </a:ext>
            </a:extLst>
          </p:cNvPr>
          <p:cNvSpPr/>
          <p:nvPr/>
        </p:nvSpPr>
        <p:spPr>
          <a:xfrm>
            <a:off x="2233612" y="2406137"/>
            <a:ext cx="1005016" cy="5766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0000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위험발생 가능성 분석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C12097E-0E4A-F3D4-B059-B8E14EE80E84}"/>
              </a:ext>
            </a:extLst>
          </p:cNvPr>
          <p:cNvSpPr/>
          <p:nvPr/>
        </p:nvSpPr>
        <p:spPr>
          <a:xfrm>
            <a:off x="3634432" y="2406137"/>
            <a:ext cx="1005016" cy="5766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0000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영향도 </a:t>
            </a:r>
            <a:br>
              <a:rPr lang="en-US" altLang="ko-KR" sz="1200" b="1" u="none" dirty="0">
                <a:solidFill>
                  <a:schemeClr val="tx1"/>
                </a:solidFill>
                <a:latin typeface="+mn-ea"/>
                <a:ea typeface="현대하모니 L"/>
              </a:rPr>
            </a:br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분석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3C269CB-753E-BF30-25BC-2DDB29259462}"/>
              </a:ext>
            </a:extLst>
          </p:cNvPr>
          <p:cNvSpPr/>
          <p:nvPr/>
        </p:nvSpPr>
        <p:spPr>
          <a:xfrm>
            <a:off x="5035252" y="2406137"/>
            <a:ext cx="1005016" cy="5766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0000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영향</a:t>
            </a:r>
            <a:br>
              <a:rPr lang="en-US" altLang="ko-KR" sz="1200" b="1" u="none" dirty="0">
                <a:solidFill>
                  <a:schemeClr val="tx1"/>
                </a:solidFill>
                <a:latin typeface="+mn-ea"/>
                <a:ea typeface="현대하모니 L"/>
              </a:rPr>
            </a:br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평가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E0F294E-69FA-71CB-05FA-C08F954C3DFC}"/>
              </a:ext>
            </a:extLst>
          </p:cNvPr>
          <p:cNvSpPr/>
          <p:nvPr/>
        </p:nvSpPr>
        <p:spPr>
          <a:xfrm>
            <a:off x="6436072" y="2406137"/>
            <a:ext cx="1005016" cy="5766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0000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완화계획</a:t>
            </a:r>
            <a:br>
              <a:rPr lang="en-US" altLang="ko-KR" sz="1200" b="1" u="none" dirty="0">
                <a:solidFill>
                  <a:schemeClr val="tx1"/>
                </a:solidFill>
                <a:latin typeface="+mn-ea"/>
                <a:ea typeface="현대하모니 L"/>
              </a:rPr>
            </a:br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수립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1AD303F-4D1E-B9DB-9584-3E08D68220E4}"/>
              </a:ext>
            </a:extLst>
          </p:cNvPr>
          <p:cNvSpPr/>
          <p:nvPr/>
        </p:nvSpPr>
        <p:spPr>
          <a:xfrm>
            <a:off x="7836890" y="2406137"/>
            <a:ext cx="1005016" cy="5766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0000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위험추적</a:t>
            </a:r>
            <a:br>
              <a:rPr lang="en-US" altLang="ko-KR" sz="1200" b="1" u="none" dirty="0">
                <a:solidFill>
                  <a:schemeClr val="tx1"/>
                </a:solidFill>
                <a:latin typeface="+mn-ea"/>
                <a:ea typeface="현대하모니 L"/>
              </a:rPr>
            </a:br>
            <a:r>
              <a:rPr lang="ko-KR" altLang="en-US" sz="1200" b="1" u="none" dirty="0">
                <a:solidFill>
                  <a:schemeClr val="tx1"/>
                </a:solidFill>
                <a:latin typeface="+mn-ea"/>
                <a:ea typeface="현대하모니 L"/>
              </a:rPr>
              <a:t>및 통제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2D0514A-3155-2366-9191-099385EDC46B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238628" y="2694461"/>
            <a:ext cx="395804" cy="0"/>
          </a:xfrm>
          <a:prstGeom prst="straightConnector1">
            <a:avLst/>
          </a:prstGeom>
          <a:ln w="19050">
            <a:solidFill>
              <a:srgbClr val="00009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FC3BA2C-7AFE-A361-95AC-086149D02C70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639448" y="2694461"/>
            <a:ext cx="395804" cy="0"/>
          </a:xfrm>
          <a:prstGeom prst="straightConnector1">
            <a:avLst/>
          </a:prstGeom>
          <a:ln w="19050">
            <a:solidFill>
              <a:srgbClr val="00009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0640380-DB9A-92AE-5783-F62C0E1B6F53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040268" y="2694461"/>
            <a:ext cx="395804" cy="0"/>
          </a:xfrm>
          <a:prstGeom prst="straightConnector1">
            <a:avLst/>
          </a:prstGeom>
          <a:ln w="19050">
            <a:solidFill>
              <a:srgbClr val="00009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F348D51-A1B5-0792-D0CD-C930E5A99FE8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7441088" y="2694461"/>
            <a:ext cx="395802" cy="0"/>
          </a:xfrm>
          <a:prstGeom prst="straightConnector1">
            <a:avLst/>
          </a:prstGeom>
          <a:ln w="19050">
            <a:solidFill>
              <a:srgbClr val="00009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C3CCA77-3FA1-FD0E-D5D5-C6D7A4410FCE}"/>
              </a:ext>
            </a:extLst>
          </p:cNvPr>
          <p:cNvSpPr/>
          <p:nvPr/>
        </p:nvSpPr>
        <p:spPr>
          <a:xfrm>
            <a:off x="832792" y="3937675"/>
            <a:ext cx="2160000" cy="17632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u="none" dirty="0">
                <a:solidFill>
                  <a:schemeClr val="tx1"/>
                </a:solidFill>
                <a:ea typeface="현대하모니 L"/>
              </a:rPr>
              <a:t>발생 가능한 위험요소</a:t>
            </a:r>
            <a:endParaRPr lang="en-US" altLang="ko-KR" sz="1200" b="1" u="none" dirty="0">
              <a:solidFill>
                <a:schemeClr val="tx1"/>
              </a:solidFill>
              <a:ea typeface="현대하모니 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none" dirty="0">
                <a:solidFill>
                  <a:schemeClr val="tx1"/>
                </a:solidFill>
                <a:ea typeface="현대하모니 L"/>
              </a:rPr>
              <a:t>기획의 변경</a:t>
            </a:r>
            <a:endParaRPr lang="en-US" altLang="ko-KR" sz="1200" u="none" dirty="0">
              <a:solidFill>
                <a:schemeClr val="tx1"/>
              </a:solidFill>
              <a:ea typeface="현대하모니 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none" dirty="0">
                <a:solidFill>
                  <a:schemeClr val="tx1"/>
                </a:solidFill>
                <a:ea typeface="현대하모니 L"/>
              </a:rPr>
              <a:t>비현실적인 일정</a:t>
            </a:r>
            <a:endParaRPr lang="en-US" altLang="ko-KR" sz="1200" u="none" dirty="0">
              <a:solidFill>
                <a:schemeClr val="tx1"/>
              </a:solidFill>
              <a:ea typeface="현대하모니 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none" dirty="0">
                <a:solidFill>
                  <a:schemeClr val="tx1"/>
                </a:solidFill>
                <a:ea typeface="현대하모니 L"/>
              </a:rPr>
              <a:t>잘못된 요구사항 분석</a:t>
            </a:r>
            <a:endParaRPr lang="en-US" altLang="ko-KR" sz="1200" u="none" dirty="0">
              <a:solidFill>
                <a:schemeClr val="tx1"/>
              </a:solidFill>
              <a:ea typeface="현대하모니 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none" dirty="0">
                <a:solidFill>
                  <a:schemeClr val="tx1"/>
                </a:solidFill>
                <a:ea typeface="현대하모니 L"/>
              </a:rPr>
              <a:t>지속적인 요구사항 변경</a:t>
            </a:r>
            <a:endParaRPr lang="en-US" altLang="ko-KR" sz="1200" u="none" dirty="0">
              <a:solidFill>
                <a:schemeClr val="tx1"/>
              </a:solidFill>
              <a:ea typeface="현대하모니 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none" dirty="0">
                <a:solidFill>
                  <a:schemeClr val="tx1"/>
                </a:solidFill>
                <a:ea typeface="현대하모니 L"/>
              </a:rPr>
              <a:t>기술적 취약점 발생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0540AAD-4042-7050-CF75-06768F2DCCAB}"/>
              </a:ext>
            </a:extLst>
          </p:cNvPr>
          <p:cNvSpPr/>
          <p:nvPr/>
        </p:nvSpPr>
        <p:spPr>
          <a:xfrm>
            <a:off x="3757349" y="3937675"/>
            <a:ext cx="2227498" cy="17632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u="none" dirty="0">
                <a:solidFill>
                  <a:schemeClr val="tx1"/>
                </a:solidFill>
                <a:ea typeface="현대하모니 L"/>
              </a:rPr>
              <a:t>위험</a:t>
            </a:r>
            <a:r>
              <a:rPr lang="en-US" altLang="ko-KR" sz="1200" b="1" u="none" dirty="0">
                <a:solidFill>
                  <a:schemeClr val="tx1"/>
                </a:solidFill>
                <a:ea typeface="현대하모니 L"/>
              </a:rPr>
              <a:t>/</a:t>
            </a:r>
            <a:r>
              <a:rPr lang="ko-KR" altLang="en-US" sz="1200" b="1" u="none" dirty="0">
                <a:solidFill>
                  <a:schemeClr val="tx1"/>
                </a:solidFill>
                <a:ea typeface="현대하모니 L"/>
              </a:rPr>
              <a:t>이슈관리 대장 작성</a:t>
            </a:r>
            <a:endParaRPr lang="en-US" altLang="ko-KR" sz="1200" b="1" u="none" dirty="0">
              <a:solidFill>
                <a:schemeClr val="tx1"/>
              </a:solidFill>
              <a:ea typeface="현대하모니 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none" dirty="0">
                <a:solidFill>
                  <a:schemeClr val="tx1"/>
                </a:solidFill>
                <a:ea typeface="현대하모니 L"/>
              </a:rPr>
              <a:t>위험</a:t>
            </a:r>
            <a:r>
              <a:rPr lang="en-US" altLang="ko-KR" sz="1200" u="none" dirty="0">
                <a:solidFill>
                  <a:schemeClr val="tx1"/>
                </a:solidFill>
                <a:ea typeface="현대하모니 L"/>
              </a:rPr>
              <a:t>/</a:t>
            </a:r>
            <a:r>
              <a:rPr lang="ko-KR" altLang="en-US" sz="1200" u="none" dirty="0">
                <a:solidFill>
                  <a:schemeClr val="tx1"/>
                </a:solidFill>
                <a:ea typeface="현대하모니 L"/>
              </a:rPr>
              <a:t>이슈 구분</a:t>
            </a:r>
            <a:endParaRPr lang="en-US" altLang="ko-KR" sz="1200" u="none" dirty="0">
              <a:solidFill>
                <a:schemeClr val="tx1"/>
              </a:solidFill>
              <a:ea typeface="현대하모니 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none" dirty="0">
                <a:solidFill>
                  <a:schemeClr val="tx1"/>
                </a:solidFill>
                <a:ea typeface="현대하모니 L"/>
              </a:rPr>
              <a:t>발생일</a:t>
            </a:r>
            <a:r>
              <a:rPr lang="en-US" altLang="ko-KR" sz="1200" u="none" dirty="0">
                <a:solidFill>
                  <a:schemeClr val="tx1"/>
                </a:solidFill>
                <a:ea typeface="현대하모니 L"/>
              </a:rPr>
              <a:t>, </a:t>
            </a:r>
            <a:r>
              <a:rPr lang="ko-KR" altLang="en-US" sz="1200" u="none" dirty="0">
                <a:solidFill>
                  <a:schemeClr val="tx1"/>
                </a:solidFill>
                <a:ea typeface="현대하모니 L"/>
              </a:rPr>
              <a:t>발의자</a:t>
            </a:r>
            <a:endParaRPr lang="en-US" altLang="ko-KR" sz="1200" u="none" dirty="0">
              <a:solidFill>
                <a:schemeClr val="tx1"/>
              </a:solidFill>
              <a:ea typeface="현대하모니 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none" dirty="0">
                <a:solidFill>
                  <a:schemeClr val="tx1"/>
                </a:solidFill>
                <a:ea typeface="현대하모니 L"/>
              </a:rPr>
              <a:t>상세 내용</a:t>
            </a:r>
            <a:endParaRPr lang="en-US" altLang="ko-KR" sz="1200" u="none" dirty="0">
              <a:solidFill>
                <a:schemeClr val="tx1"/>
              </a:solidFill>
              <a:ea typeface="현대하모니 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none" dirty="0">
                <a:solidFill>
                  <a:schemeClr val="tx1"/>
                </a:solidFill>
                <a:ea typeface="현대하모니 L"/>
              </a:rPr>
              <a:t>정량적</a:t>
            </a:r>
            <a:r>
              <a:rPr lang="en-US" altLang="ko-KR" sz="1200" u="none" dirty="0">
                <a:solidFill>
                  <a:schemeClr val="tx1"/>
                </a:solidFill>
                <a:ea typeface="현대하모니 L"/>
              </a:rPr>
              <a:t>/</a:t>
            </a:r>
            <a:r>
              <a:rPr lang="ko-KR" altLang="en-US" sz="1200" u="none" dirty="0">
                <a:solidFill>
                  <a:schemeClr val="tx1"/>
                </a:solidFill>
                <a:ea typeface="현대하모니 L"/>
              </a:rPr>
              <a:t>정성적 영향도 분석 결과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325E48A-8274-9253-1F06-980A0AA2240A}"/>
              </a:ext>
            </a:extLst>
          </p:cNvPr>
          <p:cNvSpPr/>
          <p:nvPr/>
        </p:nvSpPr>
        <p:spPr>
          <a:xfrm>
            <a:off x="6681905" y="3937675"/>
            <a:ext cx="2264147" cy="17632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u="none" dirty="0">
                <a:solidFill>
                  <a:schemeClr val="tx1"/>
                </a:solidFill>
                <a:ea typeface="현대하모니 L"/>
              </a:rPr>
              <a:t>대응 방안 도출 </a:t>
            </a:r>
            <a:r>
              <a:rPr lang="en-US" altLang="ko-KR" sz="1200" b="1" u="none" dirty="0">
                <a:solidFill>
                  <a:schemeClr val="tx1"/>
                </a:solidFill>
                <a:ea typeface="현대하모니 L"/>
              </a:rPr>
              <a:t>&amp; </a:t>
            </a:r>
            <a:r>
              <a:rPr lang="ko-KR" altLang="en-US" sz="1200" b="1" u="none" dirty="0">
                <a:solidFill>
                  <a:schemeClr val="tx1"/>
                </a:solidFill>
                <a:ea typeface="현대하모니 L"/>
              </a:rPr>
              <a:t>실행</a:t>
            </a:r>
            <a:endParaRPr lang="en-US" altLang="ko-KR" sz="1200" b="1" u="none" dirty="0">
              <a:solidFill>
                <a:schemeClr val="tx1"/>
              </a:solidFill>
              <a:ea typeface="현대하모니 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none" dirty="0">
                <a:solidFill>
                  <a:schemeClr val="tx1"/>
                </a:solidFill>
                <a:ea typeface="현대하모니 L"/>
              </a:rPr>
              <a:t>해당 위험</a:t>
            </a:r>
            <a:r>
              <a:rPr lang="en-US" altLang="ko-KR" sz="1200" u="none" dirty="0">
                <a:solidFill>
                  <a:schemeClr val="tx1"/>
                </a:solidFill>
                <a:ea typeface="현대하모니 L"/>
              </a:rPr>
              <a:t>/</a:t>
            </a:r>
            <a:r>
              <a:rPr lang="ko-KR" altLang="en-US" sz="1200" u="none" dirty="0">
                <a:solidFill>
                  <a:schemeClr val="tx1"/>
                </a:solidFill>
                <a:ea typeface="현대하모니 L"/>
              </a:rPr>
              <a:t>이슈 항목이 발생하지 않도록 초기 제거</a:t>
            </a:r>
            <a:endParaRPr lang="en-US" altLang="ko-KR" sz="1200" u="none" dirty="0">
              <a:solidFill>
                <a:schemeClr val="tx1"/>
              </a:solidFill>
              <a:ea typeface="현대하모니 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none" dirty="0">
                <a:solidFill>
                  <a:schemeClr val="tx1"/>
                </a:solidFill>
                <a:ea typeface="현대하모니 L"/>
              </a:rPr>
              <a:t>최대 변경 범위 상한선 합의</a:t>
            </a:r>
            <a:endParaRPr lang="en-US" altLang="ko-KR" sz="1200" u="none" dirty="0">
              <a:solidFill>
                <a:schemeClr val="tx1"/>
              </a:solidFill>
              <a:ea typeface="현대하모니 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none" dirty="0">
                <a:solidFill>
                  <a:schemeClr val="tx1"/>
                </a:solidFill>
                <a:ea typeface="현대하모니 L"/>
              </a:rPr>
              <a:t>이슈 추적</a:t>
            </a: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3D01E525-5474-5225-DBCC-B01095F5DF9A}"/>
              </a:ext>
            </a:extLst>
          </p:cNvPr>
          <p:cNvCxnSpPr>
            <a:cxnSpLocks/>
            <a:stCxn id="10" idx="2"/>
            <a:endCxn id="31" idx="0"/>
          </p:cNvCxnSpPr>
          <p:nvPr/>
        </p:nvCxnSpPr>
        <p:spPr>
          <a:xfrm rot="5400000">
            <a:off x="5427394" y="2426489"/>
            <a:ext cx="954890" cy="2067482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78C93588-A3B9-83DE-E256-66E22E1D7ED2}"/>
              </a:ext>
            </a:extLst>
          </p:cNvPr>
          <p:cNvCxnSpPr>
            <a:cxnSpLocks/>
            <a:stCxn id="11" idx="2"/>
            <a:endCxn id="32" idx="0"/>
          </p:cNvCxnSpPr>
          <p:nvPr/>
        </p:nvCxnSpPr>
        <p:spPr>
          <a:xfrm rot="5400000">
            <a:off x="7599244" y="3197521"/>
            <a:ext cx="954890" cy="52541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64E8E96E-13A5-291F-D543-50FFCBE5B7A7}"/>
              </a:ext>
            </a:extLst>
          </p:cNvPr>
          <p:cNvCxnSpPr>
            <a:cxnSpLocks/>
            <a:stCxn id="6" idx="2"/>
            <a:endCxn id="30" idx="0"/>
          </p:cNvCxnSpPr>
          <p:nvPr/>
        </p:nvCxnSpPr>
        <p:spPr>
          <a:xfrm rot="16200000" flipH="1">
            <a:off x="1146601" y="3171484"/>
            <a:ext cx="954890" cy="57749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66B505D-7D0C-B30C-F9E7-0C48EEFC8245}"/>
              </a:ext>
            </a:extLst>
          </p:cNvPr>
          <p:cNvSpPr/>
          <p:nvPr/>
        </p:nvSpPr>
        <p:spPr>
          <a:xfrm>
            <a:off x="308484" y="2026244"/>
            <a:ext cx="9289032" cy="3995044"/>
          </a:xfrm>
          <a:prstGeom prst="roundRect">
            <a:avLst>
              <a:gd name="adj" fmla="val 2405"/>
            </a:avLst>
          </a:prstGeom>
          <a:noFill/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t" anchorCtr="0"/>
          <a:lstStyle/>
          <a:p>
            <a:pPr>
              <a:lnSpc>
                <a:spcPct val="150000"/>
              </a:lnSpc>
            </a:pPr>
            <a:endParaRPr lang="ko-KR" altLang="en-US" sz="1300" u="none" dirty="0">
              <a:latin typeface="+mn-ea"/>
              <a:ea typeface="현대하모니 B"/>
            </a:endParaRPr>
          </a:p>
        </p:txBody>
      </p:sp>
    </p:spTree>
    <p:extLst>
      <p:ext uri="{BB962C8B-B14F-4D97-AF65-F5344CB8AC3E}">
        <p14:creationId xmlns:p14="http://schemas.microsoft.com/office/powerpoint/2010/main" val="3293036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548F5-50F0-1EBC-A4AE-010D2A57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D191F157-09D7-14FA-EB2F-263A4A0EE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첨부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1)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SW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구조도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5ED562D-0053-DA30-589A-BED78A6D48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421"/>
          <a:stretch/>
        </p:blipFill>
        <p:spPr>
          <a:xfrm>
            <a:off x="966619" y="981075"/>
            <a:ext cx="7972762" cy="525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4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91D79-827A-502C-1B08-BC7F5DCE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44CDFBBC-64B9-0EB6-D1EF-7E4F70556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첨부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2)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스트리밍 뮤직 서비스 흐름도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0B2701-0079-DAEE-DF9D-1E842CE019E0}"/>
              </a:ext>
            </a:extLst>
          </p:cNvPr>
          <p:cNvSpPr/>
          <p:nvPr/>
        </p:nvSpPr>
        <p:spPr>
          <a:xfrm>
            <a:off x="128071" y="951106"/>
            <a:ext cx="9550696" cy="558588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꺾인 연결선 7">
            <a:extLst>
              <a:ext uri="{FF2B5EF4-FFF2-40B4-BE49-F238E27FC236}">
                <a16:creationId xmlns:a16="http://schemas.microsoft.com/office/drawing/2014/main" id="{D9A64A8C-B920-6A91-A9F6-619A24A1B2A8}"/>
              </a:ext>
            </a:extLst>
          </p:cNvPr>
          <p:cNvCxnSpPr>
            <a:cxnSpLocks/>
            <a:endCxn id="26" idx="1"/>
          </p:cNvCxnSpPr>
          <p:nvPr/>
        </p:nvCxnSpPr>
        <p:spPr bwMode="auto">
          <a:xfrm flipV="1">
            <a:off x="1925921" y="1449830"/>
            <a:ext cx="1166249" cy="4140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rgbClr val="000099"/>
            </a:solidFill>
            <a:round/>
            <a:headEnd/>
            <a:tailEnd type="triangle" w="med" len="med"/>
          </a:ln>
        </p:spPr>
      </p:cxnSp>
      <p:cxnSp>
        <p:nvCxnSpPr>
          <p:cNvPr id="5" name="꺾인 연결선 282">
            <a:extLst>
              <a:ext uri="{FF2B5EF4-FFF2-40B4-BE49-F238E27FC236}">
                <a16:creationId xmlns:a16="http://schemas.microsoft.com/office/drawing/2014/main" id="{4A532339-7F0D-860D-FD43-AEC09D133283}"/>
              </a:ext>
            </a:extLst>
          </p:cNvPr>
          <p:cNvCxnSpPr>
            <a:cxnSpLocks/>
            <a:stCxn id="33" idx="3"/>
            <a:endCxn id="46" idx="1"/>
          </p:cNvCxnSpPr>
          <p:nvPr/>
        </p:nvCxnSpPr>
        <p:spPr bwMode="auto">
          <a:xfrm>
            <a:off x="1925921" y="1457973"/>
            <a:ext cx="1171355" cy="88848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rgbClr val="000099"/>
            </a:solidFill>
            <a:round/>
            <a:headEnd/>
            <a:tailEnd type="triangle" w="med" len="med"/>
          </a:ln>
        </p:spPr>
      </p:cxnSp>
      <p:cxnSp>
        <p:nvCxnSpPr>
          <p:cNvPr id="6" name="꺾인 연결선 283">
            <a:extLst>
              <a:ext uri="{FF2B5EF4-FFF2-40B4-BE49-F238E27FC236}">
                <a16:creationId xmlns:a16="http://schemas.microsoft.com/office/drawing/2014/main" id="{71C83C40-ABB8-8E9E-FE4C-2FFA428DC6A7}"/>
              </a:ext>
            </a:extLst>
          </p:cNvPr>
          <p:cNvCxnSpPr>
            <a:stCxn id="33" idx="3"/>
            <a:endCxn id="34" idx="1"/>
          </p:cNvCxnSpPr>
          <p:nvPr/>
        </p:nvCxnSpPr>
        <p:spPr bwMode="auto">
          <a:xfrm>
            <a:off x="1925921" y="1457973"/>
            <a:ext cx="1166249" cy="178947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rgbClr val="000099"/>
            </a:solidFill>
            <a:round/>
            <a:headEnd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95841F4-9865-E1B1-786E-63D7EEDB08D3}"/>
              </a:ext>
            </a:extLst>
          </p:cNvPr>
          <p:cNvSpPr txBox="1"/>
          <p:nvPr/>
        </p:nvSpPr>
        <p:spPr bwMode="auto">
          <a:xfrm>
            <a:off x="2338848" y="1258076"/>
            <a:ext cx="70051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u="none" dirty="0">
                <a:solidFill>
                  <a:srgbClr val="000099"/>
                </a:solidFill>
                <a:latin typeface="현대하모니 L"/>
                <a:ea typeface="+mn-ea"/>
                <a:cs typeface="Arial" pitchFamily="34" charset="0"/>
              </a:rPr>
              <a:t>[Recommend]]</a:t>
            </a:r>
            <a:endParaRPr kumimoji="0" lang="ko-KR" altLang="en-US" sz="900" b="0" u="none" dirty="0">
              <a:solidFill>
                <a:srgbClr val="000099"/>
              </a:solidFill>
              <a:latin typeface="현대하모니 L"/>
              <a:ea typeface="+mn-ea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872BFE-C037-940C-6A42-9907A62F13A1}"/>
              </a:ext>
            </a:extLst>
          </p:cNvPr>
          <p:cNvSpPr txBox="1"/>
          <p:nvPr/>
        </p:nvSpPr>
        <p:spPr bwMode="auto">
          <a:xfrm>
            <a:off x="2356481" y="2179180"/>
            <a:ext cx="68287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u="none" dirty="0">
                <a:solidFill>
                  <a:srgbClr val="000099"/>
                </a:solidFill>
                <a:latin typeface="현대하모니 L"/>
                <a:ea typeface="+mn-ea"/>
                <a:cs typeface="Arial" pitchFamily="34" charset="0"/>
              </a:rPr>
              <a:t>[Classification]</a:t>
            </a:r>
            <a:endParaRPr kumimoji="0" lang="ko-KR" altLang="en-US" sz="900" b="0" u="none" dirty="0">
              <a:solidFill>
                <a:srgbClr val="000099"/>
              </a:solidFill>
              <a:latin typeface="현대하모니 L"/>
              <a:ea typeface="+mn-ea"/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E26995-F197-BB40-E7AC-91EC9EB7A482}"/>
              </a:ext>
            </a:extLst>
          </p:cNvPr>
          <p:cNvSpPr txBox="1"/>
          <p:nvPr/>
        </p:nvSpPr>
        <p:spPr bwMode="auto">
          <a:xfrm>
            <a:off x="2558679" y="3092809"/>
            <a:ext cx="500137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u="none" dirty="0">
                <a:solidFill>
                  <a:srgbClr val="000099"/>
                </a:solidFill>
                <a:latin typeface="현대하모니 L"/>
                <a:ea typeface="+mn-ea"/>
                <a:cs typeface="Arial" pitchFamily="34" charset="0"/>
              </a:rPr>
              <a:t>[Favorites]</a:t>
            </a:r>
            <a:endParaRPr kumimoji="0" lang="ko-KR" altLang="en-US" sz="900" b="0" u="none" dirty="0">
              <a:solidFill>
                <a:srgbClr val="000099"/>
              </a:solidFill>
              <a:latin typeface="현대하모니 L"/>
              <a:ea typeface="+mn-ea"/>
              <a:cs typeface="Arial" pitchFamily="34" charset="0"/>
            </a:endParaRPr>
          </a:p>
        </p:txBody>
      </p:sp>
      <p:cxnSp>
        <p:nvCxnSpPr>
          <p:cNvPr id="10" name="꺾인 연결선 290">
            <a:extLst>
              <a:ext uri="{FF2B5EF4-FFF2-40B4-BE49-F238E27FC236}">
                <a16:creationId xmlns:a16="http://schemas.microsoft.com/office/drawing/2014/main" id="{08C87D0B-6C83-CFBB-FEBC-4669477365DB}"/>
              </a:ext>
            </a:extLst>
          </p:cNvPr>
          <p:cNvCxnSpPr>
            <a:stCxn id="33" idx="3"/>
            <a:endCxn id="38" idx="1"/>
          </p:cNvCxnSpPr>
          <p:nvPr/>
        </p:nvCxnSpPr>
        <p:spPr bwMode="auto">
          <a:xfrm>
            <a:off x="1925921" y="1457973"/>
            <a:ext cx="1166249" cy="2693584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rgbClr val="000099"/>
            </a:solidFill>
            <a:round/>
            <a:headEnd/>
            <a:tailEnd type="triangle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CA0DBB-295B-EAAD-35F1-4F989730D1DF}"/>
              </a:ext>
            </a:extLst>
          </p:cNvPr>
          <p:cNvSpPr txBox="1"/>
          <p:nvPr/>
        </p:nvSpPr>
        <p:spPr bwMode="auto">
          <a:xfrm>
            <a:off x="2686699" y="3983202"/>
            <a:ext cx="35266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u="none" dirty="0">
                <a:solidFill>
                  <a:srgbClr val="000099"/>
                </a:solidFill>
                <a:latin typeface="현대하모니 L"/>
                <a:ea typeface="+mn-ea"/>
                <a:cs typeface="Arial" pitchFamily="34" charset="0"/>
              </a:rPr>
              <a:t>[Menu]</a:t>
            </a:r>
            <a:endParaRPr kumimoji="0" lang="ko-KR" altLang="en-US" sz="900" b="0" u="none" dirty="0">
              <a:solidFill>
                <a:srgbClr val="000099"/>
              </a:solidFill>
              <a:latin typeface="현대하모니 L"/>
              <a:ea typeface="+mn-ea"/>
              <a:cs typeface="Arial" pitchFamily="34" charset="0"/>
            </a:endParaRPr>
          </a:p>
        </p:txBody>
      </p:sp>
      <p:cxnSp>
        <p:nvCxnSpPr>
          <p:cNvPr id="12" name="꺾인 연결선 313">
            <a:extLst>
              <a:ext uri="{FF2B5EF4-FFF2-40B4-BE49-F238E27FC236}">
                <a16:creationId xmlns:a16="http://schemas.microsoft.com/office/drawing/2014/main" id="{6FBEDCD6-F54A-B4AB-5A1D-B6057B70B0CF}"/>
              </a:ext>
            </a:extLst>
          </p:cNvPr>
          <p:cNvCxnSpPr>
            <a:stCxn id="33" idx="3"/>
            <a:endCxn id="28" idx="1"/>
          </p:cNvCxnSpPr>
          <p:nvPr/>
        </p:nvCxnSpPr>
        <p:spPr bwMode="auto">
          <a:xfrm>
            <a:off x="1925921" y="1457973"/>
            <a:ext cx="1166249" cy="4501174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rgbClr val="000099"/>
            </a:solidFill>
            <a:round/>
            <a:headEnd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C560CB2-DCEF-B972-B2BD-D1255326E922}"/>
              </a:ext>
            </a:extLst>
          </p:cNvPr>
          <p:cNvSpPr txBox="1"/>
          <p:nvPr/>
        </p:nvSpPr>
        <p:spPr bwMode="auto">
          <a:xfrm>
            <a:off x="4820039" y="1255423"/>
            <a:ext cx="617157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u="none" dirty="0">
                <a:solidFill>
                  <a:srgbClr val="000099"/>
                </a:solidFill>
                <a:latin typeface="현대하모니 L"/>
                <a:ea typeface="+mn-ea"/>
                <a:cs typeface="Arial" pitchFamily="34" charset="0"/>
              </a:rPr>
              <a:t>Select Album</a:t>
            </a:r>
            <a:endParaRPr kumimoji="0" lang="ko-KR" altLang="en-US" sz="900" b="0" u="none" dirty="0">
              <a:solidFill>
                <a:srgbClr val="000099"/>
              </a:solidFill>
              <a:latin typeface="현대하모니 L"/>
              <a:ea typeface="+mn-ea"/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1C57AA-0D69-A63D-4541-173251920783}"/>
              </a:ext>
            </a:extLst>
          </p:cNvPr>
          <p:cNvSpPr txBox="1"/>
          <p:nvPr/>
        </p:nvSpPr>
        <p:spPr bwMode="auto">
          <a:xfrm>
            <a:off x="268891" y="1815227"/>
            <a:ext cx="97691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1107FD-9234-AB38-ACB6-F9DD2CCF71D8}"/>
              </a:ext>
            </a:extLst>
          </p:cNvPr>
          <p:cNvSpPr txBox="1"/>
          <p:nvPr/>
        </p:nvSpPr>
        <p:spPr bwMode="auto">
          <a:xfrm>
            <a:off x="8687912" y="1788670"/>
            <a:ext cx="71144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u="none" dirty="0">
                <a:solidFill>
                  <a:srgbClr val="000099"/>
                </a:solidFill>
                <a:latin typeface="Arial" pitchFamily="34" charset="0"/>
                <a:ea typeface="현대하모니 B"/>
                <a:cs typeface="Arial" pitchFamily="34" charset="0"/>
              </a:rPr>
              <a:t>Main</a:t>
            </a:r>
            <a:r>
              <a:rPr kumimoji="0" lang="en-US" altLang="ko-KR" sz="1000" b="0" u="none" dirty="0">
                <a:solidFill>
                  <a:srgbClr val="000099"/>
                </a:solidFill>
                <a:latin typeface="Arial" pitchFamily="34" charset="0"/>
                <a:ea typeface="+mn-ea"/>
                <a:cs typeface="Arial" pitchFamily="34" charset="0"/>
              </a:rPr>
              <a:t> screen</a:t>
            </a:r>
            <a:endParaRPr kumimoji="0" lang="ko-KR" altLang="en-US" sz="1000" b="0" u="none" dirty="0">
              <a:solidFill>
                <a:srgbClr val="000099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7FA513-97A7-5722-668B-04D7531E5473}"/>
              </a:ext>
            </a:extLst>
          </p:cNvPr>
          <p:cNvSpPr txBox="1"/>
          <p:nvPr/>
        </p:nvSpPr>
        <p:spPr bwMode="auto">
          <a:xfrm>
            <a:off x="4826451" y="2172400"/>
            <a:ext cx="65402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u="none" dirty="0">
                <a:solidFill>
                  <a:srgbClr val="000099"/>
                </a:solidFill>
                <a:latin typeface="현대하모니 L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u="none" dirty="0">
              <a:solidFill>
                <a:srgbClr val="000099"/>
              </a:solidFill>
              <a:latin typeface="현대하모니 L"/>
              <a:ea typeface="+mn-ea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25E758-18F0-DADC-9398-4DA1E4180C93}"/>
              </a:ext>
            </a:extLst>
          </p:cNvPr>
          <p:cNvSpPr txBox="1"/>
          <p:nvPr/>
        </p:nvSpPr>
        <p:spPr bwMode="auto">
          <a:xfrm>
            <a:off x="6596582" y="2719064"/>
            <a:ext cx="749224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797B83-7EA8-3281-F650-61CE215D38FD}"/>
              </a:ext>
            </a:extLst>
          </p:cNvPr>
          <p:cNvSpPr txBox="1"/>
          <p:nvPr/>
        </p:nvSpPr>
        <p:spPr bwMode="auto">
          <a:xfrm>
            <a:off x="4826451" y="3071965"/>
            <a:ext cx="65402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u="none" dirty="0">
                <a:solidFill>
                  <a:srgbClr val="000099"/>
                </a:solidFill>
                <a:latin typeface="현대하모니 L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u="none" dirty="0">
              <a:solidFill>
                <a:srgbClr val="000099"/>
              </a:solidFill>
              <a:latin typeface="현대하모니 L"/>
              <a:ea typeface="+mn-ea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D5227B-4F87-BAE0-190B-B65A6A10CBDD}"/>
              </a:ext>
            </a:extLst>
          </p:cNvPr>
          <p:cNvSpPr txBox="1"/>
          <p:nvPr/>
        </p:nvSpPr>
        <p:spPr bwMode="auto">
          <a:xfrm>
            <a:off x="4773048" y="5791616"/>
            <a:ext cx="78066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u="none" dirty="0">
                <a:solidFill>
                  <a:srgbClr val="000099"/>
                </a:solidFill>
                <a:latin typeface="현대하모니 L"/>
                <a:ea typeface="+mn-ea"/>
                <a:cs typeface="Arial" pitchFamily="34" charset="0"/>
              </a:rPr>
              <a:t>Input Text &gt; ‘OK’</a:t>
            </a:r>
            <a:endParaRPr kumimoji="0" lang="ko-KR" altLang="en-US" sz="900" b="0" u="none" dirty="0">
              <a:solidFill>
                <a:srgbClr val="000099"/>
              </a:solidFill>
              <a:latin typeface="현대하모니 L"/>
              <a:ea typeface="+mn-ea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F4D7C7-92E8-FA83-4A57-ACE6749B7A1A}"/>
              </a:ext>
            </a:extLst>
          </p:cNvPr>
          <p:cNvSpPr txBox="1"/>
          <p:nvPr/>
        </p:nvSpPr>
        <p:spPr bwMode="auto">
          <a:xfrm>
            <a:off x="8689201" y="5472469"/>
            <a:ext cx="708864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u="none" dirty="0">
                <a:solidFill>
                  <a:srgbClr val="000099"/>
                </a:solidFill>
                <a:latin typeface="현대하모니 L"/>
                <a:ea typeface="+mn-ea"/>
                <a:cs typeface="Arial" pitchFamily="34" charset="0"/>
              </a:rPr>
              <a:t>Main screen</a:t>
            </a:r>
            <a:endParaRPr kumimoji="0" lang="ko-KR" altLang="en-US" sz="1000" b="0" u="none" dirty="0">
              <a:solidFill>
                <a:srgbClr val="000099"/>
              </a:solidFill>
              <a:latin typeface="현대하모니 L"/>
              <a:ea typeface="+mn-ea"/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C12360-7AFE-BCBD-D7FA-36960A13F13D}"/>
              </a:ext>
            </a:extLst>
          </p:cNvPr>
          <p:cNvSpPr txBox="1"/>
          <p:nvPr/>
        </p:nvSpPr>
        <p:spPr bwMode="auto">
          <a:xfrm>
            <a:off x="7309946" y="1279845"/>
            <a:ext cx="65402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u="none" dirty="0">
                <a:solidFill>
                  <a:srgbClr val="000099"/>
                </a:solidFill>
                <a:latin typeface="현대하모니 L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u="none" dirty="0">
              <a:solidFill>
                <a:srgbClr val="000099"/>
              </a:solidFill>
              <a:latin typeface="현대하모니 L"/>
              <a:ea typeface="+mn-ea"/>
              <a:cs typeface="Arial" pitchFamily="34" charset="0"/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DCD4AB7F-4D05-5EA0-9B66-CC08C8D18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91" y="2367081"/>
            <a:ext cx="1657030" cy="6170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2373BEC-F380-1E1B-F520-D30F04B00AF0}"/>
              </a:ext>
            </a:extLst>
          </p:cNvPr>
          <p:cNvSpPr txBox="1"/>
          <p:nvPr/>
        </p:nvSpPr>
        <p:spPr bwMode="auto">
          <a:xfrm>
            <a:off x="268891" y="2988812"/>
            <a:ext cx="2046292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 : If there is no play list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DC02F9D-676C-BB84-FD3E-A9D521962F77}"/>
              </a:ext>
            </a:extLst>
          </p:cNvPr>
          <p:cNvSpPr/>
          <p:nvPr/>
        </p:nvSpPr>
        <p:spPr>
          <a:xfrm>
            <a:off x="198049" y="1050587"/>
            <a:ext cx="1807922" cy="2111472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400" b="0" dirty="0">
              <a:solidFill>
                <a:schemeClr val="tx1"/>
              </a:solidFill>
              <a:latin typeface="Arial" pitchFamily="34" charset="0"/>
              <a:ea typeface="현대하모니 M" pitchFamily="18" charset="-127"/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EDB84E-3B12-6A50-7749-24383EBBCBB5}"/>
              </a:ext>
            </a:extLst>
          </p:cNvPr>
          <p:cNvSpPr txBox="1"/>
          <p:nvPr/>
        </p:nvSpPr>
        <p:spPr bwMode="auto">
          <a:xfrm>
            <a:off x="7338195" y="5785551"/>
            <a:ext cx="44563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u="none" dirty="0">
                <a:solidFill>
                  <a:srgbClr val="000099"/>
                </a:solidFill>
                <a:latin typeface="현대하모니 L"/>
                <a:ea typeface="+mn-ea"/>
                <a:cs typeface="Arial" pitchFamily="34" charset="0"/>
              </a:rPr>
              <a:t>Select list</a:t>
            </a:r>
            <a:endParaRPr kumimoji="0" lang="ko-KR" altLang="en-US" sz="900" b="0" u="none" dirty="0">
              <a:solidFill>
                <a:srgbClr val="000099"/>
              </a:solidFill>
              <a:latin typeface="현대하모니 L"/>
              <a:ea typeface="+mn-ea"/>
              <a:cs typeface="Arial" pitchFamily="34" charset="0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13562A31-EB7E-29B4-8666-4F3864E3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1138953"/>
            <a:ext cx="1665468" cy="6217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">
            <a:extLst>
              <a:ext uri="{FF2B5EF4-FFF2-40B4-BE49-F238E27FC236}">
                <a16:creationId xmlns:a16="http://schemas.microsoft.com/office/drawing/2014/main" id="{71362F39-305D-3FF7-BB2C-0B22C02CF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985" y="1133104"/>
            <a:ext cx="1679745" cy="6358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2">
            <a:extLst>
              <a:ext uri="{FF2B5EF4-FFF2-40B4-BE49-F238E27FC236}">
                <a16:creationId xmlns:a16="http://schemas.microsoft.com/office/drawing/2014/main" id="{B44C5C7A-E330-07FE-3D22-9A8DB30CA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5647681"/>
            <a:ext cx="1665468" cy="6229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9ECF545B-A538-1E04-C600-F2A81CB2EBF4}"/>
              </a:ext>
            </a:extLst>
          </p:cNvPr>
          <p:cNvGrpSpPr/>
          <p:nvPr/>
        </p:nvGrpSpPr>
        <p:grpSpPr>
          <a:xfrm>
            <a:off x="5618123" y="5647680"/>
            <a:ext cx="1665468" cy="622933"/>
            <a:chOff x="5642823" y="5375306"/>
            <a:chExt cx="1665468" cy="622933"/>
          </a:xfrm>
        </p:grpSpPr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35DEB826-0721-3DEF-5153-A24993EF68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2823" y="5375306"/>
              <a:ext cx="1665468" cy="6229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B4D2B1FD-263D-9875-82FD-46E07A7085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147"/>
            <a:stretch/>
          </p:blipFill>
          <p:spPr bwMode="auto">
            <a:xfrm>
              <a:off x="5642823" y="5630861"/>
              <a:ext cx="1659159" cy="36737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2" name="Picture 2">
            <a:extLst>
              <a:ext uri="{FF2B5EF4-FFF2-40B4-BE49-F238E27FC236}">
                <a16:creationId xmlns:a16="http://schemas.microsoft.com/office/drawing/2014/main" id="{9EDAE6B8-DD6B-5FA8-AE55-E596B6A9A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747" y="5644575"/>
            <a:ext cx="1687564" cy="63576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2">
            <a:extLst>
              <a:ext uri="{FF2B5EF4-FFF2-40B4-BE49-F238E27FC236}">
                <a16:creationId xmlns:a16="http://schemas.microsoft.com/office/drawing/2014/main" id="{66C76D39-0615-B14F-DAA8-8AF8168F3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09" y="1144134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395DBEE5-978C-1A28-6359-F7224E80F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2932214"/>
            <a:ext cx="1665468" cy="6304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" name="Picture 2">
            <a:extLst>
              <a:ext uri="{FF2B5EF4-FFF2-40B4-BE49-F238E27FC236}">
                <a16:creationId xmlns:a16="http://schemas.microsoft.com/office/drawing/2014/main" id="{3B9E0E3C-158D-7DAC-BB28-05C02B887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051" y="2033651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Picture 2">
            <a:extLst>
              <a:ext uri="{FF2B5EF4-FFF2-40B4-BE49-F238E27FC236}">
                <a16:creationId xmlns:a16="http://schemas.microsoft.com/office/drawing/2014/main" id="{1E4742A4-6907-2B6B-FA09-3DF5867E4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051" y="2935725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6A8F0A9C-868D-92D6-221B-AD3B67F8A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1723" y="1134406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3">
            <a:extLst>
              <a:ext uri="{FF2B5EF4-FFF2-40B4-BE49-F238E27FC236}">
                <a16:creationId xmlns:a16="http://schemas.microsoft.com/office/drawing/2014/main" id="{AB4A3332-EA1E-F5F0-1173-0E37DC7E9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3839470"/>
            <a:ext cx="1665468" cy="6241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9" name="꺾인 연결선 84">
            <a:extLst>
              <a:ext uri="{FF2B5EF4-FFF2-40B4-BE49-F238E27FC236}">
                <a16:creationId xmlns:a16="http://schemas.microsoft.com/office/drawing/2014/main" id="{BB48528E-9EFF-6834-F3F4-75BD0ECEC2E5}"/>
              </a:ext>
            </a:extLst>
          </p:cNvPr>
          <p:cNvCxnSpPr>
            <a:cxnSpLocks/>
            <a:stCxn id="38" idx="3"/>
            <a:endCxn id="45" idx="1"/>
          </p:cNvCxnSpPr>
          <p:nvPr/>
        </p:nvCxnSpPr>
        <p:spPr bwMode="auto">
          <a:xfrm>
            <a:off x="4757638" y="4151557"/>
            <a:ext cx="865407" cy="908640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rgbClr val="000099"/>
            </a:solidFill>
            <a:round/>
            <a:headEnd/>
            <a:tailEnd type="triangle" w="med" len="med"/>
          </a:ln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CA59727-0E9A-1FF6-2915-72A60124B48F}"/>
              </a:ext>
            </a:extLst>
          </p:cNvPr>
          <p:cNvSpPr txBox="1"/>
          <p:nvPr/>
        </p:nvSpPr>
        <p:spPr bwMode="auto">
          <a:xfrm>
            <a:off x="2836026" y="4524029"/>
            <a:ext cx="104593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u="none" dirty="0">
                <a:solidFill>
                  <a:srgbClr val="000099"/>
                </a:solidFill>
                <a:latin typeface="현대하모니 L"/>
                <a:ea typeface="+mn-ea"/>
                <a:cs typeface="Arial" pitchFamily="34" charset="0"/>
              </a:rPr>
              <a:t>[Option Settings]</a:t>
            </a:r>
            <a:endParaRPr kumimoji="0" lang="ko-KR" altLang="en-US" sz="900" b="0" u="none" dirty="0">
              <a:solidFill>
                <a:srgbClr val="000099"/>
              </a:solidFill>
              <a:latin typeface="현대하모니 L"/>
              <a:ea typeface="+mn-ea"/>
              <a:cs typeface="Arial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70BA62-18B9-7DD8-92DE-66BE66100A5B}"/>
              </a:ext>
            </a:extLst>
          </p:cNvPr>
          <p:cNvSpPr txBox="1"/>
          <p:nvPr/>
        </p:nvSpPr>
        <p:spPr bwMode="auto">
          <a:xfrm>
            <a:off x="5015495" y="3985579"/>
            <a:ext cx="47609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u="none" dirty="0">
                <a:solidFill>
                  <a:srgbClr val="000099"/>
                </a:solidFill>
                <a:latin typeface="현대하모니 L"/>
                <a:ea typeface="+mn-ea"/>
                <a:cs typeface="Arial" pitchFamily="34" charset="0"/>
              </a:rPr>
              <a:t>[Recently]</a:t>
            </a:r>
            <a:endParaRPr kumimoji="0" lang="ko-KR" altLang="en-US" sz="900" b="0" u="none" dirty="0">
              <a:solidFill>
                <a:srgbClr val="000099"/>
              </a:solidFill>
              <a:latin typeface="현대하모니 L"/>
              <a:ea typeface="+mn-ea"/>
              <a:cs typeface="Arial" pitchFamily="34" charset="0"/>
            </a:endParaRPr>
          </a:p>
        </p:txBody>
      </p:sp>
      <p:pic>
        <p:nvPicPr>
          <p:cNvPr id="42" name="Picture 3">
            <a:extLst>
              <a:ext uri="{FF2B5EF4-FFF2-40B4-BE49-F238E27FC236}">
                <a16:creationId xmlns:a16="http://schemas.microsoft.com/office/drawing/2014/main" id="{1B6D4C4B-DCD1-D316-B565-1F84885A8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109" y="3837799"/>
            <a:ext cx="1651497" cy="6251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" name="Picture 2">
            <a:extLst>
              <a:ext uri="{FF2B5EF4-FFF2-40B4-BE49-F238E27FC236}">
                <a16:creationId xmlns:a16="http://schemas.microsoft.com/office/drawing/2014/main" id="{74663494-395C-C1D4-368F-5125C31B9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4740425"/>
            <a:ext cx="1665468" cy="6304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06A813ED-3DE0-FFE8-F529-DF8889749119}"/>
              </a:ext>
            </a:extLst>
          </p:cNvPr>
          <p:cNvSpPr txBox="1"/>
          <p:nvPr/>
        </p:nvSpPr>
        <p:spPr bwMode="auto">
          <a:xfrm>
            <a:off x="5225337" y="4538354"/>
            <a:ext cx="40716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u="none" dirty="0">
                <a:solidFill>
                  <a:srgbClr val="000099"/>
                </a:solidFill>
                <a:latin typeface="현대하모니 L"/>
                <a:ea typeface="+mn-ea"/>
                <a:cs typeface="Arial" pitchFamily="34" charset="0"/>
              </a:rPr>
              <a:t>[My List]</a:t>
            </a:r>
            <a:endParaRPr kumimoji="0" lang="ko-KR" altLang="en-US" sz="900" b="0" u="none" dirty="0">
              <a:solidFill>
                <a:srgbClr val="000099"/>
              </a:solidFill>
              <a:latin typeface="현대하모니 L"/>
              <a:ea typeface="+mn-ea"/>
              <a:cs typeface="Arial" pitchFamily="34" charset="0"/>
            </a:endParaRPr>
          </a:p>
        </p:txBody>
      </p:sp>
      <p:pic>
        <p:nvPicPr>
          <p:cNvPr id="45" name="Picture 2">
            <a:extLst>
              <a:ext uri="{FF2B5EF4-FFF2-40B4-BE49-F238E27FC236}">
                <a16:creationId xmlns:a16="http://schemas.microsoft.com/office/drawing/2014/main" id="{D7620DFB-EE70-9B64-9893-EF6FAEEA7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045" y="4747108"/>
            <a:ext cx="1655625" cy="6261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" name="Picture 2">
            <a:extLst>
              <a:ext uri="{FF2B5EF4-FFF2-40B4-BE49-F238E27FC236}">
                <a16:creationId xmlns:a16="http://schemas.microsoft.com/office/drawing/2014/main" id="{72370C79-6C78-5259-F378-C7FB130AE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276" y="2037489"/>
            <a:ext cx="1655257" cy="6179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60B6697B-C3E1-9561-D59E-AFBEF4D60DC4}"/>
              </a:ext>
            </a:extLst>
          </p:cNvPr>
          <p:cNvGrpSpPr/>
          <p:nvPr/>
        </p:nvGrpSpPr>
        <p:grpSpPr>
          <a:xfrm>
            <a:off x="2604223" y="5764486"/>
            <a:ext cx="512961" cy="165629"/>
            <a:chOff x="1284164" y="5572580"/>
            <a:chExt cx="512961" cy="165629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473E145-D71A-EB73-524B-C35CF791037C}"/>
                </a:ext>
              </a:extLst>
            </p:cNvPr>
            <p:cNvSpPr txBox="1"/>
            <p:nvPr/>
          </p:nvSpPr>
          <p:spPr bwMode="auto">
            <a:xfrm>
              <a:off x="1284164" y="5576418"/>
              <a:ext cx="512961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r" fontAlgn="ctr">
                <a:spcBef>
                  <a:spcPct val="50000"/>
                </a:spcBef>
                <a:spcAft>
                  <a:spcPts val="0"/>
                </a:spcAft>
              </a:pPr>
              <a:r>
                <a:rPr kumimoji="0" lang="en-US" altLang="ko-KR" sz="900" b="0" u="none" dirty="0">
                  <a:solidFill>
                    <a:srgbClr val="000099"/>
                  </a:solidFill>
                  <a:latin typeface="현대하모니 L"/>
                  <a:ea typeface="+mn-ea"/>
                  <a:cs typeface="Arial" pitchFamily="34" charset="0"/>
                </a:rPr>
                <a:t>Search[     ]</a:t>
              </a:r>
              <a:endParaRPr kumimoji="0" lang="ko-KR" altLang="en-US" sz="900" b="0" u="none" dirty="0">
                <a:solidFill>
                  <a:srgbClr val="000099"/>
                </a:solidFill>
                <a:latin typeface="현대하모니 L"/>
                <a:ea typeface="+mn-ea"/>
                <a:cs typeface="Arial" pitchFamily="34" charset="0"/>
              </a:endParaRPr>
            </a:p>
          </p:txBody>
        </p:sp>
        <p:pic>
          <p:nvPicPr>
            <p:cNvPr id="49" name="Picture 3" descr="U:\Temp\다운로드.png">
              <a:extLst>
                <a:ext uri="{FF2B5EF4-FFF2-40B4-BE49-F238E27FC236}">
                  <a16:creationId xmlns:a16="http://schemas.microsoft.com/office/drawing/2014/main" id="{AF21ED49-A1AF-C4F4-230E-9BF742FE4E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6778" y="5572580"/>
              <a:ext cx="165629" cy="1656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5AB428F-9D47-A856-146D-AC0EB1D2009E}"/>
              </a:ext>
            </a:extLst>
          </p:cNvPr>
          <p:cNvCxnSpPr>
            <a:stCxn id="38" idx="2"/>
            <a:endCxn id="43" idx="0"/>
          </p:cNvCxnSpPr>
          <p:nvPr/>
        </p:nvCxnSpPr>
        <p:spPr>
          <a:xfrm>
            <a:off x="3924904" y="4463643"/>
            <a:ext cx="0" cy="276782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7842FA5F-24D6-45F0-2053-E9E2AD89EEB0}"/>
              </a:ext>
            </a:extLst>
          </p:cNvPr>
          <p:cNvCxnSpPr>
            <a:cxnSpLocks/>
            <a:stCxn id="30" idx="3"/>
            <a:endCxn id="32" idx="1"/>
          </p:cNvCxnSpPr>
          <p:nvPr/>
        </p:nvCxnSpPr>
        <p:spPr>
          <a:xfrm>
            <a:off x="7283591" y="5959146"/>
            <a:ext cx="618156" cy="3312"/>
          </a:xfrm>
          <a:prstGeom prst="straightConnector1">
            <a:avLst/>
          </a:prstGeom>
          <a:noFill/>
          <a:ln w="3175">
            <a:solidFill>
              <a:srgbClr val="000099"/>
            </a:solidFill>
            <a:round/>
            <a:headEnd/>
            <a:tailEnd type="triangle" w="med" len="med"/>
          </a:ln>
        </p:spPr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A9E37C7E-4B0D-7E27-4CF9-4090914CC6F6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4757638" y="1449830"/>
            <a:ext cx="853347" cy="1214"/>
          </a:xfrm>
          <a:prstGeom prst="straightConnector1">
            <a:avLst/>
          </a:prstGeom>
          <a:noFill/>
          <a:ln w="3175">
            <a:solidFill>
              <a:srgbClr val="000099"/>
            </a:solidFill>
            <a:round/>
            <a:headEnd/>
            <a:tailEnd type="triangle" w="med" len="med"/>
          </a:ln>
        </p:spPr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AB244DF-342A-3AAB-6AA6-B0082A4B1820}"/>
              </a:ext>
            </a:extLst>
          </p:cNvPr>
          <p:cNvCxnSpPr>
            <a:cxnSpLocks/>
            <a:stCxn id="27" idx="3"/>
            <a:endCxn id="37" idx="1"/>
          </p:cNvCxnSpPr>
          <p:nvPr/>
        </p:nvCxnSpPr>
        <p:spPr>
          <a:xfrm flipV="1">
            <a:off x="7290730" y="1448245"/>
            <a:ext cx="620993" cy="2799"/>
          </a:xfrm>
          <a:prstGeom prst="straightConnector1">
            <a:avLst/>
          </a:prstGeom>
          <a:noFill/>
          <a:ln w="3175">
            <a:solidFill>
              <a:srgbClr val="000099"/>
            </a:solidFill>
            <a:round/>
            <a:headEnd/>
            <a:tailEnd type="triangle" w="med" len="med"/>
          </a:ln>
        </p:spPr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2C5DBD68-0732-639D-EE56-DC18AB1A0EDE}"/>
              </a:ext>
            </a:extLst>
          </p:cNvPr>
          <p:cNvCxnSpPr>
            <a:cxnSpLocks/>
            <a:stCxn id="46" idx="3"/>
            <a:endCxn id="35" idx="1"/>
          </p:cNvCxnSpPr>
          <p:nvPr/>
        </p:nvCxnSpPr>
        <p:spPr>
          <a:xfrm>
            <a:off x="4752533" y="2346461"/>
            <a:ext cx="864518" cy="1029"/>
          </a:xfrm>
          <a:prstGeom prst="straightConnector1">
            <a:avLst/>
          </a:prstGeom>
          <a:noFill/>
          <a:ln w="3175">
            <a:solidFill>
              <a:srgbClr val="000099"/>
            </a:solidFill>
            <a:round/>
            <a:headEnd/>
            <a:tailEnd type="triangle" w="med" len="med"/>
          </a:ln>
        </p:spPr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6A6D7ADC-D36E-82AF-AA4F-0F3AE9C3D405}"/>
              </a:ext>
            </a:extLst>
          </p:cNvPr>
          <p:cNvCxnSpPr>
            <a:cxnSpLocks/>
            <a:stCxn id="34" idx="3"/>
            <a:endCxn id="36" idx="1"/>
          </p:cNvCxnSpPr>
          <p:nvPr/>
        </p:nvCxnSpPr>
        <p:spPr>
          <a:xfrm>
            <a:off x="4757638" y="3247451"/>
            <a:ext cx="859413" cy="2113"/>
          </a:xfrm>
          <a:prstGeom prst="straightConnector1">
            <a:avLst/>
          </a:prstGeom>
          <a:noFill/>
          <a:ln w="3175">
            <a:solidFill>
              <a:srgbClr val="000099"/>
            </a:solidFill>
            <a:round/>
            <a:headEnd/>
            <a:tailEnd type="triangle" w="med" len="med"/>
          </a:ln>
        </p:spPr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F1A3D05-2337-32A5-4CBC-757BF9E55113}"/>
              </a:ext>
            </a:extLst>
          </p:cNvPr>
          <p:cNvCxnSpPr>
            <a:cxnSpLocks/>
            <a:stCxn id="38" idx="3"/>
            <a:endCxn id="42" idx="1"/>
          </p:cNvCxnSpPr>
          <p:nvPr/>
        </p:nvCxnSpPr>
        <p:spPr>
          <a:xfrm flipV="1">
            <a:off x="4757638" y="4150392"/>
            <a:ext cx="867471" cy="1165"/>
          </a:xfrm>
          <a:prstGeom prst="straightConnector1">
            <a:avLst/>
          </a:prstGeom>
          <a:noFill/>
          <a:ln w="3175">
            <a:solidFill>
              <a:srgbClr val="000099"/>
            </a:solidFill>
            <a:round/>
            <a:headEnd/>
            <a:tailEnd type="triangle" w="med" len="med"/>
          </a:ln>
        </p:spPr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5FDE164-DA61-2624-7836-CCCE80171B46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 flipV="1">
            <a:off x="4757638" y="5959146"/>
            <a:ext cx="860485" cy="1"/>
          </a:xfrm>
          <a:prstGeom prst="straightConnector1">
            <a:avLst/>
          </a:prstGeom>
          <a:noFill/>
          <a:ln w="3175">
            <a:solidFill>
              <a:srgbClr val="000099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111028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2EBCA-B5D5-D6B4-2CF9-33A87DBF5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6C85D7A3-61DD-6D67-0C11-E8BAE5E28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첨부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3) 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소요기술리스트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03D011-6C40-B939-CB22-6AD25F1BBB77}"/>
              </a:ext>
            </a:extLst>
          </p:cNvPr>
          <p:cNvSpPr/>
          <p:nvPr/>
        </p:nvSpPr>
        <p:spPr>
          <a:xfrm>
            <a:off x="681037" y="697585"/>
            <a:ext cx="8772525" cy="5792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92500" lnSpcReduction="20000"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600" b="1" u="none" dirty="0">
                <a:solidFill>
                  <a:schemeClr val="tx1"/>
                </a:solidFill>
                <a:latin typeface="+mn-ea"/>
                <a:ea typeface="현대하모니 B"/>
              </a:rPr>
              <a:t>차량용 스트리밍 서비스 상용 버전 개발 경험</a:t>
            </a:r>
            <a:endParaRPr lang="en-US" altLang="ko-KR" sz="1600" b="1" u="none" dirty="0">
              <a:solidFill>
                <a:schemeClr val="tx1"/>
              </a:solidFill>
              <a:latin typeface="+mn-ea"/>
              <a:ea typeface="현대하모니 B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6</a:t>
            </a: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세대 표준형 지니뮤직</a:t>
            </a: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, </a:t>
            </a: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멜론뮤직 서비스 개발 경험</a:t>
            </a:r>
            <a:endParaRPr lang="en-US" altLang="ko-KR" sz="1400" u="none" dirty="0">
              <a:solidFill>
                <a:schemeClr val="tx1"/>
              </a:solidFill>
              <a:latin typeface="+mn-ea"/>
              <a:ea typeface="현대하모니 B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중국향 스트리밍 서비스 개발 경험 </a:t>
            </a: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(QQ music, KaolaFM, Ximalaya)</a:t>
            </a:r>
            <a:endParaRPr lang="en-US" altLang="ko-KR" sz="1600" u="none" dirty="0">
              <a:solidFill>
                <a:schemeClr val="tx1"/>
              </a:solidFill>
              <a:latin typeface="+mn-ea"/>
              <a:ea typeface="현대하모니 B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차량용 인터넷 라디오 서비스 개발 경험 </a:t>
            </a: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(Gracenote</a:t>
            </a: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社</a:t>
            </a: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, R</a:t>
            </a: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社</a:t>
            </a: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 </a:t>
            </a: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등</a:t>
            </a: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)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u="none" dirty="0" err="1">
                <a:solidFill>
                  <a:schemeClr val="tx1"/>
                </a:solidFill>
                <a:latin typeface="+mn-ea"/>
                <a:ea typeface="현대하모니 B"/>
              </a:rPr>
              <a:t>차량용</a:t>
            </a: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 </a:t>
            </a:r>
            <a:r>
              <a:rPr lang="ko-KR" altLang="en-US" sz="1400" u="none" dirty="0" err="1">
                <a:solidFill>
                  <a:schemeClr val="tx1"/>
                </a:solidFill>
                <a:latin typeface="+mn-ea"/>
                <a:ea typeface="현대하모니 B"/>
              </a:rPr>
              <a:t>팟케스트</a:t>
            </a: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 서비스 개발 경험 </a:t>
            </a: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(</a:t>
            </a: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국내 팟빵</a:t>
            </a: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, iTunes)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600" b="1" u="none" dirty="0">
                <a:solidFill>
                  <a:schemeClr val="tx1"/>
                </a:solidFill>
                <a:latin typeface="+mn-ea"/>
                <a:ea typeface="현대하모니 B"/>
              </a:rPr>
              <a:t>인터넷 스트리밍 데이터 처리 기술</a:t>
            </a:r>
            <a:endParaRPr lang="en-US" altLang="ko-KR" sz="1600" b="1" u="none" dirty="0">
              <a:solidFill>
                <a:schemeClr val="tx1"/>
              </a:solidFill>
              <a:latin typeface="+mn-ea"/>
              <a:ea typeface="현대하모니 B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고속 주행 및 인터넷 통신 음영 지역을 고려한 스트리밍 기술</a:t>
            </a:r>
            <a:endParaRPr lang="en-US" altLang="ko-KR" sz="1400" u="none" dirty="0">
              <a:solidFill>
                <a:schemeClr val="tx1"/>
              </a:solidFill>
              <a:latin typeface="+mn-ea"/>
              <a:ea typeface="현대하모니 B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데이터 통신 비용 절감을 위한 스트리밍 </a:t>
            </a:r>
            <a:r>
              <a:rPr lang="ko-KR" altLang="en-US" sz="1400" u="none" dirty="0" err="1">
                <a:solidFill>
                  <a:schemeClr val="tx1"/>
                </a:solidFill>
                <a:latin typeface="+mn-ea"/>
                <a:ea typeface="현대하모니 B"/>
              </a:rPr>
              <a:t>캐싱</a:t>
            </a: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 </a:t>
            </a: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기술</a:t>
            </a:r>
            <a:endParaRPr lang="en-US" altLang="ko-KR" sz="1400" u="none" dirty="0">
              <a:solidFill>
                <a:schemeClr val="tx1"/>
              </a:solidFill>
              <a:latin typeface="+mn-ea"/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600" b="1" u="none" dirty="0">
                <a:solidFill>
                  <a:schemeClr val="tx1"/>
                </a:solidFill>
                <a:latin typeface="+mn-ea"/>
                <a:ea typeface="현대하모니 B"/>
              </a:rPr>
              <a:t>인터넷 콘텐츠 통신 프로토콜 처리 기술</a:t>
            </a:r>
            <a:endParaRPr lang="en-US" altLang="ko-KR" sz="1600" b="1" u="none" dirty="0">
              <a:solidFill>
                <a:schemeClr val="tx1"/>
              </a:solidFill>
              <a:latin typeface="+mn-ea"/>
              <a:ea typeface="현대하모니 B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콘텐츠 제공자들의 사설</a:t>
            </a: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 </a:t>
            </a: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통신 프로토콜 분석 및 구현 기술</a:t>
            </a:r>
            <a:endParaRPr lang="en-US" altLang="ko-KR" sz="1400" u="none" dirty="0">
              <a:solidFill>
                <a:schemeClr val="tx1"/>
              </a:solidFill>
              <a:latin typeface="+mn-ea"/>
              <a:ea typeface="현대하모니 B"/>
            </a:endParaRPr>
          </a:p>
          <a:p>
            <a:pPr marL="2857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600" b="1" u="none" dirty="0">
                <a:solidFill>
                  <a:schemeClr val="tx1"/>
                </a:solidFill>
                <a:latin typeface="+mn-ea"/>
                <a:ea typeface="현대하모니 B"/>
              </a:rPr>
              <a:t>스트리밍 콘텐츠 별로 공통으로 사용되는 단말기 </a:t>
            </a:r>
            <a:r>
              <a:rPr lang="en-US" altLang="ko-KR" sz="1600" b="1" u="none" dirty="0">
                <a:solidFill>
                  <a:schemeClr val="tx1"/>
                </a:solidFill>
                <a:latin typeface="+mn-ea"/>
                <a:ea typeface="현대하모니 B"/>
              </a:rPr>
              <a:t>SW </a:t>
            </a:r>
            <a:r>
              <a:rPr lang="ko-KR" altLang="en-US" sz="1600" b="1" u="none" dirty="0">
                <a:solidFill>
                  <a:schemeClr val="tx1"/>
                </a:solidFill>
                <a:latin typeface="+mn-ea"/>
                <a:ea typeface="현대하모니 B"/>
              </a:rPr>
              <a:t>모듈 정규화 기술</a:t>
            </a:r>
            <a:endParaRPr lang="en-US" altLang="ko-KR" sz="1600" b="1" u="none" dirty="0">
              <a:solidFill>
                <a:schemeClr val="tx1"/>
              </a:solidFill>
              <a:latin typeface="+mn-ea"/>
              <a:ea typeface="현대하모니 B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600" b="1" u="none" dirty="0">
                <a:solidFill>
                  <a:schemeClr val="tx1"/>
                </a:solidFill>
                <a:latin typeface="+mn-ea"/>
                <a:ea typeface="현대하모니 B"/>
              </a:rPr>
              <a:t>IVI</a:t>
            </a:r>
            <a:r>
              <a:rPr lang="ko-KR" altLang="en-US" sz="1600" b="1" u="none" dirty="0">
                <a:solidFill>
                  <a:schemeClr val="tx1"/>
                </a:solidFill>
                <a:latin typeface="+mn-ea"/>
                <a:ea typeface="현대하모니 B"/>
              </a:rPr>
              <a:t> 소프트웨어 개발 경험</a:t>
            </a:r>
            <a:endParaRPr lang="en-US" altLang="ko-KR" sz="1600" b="1" u="none" dirty="0">
              <a:solidFill>
                <a:schemeClr val="tx1"/>
              </a:solidFill>
              <a:latin typeface="+mn-ea"/>
              <a:ea typeface="현대하모니 B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IVI</a:t>
            </a: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 </a:t>
            </a: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S/W</a:t>
            </a: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 관련한 국가 </a:t>
            </a: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GS(Good Soft) </a:t>
            </a: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인증서 취득 및 </a:t>
            </a: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OEM IVI</a:t>
            </a: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 </a:t>
            </a: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S/W </a:t>
            </a: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개발 다수 경험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600" b="1" u="none" dirty="0">
                <a:solidFill>
                  <a:schemeClr val="tx1"/>
                </a:solidFill>
                <a:latin typeface="+mn-ea"/>
                <a:ea typeface="현대하모니 B"/>
              </a:rPr>
              <a:t>안드로이드</a:t>
            </a:r>
            <a:r>
              <a:rPr lang="en-US" altLang="ko-KR" sz="1600" b="1" u="none" dirty="0">
                <a:solidFill>
                  <a:schemeClr val="tx1"/>
                </a:solidFill>
                <a:latin typeface="+mn-ea"/>
                <a:ea typeface="현대하모니 B"/>
              </a:rPr>
              <a:t> </a:t>
            </a:r>
            <a:r>
              <a:rPr lang="ko-KR" altLang="en-US" sz="1600" b="1" u="none" dirty="0">
                <a:solidFill>
                  <a:schemeClr val="tx1"/>
                </a:solidFill>
                <a:latin typeface="+mn-ea"/>
                <a:ea typeface="현대하모니 B"/>
              </a:rPr>
              <a:t>플랫폼 상에서의 개발 경험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안드로이드 기반</a:t>
            </a:r>
            <a:r>
              <a:rPr lang="en-US" altLang="ko-KR" sz="1400" u="none" dirty="0">
                <a:solidFill>
                  <a:schemeClr val="tx1"/>
                </a:solidFill>
                <a:latin typeface="+mn-ea"/>
                <a:ea typeface="현대하모니 B"/>
              </a:rPr>
              <a:t> IVI </a:t>
            </a:r>
            <a:r>
              <a:rPr lang="ko-KR" altLang="en-US" sz="1400" u="none" dirty="0">
                <a:solidFill>
                  <a:schemeClr val="tx1"/>
                </a:solidFill>
                <a:latin typeface="+mn-ea"/>
                <a:ea typeface="현대하모니 B"/>
              </a:rPr>
              <a:t>플랫폼 상에서의 개발 경험 풍부</a:t>
            </a:r>
            <a:endParaRPr lang="en-US" altLang="ko-KR" sz="1400" u="none" dirty="0">
              <a:solidFill>
                <a:schemeClr val="tx1"/>
              </a:solidFill>
              <a:latin typeface="+mn-ea"/>
              <a:ea typeface="현대하모니 B"/>
            </a:endParaRPr>
          </a:p>
        </p:txBody>
      </p:sp>
    </p:spTree>
    <p:extLst>
      <p:ext uri="{BB962C8B-B14F-4D97-AF65-F5344CB8AC3E}">
        <p14:creationId xmlns:p14="http://schemas.microsoft.com/office/powerpoint/2010/main" val="1423064020"/>
      </p:ext>
    </p:extLst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>
          <a:defRPr sz="1000" dirty="0">
            <a:solidFill>
              <a:schemeClr val="tx1">
                <a:lumMod val="50000"/>
                <a:lumOff val="50000"/>
              </a:schemeClr>
            </a:solidFill>
          </a:defRPr>
        </a:defPPr>
      </a:lstStyle>
    </a:sp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>
          <a:defRPr sz="1000" dirty="0">
            <a:solidFill>
              <a:schemeClr val="tx1">
                <a:lumMod val="50000"/>
                <a:lumOff val="50000"/>
              </a:schemeClr>
            </a:solidFill>
          </a:defRPr>
        </a:defPPr>
      </a:lstStyle>
    </a:sp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d0bc021-0c43-4029-a072-964d39f3070b}" enabled="1" method="Privileged" siteId="{7cf932c0-bced-4490-b11f-48d23b1fe0d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1504</TotalTime>
  <Words>2256</Words>
  <Application>Microsoft Office PowerPoint</Application>
  <PresentationFormat>A4 용지(210x297mm)</PresentationFormat>
  <Paragraphs>718</Paragraphs>
  <Slides>19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19</vt:i4>
      </vt:variant>
    </vt:vector>
  </HeadingPairs>
  <TitlesOfParts>
    <vt:vector size="30" baseType="lpstr">
      <vt:lpstr>HY헤드라인M</vt:lpstr>
      <vt:lpstr>굴림</vt:lpstr>
      <vt:lpstr>맑은 고딕</vt:lpstr>
      <vt:lpstr>현대하모니 B</vt:lpstr>
      <vt:lpstr>현대하모니 L</vt:lpstr>
      <vt:lpstr>현대하모니 M</vt:lpstr>
      <vt:lpstr>Arial</vt:lpstr>
      <vt:lpstr>Wingdings</vt:lpstr>
      <vt:lpstr>1_기본 디자인</vt:lpstr>
      <vt:lpstr>디자인 사용자 지정</vt:lpstr>
      <vt:lpstr>2_기본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Mobis</dc:creator>
  <cp:lastModifiedBy>부재식 (주)투비원솔루션즈</cp:lastModifiedBy>
  <cp:revision>1167</cp:revision>
  <cp:lastPrinted>2014-02-11T08:53:40Z</cp:lastPrinted>
  <dcterms:created xsi:type="dcterms:W3CDTF">2008-08-28T07:58:34Z</dcterms:created>
  <dcterms:modified xsi:type="dcterms:W3CDTF">2025-09-10T06:15:57Z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000800aa7c0000000000010243100207e6000400038000</vt:lpwstr>
  </property>
</Properties>
</file>