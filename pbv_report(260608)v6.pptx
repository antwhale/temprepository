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5"/>
  </p:notesMasterIdLst>
  <p:sldIdLst>
    <p:sldId id="258" r:id="rId2"/>
    <p:sldId id="266" r:id="rId3"/>
    <p:sldId id="330" r:id="rId4"/>
    <p:sldId id="746" r:id="rId5"/>
    <p:sldId id="749" r:id="rId6"/>
    <p:sldId id="787" r:id="rId7"/>
    <p:sldId id="786" r:id="rId8"/>
    <p:sldId id="784" r:id="rId9"/>
    <p:sldId id="795" r:id="rId10"/>
    <p:sldId id="797" r:id="rId11"/>
    <p:sldId id="754" r:id="rId12"/>
    <p:sldId id="791" r:id="rId13"/>
    <p:sldId id="798" r:id="rId14"/>
    <p:sldId id="805" r:id="rId15"/>
    <p:sldId id="792" r:id="rId16"/>
    <p:sldId id="802" r:id="rId17"/>
    <p:sldId id="758" r:id="rId18"/>
    <p:sldId id="804" r:id="rId19"/>
    <p:sldId id="751" r:id="rId20"/>
    <p:sldId id="271" r:id="rId21"/>
    <p:sldId id="269" r:id="rId22"/>
    <p:sldId id="785" r:id="rId23"/>
    <p:sldId id="568" r:id="rId24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6" orient="horz" pos="822" userDrawn="1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10" pos="5955" userDrawn="1">
          <p15:clr>
            <a:srgbClr val="A4A3A4"/>
          </p15:clr>
        </p15:guide>
        <p15:guide id="11" pos="1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197EC6"/>
    <a:srgbClr val="D4233F"/>
    <a:srgbClr val="CDACE6"/>
    <a:srgbClr val="B381D9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3" autoAdjust="0"/>
    <p:restoredTop sz="94660"/>
  </p:normalViewPr>
  <p:slideViewPr>
    <p:cSldViewPr snapToGrid="0" showGuides="1">
      <p:cViewPr varScale="1">
        <p:scale>
          <a:sx n="165" d="100"/>
          <a:sy n="165" d="100"/>
        </p:scale>
        <p:origin x="1164" y="144"/>
      </p:cViewPr>
      <p:guideLst>
        <p:guide orient="horz" pos="4065"/>
        <p:guide orient="horz" pos="822"/>
        <p:guide orient="horz" pos="618"/>
        <p:guide pos="5955"/>
        <p:guide pos="1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E3FD1BB9-5AFF-4149-8A32-8E0459EA3C9E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진심으로 부탁드립니다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여러분들이 도와 주신다면 수출기업으로 확실히 우뚝 서겠습니다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감사합니다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67360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mobis.co.kr/pages/viewpage.action?pageId=1107927830" TargetMode="External"/><Relationship Id="rId2" Type="http://schemas.openxmlformats.org/officeDocument/2006/relationships/hyperlink" Target="https://confluence.mobis.co.kr/pages/viewpage.action?pageId=11079278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nfluence.mobis.co.kr/pages/viewpage.action?pageId=1098019176" TargetMode="External"/><Relationship Id="rId4" Type="http://schemas.openxmlformats.org/officeDocument/2006/relationships/hyperlink" Target="https://confluence.mobis.co.kr/pages/viewpage.action?pageId=1098018970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M_HMI/repos/platform.vendor.mobis.packages.apps.dmb/browse" TargetMode="External"/><Relationship Id="rId2" Type="http://schemas.openxmlformats.org/officeDocument/2006/relationships/hyperlink" Target="https://bitbucket.mobis.co.kr/projects/M_HMI/repos/platform.vendor.mobis.packages.apps.radio/brows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bucket.mobis.co.kr/projects/M_HMI/repos/platform.vendor.mobis.packages.apps.rearcaremode/browse" TargetMode="External"/><Relationship Id="rId4" Type="http://schemas.openxmlformats.org/officeDocument/2006/relationships/hyperlink" Target="https://bitbucket.mobis.co.kr/projects/M_HMI/repos/platform.vendor.mobis.packages.apps.miniplayer/browse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www.gsdo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A053658-2D01-D137-1913-CD36559E01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" t="577"/>
          <a:stretch/>
        </p:blipFill>
        <p:spPr>
          <a:xfrm>
            <a:off x="307975" y="1"/>
            <a:ext cx="9598026" cy="4777739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4638D2-83EE-436E-B2E1-9FB01937BC08}"/>
              </a:ext>
            </a:extLst>
          </p:cNvPr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solidFill>
            <a:schemeClr val="bg1">
              <a:alpha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완료보고서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 26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  <a:b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</a:b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내수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유럽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DMB,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MiniPlayer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RearCareMode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76EC9-AFEB-4064-B908-975D3696E9B3}"/>
              </a:ext>
            </a:extLst>
          </p:cNvPr>
          <p:cNvSpPr txBox="1"/>
          <p:nvPr/>
        </p:nvSpPr>
        <p:spPr>
          <a:xfrm>
            <a:off x="3616737" y="4740442"/>
            <a:ext cx="2672526" cy="991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/>
              <a:t>2026. 06. 03</a:t>
            </a:r>
          </a:p>
          <a:p>
            <a:pPr algn="ctr">
              <a:lnSpc>
                <a:spcPct val="150000"/>
              </a:lnSpc>
            </a:pPr>
            <a:r>
              <a:rPr lang="ko-KR" altLang="en-US" sz="2600" dirty="0"/>
              <a:t>㈜</a:t>
            </a:r>
            <a:r>
              <a:rPr lang="ko-KR" altLang="en-US" sz="2400" dirty="0"/>
              <a:t>투비원솔루션즈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652271-F034-47DA-8827-31B852787E9A}"/>
              </a:ext>
            </a:extLst>
          </p:cNvPr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EBA316-0EE4-491A-97BA-37C131532D37}"/>
                </a:ext>
              </a:extLst>
            </p:cNvPr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F5BCDA-EAAD-4919-93DF-1CCE25146ED7}"/>
                </a:ext>
              </a:extLst>
            </p:cNvPr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/>
                  </a:solidFill>
                </a:rPr>
                <a:t>2026</a:t>
              </a:r>
              <a:r>
                <a:rPr lang="ko-KR" altLang="en-US" sz="1600" dirty="0">
                  <a:solidFill>
                    <a:schemeClr val="tx1"/>
                  </a:solidFill>
                </a:rPr>
                <a:t>년도 </a:t>
              </a:r>
              <a:r>
                <a:rPr lang="en-US" altLang="ko-KR" sz="1600" dirty="0">
                  <a:solidFill>
                    <a:schemeClr val="tx1"/>
                  </a:solidFill>
                </a:rPr>
                <a:t>PBV</a:t>
              </a:r>
              <a:r>
                <a:rPr lang="ko-KR" altLang="en-US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</a:rPr>
                <a:t>IVI</a:t>
              </a:r>
              <a:r>
                <a:rPr lang="ko-KR" altLang="en-US" sz="1600" dirty="0">
                  <a:solidFill>
                    <a:schemeClr val="tx1"/>
                  </a:solidFill>
                </a:rPr>
                <a:t> 유지보수 개발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0246DC-B2F9-4F71-8B7A-E5A1277142CC}"/>
              </a:ext>
            </a:extLst>
          </p:cNvPr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D1E369-55FF-4EED-A1FE-A4372BDE2FD9}"/>
                </a:ext>
              </a:extLst>
            </p:cNvPr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57C8EE-921D-4189-BCF4-3EADA5CB1A61}"/>
                </a:ext>
              </a:extLst>
            </p:cNvPr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</a:rPr>
                <a:t>총 </a:t>
              </a:r>
              <a:r>
                <a:rPr lang="en-US" altLang="ko-KR" sz="1600" dirty="0">
                  <a:solidFill>
                    <a:schemeClr val="tx1"/>
                  </a:solidFill>
                </a:rPr>
                <a:t>6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개월 </a:t>
              </a:r>
              <a:r>
                <a:rPr lang="en-US" altLang="ko-KR" sz="1600" dirty="0">
                  <a:solidFill>
                    <a:schemeClr val="tx1"/>
                  </a:solidFill>
                </a:rPr>
                <a:t>(2026.01.01 ~ 2026.06.30)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9007EB-1895-4CA0-9913-A4EA473276EC}"/>
              </a:ext>
            </a:extLst>
          </p:cNvPr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10B44D-193D-4C91-A287-4ACB6146B048}"/>
                </a:ext>
              </a:extLst>
            </p:cNvPr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645413-CF40-489D-81FA-7B705605D607}"/>
                </a:ext>
              </a:extLst>
            </p:cNvPr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기술 개요</a:t>
              </a:r>
              <a:endParaRPr lang="en-US" altLang="ko-KR" sz="14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PBV IVI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플랫폼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DMB,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MiniPlayer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RearCareMode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앱에 대한 유지보수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Android Application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레벨의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GUI,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다국어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UI /Logic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전체 어플리케이션 개발 및 유지보수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고객사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CR(Change Request)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대응 및 신규 기능 개발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지역별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(PBV 10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PBV Lite 3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 모델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정기업데이트에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따른 성능 육성 및 안정화 지원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개발 언어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: Kotlin 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주력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), Java.</a:t>
              </a:r>
            </a:p>
            <a:p>
              <a:pPr marL="180000" lvl="1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C5D8B4-B079-43BB-8EA8-319C310E1155}"/>
                </a:ext>
              </a:extLst>
            </p:cNvPr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</a:rPr>
                <a:t>시스템 구성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19FE606-709D-442F-8D17-21253E1E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5A81FE-784D-0C5B-3B8D-323D3CF0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76" y="3385595"/>
            <a:ext cx="3318988" cy="262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5CB9E22-3771-029D-AE57-0E43EEA8B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67844"/>
              </p:ext>
            </p:extLst>
          </p:nvPr>
        </p:nvGraphicFramePr>
        <p:xfrm>
          <a:off x="401902" y="1187224"/>
          <a:ext cx="9102196" cy="5246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502833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3696659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2467604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618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구 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내수</a:t>
                      </a:r>
                      <a:r>
                        <a:rPr lang="en-US" altLang="ko-KR" sz="1400" dirty="0"/>
                        <a:t> 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343609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유럽 </a:t>
                      </a:r>
                      <a:r>
                        <a:rPr lang="en-US" altLang="ko-KR" sz="1400" dirty="0"/>
                        <a:t>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및 다국어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DMB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1500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2923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MiniPlayer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61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06488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626879"/>
                  </a:ext>
                </a:extLst>
              </a:tr>
              <a:tr h="34890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dirty="0" err="1"/>
                        <a:t>RearCareMod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176728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err="1"/>
                        <a:t>RearCare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35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ED32E4-564E-5021-AB3D-B03917FB2ECC}"/>
              </a:ext>
            </a:extLst>
          </p:cNvPr>
          <p:cNvGrpSpPr/>
          <p:nvPr/>
        </p:nvGrpSpPr>
        <p:grpSpPr>
          <a:xfrm>
            <a:off x="750804" y="732147"/>
            <a:ext cx="8157410" cy="5613621"/>
            <a:chOff x="796802" y="826933"/>
            <a:chExt cx="8157410" cy="5613621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BA821B1-CDF9-B93F-DB9E-8845E68FD176}"/>
                </a:ext>
              </a:extLst>
            </p:cNvPr>
            <p:cNvSpPr/>
            <p:nvPr/>
          </p:nvSpPr>
          <p:spPr>
            <a:xfrm>
              <a:off x="796802" y="826933"/>
              <a:ext cx="8157410" cy="5613621"/>
            </a:xfrm>
            <a:prstGeom prst="roundRect">
              <a:avLst>
                <a:gd name="adj" fmla="val 167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FD453D6-3777-3169-E7FA-4650660962DF}"/>
                </a:ext>
              </a:extLst>
            </p:cNvPr>
            <p:cNvCxnSpPr>
              <a:cxnSpLocks/>
              <a:stCxn id="65" idx="2"/>
              <a:endCxn id="75" idx="0"/>
            </p:cNvCxnSpPr>
            <p:nvPr/>
          </p:nvCxnSpPr>
          <p:spPr>
            <a:xfrm flipH="1">
              <a:off x="5829453" y="1805392"/>
              <a:ext cx="8585" cy="380233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1DE98F-DA2F-C073-4E2C-414C712338C0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>
              <a:off x="2387935" y="1493946"/>
              <a:ext cx="757475" cy="0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E185C40-4339-3A96-1C14-A3AC133F2F61}"/>
                </a:ext>
              </a:extLst>
            </p:cNvPr>
            <p:cNvSpPr txBox="1"/>
            <p:nvPr/>
          </p:nvSpPr>
          <p:spPr>
            <a:xfrm>
              <a:off x="2484543" y="1215070"/>
              <a:ext cx="564258" cy="261610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>
                  <a:solidFill>
                    <a:srgbClr val="C00000"/>
                  </a:solidFill>
                </a:rPr>
                <a:t>사양협의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41062B7F-5788-9119-06D0-4E49D2F1A5E4}"/>
                </a:ext>
              </a:extLst>
            </p:cNvPr>
            <p:cNvCxnSpPr>
              <a:cxnSpLocks/>
              <a:stCxn id="70" idx="2"/>
              <a:endCxn id="47" idx="0"/>
            </p:cNvCxnSpPr>
            <p:nvPr/>
          </p:nvCxnSpPr>
          <p:spPr>
            <a:xfrm>
              <a:off x="3768302" y="1786143"/>
              <a:ext cx="1" cy="807623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B5DC822-061F-694F-155E-1CE85872693D}"/>
                </a:ext>
              </a:extLst>
            </p:cNvPr>
            <p:cNvSpPr txBox="1"/>
            <p:nvPr/>
          </p:nvSpPr>
          <p:spPr>
            <a:xfrm>
              <a:off x="3064060" y="1979517"/>
              <a:ext cx="140102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요구사항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(New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Feature)</a:t>
              </a: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상황 공유</a:t>
              </a: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775450FF-C4F6-09D7-353B-424341FA2B07}"/>
                </a:ext>
              </a:extLst>
            </p:cNvPr>
            <p:cNvSpPr/>
            <p:nvPr/>
          </p:nvSpPr>
          <p:spPr>
            <a:xfrm>
              <a:off x="3145411" y="2593766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설계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&amp; 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관리집단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(PM &amp; PL)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EE7A4CF7-9856-904D-3144-8A0FC1932B80}"/>
                </a:ext>
              </a:extLst>
            </p:cNvPr>
            <p:cNvSpPr/>
            <p:nvPr/>
          </p:nvSpPr>
          <p:spPr>
            <a:xfrm>
              <a:off x="5215147" y="3235911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F3FD90E8-7480-AFD8-BEA9-CD7E07558748}"/>
                </a:ext>
              </a:extLst>
            </p:cNvPr>
            <p:cNvSpPr/>
            <p:nvPr/>
          </p:nvSpPr>
          <p:spPr>
            <a:xfrm>
              <a:off x="5215146" y="4026515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DMB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854FA62D-FCAD-509B-45DE-65F33E9191E5}"/>
                </a:ext>
              </a:extLst>
            </p:cNvPr>
            <p:cNvSpPr/>
            <p:nvPr/>
          </p:nvSpPr>
          <p:spPr>
            <a:xfrm>
              <a:off x="5215147" y="2445307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AEF3A7C6-593F-D1F8-77D5-8BA3C68FC592}"/>
                </a:ext>
              </a:extLst>
            </p:cNvPr>
            <p:cNvCxnSpPr>
              <a:cxnSpLocks/>
              <a:stCxn id="47" idx="3"/>
              <a:endCxn id="50" idx="1"/>
            </p:cNvCxnSpPr>
            <p:nvPr/>
          </p:nvCxnSpPr>
          <p:spPr>
            <a:xfrm flipV="1">
              <a:off x="4391194" y="2625307"/>
              <a:ext cx="823953" cy="279905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A8ABC365-319D-1FDA-E43A-395574E16A71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>
              <a:off x="2406253" y="2905212"/>
              <a:ext cx="739158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711A45A8-DFB3-CCC1-A7A1-D3E4F0060D4B}"/>
                </a:ext>
              </a:extLst>
            </p:cNvPr>
            <p:cNvCxnSpPr>
              <a:cxnSpLocks/>
              <a:stCxn id="47" idx="3"/>
              <a:endCxn id="48" idx="1"/>
            </p:cNvCxnSpPr>
            <p:nvPr/>
          </p:nvCxnSpPr>
          <p:spPr>
            <a:xfrm>
              <a:off x="4391194" y="2905212"/>
              <a:ext cx="823953" cy="510699"/>
            </a:xfrm>
            <a:prstGeom prst="bentConnector3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0D3F2C27-38DE-1151-B422-CBB7D9E04277}"/>
                </a:ext>
              </a:extLst>
            </p:cNvPr>
            <p:cNvCxnSpPr>
              <a:cxnSpLocks/>
              <a:stCxn id="47" idx="3"/>
              <a:endCxn id="49" idx="1"/>
            </p:cNvCxnSpPr>
            <p:nvPr/>
          </p:nvCxnSpPr>
          <p:spPr>
            <a:xfrm>
              <a:off x="4391194" y="2905212"/>
              <a:ext cx="823952" cy="1301303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714B60AF-7182-F8BD-894F-9C02D50A7591}"/>
                </a:ext>
              </a:extLst>
            </p:cNvPr>
            <p:cNvSpPr/>
            <p:nvPr/>
          </p:nvSpPr>
          <p:spPr>
            <a:xfrm>
              <a:off x="7288612" y="3681542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사내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QC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 팀</a:t>
              </a:r>
            </a:p>
          </p:txBody>
        </p:sp>
        <p:cxnSp>
          <p:nvCxnSpPr>
            <p:cNvPr id="56" name="연결선: 꺾임 55">
              <a:extLst>
                <a:ext uri="{FF2B5EF4-FFF2-40B4-BE49-F238E27FC236}">
                  <a16:creationId xmlns:a16="http://schemas.microsoft.com/office/drawing/2014/main" id="{31A38C77-C2B7-3860-EDA1-FE36A55323C9}"/>
                </a:ext>
              </a:extLst>
            </p:cNvPr>
            <p:cNvCxnSpPr>
              <a:cxnSpLocks/>
              <a:stCxn id="50" idx="3"/>
              <a:endCxn id="55" idx="1"/>
            </p:cNvCxnSpPr>
            <p:nvPr/>
          </p:nvCxnSpPr>
          <p:spPr>
            <a:xfrm>
              <a:off x="6460930" y="2625307"/>
              <a:ext cx="827682" cy="136768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7A01993F-B5CC-9820-5C76-F5BCBE7DD037}"/>
                </a:ext>
              </a:extLst>
            </p:cNvPr>
            <p:cNvCxnSpPr>
              <a:cxnSpLocks/>
              <a:stCxn id="48" idx="3"/>
              <a:endCxn id="55" idx="1"/>
            </p:cNvCxnSpPr>
            <p:nvPr/>
          </p:nvCxnSpPr>
          <p:spPr>
            <a:xfrm>
              <a:off x="6460930" y="3415911"/>
              <a:ext cx="827682" cy="57707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78E68B67-0434-2542-EC91-461DCB801469}"/>
                </a:ext>
              </a:extLst>
            </p:cNvPr>
            <p:cNvCxnSpPr>
              <a:cxnSpLocks/>
              <a:stCxn id="55" idx="1"/>
              <a:endCxn id="49" idx="3"/>
            </p:cNvCxnSpPr>
            <p:nvPr/>
          </p:nvCxnSpPr>
          <p:spPr>
            <a:xfrm rot="10800000" flipV="1">
              <a:off x="6460930" y="3992987"/>
              <a:ext cx="827683" cy="21352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802EE835-1D18-C6C0-591A-35305CA4EC62}"/>
                </a:ext>
              </a:extLst>
            </p:cNvPr>
            <p:cNvCxnSpPr>
              <a:cxnSpLocks/>
              <a:stCxn id="55" idx="2"/>
              <a:endCxn id="47" idx="2"/>
            </p:cNvCxnSpPr>
            <p:nvPr/>
          </p:nvCxnSpPr>
          <p:spPr>
            <a:xfrm rot="5400000" flipH="1">
              <a:off x="5296016" y="1688946"/>
              <a:ext cx="1087776" cy="4143201"/>
            </a:xfrm>
            <a:prstGeom prst="bentConnector3">
              <a:avLst>
                <a:gd name="adj1" fmla="val -170417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429DCEE-7B03-F4DA-E9B4-EC93D0F9E0B4}"/>
                </a:ext>
              </a:extLst>
            </p:cNvPr>
            <p:cNvSpPr/>
            <p:nvPr/>
          </p:nvSpPr>
          <p:spPr>
            <a:xfrm>
              <a:off x="7288612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모비스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 QA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12A058A1-F407-95C4-9755-5AC3E84C3CED}"/>
                </a:ext>
              </a:extLst>
            </p:cNvPr>
            <p:cNvCxnSpPr>
              <a:cxnSpLocks/>
              <a:stCxn id="55" idx="0"/>
              <a:endCxn id="60" idx="2"/>
            </p:cNvCxnSpPr>
            <p:nvPr/>
          </p:nvCxnSpPr>
          <p:spPr>
            <a:xfrm flipV="1">
              <a:off x="7911504" y="1805392"/>
              <a:ext cx="0" cy="1876150"/>
            </a:xfrm>
            <a:prstGeom prst="straightConnector1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81E488-6D35-823A-E3B0-F70B575A4072}"/>
                </a:ext>
              </a:extLst>
            </p:cNvPr>
            <p:cNvSpPr txBox="1"/>
            <p:nvPr/>
          </p:nvSpPr>
          <p:spPr>
            <a:xfrm>
              <a:off x="7456252" y="2689874"/>
              <a:ext cx="91050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배포 버전 전달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4C16C26-60B4-0CA0-A3AF-B85BAF4D4FF1}"/>
                </a:ext>
              </a:extLst>
            </p:cNvPr>
            <p:cNvSpPr txBox="1"/>
            <p:nvPr/>
          </p:nvSpPr>
          <p:spPr>
            <a:xfrm>
              <a:off x="3365273" y="4088990"/>
              <a:ext cx="727763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분석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업무 등록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29C18FA-4730-79B7-4D37-FF305404D9F9}"/>
                </a:ext>
              </a:extLst>
            </p:cNvPr>
            <p:cNvSpPr txBox="1"/>
            <p:nvPr/>
          </p:nvSpPr>
          <p:spPr>
            <a:xfrm>
              <a:off x="7247525" y="4676485"/>
              <a:ext cx="134011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보고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(Defect, Improvement)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951E0D1B-6824-9567-D25F-D8D2B3E3B19C}"/>
                </a:ext>
              </a:extLst>
            </p:cNvPr>
            <p:cNvSpPr/>
            <p:nvPr/>
          </p:nvSpPr>
          <p:spPr>
            <a:xfrm>
              <a:off x="5215146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+mn-ea"/>
                </a:rPr>
                <a:t>인포방송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미디어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APP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팀</a:t>
              </a:r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DA9D2C75-98AA-DC04-2FD6-8D66FAF4EE05}"/>
                </a:ext>
              </a:extLst>
            </p:cNvPr>
            <p:cNvCxnSpPr>
              <a:cxnSpLocks/>
              <a:stCxn id="70" idx="3"/>
              <a:endCxn id="65" idx="1"/>
            </p:cNvCxnSpPr>
            <p:nvPr/>
          </p:nvCxnSpPr>
          <p:spPr>
            <a:xfrm>
              <a:off x="4391194" y="1493946"/>
              <a:ext cx="823952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C2099E86-FBDB-B4A9-EA01-CF4F65BB5D13}"/>
                </a:ext>
              </a:extLst>
            </p:cNvPr>
            <p:cNvCxnSpPr>
              <a:cxnSpLocks/>
              <a:stCxn id="65" idx="3"/>
              <a:endCxn id="60" idx="1"/>
            </p:cNvCxnSpPr>
            <p:nvPr/>
          </p:nvCxnSpPr>
          <p:spPr>
            <a:xfrm>
              <a:off x="6460929" y="1493946"/>
              <a:ext cx="827683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9B1D01D-8FDE-4F43-C9EC-35A23F378F74}"/>
                </a:ext>
              </a:extLst>
            </p:cNvPr>
            <p:cNvSpPr txBox="1"/>
            <p:nvPr/>
          </p:nvSpPr>
          <p:spPr>
            <a:xfrm>
              <a:off x="5539879" y="1955163"/>
              <a:ext cx="596318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연동 수행</a:t>
              </a:r>
            </a:p>
          </p:txBody>
        </p:sp>
        <p:pic>
          <p:nvPicPr>
            <p:cNvPr id="69" name="Picture 2" descr="회장님차 납시오... 미국의 현대기아 그리고 제네시스 - 카가이">
              <a:extLst>
                <a:ext uri="{FF2B5EF4-FFF2-40B4-BE49-F238E27FC236}">
                  <a16:creationId xmlns:a16="http://schemas.microsoft.com/office/drawing/2014/main" id="{D180B286-7F81-597D-5AFF-A904B4FB0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2971" y="1099759"/>
              <a:ext cx="1094964" cy="78837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4" descr="현대모비스 로고">
              <a:extLst>
                <a:ext uri="{FF2B5EF4-FFF2-40B4-BE49-F238E27FC236}">
                  <a16:creationId xmlns:a16="http://schemas.microsoft.com/office/drawing/2014/main" id="{A59AC653-DE7A-E044-C597-3CD54A22C0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410" y="1201749"/>
              <a:ext cx="1245784" cy="58439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그림 70" descr="텍스트, 식탁용기구, 플레이트, 접시이(가) 표시된 사진&#10;&#10;자동 생성된 설명">
              <a:extLst>
                <a:ext uri="{FF2B5EF4-FFF2-40B4-BE49-F238E27FC236}">
                  <a16:creationId xmlns:a16="http://schemas.microsoft.com/office/drawing/2014/main" id="{903873E4-1443-1F42-57A7-AF65CAA57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514"/>
            <a:stretch/>
          </p:blipFill>
          <p:spPr>
            <a:xfrm>
              <a:off x="1071946" y="2631972"/>
              <a:ext cx="1443790" cy="4065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</p:pic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6198E6B1-C67F-5708-5685-5B77D9AC73C2}"/>
                </a:ext>
              </a:extLst>
            </p:cNvPr>
            <p:cNvSpPr/>
            <p:nvPr/>
          </p:nvSpPr>
          <p:spPr>
            <a:xfrm>
              <a:off x="5210854" y="4817119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MiniPlayer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3" name="연결선: 꺾임 72">
              <a:extLst>
                <a:ext uri="{FF2B5EF4-FFF2-40B4-BE49-F238E27FC236}">
                  <a16:creationId xmlns:a16="http://schemas.microsoft.com/office/drawing/2014/main" id="{85EEE390-0307-D096-D576-FE71F7AD9C2A}"/>
                </a:ext>
              </a:extLst>
            </p:cNvPr>
            <p:cNvCxnSpPr>
              <a:cxnSpLocks/>
              <a:stCxn id="47" idx="3"/>
              <a:endCxn id="72" idx="1"/>
            </p:cNvCxnSpPr>
            <p:nvPr/>
          </p:nvCxnSpPr>
          <p:spPr>
            <a:xfrm>
              <a:off x="4391194" y="2905212"/>
              <a:ext cx="819660" cy="2091907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E5870420-0A5E-7F36-5007-2296D568ED8B}"/>
                </a:ext>
              </a:extLst>
            </p:cNvPr>
            <p:cNvCxnSpPr>
              <a:cxnSpLocks/>
              <a:stCxn id="72" idx="3"/>
              <a:endCxn id="55" idx="1"/>
            </p:cNvCxnSpPr>
            <p:nvPr/>
          </p:nvCxnSpPr>
          <p:spPr>
            <a:xfrm flipV="1">
              <a:off x="6456637" y="3992988"/>
              <a:ext cx="831975" cy="100413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CA336638-1E26-9553-9830-91A55234DD5C}"/>
                </a:ext>
              </a:extLst>
            </p:cNvPr>
            <p:cNvSpPr/>
            <p:nvPr/>
          </p:nvSpPr>
          <p:spPr>
            <a:xfrm>
              <a:off x="5206561" y="5607722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RearCareMode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6" name="연결선: 꺾임 75">
              <a:extLst>
                <a:ext uri="{FF2B5EF4-FFF2-40B4-BE49-F238E27FC236}">
                  <a16:creationId xmlns:a16="http://schemas.microsoft.com/office/drawing/2014/main" id="{3D3FF9B8-E07B-8A93-C6B1-AA74D9878CEA}"/>
                </a:ext>
              </a:extLst>
            </p:cNvPr>
            <p:cNvCxnSpPr>
              <a:cxnSpLocks/>
              <a:stCxn id="47" idx="3"/>
              <a:endCxn id="75" idx="1"/>
            </p:cNvCxnSpPr>
            <p:nvPr/>
          </p:nvCxnSpPr>
          <p:spPr>
            <a:xfrm>
              <a:off x="4391194" y="2905212"/>
              <a:ext cx="815367" cy="2882510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연결선: 꺾임 76">
              <a:extLst>
                <a:ext uri="{FF2B5EF4-FFF2-40B4-BE49-F238E27FC236}">
                  <a16:creationId xmlns:a16="http://schemas.microsoft.com/office/drawing/2014/main" id="{56AFC327-A274-5F96-0C8B-347549620D7D}"/>
                </a:ext>
              </a:extLst>
            </p:cNvPr>
            <p:cNvCxnSpPr>
              <a:cxnSpLocks/>
              <a:stCxn id="55" idx="1"/>
              <a:endCxn id="75" idx="3"/>
            </p:cNvCxnSpPr>
            <p:nvPr/>
          </p:nvCxnSpPr>
          <p:spPr>
            <a:xfrm rot="10800000" flipV="1">
              <a:off x="6452344" y="3992988"/>
              <a:ext cx="836268" cy="1794734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2AAECC8-CAEF-53E4-FBDE-7920A23AB203}"/>
                </a:ext>
              </a:extLst>
            </p:cNvPr>
            <p:cNvSpPr txBox="1"/>
            <p:nvPr/>
          </p:nvSpPr>
          <p:spPr>
            <a:xfrm>
              <a:off x="6579593" y="3649072"/>
              <a:ext cx="62281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공유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DF72F4-9846-622C-B3BC-62213483CB3E}"/>
                </a:ext>
              </a:extLst>
            </p:cNvPr>
            <p:cNvSpPr txBox="1"/>
            <p:nvPr/>
          </p:nvSpPr>
          <p:spPr>
            <a:xfrm>
              <a:off x="4329118" y="3595911"/>
              <a:ext cx="72776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업무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(Task)</a:t>
              </a:r>
            </a:p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분석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분배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월별 유지 보수 현황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46649F4-32F0-FAA7-7384-F7E7A7D8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32365"/>
              </p:ext>
            </p:extLst>
          </p:nvPr>
        </p:nvGraphicFramePr>
        <p:xfrm>
          <a:off x="764376" y="1250635"/>
          <a:ext cx="7936804" cy="47319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434074">
                  <a:extLst>
                    <a:ext uri="{9D8B030D-6E8A-4147-A177-3AD203B41FA5}">
                      <a16:colId xmlns:a16="http://schemas.microsoft.com/office/drawing/2014/main" val="321113157"/>
                    </a:ext>
                  </a:extLst>
                </a:gridCol>
                <a:gridCol w="106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362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1077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017">
                  <a:extLst>
                    <a:ext uri="{9D8B030D-6E8A-4147-A177-3AD203B41FA5}">
                      <a16:colId xmlns:a16="http://schemas.microsoft.com/office/drawing/2014/main" val="1033553221"/>
                    </a:ext>
                  </a:extLst>
                </a:gridCol>
                <a:gridCol w="1127538">
                  <a:extLst>
                    <a:ext uri="{9D8B030D-6E8A-4147-A177-3AD203B41FA5}">
                      <a16:colId xmlns:a16="http://schemas.microsoft.com/office/drawing/2014/main" val="2236798028"/>
                    </a:ext>
                  </a:extLst>
                </a:gridCol>
              </a:tblGrid>
              <a:tr h="300117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26.03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26.04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26.05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26.06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658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DMB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751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RearCare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677124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6616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83479C-86B4-F79E-0FCB-271999CBB8AB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월별 이슈 건수</a:t>
            </a:r>
          </a:p>
        </p:txBody>
      </p:sp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EA13-F325-369A-B520-5769AC30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D21-D206-EEFC-AC06-E8D85767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93ECDA-0FD2-1024-656A-1092E58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32606C4-95DD-F378-687D-3DD6B27B0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048969"/>
              </p:ext>
            </p:extLst>
          </p:nvPr>
        </p:nvGraphicFramePr>
        <p:xfrm>
          <a:off x="436387" y="698424"/>
          <a:ext cx="8769985" cy="334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[REQ_01]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04548A-D6D8-4783-68C2-AE075EE1B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437127"/>
              </p:ext>
            </p:extLst>
          </p:nvPr>
        </p:nvGraphicFramePr>
        <p:xfrm>
          <a:off x="436386" y="1266645"/>
          <a:ext cx="8769985" cy="457278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85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 용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49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MPI-98619</a:t>
                      </a:r>
                      <a:r>
                        <a:rPr lang="en-US" altLang="ko-KR" sz="1200" dirty="0">
                          <a:solidFill>
                            <a:srgbClr val="0052CC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DMB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재생중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표시되는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Default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Image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GUI 가이드 이미지와 상이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dirty="0">
                          <a:effectLst/>
                          <a:latin typeface="+mn-ea"/>
                          <a:ea typeface="+mn-ea"/>
                        </a:rPr>
                        <a:t>26-05-19</a:t>
                      </a: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96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35546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5D4C5B4-7D6A-6ABF-EEF1-88D33A692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872" y="2155914"/>
            <a:ext cx="2000905" cy="11255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A7B19B-7ABC-00E2-4DF3-1C4B207B3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872" y="4543934"/>
            <a:ext cx="2105498" cy="117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56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4C141-5549-2F72-ACEF-32F6BA3E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DE3495-9545-97D1-EEA7-491F0B30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5F559457-AB4D-9FE0-E055-C8B01582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724817"/>
              </p:ext>
            </p:extLst>
          </p:nvPr>
        </p:nvGraphicFramePr>
        <p:xfrm>
          <a:off x="436389" y="643585"/>
          <a:ext cx="8769985" cy="33061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[REQ_02]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보안 관련 위반 발생 주의 요청 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금지에 대한 조치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내용을 전달시에는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공유하도록 요청 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USB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미허가된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저장장치에 업무 내용 저장 금지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회사 내부에 보유 및 정보 문서화하여 관리하고 있고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미등록된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업무 내용을 저장하는 것을 금지 시켰습니다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아래의 내용을 투비원솔루션즈 개발자와 관계자에게 배포 및 별도 교육을 실시하였습니다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 관련 교육 사항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내용을 전송 하는 것을 절대 금지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 전달시에는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Moibis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Jira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 바랍니다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전산장비 및 저장매체 관리 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허가 및 미리 협의되지 않은 저장매체 사용 불가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- USB,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외장하드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노트북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저장매체는 반드시 보안담당자에게 신고 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사용셔야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3)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개발실 외부로 전산장비 및 저장매체 절대 이동 해서는 안됩니다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*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위의 사항 위반시에는 엄중한 조치가 내려질 것이니 본인에게 불이익이 가지 않도록 주의 요청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바립니다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BB0DC85-DA45-236D-B5B5-A2F1615CA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69606"/>
              </p:ext>
            </p:extLst>
          </p:nvPr>
        </p:nvGraphicFramePr>
        <p:xfrm>
          <a:off x="436388" y="3816594"/>
          <a:ext cx="8769985" cy="27422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[REQ_03]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업무 공수 입력 요청 건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인원이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공수 입력을 빠짐없이 하고 있는지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매달 마지막 주마다 팀원 전원에게 공수 입력을 지시 및 매달 초 필터 검색을 통해 공수 입력 사항을 확인하고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공수 확인을 위한 필터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지라 공수 필터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월별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시작일자 포함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생성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Radio: </a:t>
                      </a:r>
                      <a:r>
                        <a:rPr lang="ko-KR" altLang="ko-KR" sz="1200" dirty="0">
                          <a:hlinkClick r:id="rId2"/>
                        </a:rPr>
                        <a:t>[</a:t>
                      </a:r>
                      <a:r>
                        <a:rPr lang="ko-KR" altLang="ko-KR" sz="1200" dirty="0" err="1">
                          <a:hlinkClick r:id="rId2"/>
                        </a:rPr>
                        <a:t>투비원</a:t>
                      </a:r>
                      <a:r>
                        <a:rPr lang="ko-KR" altLang="ko-KR" sz="1200" dirty="0">
                          <a:hlinkClick r:id="rId2"/>
                        </a:rPr>
                        <a:t>]PBV </a:t>
                      </a:r>
                      <a:r>
                        <a:rPr lang="ko-KR" altLang="ko-KR" sz="1200" dirty="0" err="1">
                          <a:hlinkClick r:id="rId2"/>
                        </a:rPr>
                        <a:t>Radio</a:t>
                      </a:r>
                      <a:r>
                        <a:rPr lang="ko-KR" altLang="ko-KR" sz="1200" dirty="0">
                          <a:hlinkClick r:id="rId2"/>
                        </a:rPr>
                        <a:t> 공수 - 정명훈 기타협력사 - </a:t>
                      </a:r>
                      <a:r>
                        <a:rPr lang="ko-KR" altLang="ko-KR" sz="1200" dirty="0" err="1">
                          <a:hlinkClick r:id="rId2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DMB : </a:t>
                      </a:r>
                      <a:r>
                        <a:rPr lang="ko-KR" altLang="ko-KR" sz="1200" dirty="0">
                          <a:hlinkClick r:id="rId3"/>
                        </a:rPr>
                        <a:t>[</a:t>
                      </a:r>
                      <a:r>
                        <a:rPr lang="ko-KR" altLang="ko-KR" sz="1200" dirty="0" err="1">
                          <a:hlinkClick r:id="rId3"/>
                        </a:rPr>
                        <a:t>투비원</a:t>
                      </a:r>
                      <a:r>
                        <a:rPr lang="ko-KR" altLang="ko-KR" sz="1200" dirty="0">
                          <a:hlinkClick r:id="rId3"/>
                        </a:rPr>
                        <a:t>] PBV DMB 공수 - 노진일 기타협력사 - </a:t>
                      </a:r>
                      <a:r>
                        <a:rPr lang="ko-KR" altLang="ko-KR" sz="1200" dirty="0" err="1">
                          <a:hlinkClick r:id="rId3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ko-KR" sz="1100" dirty="0">
                          <a:hlinkClick r:id="rId4"/>
                        </a:rPr>
                        <a:t>[</a:t>
                      </a:r>
                      <a:r>
                        <a:rPr lang="ko-KR" altLang="ko-KR" sz="1100" dirty="0" err="1">
                          <a:hlinkClick r:id="rId4"/>
                        </a:rPr>
                        <a:t>투비원</a:t>
                      </a:r>
                      <a:r>
                        <a:rPr lang="ko-KR" altLang="ko-KR" sz="1100" dirty="0">
                          <a:hlinkClick r:id="rId4"/>
                        </a:rPr>
                        <a:t>]PBV </a:t>
                      </a:r>
                      <a:r>
                        <a:rPr lang="ko-KR" altLang="ko-KR" sz="1100" dirty="0" err="1">
                          <a:hlinkClick r:id="rId4"/>
                        </a:rPr>
                        <a:t>MiniPlayer</a:t>
                      </a:r>
                      <a:r>
                        <a:rPr lang="ko-KR" altLang="ko-KR" sz="1100" dirty="0">
                          <a:hlinkClick r:id="rId4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4"/>
                        </a:rPr>
                        <a:t>Confluence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RearCareMode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ko-KR" sz="1100" dirty="0">
                          <a:hlinkClick r:id="rId5"/>
                        </a:rPr>
                        <a:t>[</a:t>
                      </a:r>
                      <a:r>
                        <a:rPr lang="ko-KR" altLang="ko-KR" sz="1100" dirty="0" err="1">
                          <a:hlinkClick r:id="rId5"/>
                        </a:rPr>
                        <a:t>투비원</a:t>
                      </a:r>
                      <a:r>
                        <a:rPr lang="ko-KR" altLang="ko-KR" sz="1100" dirty="0">
                          <a:hlinkClick r:id="rId5"/>
                        </a:rPr>
                        <a:t>]PBV </a:t>
                      </a:r>
                      <a:r>
                        <a:rPr lang="ko-KR" altLang="ko-KR" sz="1100" dirty="0" err="1">
                          <a:hlinkClick r:id="rId5"/>
                        </a:rPr>
                        <a:t>RearCareMode</a:t>
                      </a:r>
                      <a:r>
                        <a:rPr lang="ko-KR" altLang="ko-KR" sz="1100" dirty="0">
                          <a:hlinkClick r:id="rId5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5"/>
                        </a:rPr>
                        <a:t>Confluence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789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9F25-4CA8-09B2-B046-DE853C2C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6ADEE-6978-180D-A3E3-3FFB4C43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193D4C-3305-762E-9262-1AE597ED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440FA41A-E9E4-1920-63EA-2C14705E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640707"/>
              </p:ext>
            </p:extLst>
          </p:nvPr>
        </p:nvGraphicFramePr>
        <p:xfrm>
          <a:off x="681038" y="639314"/>
          <a:ext cx="8656953" cy="58216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4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12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인천 옹진군 FM 106.7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febc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극동방송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26-01-22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[IVI-SQA][GUI][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Bulgarian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설정 시 TA (LID_10011) 문구 여백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미존재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26-01-26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리스트 내 표시된 모든 방송 즐겨찾기 저장한 상태이나 SAVE ALL 버튼 비활성화되지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8965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통화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6726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방송국명이 있는 주파수 재생 중 동일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방송없고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동일 주파수의 다른 방송국이 없는 지역으로 이동 시 방송국명 유지 안함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[VT][SyT2][DAB]APP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상태인데 DAB/FM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pop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398159"/>
                  </a:ext>
                </a:extLst>
              </a:tr>
              <a:tr h="3918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게스트 프로필 초기화 동작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앱 초기화 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26-03-24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66018"/>
                  </a:ext>
                </a:extLst>
              </a:tr>
              <a:tr h="326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2개 이상 저장된 상태에서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밴드 탭 영역까지 드래그 시 간헐적으로 해당 방송이 상단에 고정되며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활성화 상태이나 위치 변경 안됨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451556"/>
                  </a:ext>
                </a:extLst>
              </a:tr>
              <a:tr h="261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드래그 시 활성화 되지 않은 방송 움직임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653212"/>
                  </a:ext>
                </a:extLst>
              </a:tr>
              <a:tr h="1959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효과 미적용됨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84701"/>
                  </a:ext>
                </a:extLst>
              </a:tr>
              <a:tr h="1306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언어변경후 재변경시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List에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표시된 방송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7465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편집화면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UP/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64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579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243-8E9E-8139-69E8-EB7243D7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EF354-99B2-57F2-0F6F-95653BFA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5F3653-FA0A-D6BB-A37A-8BAA2743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B518C667-89ED-C6C2-CED1-2E31523DC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890514"/>
              </p:ext>
            </p:extLst>
          </p:nvPr>
        </p:nvGraphicFramePr>
        <p:xfrm>
          <a:off x="681038" y="639313"/>
          <a:ext cx="8656953" cy="57912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0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12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앱 위치 설정 진입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크기 상이함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Edit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SWRC CH UP/DN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외 화면에서 라디오 재생 중 VR 실행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VR 종료됨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[IVI-SQA][HMI][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PhoneProjection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무감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[VT][SyT2][FM]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앱뷰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잠시 표시되고 홈화면으로 튕김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 변경 후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Serach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방송국명 초성 검색 시 검색 결과 표시 오류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CH UP/DN 입력됨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165190"/>
                  </a:ext>
                </a:extLst>
              </a:tr>
              <a:tr h="326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채널 검색 화면에서 키보드 출력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키보드 겹치는 영역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시 앱 위치 이동 동작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838084"/>
                  </a:ext>
                </a:extLst>
              </a:tr>
              <a:tr h="261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즐겨찾기 편집 화면에서 SWRC UP/DN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Wrapping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Around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안함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575947"/>
                  </a:ext>
                </a:extLst>
              </a:tr>
              <a:tr h="1959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EU] hr1 RDS/DAB 동일 방송 저장 후 RDS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SF발생시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Favourite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삭제 안됨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26-05-13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12274"/>
                  </a:ext>
                </a:extLst>
              </a:tr>
              <a:tr h="1306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미디어 BG 재생 중 통화 보류 상태에서 미디어 선택 입력 시 라디오 토스트 팝업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760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키보드 표시 중 목적지 설정 키보드로 포커스 변경 후 복귀 시 키보드만 출력 시키고 포커스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안잡힘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58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741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0026-7D66-598C-D824-A7C974C6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94800-93F4-FB78-6966-437CC753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AF519-6209-3A98-C452-F5C65F7E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1AF7538-9E22-0EA0-3C27-EE16EEA80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451252"/>
              </p:ext>
            </p:extLst>
          </p:nvPr>
        </p:nvGraphicFramePr>
        <p:xfrm>
          <a:off x="681038" y="940254"/>
          <a:ext cx="8656953" cy="49178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24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93">
                <a:tc rowSpan="5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활성화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Navigation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 터치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터치 후 검색어 입력 시 무감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SW1 27MY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중동향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내장AMP_CCS_SVM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#9 KNR 2차 1ST 전화 통화 중 2ST전화 수신, 팝업에서 메시지 터치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전체앱에서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진입됨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SVR,VI 실행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신호 인가 후 SVR,VI 해제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미 출력 상태 및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아이콘 상태로 사운드 출력됨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29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TCIEXTORG-7776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일본 라디오 방송국명 표시 기능 개발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2026-03-12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[ESTRACK20-2296] 일본 라디오 방송국명 표시 기능 개발 (26년 1차)_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DB갱신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171">
                <a:tc rowSpan="4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06537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74765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세트 설치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82813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내수 라디오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473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864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6FE6-3DBE-C706-049A-995F5B0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541D7-D5AC-68E4-6B29-506DFC81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D3065-E704-D2FA-D64C-121F6400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CB1857E-68CC-5D50-AC0F-AAC464F8F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706137"/>
              </p:ext>
            </p:extLst>
          </p:nvPr>
        </p:nvGraphicFramePr>
        <p:xfrm>
          <a:off x="575310" y="713375"/>
          <a:ext cx="8769985" cy="530545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4230381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MPI-98498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전화 수신 보류 후 미디어 전환 시 FM, AM, DMB 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모드는 팝업 안됨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26-05-20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MPI-98623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재난정보 편집화면 내 확장버튼 표시됨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전체화면에서 재생 중 카메라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하드키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블랙화면 잠시 표시됨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MPI-97557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 화면에서 키보드 출력 상태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Control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Center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시도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Text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Field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포커스 유지됨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MPI-97580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검색 화면 내 띄어쓰기 하여 검색 시 결과 내 하이라이트 표시 안됨 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MPI-96918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DMB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미수신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상태에서 사운드 &gt;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안내음량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진입 시 "수신 가능 지역 이동 시 자동 재생됩니다" 문구 없어짐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MPI-95796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재생 전환될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잠깐 표시되고 사라짐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26-04-02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MPI-94833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채널 변경 시 DMB 채널 정보 팝업 2번 출력됨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50863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MPI-94714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실행 중 계정 연동 &gt; DMB 진입 시 하이라이트 표시 된 방송이 아닌 이전 채널 재생됨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68908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MPI-93973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 뷰 아이콘 입력 시 앱마다 동작 상이함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628769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TCIEXTORG-8583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각 앱에서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홈화면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천이 요청할 경우 수신 통화 화면이 내려가는 문제가 발생할 수 있어서,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미디어앱에서는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소스원복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3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88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0BC5-0E52-6A66-B71C-FB9EA609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59D36-A170-3BF2-2A1C-AE7C6385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19D1AD-92C4-46A4-03A4-CA5501E0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DB339E07-5C44-D8D9-C33F-5679B1E0F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593139"/>
              </p:ext>
            </p:extLst>
          </p:nvPr>
        </p:nvGraphicFramePr>
        <p:xfrm>
          <a:off x="575310" y="672556"/>
          <a:ext cx="8769985" cy="59028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 변경 동작 반복 DMB 모드변경후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26-05-14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주행 규제 문구 그레이 색상으로 처리 되어 있음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MPI-96465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강원도, 충청북도, 전라도, 제주도에서 재난 정보 수신 시 공유 권역의 재난 정보 팝업 출력되지 않음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MPI-96267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BG로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반복변경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Delayed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MPI-95932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재난정보와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Tmoney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위젯 동시 출력 중 STR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그리팅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재난 정보 노티 팝업 잠깐 출력 후 자동 소거됨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MPI-95806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옵션 메뉴 내 재난 정보 메뉴 비활성화 상태에서 길게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비프음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채널 편집 화면 체크 해제된 목록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안됨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MPI-94994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MPI-94106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리스트에 없는 방송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MPI-93424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미니 플레이어는 BT 오디오 표시되고, DMB 사운드와 BT 오디오 사운드 동시에 출력됨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35698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MPI-93299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TCI-69608 DMB 수신감도 불량 이슈분석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177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MPI-89649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라디오 모드 (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FM모드전환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스테이션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DMB) 에서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AA모드로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전환됨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7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90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0EB2-D1E7-AD77-1D54-F2CEAC24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264CC-027A-783C-CD16-28467AE1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E79E46-2D92-4396-E216-86F94490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376ECB64-633D-F912-9CB4-638F1F7E8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91997"/>
              </p:ext>
            </p:extLst>
          </p:nvPr>
        </p:nvGraphicFramePr>
        <p:xfrm>
          <a:off x="575310" y="672556"/>
          <a:ext cx="8769985" cy="543349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MPI-90308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AppView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이동불가(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앱위치변경불가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u="non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MPI-90313</a:t>
                      </a:r>
                      <a:r>
                        <a:rPr lang="en-US" altLang="ko-KR" sz="1200" u="non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알림센터에서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재난 정보 알림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선택시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무반응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MPI-91275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서브화면에서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타앱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이동후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재진입시 간헐적으로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메인화면이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아닌 옵션표시 (1/10)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MPI-91809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편집된 리스트 출력되나 리스트에 없는 채널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MPI-91982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모비스 접속환경 및 계정, 보안관련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26-01-09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세트설치 및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DMB개발환경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세팅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방문하여 DMB 개발관련 장비사용법 인수인계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CCU/DCU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장비세팅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사용방법 숙지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261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26-04-30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02810"/>
                  </a:ext>
                </a:extLst>
              </a:tr>
              <a:tr h="1961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948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3499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4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250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3E167-419B-9B09-EC4C-58D283ED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E39C5-A9E2-2244-2127-DB30B077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en-US" altLang="ko-KR" dirty="0" err="1">
                <a:latin typeface="+mn-ea"/>
                <a:ea typeface="+mn-ea"/>
              </a:rPr>
              <a:t>MiniPlayer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9B7F5D-CBB0-E84A-A63D-E8BC6EC8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93BC8533-F068-7B4A-DC65-0976326D1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728109"/>
              </p:ext>
            </p:extLst>
          </p:nvPr>
        </p:nvGraphicFramePr>
        <p:xfrm>
          <a:off x="575310" y="860125"/>
          <a:ext cx="8769985" cy="483877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20">
                <a:tc rowSpan="3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미니플레이어 인수인계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769944"/>
                  </a:ext>
                </a:extLst>
              </a:tr>
              <a:tr h="33432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991513"/>
                  </a:ext>
                </a:extLst>
              </a:tr>
              <a:tr h="33432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1w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233482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01-27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672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TCI-72214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][MPI-95142]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marquee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specific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TCI-71923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[SyT2][DMB]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 //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Unreceived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non-media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TCI-76157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MPI-98184 손코딩으로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브랜치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전개하기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TCI-76364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-&gt; AM 모드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앨범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깜빡이지않게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TCI-75754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통화 중이 아닌데 "통화 중에는 사용할 수 없습니다. 통화 종료 후 사용해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주십시오."팝업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778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BD23-381E-2D6B-C822-0CD46FEB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D205D-C0B6-50DF-8C9A-500EF330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761571-6881-2AB5-6573-D74035DE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6997C4B-40D8-31A8-5003-04E53739B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385874"/>
              </p:ext>
            </p:extLst>
          </p:nvPr>
        </p:nvGraphicFramePr>
        <p:xfrm>
          <a:off x="575310" y="680719"/>
          <a:ext cx="8769985" cy="543071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872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112">
                <a:tc rowSpan="9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TCI-70562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[SWUPDATE][26년1차][PBV][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SW택시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연결후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CP화면에서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노래재생하고 지도 화면 천이시 상단에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바 미표시됨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104360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[MPI-94638]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미출력됨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entered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TCI-71735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[MPI-94573][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중동지역앱에서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통화중일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전화아이콘 반전 안됨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TCI-70745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MiniPlayerService와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AndroidMediaRepository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코드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MPI-92418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TCI-70725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MPI-91901 재현 시도([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카메라 화면에서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발신 후 종료 시 홈화면으로 튕기고 미니 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표시안됨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0053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3월 UX 사양서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79674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]홈화면에서 모드변경시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오동작/The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malfunctions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855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23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7422-8650-2AD7-6EC9-28F822D7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C45D7-72BF-F9FB-8267-3531B588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80462A-76D4-2327-7428-A1E14414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667FC53-BA8A-A9F5-210F-3064CEA44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324928"/>
              </p:ext>
            </p:extLst>
          </p:nvPr>
        </p:nvGraphicFramePr>
        <p:xfrm>
          <a:off x="575310" y="730427"/>
          <a:ext cx="8769985" cy="3887874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4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277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TCI-76609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미디어 재생 중 사용자 선택 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수신 &gt; 보류 &gt; 기존 사용자 로그인 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동시 출력됨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TCI-74998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AA음악재생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홈화면에서 미니플레이어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표시중e-Call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통화 연결/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미니플레이어 3번표시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MPI-96955 PBV IVI HMI 사양서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통합릴리즈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- 04월 (260422)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RadioNA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수신중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PS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Name이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788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F426-0EFE-A89E-15DF-BDEBBDC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673BA-D216-675F-F5C0-ACFEE278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C64E3-1D24-21B4-3DD3-88BF3B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2162CC4-7354-6CCF-B045-51004FE9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885155"/>
              </p:ext>
            </p:extLst>
          </p:nvPr>
        </p:nvGraphicFramePr>
        <p:xfrm>
          <a:off x="575310" y="966470"/>
          <a:ext cx="8769985" cy="539291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4129591717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477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706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TCI-76472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95098"/>
                  </a:ext>
                </a:extLst>
              </a:tr>
              <a:tr h="354409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MPI-92212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인수인계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612800"/>
                  </a:ext>
                </a:extLst>
              </a:tr>
              <a:tr h="35440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세트 설치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38736"/>
                  </a:ext>
                </a:extLst>
              </a:tr>
              <a:tr h="35440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3651"/>
                  </a:ext>
                </a:extLst>
              </a:tr>
              <a:tr h="35440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6907"/>
                  </a:ext>
                </a:extLst>
              </a:tr>
              <a:tr h="35440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테스트 환경 동일화를 위한 개발환경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재세팅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233291"/>
                  </a:ext>
                </a:extLst>
              </a:tr>
              <a:tr h="35440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TCI-72567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]3월 PBV UI 사양서 변경사항 검토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419335"/>
                  </a:ext>
                </a:extLst>
              </a:tr>
              <a:tr h="552692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TCI-71916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setup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Quite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커스텀키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작동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간헐적동작안됨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67186"/>
                  </a:ext>
                </a:extLst>
              </a:tr>
              <a:tr h="552692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게스트 프로필 초기화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Volume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초기화되지 않음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136052"/>
                  </a:ext>
                </a:extLst>
              </a:tr>
              <a:tr h="114753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구글 어시스턴트 실행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Google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Assistant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typing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back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731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7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40DB-5ECC-333D-F5DB-C7BBE68F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2C15D-0347-C317-DC38-2A00688F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16ED29-0E6F-635F-7B56-E9122CC1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EEBF6DA-D9D9-5715-8758-E177A84F3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92444"/>
              </p:ext>
            </p:extLst>
          </p:nvPr>
        </p:nvGraphicFramePr>
        <p:xfrm>
          <a:off x="575310" y="672556"/>
          <a:ext cx="8769985" cy="17196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TCI-72774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기기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페어링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비활성화 되지 않고 BT 연결 직전에 비활성화 후 활성화됨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dialogue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during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pairing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activated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after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immediately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before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connection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586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735719"/>
              </p:ext>
            </p:extLst>
          </p:nvPr>
        </p:nvGraphicFramePr>
        <p:xfrm>
          <a:off x="457629" y="1022625"/>
          <a:ext cx="8925359" cy="5317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4962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451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406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598976"/>
                  </a:ext>
                </a:extLst>
              </a:tr>
              <a:tr h="9461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81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50" baseline="0" dirty="0"/>
                        <a:t>PBV</a:t>
                      </a:r>
                    </a:p>
                    <a:p>
                      <a:pPr algn="ctr" latinLnBrk="1"/>
                      <a:r>
                        <a:rPr lang="en-US" altLang="ko-KR" sz="1400" spc="-50" baseline="0" dirty="0"/>
                        <a:t>IVI</a:t>
                      </a:r>
                      <a:endParaRPr lang="ko-KR" altLang="en-US" sz="1400" spc="-5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7.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653292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유지보수 일정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1490457" y="2320399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7E5189-CCC0-40DA-9BA7-BC925D6D1C38}"/>
              </a:ext>
            </a:extLst>
          </p:cNvPr>
          <p:cNvSpPr txBox="1"/>
          <p:nvPr/>
        </p:nvSpPr>
        <p:spPr>
          <a:xfrm>
            <a:off x="5336476" y="2359121"/>
            <a:ext cx="325978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050" b="1" dirty="0"/>
              <a:t>M+6</a:t>
            </a:r>
            <a:endParaRPr lang="ko-KR" altLang="en-US" sz="105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80F51E-A3B3-425C-AEEA-A42584C5DBF3}"/>
              </a:ext>
            </a:extLst>
          </p:cNvPr>
          <p:cNvSpPr txBox="1"/>
          <p:nvPr/>
        </p:nvSpPr>
        <p:spPr>
          <a:xfrm>
            <a:off x="5193808" y="2241232"/>
            <a:ext cx="61131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완료보고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C3B4EE9-A406-4EC5-BF11-D2E34AFDA1F2}"/>
              </a:ext>
            </a:extLst>
          </p:cNvPr>
          <p:cNvSpPr txBox="1"/>
          <p:nvPr/>
        </p:nvSpPr>
        <p:spPr>
          <a:xfrm>
            <a:off x="2076229" y="2898076"/>
            <a:ext cx="3175549" cy="230832"/>
          </a:xfrm>
          <a:prstGeom prst="rect">
            <a:avLst/>
          </a:prstGeom>
          <a:noFill/>
          <a:ln>
            <a:noFill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Radio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유지보수 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855A1-306A-4900-DE27-5E48BE24756A}"/>
              </a:ext>
            </a:extLst>
          </p:cNvPr>
          <p:cNvSpPr txBox="1"/>
          <p:nvPr/>
        </p:nvSpPr>
        <p:spPr>
          <a:xfrm>
            <a:off x="1912319" y="3764321"/>
            <a:ext cx="3504769" cy="2308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DMB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47D48-0D45-FBF7-996A-A0ACF032E08E}"/>
              </a:ext>
            </a:extLst>
          </p:cNvPr>
          <p:cNvSpPr txBox="1"/>
          <p:nvPr/>
        </p:nvSpPr>
        <p:spPr>
          <a:xfrm>
            <a:off x="1632250" y="5212473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rgbClr val="0070C0"/>
                </a:solidFill>
              </a:rPr>
              <a:t>RearCareMode</a:t>
            </a:r>
            <a:r>
              <a:rPr lang="ko-KR" altLang="en-US" sz="900" b="1" dirty="0">
                <a:solidFill>
                  <a:srgbClr val="0070C0"/>
                </a:solidFill>
              </a:rPr>
              <a:t> 유지보수 </a:t>
            </a:r>
            <a:r>
              <a:rPr lang="en-US" altLang="ko-KR" sz="900" b="1" dirty="0">
                <a:solidFill>
                  <a:srgbClr val="0070C0"/>
                </a:solidFill>
              </a:rPr>
              <a:t>(</a:t>
            </a:r>
            <a:r>
              <a:rPr lang="ko-KR" altLang="en-US" sz="900" b="1" dirty="0">
                <a:solidFill>
                  <a:srgbClr val="0070C0"/>
                </a:solidFill>
              </a:rPr>
              <a:t>기능변경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수정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예외상황 예방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처리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성능육성</a:t>
            </a:r>
            <a:r>
              <a:rPr lang="en-US" altLang="ko-KR" sz="900" b="1" dirty="0">
                <a:solidFill>
                  <a:srgbClr val="0070C0"/>
                </a:solidFill>
              </a:rPr>
              <a:t>) </a:t>
            </a:r>
            <a:endParaRPr lang="ko-KR" altLang="en-US" sz="900" b="1" dirty="0">
              <a:solidFill>
                <a:srgbClr val="0070C0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16AD5B-A9A5-229C-6B08-469196B9DEC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543800" y="3189367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220C664-1447-173E-6145-40CBCD6106D5}"/>
              </a:ext>
            </a:extLst>
          </p:cNvPr>
          <p:cNvSpPr/>
          <p:nvPr/>
        </p:nvSpPr>
        <p:spPr>
          <a:xfrm rot="5400000">
            <a:off x="1471756" y="3182082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14D4D28E-EDE5-082D-F7BF-C1794756FC88}"/>
              </a:ext>
            </a:extLst>
          </p:cNvPr>
          <p:cNvSpPr/>
          <p:nvPr/>
        </p:nvSpPr>
        <p:spPr>
          <a:xfrm rot="16200000">
            <a:off x="5362203" y="3168580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E9E7526-36F7-BC50-50EE-4FCFF7F1BEC1}"/>
              </a:ext>
            </a:extLst>
          </p:cNvPr>
          <p:cNvGrpSpPr/>
          <p:nvPr/>
        </p:nvGrpSpPr>
        <p:grpSpPr>
          <a:xfrm>
            <a:off x="1497617" y="2573683"/>
            <a:ext cx="4001849" cy="160507"/>
            <a:chOff x="1806388" y="2050604"/>
            <a:chExt cx="3693078" cy="135072"/>
          </a:xfrm>
        </p:grpSpPr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9A3C3C24-7A5A-4B4D-A9DA-80019F70FCF7}"/>
                </a:ext>
              </a:extLst>
            </p:cNvPr>
            <p:cNvCxnSpPr>
              <a:cxnSpLocks/>
            </p:cNvCxnSpPr>
            <p:nvPr/>
          </p:nvCxnSpPr>
          <p:spPr>
            <a:xfrm>
              <a:off x="1835206" y="2122197"/>
              <a:ext cx="3580856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88AB993D-8034-44C5-BEA1-58D4594B1B01}"/>
                </a:ext>
              </a:extLst>
            </p:cNvPr>
            <p:cNvSpPr/>
            <p:nvPr/>
          </p:nvSpPr>
          <p:spPr>
            <a:xfrm>
              <a:off x="5369029" y="2058718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11F6B90-1539-189B-3CD9-43443473BA4C}"/>
                </a:ext>
              </a:extLst>
            </p:cNvPr>
            <p:cNvSpPr/>
            <p:nvPr/>
          </p:nvSpPr>
          <p:spPr>
            <a:xfrm>
              <a:off x="1806388" y="2050604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91CAAD8-930B-13CD-435A-0DD0932AD18D}"/>
              </a:ext>
            </a:extLst>
          </p:cNvPr>
          <p:cNvCxnSpPr>
            <a:cxnSpLocks/>
          </p:cNvCxnSpPr>
          <p:nvPr/>
        </p:nvCxnSpPr>
        <p:spPr>
          <a:xfrm flipH="1">
            <a:off x="1543800" y="4054759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4E00658D-344A-F14E-2B14-933D186CF6C2}"/>
              </a:ext>
            </a:extLst>
          </p:cNvPr>
          <p:cNvSpPr/>
          <p:nvPr/>
        </p:nvSpPr>
        <p:spPr>
          <a:xfrm rot="5400000">
            <a:off x="1463129" y="4047474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B4DF110-DEB3-2F77-234F-E81499C4C5BA}"/>
              </a:ext>
            </a:extLst>
          </p:cNvPr>
          <p:cNvSpPr/>
          <p:nvPr/>
        </p:nvSpPr>
        <p:spPr>
          <a:xfrm rot="16200000">
            <a:off x="5362203" y="4033972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7DF7E5F-EAA5-D545-151E-7BC8CEAACEB1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552436" y="5513445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rgbClr val="197EC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7DE43463-309A-B2C9-EF63-0AFC0CA6E135}"/>
              </a:ext>
            </a:extLst>
          </p:cNvPr>
          <p:cNvSpPr/>
          <p:nvPr/>
        </p:nvSpPr>
        <p:spPr>
          <a:xfrm rot="5400000">
            <a:off x="1480392" y="5506160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5E79B03E-0F3B-8700-98EE-91E359CFFEBB}"/>
              </a:ext>
            </a:extLst>
          </p:cNvPr>
          <p:cNvSpPr/>
          <p:nvPr/>
        </p:nvSpPr>
        <p:spPr>
          <a:xfrm rot="16200000">
            <a:off x="5362203" y="5492658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50867-6752-ECD5-D411-B1CFFDC7236A}"/>
              </a:ext>
            </a:extLst>
          </p:cNvPr>
          <p:cNvSpPr txBox="1"/>
          <p:nvPr/>
        </p:nvSpPr>
        <p:spPr>
          <a:xfrm>
            <a:off x="1578324" y="4505848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chemeClr val="accent4">
                    <a:lumMod val="50000"/>
                  </a:schemeClr>
                </a:solidFill>
              </a:rPr>
              <a:t>MiniPlayer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140D5FF-2414-3C10-5A1B-C137DCA1C78A}"/>
              </a:ext>
            </a:extLst>
          </p:cNvPr>
          <p:cNvCxnSpPr>
            <a:cxnSpLocks/>
          </p:cNvCxnSpPr>
          <p:nvPr/>
        </p:nvCxnSpPr>
        <p:spPr>
          <a:xfrm flipH="1">
            <a:off x="1525022" y="4862108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3FDEF1EF-E4C0-6BBF-C18F-E623567FC829}"/>
              </a:ext>
            </a:extLst>
          </p:cNvPr>
          <p:cNvSpPr/>
          <p:nvPr/>
        </p:nvSpPr>
        <p:spPr>
          <a:xfrm rot="5400000">
            <a:off x="1480392" y="4854823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0C4483FA-9ACF-8DE4-68E0-E81C51C607BC}"/>
              </a:ext>
            </a:extLst>
          </p:cNvPr>
          <p:cNvSpPr/>
          <p:nvPr/>
        </p:nvSpPr>
        <p:spPr>
          <a:xfrm rot="16200000">
            <a:off x="5362203" y="4843330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최종개발 산출물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423525" cy="244608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55994"/>
              </p:ext>
            </p:extLst>
          </p:nvPr>
        </p:nvGraphicFramePr>
        <p:xfrm>
          <a:off x="408373" y="1168372"/>
          <a:ext cx="9086377" cy="53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617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59037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354625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681722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2137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536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10200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개발 내역 및 산출물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소스 코드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검증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QAC /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CodeSonar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74225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바이너리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platform.vendor.mobis.packages.apps.radio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Bitbucket</a:t>
                      </a: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DMB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platform.vendor.mobis.packages.apps.DMB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platform.vendor.mobis.packages.apps.MiniPlayer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4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RearCare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platform.vendor.mobis.packages.apps.RearCareMode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5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9-1.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계약공수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B1DF5-25DC-3317-FD0B-76C1E2E69A7C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6E68C4-4E57-164B-5583-2F1A4E143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236037"/>
              </p:ext>
            </p:extLst>
          </p:nvPr>
        </p:nvGraphicFramePr>
        <p:xfrm>
          <a:off x="528199" y="1044734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21FC-67FB-27D3-8C14-EA491680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63FB-3F0D-D94C-981D-4F205E70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9-2.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실제투입공수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8C3F7-8A82-9C85-3E86-42E2AE96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ADC1-A20B-C593-354E-9FD1C1777C3F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</a:t>
            </a:r>
            <a:r>
              <a:rPr lang="en-US" altLang="ko-KR" sz="1600" dirty="0">
                <a:solidFill>
                  <a:srgbClr val="0066FF"/>
                </a:solidFill>
                <a:latin typeface="+mn-ea"/>
              </a:rPr>
              <a:t>2026.06.5</a:t>
            </a:r>
            <a:r>
              <a:rPr lang="en-US" altLang="ko-KR" sz="1600" dirty="0">
                <a:latin typeface="+mn-ea"/>
              </a:rPr>
              <a:t>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6ADF0C-5CC5-E011-5595-231CDF7E5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485165"/>
              </p:ext>
            </p:extLst>
          </p:nvPr>
        </p:nvGraphicFramePr>
        <p:xfrm>
          <a:off x="528199" y="1062095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rgbClr val="0066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FF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2.23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0.55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0.58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66FF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2.77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1.92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1.39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1.39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RearCareMode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rgbClr val="0066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solidFill>
                          <a:srgbClr val="0066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solidFill>
                          <a:srgbClr val="0066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FF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FF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4.87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0.78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FF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2.48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2.59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2.18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2.09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solidFill>
                          <a:srgbClr val="0066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12.41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279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BC05C24-A9C8-4DB8-81A2-0F8E5804F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직사각형 2">
            <a:hlinkClick r:id="rId4"/>
          </p:cNvPr>
          <p:cNvSpPr/>
          <p:nvPr/>
        </p:nvSpPr>
        <p:spPr>
          <a:xfrm>
            <a:off x="8486261" y="6306085"/>
            <a:ext cx="1160929" cy="151425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4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36275D-A649-4F89-A345-2743868096BA}"/>
              </a:ext>
            </a:extLst>
          </p:cNvPr>
          <p:cNvSpPr/>
          <p:nvPr/>
        </p:nvSpPr>
        <p:spPr>
          <a:xfrm>
            <a:off x="0" y="5862"/>
            <a:ext cx="9906000" cy="6858000"/>
          </a:xfrm>
          <a:prstGeom prst="rect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63543" y="2646681"/>
            <a:ext cx="4038012" cy="12618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감사합니다</a:t>
            </a:r>
            <a:endParaRPr lang="en-US" altLang="ko-KR" sz="60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0C7DF-13B7-4D34-AE1A-C7CCF9C594FA}"/>
              </a:ext>
            </a:extLst>
          </p:cNvPr>
          <p:cNvSpPr txBox="1"/>
          <p:nvPr/>
        </p:nvSpPr>
        <p:spPr>
          <a:xfrm>
            <a:off x="7612208" y="6128968"/>
            <a:ext cx="2287806" cy="57541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5">
                    <a:lumMod val="50000"/>
                  </a:schemeClr>
                </a:solidFill>
              </a:rPr>
              <a:t>㈜</a:t>
            </a:r>
            <a:r>
              <a:rPr lang="ko-KR" altLang="en-US" sz="2000" b="1" dirty="0">
                <a:solidFill>
                  <a:schemeClr val="accent5">
                    <a:lumMod val="50000"/>
                  </a:schemeClr>
                </a:solidFill>
              </a:rPr>
              <a:t>투비원솔루션즈</a:t>
            </a:r>
            <a:endParaRPr lang="ko-KR" altLang="en-US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99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20463</TotalTime>
  <Words>4116</Words>
  <Application>Microsoft Office PowerPoint</Application>
  <PresentationFormat>A4 용지(210x297mm)</PresentationFormat>
  <Paragraphs>1193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Noto Sans CJK KR</vt:lpstr>
      <vt:lpstr>굴림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3. 유지보수 업무 절차</vt:lpstr>
      <vt:lpstr>4. 월별 유지 보수 현황</vt:lpstr>
      <vt:lpstr>5. 유지보수 요청사항 처리</vt:lpstr>
      <vt:lpstr>5. 유지보수 요청사항 처리</vt:lpstr>
      <vt:lpstr>6. 유지보수 내역(Radio)</vt:lpstr>
      <vt:lpstr>6. 유지보수 내역(Radio)</vt:lpstr>
      <vt:lpstr>6. 유지보수 내역(Radio)</vt:lpstr>
      <vt:lpstr>6. 유지보수 내역(DMB)</vt:lpstr>
      <vt:lpstr>6. 유지보수 내역(DMB)</vt:lpstr>
      <vt:lpstr>6. 유지보수 내역(DMB)</vt:lpstr>
      <vt:lpstr>6. 유지보수 내역(MiniPlayer)</vt:lpstr>
      <vt:lpstr>6. 유지보수 내역(MiniPlayer)</vt:lpstr>
      <vt:lpstr>6. 유지보수 내역(MiniPlayer)</vt:lpstr>
      <vt:lpstr>6. 유지보수 내역(RearCareMode)</vt:lpstr>
      <vt:lpstr>6. 유지보수 내역(RearCareMode)</vt:lpstr>
      <vt:lpstr>7. 용역 일정</vt:lpstr>
      <vt:lpstr>8. 최종개발 산출물</vt:lpstr>
      <vt:lpstr>9-1. 인력 투입(계약공수)</vt:lpstr>
      <vt:lpstr>9-2. 인력 투입(실제투입공수)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572</cp:revision>
  <cp:lastPrinted>2018-07-16T02:44:16Z</cp:lastPrinted>
  <dcterms:created xsi:type="dcterms:W3CDTF">2017-09-07T02:36:35Z</dcterms:created>
  <dcterms:modified xsi:type="dcterms:W3CDTF">2026-06-09T04:42:19Z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0bc021-0c43-4029-a072-964d39f3070b_Enabled">
    <vt:lpwstr>true</vt:lpwstr>
  </property>
  <property fmtid="{D5CDD505-2E9C-101B-9397-08002B2CF9AE}" pid="3" name="MSIP_Label_cd0bc021-0c43-4029-a072-964d39f3070b_SetDate">
    <vt:lpwstr>2022-09-05T07:40:19Z</vt:lpwstr>
  </property>
  <property fmtid="{D5CDD505-2E9C-101B-9397-08002B2CF9AE}" pid="4" name="MSIP_Label_cd0bc021-0c43-4029-a072-964d39f3070b_Method">
    <vt:lpwstr>Privileged</vt:lpwstr>
  </property>
  <property fmtid="{D5CDD505-2E9C-101B-9397-08002B2CF9AE}" pid="5" name="MSIP_Label_cd0bc021-0c43-4029-a072-964d39f3070b_Name">
    <vt:lpwstr>일반(General)</vt:lpwstr>
  </property>
  <property fmtid="{D5CDD505-2E9C-101B-9397-08002B2CF9AE}" pid="6" name="MSIP_Label_cd0bc021-0c43-4029-a072-964d39f3070b_SiteId">
    <vt:lpwstr>7cf932c0-bced-4490-b11f-48d23b1fe0d9</vt:lpwstr>
  </property>
  <property fmtid="{D5CDD505-2E9C-101B-9397-08002B2CF9AE}" pid="7" name="MSIP_Label_cd0bc021-0c43-4029-a072-964d39f3070b_ActionId">
    <vt:lpwstr>5341107d-1e13-4f28-9255-ed4bbdf875f1</vt:lpwstr>
  </property>
  <property fmtid="{D5CDD505-2E9C-101B-9397-08002B2CF9AE}" pid="8" name="MSIP_Label_cd0bc021-0c43-4029-a072-964d39f3070b_ContentBits">
    <vt:lpwstr>0</vt:lpwstr>
  </property>
</Properties>
</file>