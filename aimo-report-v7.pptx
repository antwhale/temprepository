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7F_DA6EA4BB.xml" ContentType="application/vnd.ms-powerpoint.comments+xml"/>
  <Override PartName="/ppt/notesSlides/notesSlide20.xml" ContentType="application/vnd.openxmlformats-officedocument.presentationml.notesSlide+xml"/>
  <Override PartName="/ppt/comments/modernComment_180_55881110.xml" ContentType="application/vnd.ms-powerpoint.comments+xml"/>
  <Override PartName="/ppt/notesSlides/notesSlide21.xml" ContentType="application/vnd.openxmlformats-officedocument.presentationml.notesSlide+xml"/>
  <Override PartName="/ppt/comments/modernComment_181_5C14CBAB.xml" ContentType="application/vnd.ms-powerpoint.comments+xml"/>
  <Override PartName="/ppt/notesSlides/notesSlide22.xml" ContentType="application/vnd.openxmlformats-officedocument.presentationml.notesSlide+xml"/>
  <Override PartName="/ppt/comments/modernComment_18E_A687288C.xml" ContentType="application/vnd.ms-powerpoint.comments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29"/>
  </p:notesMasterIdLst>
  <p:sldIdLst>
    <p:sldId id="343" r:id="rId4"/>
    <p:sldId id="362" r:id="rId5"/>
    <p:sldId id="366" r:id="rId6"/>
    <p:sldId id="402" r:id="rId7"/>
    <p:sldId id="406" r:id="rId8"/>
    <p:sldId id="421" r:id="rId9"/>
    <p:sldId id="356" r:id="rId10"/>
    <p:sldId id="408" r:id="rId11"/>
    <p:sldId id="371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3" r:id="rId22"/>
    <p:sldId id="435" r:id="rId23"/>
    <p:sldId id="383" r:id="rId24"/>
    <p:sldId id="384" r:id="rId25"/>
    <p:sldId id="385" r:id="rId26"/>
    <p:sldId id="398" r:id="rId27"/>
    <p:sldId id="377" r:id="rId28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60EE6F-D1BB-BFC8-5997-CADFF937DA3D}" name="부재식 (주)투비원솔루션즈" initials="부" userId="S::DT100107@mobis-partners.com::2cee1a69-12f7-4123-b1f3-e7a359e42a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333399"/>
    <a:srgbClr val="4D81C2"/>
    <a:srgbClr val="FFB9B9"/>
    <a:srgbClr val="FFF3F3"/>
    <a:srgbClr val="FFEFEF"/>
    <a:srgbClr val="FFFFFF"/>
    <a:srgbClr val="03A8DD"/>
    <a:srgbClr val="E2E2F6"/>
    <a:srgbClr val="000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0A5CF-2F28-4699-9F6A-8196FAC5FF78}" v="3" dt="2026-08-24T14:39:49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7" autoAdjust="0"/>
    <p:restoredTop sz="85000" autoAdjust="0"/>
  </p:normalViewPr>
  <p:slideViewPr>
    <p:cSldViewPr>
      <p:cViewPr varScale="1">
        <p:scale>
          <a:sx n="95" d="100"/>
          <a:sy n="95" d="100"/>
        </p:scale>
        <p:origin x="3906" y="78"/>
      </p:cViewPr>
      <p:guideLst>
        <p:guide orient="horz" pos="2160"/>
        <p:guide pos="1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won Huh" userId="34d22f93e86bfd1d" providerId="LiveId" clId="{5A6F4489-5CD7-42EC-B516-FDCFC204B50B}"/>
    <pc:docChg chg="custSel modSld">
      <pc:chgData name="Kwon Huh" userId="34d22f93e86bfd1d" providerId="LiveId" clId="{5A6F4489-5CD7-42EC-B516-FDCFC204B50B}" dt="2026-08-25T04:59:15.384" v="2" actId="207"/>
      <pc:docMkLst>
        <pc:docMk/>
      </pc:docMkLst>
      <pc:sldChg chg="modSp mod">
        <pc:chgData name="Kwon Huh" userId="34d22f93e86bfd1d" providerId="LiveId" clId="{5A6F4489-5CD7-42EC-B516-FDCFC204B50B}" dt="2026-08-25T04:59:15.384" v="2" actId="207"/>
        <pc:sldMkLst>
          <pc:docMk/>
          <pc:sldMk cId="4147288967" sldId="406"/>
        </pc:sldMkLst>
        <pc:spChg chg="mod">
          <ac:chgData name="Kwon Huh" userId="34d22f93e86bfd1d" providerId="LiveId" clId="{5A6F4489-5CD7-42EC-B516-FDCFC204B50B}" dt="2026-08-25T04:59:15.384" v="2" actId="207"/>
          <ac:spMkLst>
            <pc:docMk/>
            <pc:sldMk cId="4147288967" sldId="406"/>
            <ac:spMk id="28" creationId="{8DF34EA7-E8C9-13FE-1DB5-5920F40FFCB8}"/>
          </ac:spMkLst>
        </pc:spChg>
      </pc:sldChg>
      <pc:sldChg chg="modSp mod">
        <pc:chgData name="Kwon Huh" userId="34d22f93e86bfd1d" providerId="LiveId" clId="{5A6F4489-5CD7-42EC-B516-FDCFC204B50B}" dt="2026-08-25T04:59:11.536" v="1" actId="207"/>
        <pc:sldMkLst>
          <pc:docMk/>
          <pc:sldMk cId="1345936808" sldId="421"/>
        </pc:sldMkLst>
        <pc:spChg chg="mod">
          <ac:chgData name="Kwon Huh" userId="34d22f93e86bfd1d" providerId="LiveId" clId="{5A6F4489-5CD7-42EC-B516-FDCFC204B50B}" dt="2026-08-25T04:59:09.045" v="0" actId="207"/>
          <ac:spMkLst>
            <pc:docMk/>
            <pc:sldMk cId="1345936808" sldId="421"/>
            <ac:spMk id="8200" creationId="{83531854-E916-2BB0-A6AB-881F1724A97A}"/>
          </ac:spMkLst>
        </pc:spChg>
        <pc:graphicFrameChg chg="modGraphic">
          <ac:chgData name="Kwon Huh" userId="34d22f93e86bfd1d" providerId="LiveId" clId="{5A6F4489-5CD7-42EC-B516-FDCFC204B50B}" dt="2026-08-25T04:59:11.536" v="1" actId="207"/>
          <ac:graphicFrameMkLst>
            <pc:docMk/>
            <pc:sldMk cId="1345936808" sldId="421"/>
            <ac:graphicFrameMk id="20" creationId="{7F1D5E0A-2312-E2D3-948F-65ECB31E6A94}"/>
          </ac:graphicFrameMkLst>
        </pc:graphicFrameChg>
      </pc:sldChg>
    </pc:docChg>
  </pc:docChgLst>
</pc:chgInfo>
</file>

<file path=ppt/comments/modernComment_17F_DA6EA4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6B22E4-A636-477A-ACDA-A30EC8DBB07A}" authorId="{9460EE6F-D1BB-BFC8-5997-CADFF937DA3D}" created="2026-08-20T10:04:27.895">
    <pc:sldMkLst xmlns:pc="http://schemas.microsoft.com/office/powerpoint/2013/main/command">
      <pc:docMk/>
      <pc:sldMk cId="3664684219" sldId="383"/>
    </pc:sldMkLst>
    <p188:txBody>
      <a:bodyPr/>
      <a:lstStyle/>
      <a:p>
        <a:r>
          <a:rPr lang="ko-KR" altLang="en-US"/>
          <a:t>온디바이스 LLM 모델이나 Cloud LLM 모델의 답변 생성 과정을 보여주는 보이스 크롬 개발 화면입니다.
로티 이미지를 활용하여 애니메이션 효과를 추가하였습니다.</a:t>
        </a:r>
      </a:p>
    </p188:txBody>
  </p188:cm>
</p188:cmLst>
</file>

<file path=ppt/comments/modernComment_18E_A68728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76B425-4027-4015-8B05-53E53366CBFD}" authorId="{9460EE6F-D1BB-BFC8-5997-CADFF937DA3D}" created="2026-08-20T10:06:07.249">
    <pc:sldMkLst xmlns:pc="http://schemas.microsoft.com/office/powerpoint/2013/main/command">
      <pc:docMk/>
      <pc:sldMk cId="2793875596" sldId="398"/>
    </pc:sldMkLst>
    <p188:txBody>
      <a:bodyPr/>
      <a:lstStyle/>
      <a:p>
        <a:r>
          <a:rPr lang="ko-KR" altLang="en-US"/>
          <a:t>LIVE AI DJ에서 플레이리스트를 추천하는 화면입니다.</a:t>
        </a:r>
      </a:p>
    </p188:txBody>
  </p188:cm>
</p188:cmLst>
</file>

<file path=ppt/comments/modernComment_180_558811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8B5324-EF4D-4266-887B-70BCFFF63E64}" authorId="{9460EE6F-D1BB-BFC8-5997-CADFF937DA3D}" created="2026-08-20T10:05:22.071">
    <pc:sldMkLst xmlns:pc="http://schemas.microsoft.com/office/powerpoint/2013/main/command">
      <pc:docMk/>
      <pc:sldMk cId="1434980624" sldId="384"/>
    </pc:sldMkLst>
    <p188:txBody>
      <a:bodyPr/>
      <a:lstStyle/>
      <a:p>
        <a:r>
          <a:rPr lang="ko-KR" altLang="en-US"/>
          <a:t>Vehicle Q&amp;A 서비스에서 답변을 보여주는 화면입니다</a:t>
        </a:r>
      </a:p>
    </p188:txBody>
  </p188:cm>
</p188:cmLst>
</file>

<file path=ppt/comments/modernComment_181_5C14CB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C3E1F5-50F8-451D-BD35-6C24FA3DB45D}" authorId="{9460EE6F-D1BB-BFC8-5997-CADFF937DA3D}" created="2026-08-20T10:05:45.594">
    <pc:sldMkLst xmlns:pc="http://schemas.microsoft.com/office/powerpoint/2013/main/command">
      <pc:docMk/>
      <pc:sldMk cId="1544866731" sldId="385"/>
    </pc:sldMkLst>
    <p188:txBody>
      <a:bodyPr/>
      <a:lstStyle/>
      <a:p>
        <a:r>
          <a:rPr lang="ko-KR" altLang="en-US"/>
          <a:t>Vehicle Control 에서 차량 제어를 완료한 후의 화면입니다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E780-1DD3-4DD5-8E26-0AE60D29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9A3AB82-6393-A439-68F1-6934B1F3D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7FE1217-620A-49D5-10A0-9CC09989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0CD56EE-722A-BDF0-F240-937CF9CB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25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F224-A804-C6D1-2CB3-4BD01775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3D57DDB-CC38-727F-D3D4-C58100510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199A994-7CDD-B1CB-A6A7-9BD971F9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0F9D11-CECB-AECB-B47F-E6178A738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4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A4F1-2DEB-CB45-3429-41BA9B56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952D2F5-CFBA-FFA1-156B-7A66E82C5E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E0D46A-DB27-A1D3-920A-4D8E8910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이번 장은 LIVE AI DJ 기능의 개발 범위와 단계별 수행 내용입니다.</a:t>
            </a:r>
          </a:p>
          <a:p>
            <a:pPr>
              <a:buNone/>
            </a:pPr>
            <a:r>
              <a:rPr lang="ko-KR" altLang="en-US" dirty="0"/>
              <a:t>LIVE AI DJ는 차량에서 사용자의 취향에 맞춘 음악을 추천하고, DJ처럼 곡을 소개해 주는 기능으로, 개발은 크게 세 단계로 진행됩니다.</a:t>
            </a:r>
          </a:p>
          <a:p>
            <a:pPr>
              <a:buNone/>
            </a:pPr>
            <a:r>
              <a:rPr lang="ko-KR" altLang="en-US" dirty="0"/>
              <a:t>첫째, 설계 단계에서는 가사 조회 서비스와 AIDL 기반 개인화 DB를 설계·개발하고 UI/UX를 함께 제공합니다.</a:t>
            </a:r>
          </a:p>
          <a:p>
            <a:pPr>
              <a:buNone/>
            </a:pPr>
            <a:r>
              <a:rPr lang="ko-KR" altLang="en-US" dirty="0"/>
              <a:t>둘째, 구현 단계에서는 가사 조회 기능과 UI/UX를 구현하고, 개인화 DB 연결 및 조회, 클라우드 LLM API를 활용한 MusicRouter 기능, 타 앱 간 데이터 공유 인터페이스를 개발합니다. 앱 성능을 위한 LLM 모델 최적화도 이 단계에서 진행합니다.</a:t>
            </a:r>
          </a:p>
          <a:p>
            <a:pPr>
              <a:buNone/>
            </a:pPr>
            <a:r>
              <a:rPr lang="ko-KR" altLang="en-US" dirty="0"/>
              <a:t>마지막 검수 단계에서는 전체 기능 체크리스트 기반 통합 테스트와 실제 차량·타 앱 연동 엔드투엔드 검수를 수행하고, 릴리스 노트와 소스 코드, 학습 데이터를 포함한 문서 패키지를 제출합니다.</a:t>
            </a:r>
          </a:p>
          <a:p>
            <a:pPr>
              <a:buNone/>
            </a:pPr>
            <a:r>
              <a:rPr lang="ko-KR" altLang="en-US" dirty="0"/>
              <a:t>이후 모비스 검수 피드백을 반영해 최종본을 확정·이관하고, 온디바이스 실행 환경의 성능 튜닝까지 완료하는 것으로 마무리됩니다.</a:t>
            </a: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E29E4E7-D0B4-DAC5-7BD2-EB1AA256A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33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8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C831-4B1B-2B65-75D2-4DED10A1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E277689-6C18-2781-52C5-64894D724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C91523-C05C-5713-860E-24CB9945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56B7005-72B6-AF62-318D-8EDBA99B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9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046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9D51-452C-D520-DAE2-1CB2EF4E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BC932B00-B44D-1BE6-B012-27C7DE9C2A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B862A8C-72DA-9C76-648B-C1F6438F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AI Agent를 구성하는 모듈 간 전체 연동 관계입니다.</a:t>
            </a:r>
          </a:p>
          <a:p>
            <a:pPr>
              <a:buNone/>
            </a:pPr>
            <a:r>
              <a:rPr lang="ko-KR" altLang="en-US" dirty="0"/>
              <a:t>사용자가 음성으로 질의하면 Mobis STT가 이를 텍스트로 변환해 전달합니다.</a:t>
            </a:r>
          </a:p>
          <a:p>
            <a:pPr>
              <a:buNone/>
            </a:pPr>
            <a:r>
              <a:rPr lang="ko-KR" altLang="en-US" dirty="0"/>
              <a:t>핵심은 Orchestrator입니다. Semantic Router 역할을 하며, 질문의 맥락을 판단해 온디바이스 LLM으로 답할지 클라우드 LLM으로 넘길지를 결정합니다. 차량 관련 질문은 온디바이스에서, 그 외 질문은 OpenAI·Gemini·Claude를 활용해 처리하며, 차량 제어 요청의 실행도 Orchestrator가 담당합니다.</a:t>
            </a:r>
          </a:p>
          <a:p>
            <a:pPr>
              <a:buNone/>
            </a:pPr>
            <a:r>
              <a:rPr lang="ko-KR" altLang="en-US" dirty="0"/>
              <a:t>외부 연동으로는 Open Weather가 현재 날씨와 예보를 제공하고, 장소 API가 geocoding으로 위치 기반 질의를 처리합니다. 음악 요청은 Live AI DJ가 개인화 DB의 청취 이력을 참고해 추천 곡을 제공합니다.</a:t>
            </a:r>
          </a:p>
          <a:p>
            <a:pPr>
              <a:buNone/>
            </a:pPr>
            <a:r>
              <a:rPr lang="ko-KR" altLang="en-US" dirty="0"/>
              <a:t>생성된 답변은 TTS로 음성 전달됩니다. 정리하면, 차량 도메인은 온디바이스에서 안전하게, 그 외는 외부 API와 연동해 정확도와 확장성을 함께 확보한 구조입니다.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EE457877-DE58-3302-3F8B-B9FFDE40B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10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3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9EAB-6F7B-6771-955C-7F8280E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C51ED13-5455-0FA9-3E74-C7F3760B3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604881-F69A-CC01-0CCA-D7605F6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Q&amp;A, 즉 차량 질의응답의 처리 흐름도입니다.</a:t>
            </a:r>
          </a:p>
          <a:p>
            <a:pPr>
              <a:buNone/>
            </a:pPr>
            <a:r>
              <a:rPr lang="ko-KR" altLang="en-US" dirty="0"/>
              <a:t>사용자 질의가 입력되면 먼저 Orchestrator가 질문을 분석합니다.</a:t>
            </a:r>
          </a:p>
          <a:p>
            <a:pPr>
              <a:buNone/>
            </a:pPr>
            <a:r>
              <a:rPr lang="ko-KR" altLang="en-US" dirty="0"/>
              <a:t>차량과 관련된 질문이면 Orchestrator 내부의 RAG Service와 GPT Service를 통해 답변을 생성해 전달합니다.</a:t>
            </a:r>
          </a:p>
          <a:p>
            <a:pPr>
              <a:buNone/>
            </a:pPr>
            <a:r>
              <a:rPr lang="ko-KR" altLang="en-US" dirty="0"/>
              <a:t>차량 답변은 두 가지 유형으로 나뉩니다. 일반형은 이미지와 텍스트 스트리밍으로 구성되고, 절차형은 단계별로 이미지와 텍스트를 순차 전달해 사용자가 조작 순서를 따라갈 수 있게 합니다.</a:t>
            </a:r>
          </a:p>
          <a:p>
            <a:pPr>
              <a:buNone/>
            </a:pPr>
            <a:r>
              <a:rPr lang="ko-KR" altLang="en-US" dirty="0"/>
              <a:t>차량과 관련 없는 질문이면 Orchestrator가 NO_AGENT를 반환하고, 클라우드 LLM이 답변을 생성합니다.</a:t>
            </a:r>
          </a:p>
          <a:p>
            <a:pPr>
              <a:buNone/>
            </a:pPr>
            <a:r>
              <a:rPr lang="ko-KR" altLang="en-US" dirty="0"/>
              <a:t>이렇게 차량 도메인은 온디바이스에서 안전하게 처리하고, 그 외 정보는 외부 API와 연동함으로써 정확도와 확장성을 동시에 확보했습니다.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404A1DA-CE1A-C47F-9EA8-8AEB1FE2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11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0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843B-35FC-6F05-0785-E1A5D4F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1627752-DB90-694E-4245-C7A63BA0B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D79C3F06-14E8-97FA-E984-DA041D0D8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Control, 즉 차량 제어의 처리 흐름도입니다.</a:t>
            </a:r>
          </a:p>
          <a:p>
            <a:pPr>
              <a:buNone/>
            </a:pPr>
            <a:r>
              <a:rPr lang="ko-KR" altLang="en-US" dirty="0"/>
              <a:t>사용자의 요청이 입력되면 Orchestrator가 요청을 분석합니다.</a:t>
            </a:r>
          </a:p>
          <a:p>
            <a:pPr>
              <a:buNone/>
            </a:pPr>
            <a:r>
              <a:rPr lang="ko-KR" altLang="en-US" dirty="0"/>
              <a:t>요청이 현재 지원하는 차량 제어 목록에 해당하면 AIDL 서비스를 통해 차량을 제어합니다. AIDL은 안드로이드의 프로세스 간 통신 인터페이스로, 앱이 차량 제어 권한을 가진 시스템 서비스를 호출하는 통로 역할을 합니다.</a:t>
            </a:r>
          </a:p>
          <a:p>
            <a:pPr>
              <a:buNone/>
            </a:pPr>
            <a:r>
              <a:rPr lang="ko-KR" altLang="en-US" dirty="0"/>
              <a:t>현재 지원하는 제어 항목은 볼륨, 온도, 밝기 세 가지입니다. 이 가운데 온도 제어는 타겟 디바이스의 초기 스크립트 설정이 선행되어야 동작합니다.</a:t>
            </a:r>
          </a:p>
          <a:p>
            <a:pPr>
              <a:buNone/>
            </a:pPr>
            <a:r>
              <a:rPr lang="ko-KR" altLang="en-US" dirty="0"/>
              <a:t>차량 제어가 완료되면 Orchestrator가 제어 완료 문구를 생성해 사용자에게 전달합니다.</a:t>
            </a:r>
          </a:p>
          <a:p>
            <a:pPr>
              <a:buNone/>
            </a:pPr>
            <a:r>
              <a:rPr lang="ko-KR" altLang="en-US" dirty="0"/>
              <a:t>제어 대상은 향후 확장이 가능한 구조이며, 지원 목록에 없는 요청은 클라우드 답변 경로로 넘어갑니다.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8642D9F-3248-0603-4CF8-7D961A41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673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54CD-4AC9-8732-AECE-A3CA306E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3AC619E4-C310-127C-190A-E010E1A6E7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09B4DCB-AC81-BEF4-9464-4B907A81A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Live AI DJ의 처리 흐름도입니다.</a:t>
            </a:r>
          </a:p>
          <a:p>
            <a:pPr>
              <a:buNone/>
            </a:pPr>
            <a:r>
              <a:rPr lang="ko-KR" altLang="en-US" dirty="0"/>
              <a:t>Live AI DJ는 사용자의 개인화 DB를 반영해 사용자 친화적인 음악 추천 서비스를 제공합니다.</a:t>
            </a:r>
          </a:p>
          <a:p>
            <a:pPr>
              <a:buNone/>
            </a:pPr>
            <a:r>
              <a:rPr lang="ko-KR" altLang="en-US" dirty="0"/>
              <a:t>먼저 사용자의 음악 요청을 Music Router가 받아 카테고리를 분류합니다. 요청을 분석해 키워드를 추출하고, 개인화된 추천이 필요한 경우에는 개인화 DB를 조회합니다.</a:t>
            </a:r>
          </a:p>
          <a:p>
            <a:pPr>
              <a:buNone/>
            </a:pPr>
            <a:r>
              <a:rPr lang="ko-KR" altLang="en-US" dirty="0"/>
              <a:t>개인화 DB의 플레이리스트 이력을 참고한 뒤 Spotify API를 호출해 추천 곡을 제공합니다.</a:t>
            </a:r>
          </a:p>
          <a:p>
            <a:pPr>
              <a:buNone/>
            </a:pPr>
            <a:r>
              <a:rPr lang="ko-KR" altLang="en-US" dirty="0"/>
              <a:t>반대로 단순 키워드 요청으로 분류되면 개인화 DB를 거치지 않고 바로 Spotify API를 호출합니다.</a:t>
            </a:r>
          </a:p>
          <a:p>
            <a:pPr>
              <a:buNone/>
            </a:pPr>
            <a:r>
              <a:rPr lang="ko-KR" altLang="en-US" dirty="0"/>
              <a:t>추천 곡이 정해지면 생성 방식을 참고해 클라우드 LLM으로 추천 사유 문구를 만들고, TTS로 사용자에게 음성 전달합니다. 추천된 곡은 Spotify API를 통해 바로 재생할 수 있습니다.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7F7DF61D-24C4-8A3E-99C2-D21304FB7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280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C3B8-9D1D-E3E2-3317-4CF410D1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BB3CE24-B537-2373-17AB-CCEFE6E60C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1B63F20-A74D-0516-3768-820B78F7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 중 장소 질의의 흐름도입니다.</a:t>
            </a:r>
          </a:p>
          <a:p>
            <a:pPr>
              <a:buNone/>
            </a:pPr>
            <a:r>
              <a:rPr lang="ko-KR" altLang="en-US" dirty="0"/>
              <a:t>장소 관련 질의가 들어오면 Orchestrator는 차량 도메인이 아니라고 판단해 NO_AGENT를 반환하고, 요청은 클라우드 LLM 쪽으로 라우팅됩니다.</a:t>
            </a:r>
          </a:p>
          <a:p>
            <a:pPr>
              <a:buNone/>
            </a:pPr>
            <a:r>
              <a:rPr lang="ko-KR" altLang="en-US" dirty="0"/>
              <a:t>이때 OpenAI API가 질의에서 지역명, 장소명, 장소 카테고리 같은 정보를 추출합니다.</a:t>
            </a:r>
          </a:p>
          <a:p>
            <a:pPr>
              <a:buNone/>
            </a:pPr>
            <a:r>
              <a:rPr lang="ko-KR" altLang="en-US" dirty="0"/>
              <a:t>지역명이 확인되면 geocoding API에서 해당 지역의 위도와 경도를 가져옵니다. 그리고 위도, 경도, 카테고리를 기준으로 타겟 지역 주변의 장소를 검색합니다.</a:t>
            </a:r>
          </a:p>
          <a:p>
            <a:pPr>
              <a:buNone/>
            </a:pPr>
            <a:r>
              <a:rPr lang="ko-KR" altLang="en-US" dirty="0"/>
              <a:t>마지막으로 클라우드 LLM이 검색된 주변 장소 데이터를 입력받아 사용자에게 적절한 자연어 응답을 생성합니다.</a:t>
            </a:r>
          </a:p>
          <a:p>
            <a:pPr>
              <a:buNone/>
            </a:pPr>
            <a:r>
              <a:rPr lang="ko-KR" altLang="en-US" dirty="0"/>
              <a:t>즉 LLM이 질의 해석과 최종 문장 생성을 담당하고, 실제 장소 데이터는 외부 API에서 가져오는 구조입니다.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7D272D5-3671-B031-028B-5B651411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14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716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F682-4623-682A-D586-66076D9C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AC9552F-BD78-D881-1C90-CFE884436F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059F41D9-B702-5FD2-B3B8-5C10B9636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 중 날씨 질의의 흐름도입니다.</a:t>
            </a:r>
          </a:p>
          <a:p>
            <a:pPr>
              <a:buNone/>
            </a:pPr>
            <a:r>
              <a:rPr lang="ko-KR" altLang="en-US" dirty="0"/>
              <a:t>질의가 날씨로 분류되면 Orchestrator는 NO_AGENT를 반환하고 클라우드 LLM이 답변을 생성합니다.</a:t>
            </a:r>
          </a:p>
          <a:p>
            <a:pPr>
              <a:buNone/>
            </a:pPr>
            <a:r>
              <a:rPr lang="ko-KR" altLang="en-US" dirty="0"/>
              <a:t>OpenAI API는 입력된 정보에 따라 날씨 function calling을 발생하여, 질의에서 사용자가 물어보는 날짜와 지역 정보를 추출합니다.</a:t>
            </a:r>
          </a:p>
          <a:p>
            <a:pPr>
              <a:buNone/>
            </a:pPr>
            <a:r>
              <a:rPr lang="ko-KR" altLang="en-US" dirty="0"/>
              <a:t>추출된 JSON 결과를 바탕으로 OpenWeather API를 호출해 시간별 기온, 습도, 강수 가능성, 강수량 같은 데이터를 받아옵니다. 이 결과를 프롬프트에 포함시켜 LLM에 답변을 요청합니다.</a:t>
            </a:r>
          </a:p>
          <a:p>
            <a:pPr>
              <a:buNone/>
            </a:pPr>
            <a:r>
              <a:rPr lang="ko-KR" altLang="en-US" dirty="0"/>
              <a:t>즉 OpenAI는 두 번 호출됩니다. 첫 번째 호출에서 function calling을 발생시키고, 두 번째 호출에서 실제 날씨 정보를 토대로 답변을 생성합니다.</a:t>
            </a:r>
          </a:p>
          <a:p>
            <a:pPr>
              <a:buNone/>
            </a:pPr>
            <a:r>
              <a:rPr lang="ko-KR" altLang="en-US" dirty="0"/>
              <a:t>생성된 답변은 앱으로 전달되어 사용자에게 제공됩니다.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4BE2491-95C0-FC63-8699-D3C492DF9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15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098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8FB-2184-2BF4-336E-AB114D0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201D1BC-44BE-394C-1CE4-98EB0B389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1749AFE3-A598-3305-F9B8-8D56F6DE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Q&amp;A의 앱 시퀀스 다이어그램으로, 모듈 간 호출 순서를 보여 줍니다.</a:t>
            </a:r>
          </a:p>
          <a:p>
            <a:pPr>
              <a:buNone/>
            </a:pPr>
            <a:r>
              <a:rPr lang="ko-KR" altLang="en-US" dirty="0"/>
              <a:t>사용자가 질문을 입력하면 FloatingViewService가 이전 대화 내역을 참조해 질문을 재구성합니다.</a:t>
            </a:r>
          </a:p>
          <a:p>
            <a:pPr>
              <a:buNone/>
            </a:pPr>
            <a:r>
              <a:rPr lang="ko-KR" altLang="en-US" dirty="0"/>
              <a:t>Orchestrator는 먼저 차량 질문인지 그 외 질문인지 분석합니다. RAG에서 적절한 답변과 이미지가 존재하면 GPT Service를 사용해 답변을 생성합니다.</a:t>
            </a:r>
          </a:p>
          <a:p>
            <a:pPr>
              <a:buNone/>
            </a:pPr>
            <a:r>
              <a:rPr lang="ko-KR" altLang="en-US" dirty="0"/>
              <a:t>매뉴얼 데이터에서 적절한 답변을 찾지 못하면 NO_AGENT를 반환하고, 이 경우 OpenAI, Gemini, Claude 같은 클라우드 LLM을 호출해 최종 답변을 생성합니다.</a:t>
            </a:r>
          </a:p>
          <a:p>
            <a:pPr>
              <a:buNone/>
            </a:pPr>
            <a:r>
              <a:rPr lang="ko-KR" altLang="en-US" dirty="0"/>
              <a:t>생성된 답변은 FloatingViewService로 전달되고, TTS가 이를 음성으로 변환해 사용자에게 제공합니다. 답변 생성 과정은 Voice Chrome과 AIMO 캐릭터 애니메이션으로 사용자에게 시각적으로 안내됩니다.</a:t>
            </a:r>
          </a:p>
          <a:p>
            <a:pPr>
              <a:buNone/>
            </a:pPr>
            <a:r>
              <a:rPr lang="ko-KR" altLang="en-US" dirty="0"/>
              <a:t>전체 흐름은 질문 입력, 카테고리 분류, RAG 검색, LLM 응답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6185971-3D3E-C862-6F4B-122AED3A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16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50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86AB-CAAE-8CDE-6B0F-DDA7E7D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EA5ADA2-E38D-1BF9-17B7-DAF8070851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8FC8A86-16B9-141C-EBA1-F8873C7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Control의 앱 시퀀스 다이어그램입니다.</a:t>
            </a:r>
          </a:p>
          <a:p>
            <a:pPr>
              <a:buNone/>
            </a:pPr>
            <a:r>
              <a:rPr lang="ko-KR" altLang="en-US" dirty="0"/>
              <a:t>사용자가 요청을 입력하면 FloatingViewService가 이전 대화 내역을 참조해 요청을 재구성합니다. 이때 Query Rewriter가 미완성된 문장도 앞선 대화를 참고해 완성된 요청으로 인식되도록 보완합니다.</a:t>
            </a:r>
          </a:p>
          <a:p>
            <a:pPr>
              <a:buNone/>
            </a:pPr>
            <a:r>
              <a:rPr lang="ko-KR" altLang="en-US" dirty="0"/>
              <a:t>Orchestrator는 그 요청이 현재 제공되는 차량 제어 목록에 해당하는지 분석합니다.</a:t>
            </a:r>
          </a:p>
          <a:p>
            <a:pPr>
              <a:buNone/>
            </a:pPr>
            <a:r>
              <a:rPr lang="ko-KR" altLang="en-US" dirty="0"/>
              <a:t>온도, 밝기, 볼륨 제어에 해당하면 AIDL 서비스를 통해 차량을 제어합니다. 제어가 완료되면 GPT Service가 차량 제어 완료 문구를 생성하고, TTS가 이를 음성으로 사용자에게 전달합니다.</a:t>
            </a:r>
          </a:p>
          <a:p>
            <a:pPr>
              <a:buNone/>
            </a:pPr>
            <a:r>
              <a:rPr lang="ko-KR" altLang="en-US" dirty="0"/>
              <a:t>지원 목록에 없는 요청이면 NO_AGENT를 반환해 클라우드 답변 경로로 넘깁니다.</a:t>
            </a:r>
          </a:p>
          <a:p>
            <a:pPr>
              <a:buNone/>
            </a:pPr>
            <a:r>
              <a:rPr lang="ko-KR" altLang="en-US" dirty="0"/>
              <a:t>전체 흐름은 요청 입력, 카테고리 분류, 차량 제어, 완료 문구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749273C-BC58-7FE9-A87D-5C23419D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17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63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0D5A-CCAD-8465-3090-51E74637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A2EB2E32-7D55-8930-C886-68842249F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AB1566A5-CEF1-4335-28FD-94017D12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Live AI DJ의 앱 시퀀스 다이어그램입니다.</a:t>
            </a:r>
          </a:p>
          <a:p>
            <a:pPr>
              <a:buNone/>
            </a:pPr>
            <a:r>
              <a:rPr lang="ko-KR" altLang="en-US" dirty="0"/>
              <a:t>사용자가 요청을 입력하면 FloatingViewService가 이전 대화 내역을 참조해 요청을 재구성하고, Query Rewriter가 미완성 문장을 완성된 요청으로 보완합니다.</a:t>
            </a:r>
          </a:p>
          <a:p>
            <a:pPr>
              <a:buNone/>
            </a:pPr>
            <a:r>
              <a:rPr lang="ko-KR" altLang="en-US" dirty="0"/>
              <a:t>Orchestrator에서 NO_AGENT가 반환되면, GPT Service를 사용해 이 요청이 Live AI DJ 실행 요청인지 판단합니다.</a:t>
            </a:r>
          </a:p>
          <a:p>
            <a:pPr>
              <a:buNone/>
            </a:pPr>
            <a:r>
              <a:rPr lang="ko-KR" altLang="en-US" dirty="0"/>
              <a:t>Live AI DJ 실행이라면 MusicRouter가 요청을 분석합니다. 개인화된 요청이면 개인화 DB를 조회한 뒤 Spotify Search API를 호출하고, 개인화 요청이 아니면 곧바로 Spotify Search API를 호출합니다.</a:t>
            </a:r>
          </a:p>
          <a:p>
            <a:pPr>
              <a:buNone/>
            </a:pPr>
            <a:r>
              <a:rPr lang="ko-KR" altLang="en-US" dirty="0"/>
              <a:t>이후 클라우드 LLM으로 추천 사유를 생성하고, TTS로 사용자에게 음성 출력합니다.</a:t>
            </a:r>
          </a:p>
          <a:p>
            <a:pPr>
              <a:buNone/>
            </a:pPr>
            <a:r>
              <a:rPr lang="ko-KR" altLang="en-US" dirty="0"/>
              <a:t>전체 흐름은 요청 입력, 요청 분석, 개인화 DB 조회, 노래 검색, 추천 사유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AE48BB1-071A-BB01-9345-7732C7568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18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1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DE2B-8076-2D62-504C-277043F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22CB4B7B-6805-82A6-6B8C-1F1C7D6C28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8A9A08AB-EC6E-6C4F-7CDD-0FE1CF64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Calling을 포함한 Cloud LLM 호출의 앱 시퀀스 다이어그램입니다.</a:t>
            </a:r>
          </a:p>
          <a:p>
            <a:pPr>
              <a:buNone/>
            </a:pPr>
            <a:r>
              <a:rPr lang="ko-KR" altLang="en-US" dirty="0"/>
              <a:t>질의는 FloatingViewService에서 쿼리 리라이팅을 거쳐 OrchestratorManager로 전달됩니다. 날씨 요청으로 판단되면 NO_AGENT를 반환해 클라우드 경로로 분류하고, OpenAIClient로 답변 생성을 요청합니다.</a:t>
            </a:r>
          </a:p>
          <a:p>
            <a:pPr>
              <a:buNone/>
            </a:pPr>
            <a:r>
              <a:rPr lang="ko-KR" altLang="en-US" dirty="0"/>
              <a:t>OpenAI API는 사전 정의된 조건에 따라 function calling 실행 여부를 판단하고 필요한 파라미터를 반환합니다.</a:t>
            </a:r>
          </a:p>
          <a:p>
            <a:pPr>
              <a:buNone/>
            </a:pPr>
            <a:r>
              <a:rPr lang="ko-KR" altLang="en-US" dirty="0"/>
              <a:t>OpenAIClient는 그 정보로 getWeather()를 호출해 실제 날씨 데이터를 조회합니다. GPS 기반 위치가 필요하면 KakaoLocation API로 위도와 경도를 가져옵니다.</a:t>
            </a:r>
          </a:p>
          <a:p>
            <a:pPr>
              <a:buNone/>
            </a:pPr>
            <a:r>
              <a:rPr lang="ko-KR" altLang="en-US" dirty="0"/>
              <a:t>수집된 정보를 담아 다시 답변 생성을 요청하고, 최종 답변은 TTS로 음성 출력됩니다.</a:t>
            </a:r>
          </a:p>
          <a:p>
            <a:pPr>
              <a:buNone/>
            </a:pPr>
            <a:r>
              <a:rPr lang="ko-KR" altLang="en-US" dirty="0"/>
              <a:t>전체 흐름은 기능 요청, 의미 해석, 기능 호출 판단, 외부 API 연동, 답변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4B1F491-53F8-6E8C-2662-3C24E9920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19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558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DEEA-B777-E7AF-B821-83B7A45C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37F1140-531B-9A13-EF73-04853867B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43653FC-A86B-C0FF-04BF-F96655D98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AI DJ 멘트 생성의 앱 시퀀스 다이어그램입니다.</a:t>
            </a:r>
          </a:p>
          <a:p>
            <a:pPr>
              <a:buNone/>
            </a:pPr>
            <a:r>
              <a:rPr lang="ko-KR" altLang="en-US" dirty="0"/>
              <a:t>곡이 재생되거나 곡이 바뀌면 AI DJ 모듈이 MediaSession을 통해 곡 정보를 가져옵니다.</a:t>
            </a:r>
          </a:p>
          <a:p>
            <a:pPr>
              <a:buNone/>
            </a:pPr>
            <a:r>
              <a:rPr lang="ko-KR" altLang="en-US" dirty="0"/>
              <a:t>그리고 멘트 생성을 요청하기 위해 안드로이드 시스템을 통해 Broadcast 형태로 인텐트를 전송합니다.</a:t>
            </a:r>
          </a:p>
          <a:p>
            <a:pPr>
              <a:buNone/>
            </a:pPr>
            <a:r>
              <a:rPr lang="ko-KR" altLang="en-US" dirty="0"/>
              <a:t>AI Agent의 BroadcastReceiver가 인텐트를 수신해 FloatingViewService의 상태값을 갱신하고 곡 정보를 추출합니다.</a:t>
            </a:r>
          </a:p>
          <a:p>
            <a:pPr>
              <a:buNone/>
            </a:pPr>
            <a:r>
              <a:rPr lang="ko-KR" altLang="en-US" dirty="0"/>
              <a:t>FloatingViewService는 MobisGPTManager에 singleTurnChat()을 호출하며, 가사가 있으면 가사 요약을 함께 요청합니다. MobisGPTManager는 Local LLM으로 곡 제목, 아티스트, 가사, 날씨 등을 활용한 자연스러운 멘트를 생성합니다.</a:t>
            </a:r>
          </a:p>
          <a:p>
            <a:pPr>
              <a:buNone/>
            </a:pPr>
            <a:r>
              <a:rPr lang="ko-KR" altLang="en-US" dirty="0"/>
              <a:t>생성된 멘트는 PleosTTS로 전달되어 음성 출력되며, 사용자에게 재생 중인 음악과 어울리는 DJ 멘트가 안내됩니다.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36D157E-E5B3-08B0-A7DB-2C30FECB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20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67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21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4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451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221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5FDE-B2A0-ADAD-9FCE-746C0716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EC99650B-A457-5909-150F-6DF637194E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2085A9B-BFB4-60B7-BEE8-B174B7DD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E1EF6C5-940B-A63C-B8E6-B2C65452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24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163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B6-2A00-4CD0-A588-4D01CD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36C82BA-7241-2A82-8B30-EF85E7EEF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D941F75-98A4-2FEA-E82E-C6762680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47E04CB-5829-75AB-1A29-C99B4D8F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25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현대모비스에 대한 이미지 검색결과">
            <a:extLst>
              <a:ext uri="{FF2B5EF4-FFF2-40B4-BE49-F238E27FC236}">
                <a16:creationId xmlns:a16="http://schemas.microsoft.com/office/drawing/2014/main" id="{B64C3658-4FF6-F050-CFBF-3EF20C003A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8C09E0-1BF9-BF7C-A7F3-84AEF3726F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33" b="33732"/>
          <a:stretch>
            <a:fillRect/>
          </a:stretch>
        </p:blipFill>
        <p:spPr>
          <a:xfrm>
            <a:off x="8697416" y="6671433"/>
            <a:ext cx="1136576" cy="141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1B01B4-371D-7723-526A-5D041673EE63}"/>
              </a:ext>
            </a:extLst>
          </p:cNvPr>
          <p:cNvSpPr txBox="1"/>
          <p:nvPr userDrawn="1"/>
        </p:nvSpPr>
        <p:spPr>
          <a:xfrm>
            <a:off x="704528" y="6620072"/>
            <a:ext cx="31454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2026년도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기반 AI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선행 과제</a:t>
            </a:r>
            <a:endParaRPr kumimoji="1" lang="ko-KR" altLang="en-US" sz="1000" u="none" kern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 smtClean="0"/>
              <a:pPr>
                <a:defRPr/>
              </a:pPr>
              <a:t>2026-08-25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F_DA6EA4BB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0_558811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1_5C14CBAB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E_A687288C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753299" y="4797152"/>
            <a:ext cx="2310495" cy="119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</a:t>
            </a:r>
            <a:r>
              <a:rPr lang="ko-KR" altLang="en-US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08. 14 </a:t>
            </a:r>
          </a:p>
          <a:p>
            <a:pPr marL="342900" indent="-342900" algn="ctr">
              <a:spcBef>
                <a:spcPct val="20000"/>
              </a:spcBef>
            </a:pPr>
            <a:endParaRPr lang="en-US" altLang="ko-KR" sz="20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latin typeface="페이퍼로지 6 SemiBold" pitchFamily="2" charset="-127"/>
                <a:ea typeface="페이퍼로지 6 SemiBold" pitchFamily="2" charset="-127"/>
              </a:rPr>
              <a:t>㈜투비원솔루션즈</a:t>
            </a:r>
            <a:endParaRPr lang="en-US" altLang="ko-KR" sz="2400" u="none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32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용역과제 중간 보고서</a:t>
            </a:r>
            <a:endParaRPr lang="en-US" altLang="ko-KR" sz="320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- 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2026년도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On-Device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기반 AI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Agent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App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선행 과제</a:t>
            </a:r>
            <a:r>
              <a:rPr lang="en-US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567905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AIMO 1.0 AI Agent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2026.05.01 ~ 2026.12.31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8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</a:t>
            </a:r>
          </a:p>
        </p:txBody>
      </p:sp>
      <p:sp>
        <p:nvSpPr>
          <p:cNvPr id="46" name="AutoShape 761"/>
          <p:cNvSpPr>
            <a:spLocks noChangeArrowheads="1"/>
          </p:cNvSpPr>
          <p:nvPr/>
        </p:nvSpPr>
        <p:spPr bwMode="auto">
          <a:xfrm>
            <a:off x="307975" y="2652465"/>
            <a:ext cx="2628801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내용 및 범위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160707"/>
              </p:ext>
            </p:extLst>
          </p:nvPr>
        </p:nvGraphicFramePr>
        <p:xfrm>
          <a:off x="488950" y="3212976"/>
          <a:ext cx="9001125" cy="28296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Q&amp;A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차량 매뉴얼에 없는 정보를 응답하는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CloudLLM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차량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자동차 정비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매뉴얼 기반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(80%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95F4-47BC-51C2-A984-7A750066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BCA35E30-A494-404F-AB6E-512B507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B4B966F-4BB7-D645-0EF8-0D29868D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20688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내용 및 범위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157B2D-7C30-C398-5024-34F767859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0250"/>
              </p:ext>
            </p:extLst>
          </p:nvPr>
        </p:nvGraphicFramePr>
        <p:xfrm>
          <a:off x="488950" y="1052736"/>
          <a:ext cx="9001125" cy="4892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 Control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사용자의 자연어 입력을 받아 차량 기능 제어하는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차량 제어 결과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(80%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Live AI DJ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도로 주행 상황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제목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가수명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가사 등을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멘트 생성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멘트 생성을 위한 모비스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On-Device GPT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Spotify API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사용자 친화적인 노래 추천서비스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정확도 향상 및 개인화를 위한 질의 도메인화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(Query Routing)</a:t>
                      </a: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추천 리스트 공유를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(50%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기반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LLM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날씨 데이터 질의를 위하여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Geomatry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다양한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LLM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제공을 위하여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 AI, Gemini,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Claude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/>
        </p:nvGraphicFramePr>
        <p:xfrm>
          <a:off x="346930" y="1221155"/>
          <a:ext cx="8929688" cy="5304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</a:tblGrid>
              <a:tr h="5388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온디바이스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 포팅 및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Agent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33971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Q&amp;A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13681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17" name="모서리가 둥근 직사각형 1">
            <a:extLst>
              <a:ext uri="{FF2B5EF4-FFF2-40B4-BE49-F238E27FC236}">
                <a16:creationId xmlns:a16="http://schemas.microsoft.com/office/drawing/2014/main" id="{5CE7AAF1-444B-8AC6-A842-623085E27C9B}"/>
              </a:ext>
            </a:extLst>
          </p:cNvPr>
          <p:cNvSpPr/>
          <p:nvPr/>
        </p:nvSpPr>
        <p:spPr bwMode="auto">
          <a:xfrm>
            <a:off x="2487883" y="1868546"/>
            <a:ext cx="2091378" cy="503128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모서리가 둥근 직사각형 1">
            <a:extLst>
              <a:ext uri="{FF2B5EF4-FFF2-40B4-BE49-F238E27FC236}">
                <a16:creationId xmlns:a16="http://schemas.microsoft.com/office/drawing/2014/main" id="{6806885F-D074-9B85-FB03-2D5746822A6E}"/>
              </a:ext>
            </a:extLst>
          </p:cNvPr>
          <p:cNvSpPr/>
          <p:nvPr/>
        </p:nvSpPr>
        <p:spPr bwMode="auto">
          <a:xfrm>
            <a:off x="248788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설계</a:t>
            </a: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723981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개발</a:t>
            </a:r>
          </a:p>
        </p:txBody>
      </p:sp>
      <p:sp>
        <p:nvSpPr>
          <p:cNvPr id="9" name="모서리가 둥근 직사각형 1">
            <a:extLst>
              <a:ext uri="{FF2B5EF4-FFF2-40B4-BE49-F238E27FC236}">
                <a16:creationId xmlns:a16="http://schemas.microsoft.com/office/drawing/2014/main" id="{B4009295-BB73-59B8-AA0C-85FE86CC23D5}"/>
              </a:ext>
            </a:extLst>
          </p:cNvPr>
          <p:cNvSpPr/>
          <p:nvPr/>
        </p:nvSpPr>
        <p:spPr bwMode="auto">
          <a:xfrm>
            <a:off x="2487883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C5982E94-C23C-D689-6CB8-74BE2C07F0F2}"/>
              </a:ext>
            </a:extLst>
          </p:cNvPr>
          <p:cNvSpPr/>
          <p:nvPr/>
        </p:nvSpPr>
        <p:spPr bwMode="auto">
          <a:xfrm>
            <a:off x="4811774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포팅</a:t>
            </a:r>
          </a:p>
        </p:txBody>
      </p:sp>
      <p:sp>
        <p:nvSpPr>
          <p:cNvPr id="21" name="모서리가 둥근 직사각형 1">
            <a:extLst>
              <a:ext uri="{FF2B5EF4-FFF2-40B4-BE49-F238E27FC236}">
                <a16:creationId xmlns:a16="http://schemas.microsoft.com/office/drawing/2014/main" id="{1F527311-A9C0-3D82-F875-E4734DC125C2}"/>
              </a:ext>
            </a:extLst>
          </p:cNvPr>
          <p:cNvSpPr/>
          <p:nvPr/>
        </p:nvSpPr>
        <p:spPr bwMode="auto">
          <a:xfrm>
            <a:off x="5891763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디바이스 환경에서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 동작 확인</a:t>
            </a:r>
          </a:p>
        </p:txBody>
      </p:sp>
      <p:sp>
        <p:nvSpPr>
          <p:cNvPr id="8203" name="모서리가 둥근 직사각형 1">
            <a:extLst>
              <a:ext uri="{FF2B5EF4-FFF2-40B4-BE49-F238E27FC236}">
                <a16:creationId xmlns:a16="http://schemas.microsoft.com/office/drawing/2014/main" id="{D174568E-EC9A-177E-6720-805FA9B26E27}"/>
              </a:ext>
            </a:extLst>
          </p:cNvPr>
          <p:cNvSpPr/>
          <p:nvPr/>
        </p:nvSpPr>
        <p:spPr bwMode="auto">
          <a:xfrm>
            <a:off x="2501582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이벤트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Prompt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 로직 개발</a:t>
            </a:r>
          </a:p>
        </p:txBody>
      </p:sp>
      <p:sp>
        <p:nvSpPr>
          <p:cNvPr id="8204" name="모서리가 둥근 직사각형 1">
            <a:extLst>
              <a:ext uri="{FF2B5EF4-FFF2-40B4-BE49-F238E27FC236}">
                <a16:creationId xmlns:a16="http://schemas.microsoft.com/office/drawing/2014/main" id="{84729824-CCEF-42F4-B3D6-814D7D1F6596}"/>
              </a:ext>
            </a:extLst>
          </p:cNvPr>
          <p:cNvSpPr/>
          <p:nvPr/>
        </p:nvSpPr>
        <p:spPr bwMode="auto">
          <a:xfrm>
            <a:off x="2487883" y="2479278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 매뉴얼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형태 학습 데이터 구축</a:t>
            </a:r>
          </a:p>
        </p:txBody>
      </p:sp>
      <p:sp>
        <p:nvSpPr>
          <p:cNvPr id="8213" name="모서리가 둥근 직사각형 1">
            <a:extLst>
              <a:ext uri="{FF2B5EF4-FFF2-40B4-BE49-F238E27FC236}">
                <a16:creationId xmlns:a16="http://schemas.microsoft.com/office/drawing/2014/main" id="{90E14CB3-29F4-515C-B28B-8935A277D9CF}"/>
              </a:ext>
            </a:extLst>
          </p:cNvPr>
          <p:cNvSpPr/>
          <p:nvPr/>
        </p:nvSpPr>
        <p:spPr bwMode="auto">
          <a:xfrm>
            <a:off x="4802063" y="2492896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파이프라인 연동 구현</a:t>
            </a:r>
          </a:p>
        </p:txBody>
      </p:sp>
      <p:sp>
        <p:nvSpPr>
          <p:cNvPr id="8220" name="모서리가 둥근 직사각형 1">
            <a:extLst>
              <a:ext uri="{FF2B5EF4-FFF2-40B4-BE49-F238E27FC236}">
                <a16:creationId xmlns:a16="http://schemas.microsoft.com/office/drawing/2014/main" id="{E4CE4A99-4EF3-6FDE-0FB7-CCB41BE30495}"/>
              </a:ext>
            </a:extLst>
          </p:cNvPr>
          <p:cNvSpPr/>
          <p:nvPr/>
        </p:nvSpPr>
        <p:spPr bwMode="auto">
          <a:xfrm>
            <a:off x="248788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28" name="모서리가 둥근 직사각형 1">
            <a:extLst>
              <a:ext uri="{FF2B5EF4-FFF2-40B4-BE49-F238E27FC236}">
                <a16:creationId xmlns:a16="http://schemas.microsoft.com/office/drawing/2014/main" id="{506C6AF7-16A9-A95C-831E-477727508AF4}"/>
              </a:ext>
            </a:extLst>
          </p:cNvPr>
          <p:cNvSpPr/>
          <p:nvPr/>
        </p:nvSpPr>
        <p:spPr bwMode="auto">
          <a:xfrm>
            <a:off x="480206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 이벤트와 캐릭터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애니메이션 설계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29" name="모서리가 둥근 직사각형 1">
            <a:extLst>
              <a:ext uri="{FF2B5EF4-FFF2-40B4-BE49-F238E27FC236}">
                <a16:creationId xmlns:a16="http://schemas.microsoft.com/office/drawing/2014/main" id="{9A6585BD-623F-AE03-3FEE-D25752561FB3}"/>
              </a:ext>
            </a:extLst>
          </p:cNvPr>
          <p:cNvSpPr/>
          <p:nvPr/>
        </p:nvSpPr>
        <p:spPr bwMode="auto">
          <a:xfrm>
            <a:off x="480206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이벤트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 Prompt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명령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Intent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 등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흐름 테스트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0" name="모서리가 둥근 직사각형 1">
            <a:extLst>
              <a:ext uri="{FF2B5EF4-FFF2-40B4-BE49-F238E27FC236}">
                <a16:creationId xmlns:a16="http://schemas.microsoft.com/office/drawing/2014/main" id="{014CC5DC-55B9-ECF4-EBAC-F0FB4537FE65}"/>
              </a:ext>
            </a:extLst>
          </p:cNvPr>
          <p:cNvSpPr/>
          <p:nvPr/>
        </p:nvSpPr>
        <p:spPr bwMode="auto">
          <a:xfrm>
            <a:off x="4811774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Query Routing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1" name="모서리가 둥근 직사각형 1">
            <a:extLst>
              <a:ext uri="{FF2B5EF4-FFF2-40B4-BE49-F238E27FC236}">
                <a16:creationId xmlns:a16="http://schemas.microsoft.com/office/drawing/2014/main" id="{9840E961-106D-91A7-DF5C-B000FB9D68A5}"/>
              </a:ext>
            </a:extLst>
          </p:cNvPr>
          <p:cNvSpPr/>
          <p:nvPr/>
        </p:nvSpPr>
        <p:spPr bwMode="auto">
          <a:xfrm>
            <a:off x="4802063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Query Routing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 포함 사용자 개인화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데이터 증분 구현</a:t>
            </a:r>
          </a:p>
        </p:txBody>
      </p:sp>
      <p:sp>
        <p:nvSpPr>
          <p:cNvPr id="8232" name="모서리가 둥근 직사각형 1">
            <a:extLst>
              <a:ext uri="{FF2B5EF4-FFF2-40B4-BE49-F238E27FC236}">
                <a16:creationId xmlns:a16="http://schemas.microsoft.com/office/drawing/2014/main" id="{794EBBC6-6BAD-4175-3447-090AECB47C1D}"/>
              </a:ext>
            </a:extLst>
          </p:cNvPr>
          <p:cNvSpPr/>
          <p:nvPr/>
        </p:nvSpPr>
        <p:spPr bwMode="auto">
          <a:xfrm>
            <a:off x="4811161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리소스 사용량 및 추론 속도 기반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최적화</a:t>
            </a:r>
          </a:p>
        </p:txBody>
      </p:sp>
      <p:sp>
        <p:nvSpPr>
          <p:cNvPr id="8233" name="모서리가 둥근 직사각형 1">
            <a:extLst>
              <a:ext uri="{FF2B5EF4-FFF2-40B4-BE49-F238E27FC236}">
                <a16:creationId xmlns:a16="http://schemas.microsoft.com/office/drawing/2014/main" id="{16DE4054-E849-734C-FD22-0EB4D03CCCE2}"/>
              </a:ext>
            </a:extLst>
          </p:cNvPr>
          <p:cNvSpPr/>
          <p:nvPr/>
        </p:nvSpPr>
        <p:spPr bwMode="auto">
          <a:xfrm>
            <a:off x="7133593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성능 기준 만족 여부 확인</a:t>
            </a:r>
          </a:p>
        </p:txBody>
      </p:sp>
      <p:sp>
        <p:nvSpPr>
          <p:cNvPr id="8234" name="모서리가 둥근 직사각형 1">
            <a:extLst>
              <a:ext uri="{FF2B5EF4-FFF2-40B4-BE49-F238E27FC236}">
                <a16:creationId xmlns:a16="http://schemas.microsoft.com/office/drawing/2014/main" id="{61E77630-E05A-DF31-D294-3F24146A76FD}"/>
              </a:ext>
            </a:extLst>
          </p:cNvPr>
          <p:cNvSpPr/>
          <p:nvPr/>
        </p:nvSpPr>
        <p:spPr bwMode="auto">
          <a:xfrm>
            <a:off x="8213582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결과물 수합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산출물 검토</a:t>
            </a:r>
          </a:p>
        </p:txBody>
      </p:sp>
      <p:sp>
        <p:nvSpPr>
          <p:cNvPr id="8235" name="모서리가 둥근 직사각형 1">
            <a:extLst>
              <a:ext uri="{FF2B5EF4-FFF2-40B4-BE49-F238E27FC236}">
                <a16:creationId xmlns:a16="http://schemas.microsoft.com/office/drawing/2014/main" id="{784CCDF8-8156-0C0F-12D8-041FDAF3F77C}"/>
              </a:ext>
            </a:extLst>
          </p:cNvPr>
          <p:cNvSpPr/>
          <p:nvPr/>
        </p:nvSpPr>
        <p:spPr bwMode="auto">
          <a:xfrm>
            <a:off x="7113240" y="2492896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8236" name="모서리가 둥근 직사각형 1">
            <a:extLst>
              <a:ext uri="{FF2B5EF4-FFF2-40B4-BE49-F238E27FC236}">
                <a16:creationId xmlns:a16="http://schemas.microsoft.com/office/drawing/2014/main" id="{5BBDC25F-CAED-5DF3-6DC1-13A1B42F8729}"/>
              </a:ext>
            </a:extLst>
          </p:cNvPr>
          <p:cNvSpPr/>
          <p:nvPr/>
        </p:nvSpPr>
        <p:spPr bwMode="auto">
          <a:xfrm>
            <a:off x="7085831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7" name="모서리가 둥근 직사각형 1">
            <a:extLst>
              <a:ext uri="{FF2B5EF4-FFF2-40B4-BE49-F238E27FC236}">
                <a16:creationId xmlns:a16="http://schemas.microsoft.com/office/drawing/2014/main" id="{05A421E5-AEFB-D4DC-65B4-19FAB1B2EF56}"/>
              </a:ext>
            </a:extLst>
          </p:cNvPr>
          <p:cNvSpPr/>
          <p:nvPr/>
        </p:nvSpPr>
        <p:spPr bwMode="auto">
          <a:xfrm>
            <a:off x="7085831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8" name="모서리가 둥근 직사각형 1">
            <a:extLst>
              <a:ext uri="{FF2B5EF4-FFF2-40B4-BE49-F238E27FC236}">
                <a16:creationId xmlns:a16="http://schemas.microsoft.com/office/drawing/2014/main" id="{FA36E6A5-2AE9-2F7A-8D0E-33263D6BD0CF}"/>
              </a:ext>
            </a:extLst>
          </p:cNvPr>
          <p:cNvSpPr/>
          <p:nvPr/>
        </p:nvSpPr>
        <p:spPr bwMode="auto">
          <a:xfrm>
            <a:off x="7095542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8239" name="모서리가 둥근 직사각형 1">
            <a:extLst>
              <a:ext uri="{FF2B5EF4-FFF2-40B4-BE49-F238E27FC236}">
                <a16:creationId xmlns:a16="http://schemas.microsoft.com/office/drawing/2014/main" id="{7950B7F2-3756-2BC5-C9F4-9D41A4952E49}"/>
              </a:ext>
            </a:extLst>
          </p:cNvPr>
          <p:cNvSpPr/>
          <p:nvPr/>
        </p:nvSpPr>
        <p:spPr bwMode="auto">
          <a:xfrm>
            <a:off x="7085831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8240" name="모서리가 둥근 직사각형 1">
            <a:extLst>
              <a:ext uri="{FF2B5EF4-FFF2-40B4-BE49-F238E27FC236}">
                <a16:creationId xmlns:a16="http://schemas.microsoft.com/office/drawing/2014/main" id="{6EBA85FD-8EB4-D13E-B1D5-99692F59C861}"/>
              </a:ext>
            </a:extLst>
          </p:cNvPr>
          <p:cNvSpPr/>
          <p:nvPr/>
        </p:nvSpPr>
        <p:spPr bwMode="auto">
          <a:xfrm>
            <a:off x="7094929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244" name="연결선: 꺾임 8243">
            <a:extLst>
              <a:ext uri="{FF2B5EF4-FFF2-40B4-BE49-F238E27FC236}">
                <a16:creationId xmlns:a16="http://schemas.microsoft.com/office/drawing/2014/main" id="{3F43ED1E-D4AE-0CF2-A04B-A8D25160155F}"/>
              </a:ext>
            </a:extLst>
          </p:cNvPr>
          <p:cNvCxnSpPr>
            <a:cxnSpLocks/>
            <a:stCxn id="19" idx="2"/>
            <a:endCxn id="8213" idx="0"/>
          </p:cNvCxnSpPr>
          <p:nvPr/>
        </p:nvCxnSpPr>
        <p:spPr>
          <a:xfrm rot="16200000" flipH="1">
            <a:off x="5507071" y="2152215"/>
            <a:ext cx="121222" cy="560140"/>
          </a:xfrm>
          <a:prstGeom prst="bentConnector3">
            <a:avLst>
              <a:gd name="adj1" fmla="val 20419"/>
            </a:avLst>
          </a:prstGeom>
          <a:ln>
            <a:solidFill>
              <a:schemeClr val="accent5">
                <a:lumMod val="10000"/>
              </a:schemeClr>
            </a:solidFill>
            <a:tailEnd type="triangle" w="med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3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DB78-9A7A-10F3-9B88-3BEA3351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4D99BFD5-B274-87A3-6E07-8CE48A547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FBB124E-D21E-8CE3-3C44-073006697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94050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66B839-F583-E8E2-9D57-9B8889391667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2687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EF6787B2-0982-9BEE-A7AE-58E22BCBEFB3}"/>
              </a:ext>
            </a:extLst>
          </p:cNvPr>
          <p:cNvSpPr/>
          <p:nvPr/>
        </p:nvSpPr>
        <p:spPr bwMode="auto">
          <a:xfrm>
            <a:off x="1712640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1D88B6A2-572D-A66B-6EC9-2D15B3F62E0D}"/>
              </a:ext>
            </a:extLst>
          </p:cNvPr>
          <p:cNvSpPr/>
          <p:nvPr/>
        </p:nvSpPr>
        <p:spPr bwMode="auto">
          <a:xfrm>
            <a:off x="7041232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설계</a:t>
            </a:r>
          </a:p>
        </p:txBody>
      </p:sp>
      <p:sp>
        <p:nvSpPr>
          <p:cNvPr id="8" name="모서리가 둥근 직사각형 1">
            <a:extLst>
              <a:ext uri="{FF2B5EF4-FFF2-40B4-BE49-F238E27FC236}">
                <a16:creationId xmlns:a16="http://schemas.microsoft.com/office/drawing/2014/main" id="{B2F9B0DC-8980-A10F-922F-A139A94A682A}"/>
              </a:ext>
            </a:extLst>
          </p:cNvPr>
          <p:cNvSpPr/>
          <p:nvPr/>
        </p:nvSpPr>
        <p:spPr bwMode="auto">
          <a:xfrm>
            <a:off x="1712640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12" name="모서리가 둥근 직사각형 1">
            <a:extLst>
              <a:ext uri="{FF2B5EF4-FFF2-40B4-BE49-F238E27FC236}">
                <a16:creationId xmlns:a16="http://schemas.microsoft.com/office/drawing/2014/main" id="{E793D1E6-ECF6-E35F-558E-A6B73B7A080C}"/>
              </a:ext>
            </a:extLst>
          </p:cNvPr>
          <p:cNvSpPr/>
          <p:nvPr/>
        </p:nvSpPr>
        <p:spPr bwMode="auto">
          <a:xfrm>
            <a:off x="4376936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 매뉴얼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/DTC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정비 매뉴얼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/IVI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형태 학습 데이터 구축</a:t>
            </a:r>
          </a:p>
        </p:txBody>
      </p: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30A5D2F4-D7DA-0686-89C2-BDD6D42E36D7}"/>
              </a:ext>
            </a:extLst>
          </p:cNvPr>
          <p:cNvSpPr/>
          <p:nvPr/>
        </p:nvSpPr>
        <p:spPr bwMode="auto">
          <a:xfrm>
            <a:off x="4376936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차량 제어 서비스 개발</a:t>
            </a: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90186548-AB8A-6E2C-CBA2-395F17E07251}"/>
              </a:ext>
            </a:extLst>
          </p:cNvPr>
          <p:cNvSpPr/>
          <p:nvPr/>
        </p:nvSpPr>
        <p:spPr bwMode="auto">
          <a:xfrm>
            <a:off x="7041232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87F81DC-3185-116A-89D7-252FDB5D5218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3083159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 포팅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493FC00-9D37-9A45-CC57-B7AF89D88957}"/>
              </a:ext>
            </a:extLst>
          </p:cNvPr>
          <p:cNvSpPr/>
          <p:nvPr/>
        </p:nvSpPr>
        <p:spPr>
          <a:xfrm>
            <a:off x="5241032" y="2783265"/>
            <a:ext cx="397617" cy="327184"/>
          </a:xfrm>
          <a:prstGeom prst="downArrow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F062E21B-AD51-F63F-F398-FD654C011F78}"/>
              </a:ext>
            </a:extLst>
          </p:cNvPr>
          <p:cNvSpPr/>
          <p:nvPr/>
        </p:nvSpPr>
        <p:spPr bwMode="auto">
          <a:xfrm>
            <a:off x="4376936" y="3480488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LLM을 활용한 Multi-turn 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</a:t>
            </a: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8DF34EA7-E8C9-13FE-1DB5-5920F40FFCB8}"/>
              </a:ext>
            </a:extLst>
          </p:cNvPr>
          <p:cNvSpPr/>
          <p:nvPr/>
        </p:nvSpPr>
        <p:spPr bwMode="auto">
          <a:xfrm>
            <a:off x="4376936" y="4078530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 사용량에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따른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Lottie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애니메이션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DBF9DB5C-E67A-012F-4DD9-43D41D08A93F}"/>
              </a:ext>
            </a:extLst>
          </p:cNvPr>
          <p:cNvSpPr/>
          <p:nvPr/>
        </p:nvSpPr>
        <p:spPr bwMode="auto">
          <a:xfrm>
            <a:off x="7041232" y="4078530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073BF380-96F0-C4F5-FD45-21C2661EA2D1}"/>
              </a:ext>
            </a:extLst>
          </p:cNvPr>
          <p:cNvSpPr/>
          <p:nvPr/>
        </p:nvSpPr>
        <p:spPr bwMode="auto">
          <a:xfrm>
            <a:off x="1712640" y="3473038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환경에서 기본 동작 확인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DA2894-EE92-0BC1-0950-F64957EC147B}"/>
              </a:ext>
            </a:extLst>
          </p:cNvPr>
          <p:cNvSpPr/>
          <p:nvPr/>
        </p:nvSpPr>
        <p:spPr bwMode="auto">
          <a:xfrm>
            <a:off x="7041232" y="3489726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연동 기능 구현</a:t>
            </a: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0AB48F3B-BB16-42D8-D89A-5B5ED3641128}"/>
              </a:ext>
            </a:extLst>
          </p:cNvPr>
          <p:cNvSpPr/>
          <p:nvPr/>
        </p:nvSpPr>
        <p:spPr bwMode="auto">
          <a:xfrm>
            <a:off x="1712640" y="4070186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간의 데이터 공유를 위한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설계 및 기능 구현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E672779-661B-08CD-0178-F794C2B68058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48691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D64ADF00-1669-4789-F34A-009FCD3065D8}"/>
              </a:ext>
            </a:extLst>
          </p:cNvPr>
          <p:cNvSpPr/>
          <p:nvPr/>
        </p:nvSpPr>
        <p:spPr bwMode="auto">
          <a:xfrm>
            <a:off x="1712640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302B25DE-0416-1EB9-00AE-67944152EA49}"/>
              </a:ext>
            </a:extLst>
          </p:cNvPr>
          <p:cNvSpPr/>
          <p:nvPr/>
        </p:nvSpPr>
        <p:spPr bwMode="auto">
          <a:xfrm>
            <a:off x="1712640" y="587046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8B2CFE7-5A9D-70AD-FCDA-66636B154CD7}"/>
              </a:ext>
            </a:extLst>
          </p:cNvPr>
          <p:cNvSpPr/>
          <p:nvPr/>
        </p:nvSpPr>
        <p:spPr bwMode="auto">
          <a:xfrm>
            <a:off x="4377088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81B3F173-A64F-B9B7-AA26-C903BF78FE1A}"/>
              </a:ext>
            </a:extLst>
          </p:cNvPr>
          <p:cNvSpPr/>
          <p:nvPr/>
        </p:nvSpPr>
        <p:spPr bwMode="auto">
          <a:xfrm>
            <a:off x="7041232" y="587046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52283CD8-49B6-81B5-F90F-8F6123B86BD0}"/>
              </a:ext>
            </a:extLst>
          </p:cNvPr>
          <p:cNvSpPr/>
          <p:nvPr/>
        </p:nvSpPr>
        <p:spPr bwMode="auto">
          <a:xfrm>
            <a:off x="4376936" y="588054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1D7A0C98-A9F6-7441-6780-615BED137BB0}"/>
              </a:ext>
            </a:extLst>
          </p:cNvPr>
          <p:cNvSpPr/>
          <p:nvPr/>
        </p:nvSpPr>
        <p:spPr bwMode="auto">
          <a:xfrm>
            <a:off x="7041536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7159D141-56A1-FD04-8670-484F6A6FAE35}"/>
              </a:ext>
            </a:extLst>
          </p:cNvPr>
          <p:cNvSpPr/>
          <p:nvPr/>
        </p:nvSpPr>
        <p:spPr>
          <a:xfrm>
            <a:off x="5241032" y="4611647"/>
            <a:ext cx="397617" cy="327184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28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708C-E334-05F1-09A3-669D148F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AAF4FF97-51D3-6681-ADE7-11848835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83531854-E916-2BB0-A6AB-881F1724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93861"/>
            <a:ext cx="187220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LIVE AI DJ 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648F46-6F8D-13CA-45A4-ECF9A83AB2B3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196660"/>
          <a:ext cx="9361040" cy="129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956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7FC2A64B-9986-4132-3C25-1988E7836F47}"/>
              </a:ext>
            </a:extLst>
          </p:cNvPr>
          <p:cNvSpPr/>
          <p:nvPr/>
        </p:nvSpPr>
        <p:spPr bwMode="auto">
          <a:xfrm>
            <a:off x="1712912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및 개발</a:t>
            </a: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DBAD94F8-2A12-FE72-63E4-FC22A09CB365}"/>
              </a:ext>
            </a:extLst>
          </p:cNvPr>
          <p:cNvSpPr/>
          <p:nvPr/>
        </p:nvSpPr>
        <p:spPr bwMode="auto">
          <a:xfrm>
            <a:off x="7041504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F1D5E0A-2312-E2D3-948F-65ECB31E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50472"/>
              </p:ext>
            </p:extLst>
          </p:nvPr>
        </p:nvGraphicFramePr>
        <p:xfrm>
          <a:off x="272480" y="270892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AIDL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 연결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931F2211-A387-0964-DB19-B747ECCB6942}"/>
              </a:ext>
            </a:extLst>
          </p:cNvPr>
          <p:cNvSpPr/>
          <p:nvPr/>
        </p:nvSpPr>
        <p:spPr bwMode="auto">
          <a:xfrm>
            <a:off x="4377208" y="3106249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가사 조회 기능 구현</a:t>
            </a: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50863013-D36F-B378-0F1F-6E0D93FC57CF}"/>
              </a:ext>
            </a:extLst>
          </p:cNvPr>
          <p:cNvSpPr/>
          <p:nvPr/>
        </p:nvSpPr>
        <p:spPr bwMode="auto">
          <a:xfrm>
            <a:off x="4377208" y="3704291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성능을 위한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1A3AC310-FFE8-B641-4391-294438676905}"/>
              </a:ext>
            </a:extLst>
          </p:cNvPr>
          <p:cNvSpPr/>
          <p:nvPr/>
        </p:nvSpPr>
        <p:spPr bwMode="auto">
          <a:xfrm>
            <a:off x="7041504" y="3704291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324A1E3B-46C9-88FB-B96D-23AEB1E35E63}"/>
              </a:ext>
            </a:extLst>
          </p:cNvPr>
          <p:cNvSpPr/>
          <p:nvPr/>
        </p:nvSpPr>
        <p:spPr bwMode="auto">
          <a:xfrm>
            <a:off x="1712912" y="3098799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연결 및 조회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795625-D3D9-480F-AF88-27C59F53EF0E}"/>
              </a:ext>
            </a:extLst>
          </p:cNvPr>
          <p:cNvSpPr/>
          <p:nvPr/>
        </p:nvSpPr>
        <p:spPr bwMode="auto">
          <a:xfrm>
            <a:off x="7041504" y="3115487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API를 활용한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MusicRouter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</a:t>
            </a: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6A903010-8945-6000-BD7F-D96E89280316}"/>
              </a:ext>
            </a:extLst>
          </p:cNvPr>
          <p:cNvSpPr/>
          <p:nvPr/>
        </p:nvSpPr>
        <p:spPr bwMode="auto">
          <a:xfrm>
            <a:off x="1712912" y="3695947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간의 데이터 공유를 위한</a:t>
            </a:r>
            <a:endParaRPr kumimoji="0" lang="en-US" altLang="ko-KR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설계 및 기능 구현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66E4CA0D-1EE7-9518-6BA5-79E59F235084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450912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57BF777F-CC90-4EA3-0A3B-A8640887DD06}"/>
              </a:ext>
            </a:extLst>
          </p:cNvPr>
          <p:cNvSpPr/>
          <p:nvPr/>
        </p:nvSpPr>
        <p:spPr bwMode="auto">
          <a:xfrm>
            <a:off x="1712912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DD565B40-3C45-13F0-525E-2C3B9358268D}"/>
              </a:ext>
            </a:extLst>
          </p:cNvPr>
          <p:cNvSpPr/>
          <p:nvPr/>
        </p:nvSpPr>
        <p:spPr bwMode="auto">
          <a:xfrm>
            <a:off x="1712912" y="551042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E8DC7A9-36A9-183C-988C-773A8FBF531B}"/>
              </a:ext>
            </a:extLst>
          </p:cNvPr>
          <p:cNvSpPr/>
          <p:nvPr/>
        </p:nvSpPr>
        <p:spPr bwMode="auto">
          <a:xfrm>
            <a:off x="4377208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505EF636-2DA2-0C60-3F95-599A842F49A9}"/>
              </a:ext>
            </a:extLst>
          </p:cNvPr>
          <p:cNvSpPr/>
          <p:nvPr/>
        </p:nvSpPr>
        <p:spPr bwMode="auto">
          <a:xfrm>
            <a:off x="7041504" y="551042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D5E60DA6-AF7E-52B8-F641-2989296F9CCC}"/>
              </a:ext>
            </a:extLst>
          </p:cNvPr>
          <p:cNvSpPr/>
          <p:nvPr/>
        </p:nvSpPr>
        <p:spPr bwMode="auto">
          <a:xfrm>
            <a:off x="4377208" y="552050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792303A1-283C-C4B4-3D4E-F9CFBFEFB2D7}"/>
              </a:ext>
            </a:extLst>
          </p:cNvPr>
          <p:cNvSpPr/>
          <p:nvPr/>
        </p:nvSpPr>
        <p:spPr bwMode="auto">
          <a:xfrm>
            <a:off x="7041504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1">
            <a:extLst>
              <a:ext uri="{FF2B5EF4-FFF2-40B4-BE49-F238E27FC236}">
                <a16:creationId xmlns:a16="http://schemas.microsoft.com/office/drawing/2014/main" id="{C0880B94-DEFF-2DF8-10F7-F22AE15B0719}"/>
              </a:ext>
            </a:extLst>
          </p:cNvPr>
          <p:cNvSpPr/>
          <p:nvPr/>
        </p:nvSpPr>
        <p:spPr bwMode="auto">
          <a:xfrm>
            <a:off x="4377208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가사 조회 서비스 설계 및 개발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65122D7F-9C85-1902-E6E4-A1D5324764BB}"/>
              </a:ext>
            </a:extLst>
          </p:cNvPr>
          <p:cNvSpPr/>
          <p:nvPr/>
        </p:nvSpPr>
        <p:spPr>
          <a:xfrm>
            <a:off x="5241032" y="2423225"/>
            <a:ext cx="397617" cy="327184"/>
          </a:xfrm>
          <a:prstGeom prst="downArrow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309E093-2007-F9B4-4DE9-0CDC2F86EDEB}"/>
              </a:ext>
            </a:extLst>
          </p:cNvPr>
          <p:cNvSpPr/>
          <p:nvPr/>
        </p:nvSpPr>
        <p:spPr>
          <a:xfrm>
            <a:off x="5241032" y="4223425"/>
            <a:ext cx="397617" cy="327184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93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820595"/>
              </p:ext>
            </p:extLst>
          </p:nvPr>
        </p:nvGraphicFramePr>
        <p:xfrm>
          <a:off x="307975" y="808232"/>
          <a:ext cx="9360594" cy="4229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452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</a:t>
                      </a: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6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개발 결과 및 검수 내역 포함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2026.08.31.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개발 결과 및 검수 내역 포함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95658"/>
                  </a:ext>
                </a:extLst>
              </a:tr>
              <a:tr h="5436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구현 체크리스트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구현 체크리스트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7563293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사양서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아키텍처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8183836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 코드 및 바이너리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기능 소스 코드 및 실행 바이너리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2261361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 설명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 설명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6923257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지식관리 모듈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지식관리 모듈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3716011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용역산출물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수행 이력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6955070-7EEB-336A-986A-B57A331CD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63837"/>
              </p:ext>
            </p:extLst>
          </p:nvPr>
        </p:nvGraphicFramePr>
        <p:xfrm>
          <a:off x="488504" y="1157720"/>
          <a:ext cx="8911733" cy="529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1277016111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397596337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603509686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 개월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‘26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용역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r>
                        <a:rPr lang="en-US" altLang="ko-KR" sz="12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E232A124-E44A-3F28-C1EF-F8280D6D4FD5}"/>
              </a:ext>
            </a:extLst>
          </p:cNvPr>
          <p:cNvSpPr/>
          <p:nvPr/>
        </p:nvSpPr>
        <p:spPr bwMode="auto">
          <a:xfrm>
            <a:off x="2072680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A3DB4186-8685-F076-7421-2716E0FFD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1890505"/>
            <a:ext cx="79861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</a:t>
            </a:r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착수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1CBE28C3-3E09-97CC-31B2-78D5DFC03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233" y="1772816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중간보고</a:t>
            </a:r>
            <a:endParaRPr lang="en-US" altLang="ko-KR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664613D9-F387-0211-E9B0-25A686D0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2096852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5/1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02CD6F14-5A15-47B4-2A84-B42F41E1E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916" y="1799238"/>
            <a:ext cx="8899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서비스통합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5801C938-8611-3663-0A24-2722423BA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944" y="2060848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8/7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F1C552F-D894-7AB3-7C74-C1C81DFF2D46}"/>
              </a:ext>
            </a:extLst>
          </p:cNvPr>
          <p:cNvSpPr/>
          <p:nvPr/>
        </p:nvSpPr>
        <p:spPr bwMode="auto">
          <a:xfrm>
            <a:off x="9273729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BAB43A-51E4-8812-9393-48F9E29F21C4}"/>
              </a:ext>
            </a:extLst>
          </p:cNvPr>
          <p:cNvCxnSpPr>
            <a:stCxn id="34" idx="6"/>
            <a:endCxn id="42" idx="2"/>
          </p:cNvCxnSpPr>
          <p:nvPr/>
        </p:nvCxnSpPr>
        <p:spPr bwMode="auto">
          <a:xfrm>
            <a:off x="2252067" y="2436441"/>
            <a:ext cx="7021662" cy="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AA915A11-054A-2403-A00A-1207E71BAD88}"/>
              </a:ext>
            </a:extLst>
          </p:cNvPr>
          <p:cNvSpPr/>
          <p:nvPr/>
        </p:nvSpPr>
        <p:spPr bwMode="auto">
          <a:xfrm>
            <a:off x="5871176" y="2345953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E41A7A-6A33-5501-0983-5F7FE586F5EA}"/>
              </a:ext>
            </a:extLst>
          </p:cNvPr>
          <p:cNvSpPr/>
          <p:nvPr/>
        </p:nvSpPr>
        <p:spPr bwMode="auto">
          <a:xfrm>
            <a:off x="4376936" y="2600908"/>
            <a:ext cx="1764196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최적화 및 오류 개선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9F635C4-6852-ABA2-EA74-F08F9AFF64AF}"/>
              </a:ext>
            </a:extLst>
          </p:cNvPr>
          <p:cNvSpPr/>
          <p:nvPr/>
        </p:nvSpPr>
        <p:spPr bwMode="auto">
          <a:xfrm>
            <a:off x="4556956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24E57528-E820-D1B0-B19E-03775594D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672" y="3068960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상세 설계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D17E7099-B646-305F-97E6-0EE0C7A5A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764704"/>
            <a:ext cx="5314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2026.05.01 ~ 2026.12.31 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30720FC7-727C-A3C6-225B-78F49704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4082" y="5942448"/>
            <a:ext cx="13115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장님 보고 준비</a:t>
            </a:r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D3550473-BCD3-65DB-1008-A66E1D831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820" y="4071155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 Router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D8C43BC3-FD69-3378-6881-D292E330F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395" y="4966723"/>
            <a:ext cx="89479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9A3DD0A3-4EAD-4577-95D4-00E728506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00" y="5607239"/>
            <a:ext cx="12763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및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78CFF8D9-2537-24DB-51CC-7B0BA3E1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7839" y="4412997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Multi-Turn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개발</a:t>
            </a:r>
          </a:p>
        </p:txBody>
      </p:sp>
      <p:sp>
        <p:nvSpPr>
          <p:cNvPr id="56" name="TextBox 25">
            <a:extLst>
              <a:ext uri="{FF2B5EF4-FFF2-40B4-BE49-F238E27FC236}">
                <a16:creationId xmlns:a16="http://schemas.microsoft.com/office/drawing/2014/main" id="{C0C2CFC0-E728-ED86-88E9-13EB10FD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5388657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남양테크쇼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준비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74EDB8-FF05-362B-B56B-8CDBB16A132D}"/>
              </a:ext>
            </a:extLst>
          </p:cNvPr>
          <p:cNvCxnSpPr>
            <a:cxnSpLocks/>
          </p:cNvCxnSpPr>
          <p:nvPr/>
        </p:nvCxnSpPr>
        <p:spPr bwMode="auto">
          <a:xfrm>
            <a:off x="2199193" y="3429000"/>
            <a:ext cx="72247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EB1841E-3AEB-4087-6846-7A4A18C1830A}"/>
              </a:ext>
            </a:extLst>
          </p:cNvPr>
          <p:cNvCxnSpPr>
            <a:cxnSpLocks/>
          </p:cNvCxnSpPr>
          <p:nvPr/>
        </p:nvCxnSpPr>
        <p:spPr bwMode="auto">
          <a:xfrm>
            <a:off x="2863571" y="5740040"/>
            <a:ext cx="64926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9EEDB36-9248-7F41-123B-404C17652934}"/>
              </a:ext>
            </a:extLst>
          </p:cNvPr>
          <p:cNvCxnSpPr>
            <a:cxnSpLocks/>
          </p:cNvCxnSpPr>
          <p:nvPr/>
        </p:nvCxnSpPr>
        <p:spPr bwMode="auto">
          <a:xfrm>
            <a:off x="3584848" y="6237312"/>
            <a:ext cx="756084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A076083-D5FB-8CF1-C763-78A94CE6D39E}"/>
              </a:ext>
            </a:extLst>
          </p:cNvPr>
          <p:cNvCxnSpPr>
            <a:cxnSpLocks/>
          </p:cNvCxnSpPr>
          <p:nvPr/>
        </p:nvCxnSpPr>
        <p:spPr bwMode="auto">
          <a:xfrm>
            <a:off x="3224808" y="4711694"/>
            <a:ext cx="648072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25">
            <a:extLst>
              <a:ext uri="{FF2B5EF4-FFF2-40B4-BE49-F238E27FC236}">
                <a16:creationId xmlns:a16="http://schemas.microsoft.com/office/drawing/2014/main" id="{ACF4D7F9-8218-4100-0DF4-5F8BC6153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511" y="4398715"/>
            <a:ext cx="24561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STT, Orchestrator, GPT Service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AF62549-E49B-0596-FA3C-47DBF06B5F45}"/>
              </a:ext>
            </a:extLst>
          </p:cNvPr>
          <p:cNvCxnSpPr>
            <a:cxnSpLocks/>
          </p:cNvCxnSpPr>
          <p:nvPr/>
        </p:nvCxnSpPr>
        <p:spPr bwMode="auto">
          <a:xfrm>
            <a:off x="2517487" y="5222416"/>
            <a:ext cx="3479629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3B4A21A-2776-A3A7-089B-68D89FBE62A1}"/>
              </a:ext>
            </a:extLst>
          </p:cNvPr>
          <p:cNvCxnSpPr>
            <a:cxnSpLocks/>
          </p:cNvCxnSpPr>
          <p:nvPr/>
        </p:nvCxnSpPr>
        <p:spPr bwMode="auto">
          <a:xfrm>
            <a:off x="4736976" y="4710892"/>
            <a:ext cx="68344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0314093-2FE2-7E8B-3E17-A6810020657F}"/>
              </a:ext>
            </a:extLst>
          </p:cNvPr>
          <p:cNvCxnSpPr>
            <a:cxnSpLocks/>
          </p:cNvCxnSpPr>
          <p:nvPr/>
        </p:nvCxnSpPr>
        <p:spPr bwMode="auto">
          <a:xfrm>
            <a:off x="3603913" y="4365104"/>
            <a:ext cx="953043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C05DFEA-534B-39F9-21B5-FA8098FAD517}"/>
              </a:ext>
            </a:extLst>
          </p:cNvPr>
          <p:cNvCxnSpPr>
            <a:cxnSpLocks/>
          </p:cNvCxnSpPr>
          <p:nvPr/>
        </p:nvCxnSpPr>
        <p:spPr bwMode="auto">
          <a:xfrm>
            <a:off x="7023729" y="5946694"/>
            <a:ext cx="88159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1EB1945C-DD8B-6110-8D8B-A20B2BDDC19C}"/>
              </a:ext>
            </a:extLst>
          </p:cNvPr>
          <p:cNvCxnSpPr>
            <a:cxnSpLocks/>
          </p:cNvCxnSpPr>
          <p:nvPr/>
        </p:nvCxnSpPr>
        <p:spPr bwMode="auto">
          <a:xfrm>
            <a:off x="3052705" y="3802104"/>
            <a:ext cx="72247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25">
            <a:extLst>
              <a:ext uri="{FF2B5EF4-FFF2-40B4-BE49-F238E27FC236}">
                <a16:creationId xmlns:a16="http://schemas.microsoft.com/office/drawing/2014/main" id="{B9A54300-D6B5-B712-0CDD-B5F0131D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34992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 생성 및 테스트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B67B97E-FE02-34AC-CF2B-5A2A933520F3}"/>
              </a:ext>
            </a:extLst>
          </p:cNvPr>
          <p:cNvCxnSpPr>
            <a:cxnSpLocks/>
          </p:cNvCxnSpPr>
          <p:nvPr/>
        </p:nvCxnSpPr>
        <p:spPr bwMode="auto">
          <a:xfrm>
            <a:off x="4268592" y="4041068"/>
            <a:ext cx="1520022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25">
            <a:extLst>
              <a:ext uri="{FF2B5EF4-FFF2-40B4-BE49-F238E27FC236}">
                <a16:creationId xmlns:a16="http://schemas.microsoft.com/office/drawing/2014/main" id="{96C47CC4-D716-DE37-A2CD-A135F5841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900" y="3708355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Interface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설계 및 구현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0B7FD26-7709-3FD8-5AEF-94754DF2FC70}"/>
              </a:ext>
            </a:extLst>
          </p:cNvPr>
          <p:cNvCxnSpPr>
            <a:cxnSpLocks/>
          </p:cNvCxnSpPr>
          <p:nvPr/>
        </p:nvCxnSpPr>
        <p:spPr bwMode="auto">
          <a:xfrm>
            <a:off x="5086903" y="5049180"/>
            <a:ext cx="1090233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25">
            <a:extLst>
              <a:ext uri="{FF2B5EF4-FFF2-40B4-BE49-F238E27FC236}">
                <a16:creationId xmlns:a16="http://schemas.microsoft.com/office/drawing/2014/main" id="{FCD24728-873F-D8EF-A656-73D8285E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976" y="4761490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노래 추천 알고리즘 개발</a:t>
            </a:r>
          </a:p>
        </p:txBody>
      </p:sp>
      <p:sp>
        <p:nvSpPr>
          <p:cNvPr id="12307" name="타원 12306">
            <a:extLst>
              <a:ext uri="{FF2B5EF4-FFF2-40B4-BE49-F238E27FC236}">
                <a16:creationId xmlns:a16="http://schemas.microsoft.com/office/drawing/2014/main" id="{F54783DF-195D-F7D2-0A46-26E7DB44E699}"/>
              </a:ext>
            </a:extLst>
          </p:cNvPr>
          <p:cNvSpPr/>
          <p:nvPr/>
        </p:nvSpPr>
        <p:spPr bwMode="auto">
          <a:xfrm>
            <a:off x="5241032" y="2348880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9" name="TextBox 18">
            <a:extLst>
              <a:ext uri="{FF2B5EF4-FFF2-40B4-BE49-F238E27FC236}">
                <a16:creationId xmlns:a16="http://schemas.microsoft.com/office/drawing/2014/main" id="{925B51A9-B5E2-D12D-CD49-FDE7AA1C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772816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중간보고</a:t>
            </a:r>
            <a:endParaRPr lang="en-US" altLang="ko-KR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Online</a:t>
            </a:r>
            <a:endParaRPr lang="ko-KR" altLang="en-US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1" name="TextBox 23">
            <a:extLst>
              <a:ext uri="{FF2B5EF4-FFF2-40B4-BE49-F238E27FC236}">
                <a16:creationId xmlns:a16="http://schemas.microsoft.com/office/drawing/2014/main" id="{DDA033EC-4F13-5881-F40B-469DF9725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016" y="2132856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8/25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3" name="TextBox 23">
            <a:extLst>
              <a:ext uri="{FF2B5EF4-FFF2-40B4-BE49-F238E27FC236}">
                <a16:creationId xmlns:a16="http://schemas.microsoft.com/office/drawing/2014/main" id="{26F61F75-8BF8-E25A-8285-8EF2B071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364" y="2096852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9/7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9ACB81B-9F77-1C1D-73C2-06E279911722}"/>
              </a:ext>
            </a:extLst>
          </p:cNvPr>
          <p:cNvCxnSpPr>
            <a:cxnSpLocks/>
          </p:cNvCxnSpPr>
          <p:nvPr/>
        </p:nvCxnSpPr>
        <p:spPr bwMode="auto">
          <a:xfrm>
            <a:off x="6370981" y="4337357"/>
            <a:ext cx="1030291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5">
            <a:extLst>
              <a:ext uri="{FF2B5EF4-FFF2-40B4-BE49-F238E27FC236}">
                <a16:creationId xmlns:a16="http://schemas.microsoft.com/office/drawing/2014/main" id="{35BB0407-EC23-4D61-9BC3-6BC82DC23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108" y="4031486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영문화 작업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179A18-9746-2651-3F04-07F7A0DD44DE}"/>
              </a:ext>
            </a:extLst>
          </p:cNvPr>
          <p:cNvCxnSpPr>
            <a:cxnSpLocks/>
          </p:cNvCxnSpPr>
          <p:nvPr/>
        </p:nvCxnSpPr>
        <p:spPr bwMode="auto">
          <a:xfrm>
            <a:off x="7023729" y="4725144"/>
            <a:ext cx="1349651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5">
            <a:extLst>
              <a:ext uri="{FF2B5EF4-FFF2-40B4-BE49-F238E27FC236}">
                <a16:creationId xmlns:a16="http://schemas.microsoft.com/office/drawing/2014/main" id="{77AE157D-BB4B-BA2D-294F-6336FD07A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992" y="44417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MIS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 포팅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98CAF4D2-8A5B-066D-C448-D5F7A481D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1751" y="6011706"/>
            <a:ext cx="9396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테스트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87C0BD4-6A84-FDF1-320D-2C0E0DD648F7}"/>
              </a:ext>
            </a:extLst>
          </p:cNvPr>
          <p:cNvCxnSpPr>
            <a:cxnSpLocks/>
          </p:cNvCxnSpPr>
          <p:nvPr/>
        </p:nvCxnSpPr>
        <p:spPr bwMode="auto">
          <a:xfrm>
            <a:off x="7907658" y="6309320"/>
            <a:ext cx="88159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18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FCF7-8CA7-D754-CCFF-61F9F9BC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4E8AD-3267-03B4-6A82-56D3D069EF45}"/>
              </a:ext>
            </a:extLst>
          </p:cNvPr>
          <p:cNvSpPr/>
          <p:nvPr/>
        </p:nvSpPr>
        <p:spPr>
          <a:xfrm>
            <a:off x="272480" y="1200514"/>
            <a:ext cx="6478494" cy="5432842"/>
          </a:xfrm>
          <a:prstGeom prst="roundRect">
            <a:avLst>
              <a:gd name="adj" fmla="val 199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2AE49F1-2D1F-8AEF-427D-B36504FEE66B}"/>
              </a:ext>
            </a:extLst>
          </p:cNvPr>
          <p:cNvSpPr/>
          <p:nvPr/>
        </p:nvSpPr>
        <p:spPr>
          <a:xfrm>
            <a:off x="560512" y="4401108"/>
            <a:ext cx="5832648" cy="1152128"/>
          </a:xfrm>
          <a:prstGeom prst="roundRect">
            <a:avLst>
              <a:gd name="adj" fmla="val 5462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FF9F53F-F6A2-0EE3-2943-A3CB3AF0ACDA}"/>
              </a:ext>
            </a:extLst>
          </p:cNvPr>
          <p:cNvSpPr/>
          <p:nvPr/>
        </p:nvSpPr>
        <p:spPr>
          <a:xfrm>
            <a:off x="560512" y="2672916"/>
            <a:ext cx="5832648" cy="1656184"/>
          </a:xfrm>
          <a:prstGeom prst="roundRect">
            <a:avLst>
              <a:gd name="adj" fmla="val 6815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C480DA9-6C75-925B-7587-3602F7CB2713}"/>
              </a:ext>
            </a:extLst>
          </p:cNvPr>
          <p:cNvSpPr/>
          <p:nvPr/>
        </p:nvSpPr>
        <p:spPr>
          <a:xfrm>
            <a:off x="1496616" y="3897052"/>
            <a:ext cx="4824536" cy="360040"/>
          </a:xfrm>
          <a:prstGeom prst="roundRect">
            <a:avLst>
              <a:gd name="adj" fmla="val 16666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ActionAgent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096D892-1244-B82F-D43F-40A6CDB30FDC}"/>
              </a:ext>
            </a:extLst>
          </p:cNvPr>
          <p:cNvSpPr/>
          <p:nvPr/>
        </p:nvSpPr>
        <p:spPr>
          <a:xfrm>
            <a:off x="1496616" y="3491920"/>
            <a:ext cx="4824536" cy="360040"/>
          </a:xfrm>
          <a:prstGeom prst="roundRect">
            <a:avLst>
              <a:gd name="adj" fmla="val 16666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LLMAgent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A32ACA1-BEFF-8E6C-9DB0-D4F087E3AF8E}"/>
              </a:ext>
            </a:extLst>
          </p:cNvPr>
          <p:cNvSpPr/>
          <p:nvPr/>
        </p:nvSpPr>
        <p:spPr>
          <a:xfrm>
            <a:off x="1496616" y="2744924"/>
            <a:ext cx="4824536" cy="720080"/>
          </a:xfrm>
          <a:prstGeom prst="roundRect">
            <a:avLst>
              <a:gd name="adj" fmla="val 11687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ContextAgent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D9AC3AE-7977-FAA3-6A67-86DFC43F83A2}"/>
              </a:ext>
            </a:extLst>
          </p:cNvPr>
          <p:cNvSpPr/>
          <p:nvPr/>
        </p:nvSpPr>
        <p:spPr>
          <a:xfrm>
            <a:off x="560512" y="1412776"/>
            <a:ext cx="5832648" cy="1008112"/>
          </a:xfrm>
          <a:prstGeom prst="roundRect">
            <a:avLst>
              <a:gd name="adj" fmla="val 7241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4" name="Rectangle 6">
            <a:extLst>
              <a:ext uri="{FF2B5EF4-FFF2-40B4-BE49-F238E27FC236}">
                <a16:creationId xmlns:a16="http://schemas.microsoft.com/office/drawing/2014/main" id="{820CFCD0-D6E6-B2C6-43BC-D9462109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904584-09A4-5AB9-69A1-B0C70F04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AIMO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App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구조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E645-7878-F7B1-3237-9C670DCCCFEF}"/>
              </a:ext>
            </a:extLst>
          </p:cNvPr>
          <p:cNvSpPr txBox="1"/>
          <p:nvPr/>
        </p:nvSpPr>
        <p:spPr>
          <a:xfrm>
            <a:off x="560512" y="1752057"/>
            <a:ext cx="1478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56CBF-C732-39E1-B898-2F98B3F1F479}"/>
              </a:ext>
            </a:extLst>
          </p:cNvPr>
          <p:cNvSpPr/>
          <p:nvPr/>
        </p:nvSpPr>
        <p:spPr>
          <a:xfrm>
            <a:off x="1604628" y="144998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HMI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83DB82-D299-FEFB-1347-BCF1EB05BCC4}"/>
              </a:ext>
            </a:extLst>
          </p:cNvPr>
          <p:cNvSpPr/>
          <p:nvPr/>
        </p:nvSpPr>
        <p:spPr>
          <a:xfrm>
            <a:off x="1604628" y="1790186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History Msg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5C31C-4D01-BD37-7380-967F18A6C2CC}"/>
              </a:ext>
            </a:extLst>
          </p:cNvPr>
          <p:cNvSpPr/>
          <p:nvPr/>
        </p:nvSpPr>
        <p:spPr>
          <a:xfrm>
            <a:off x="1604628" y="2109778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Contextual Feedback via TTS 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A5D0491-2194-2036-978D-A5B2F18C889F}"/>
              </a:ext>
            </a:extLst>
          </p:cNvPr>
          <p:cNvSpPr/>
          <p:nvPr/>
        </p:nvSpPr>
        <p:spPr>
          <a:xfrm>
            <a:off x="3982170" y="144998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Voice </a:t>
            </a:r>
            <a:r>
              <a:rPr lang="en-US" altLang="ko-KR" sz="9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Cmd</a:t>
            </a:r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Handling / QA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3A4785-8625-3EB6-C895-EF488491BF23}"/>
              </a:ext>
            </a:extLst>
          </p:cNvPr>
          <p:cNvSpPr/>
          <p:nvPr/>
        </p:nvSpPr>
        <p:spPr>
          <a:xfrm>
            <a:off x="3982170" y="1781618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Status Summary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961BCC-0977-199D-1B38-5398797192BC}"/>
              </a:ext>
            </a:extLst>
          </p:cNvPr>
          <p:cNvSpPr/>
          <p:nvPr/>
        </p:nvSpPr>
        <p:spPr>
          <a:xfrm>
            <a:off x="3982170" y="210717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 Caching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44D35-C47D-E54D-D85B-B79CD1CDB210}"/>
              </a:ext>
            </a:extLst>
          </p:cNvPr>
          <p:cNvSpPr txBox="1"/>
          <p:nvPr/>
        </p:nvSpPr>
        <p:spPr>
          <a:xfrm>
            <a:off x="560512" y="4758404"/>
            <a:ext cx="1478918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Interaction </a:t>
            </a:r>
          </a:p>
          <a:p>
            <a:r>
              <a:rPr lang="en-US" altLang="ko-KR" sz="110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I/O Interface</a:t>
            </a:r>
            <a:endParaRPr lang="ko-KR" altLang="en-US" sz="11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348CFE-300D-F74B-BF44-2911041B5437}"/>
              </a:ext>
            </a:extLst>
          </p:cNvPr>
          <p:cNvSpPr/>
          <p:nvPr/>
        </p:nvSpPr>
        <p:spPr>
          <a:xfrm>
            <a:off x="2547605" y="4818573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Pleos</a:t>
            </a:r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TTS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38FFAB-B6B7-0795-53E4-CC4E671A1F54}"/>
              </a:ext>
            </a:extLst>
          </p:cNvPr>
          <p:cNvSpPr/>
          <p:nvPr/>
        </p:nvSpPr>
        <p:spPr>
          <a:xfrm>
            <a:off x="2547605" y="5188314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 Input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0BCF38-E6E5-BF7B-9D40-E5BDADAB6780}"/>
              </a:ext>
            </a:extLst>
          </p:cNvPr>
          <p:cNvSpPr/>
          <p:nvPr/>
        </p:nvSpPr>
        <p:spPr>
          <a:xfrm>
            <a:off x="2547605" y="4454576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Mobis STT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4EC99-8CEA-9484-2671-510CA4E7E9FB}"/>
              </a:ext>
            </a:extLst>
          </p:cNvPr>
          <p:cNvSpPr txBox="1"/>
          <p:nvPr/>
        </p:nvSpPr>
        <p:spPr>
          <a:xfrm>
            <a:off x="560512" y="3248980"/>
            <a:ext cx="961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Agent</a:t>
            </a:r>
          </a:p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Framework</a:t>
            </a:r>
            <a:endParaRPr lang="ko-KR" altLang="en-US" sz="11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9C1D20-7598-FC35-7867-714EB8B580FD}"/>
              </a:ext>
            </a:extLst>
          </p:cNvPr>
          <p:cNvSpPr/>
          <p:nvPr/>
        </p:nvSpPr>
        <p:spPr>
          <a:xfrm>
            <a:off x="4539308" y="2769694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Analysis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AB9F901-8401-998D-BF88-67D1AD662B63}"/>
              </a:ext>
            </a:extLst>
          </p:cNvPr>
          <p:cNvSpPr/>
          <p:nvPr/>
        </p:nvSpPr>
        <p:spPr>
          <a:xfrm>
            <a:off x="2792760" y="2769694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Receiver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F1CDD-203E-DCD1-D43A-DD1151D868D6}"/>
              </a:ext>
            </a:extLst>
          </p:cNvPr>
          <p:cNvSpPr/>
          <p:nvPr/>
        </p:nvSpPr>
        <p:spPr>
          <a:xfrm>
            <a:off x="2792760" y="3113494"/>
            <a:ext cx="3349650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Prompt Generator (context + query)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B006535-1E3B-5E35-00BB-EAF8F8A1FB97}"/>
              </a:ext>
            </a:extLst>
          </p:cNvPr>
          <p:cNvSpPr/>
          <p:nvPr/>
        </p:nvSpPr>
        <p:spPr>
          <a:xfrm>
            <a:off x="4539308" y="3537012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RAG(Vector DB)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237B7-4DF8-728D-8CAE-7F748F0D506D}"/>
              </a:ext>
            </a:extLst>
          </p:cNvPr>
          <p:cNvSpPr/>
          <p:nvPr/>
        </p:nvSpPr>
        <p:spPr>
          <a:xfrm>
            <a:off x="2792760" y="3537012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CB62D4-AC83-AEC7-5E5D-D26D6F6DBC99}"/>
              </a:ext>
            </a:extLst>
          </p:cNvPr>
          <p:cNvSpPr/>
          <p:nvPr/>
        </p:nvSpPr>
        <p:spPr>
          <a:xfrm>
            <a:off x="4539308" y="3932680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IBD MCP Service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F6DEA8-4E14-AD75-E79E-C72B46FEFDE0}"/>
              </a:ext>
            </a:extLst>
          </p:cNvPr>
          <p:cNvSpPr/>
          <p:nvPr/>
        </p:nvSpPr>
        <p:spPr>
          <a:xfrm>
            <a:off x="2792760" y="3932680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Query Routing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51144EE1-D269-8483-4530-F2AA64FE6898}"/>
              </a:ext>
            </a:extLst>
          </p:cNvPr>
          <p:cNvSpPr/>
          <p:nvPr/>
        </p:nvSpPr>
        <p:spPr>
          <a:xfrm>
            <a:off x="3368824" y="2420888"/>
            <a:ext cx="152869" cy="211339"/>
          </a:xfrm>
          <a:prstGeom prst="upDownArrow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" name="Picture 2" descr="클라우드 서버 - 무료 여러 가지 잡다한개 아이콘">
            <a:extLst>
              <a:ext uri="{FF2B5EF4-FFF2-40B4-BE49-F238E27FC236}">
                <a16:creationId xmlns:a16="http://schemas.microsoft.com/office/drawing/2014/main" id="{2A5AE5FD-B4C1-02C7-3FE2-D11472D1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4" y="2592456"/>
            <a:ext cx="1883905" cy="188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73D1EB86-3688-9E5A-1D4A-998A383AB22B}"/>
              </a:ext>
            </a:extLst>
          </p:cNvPr>
          <p:cNvSpPr/>
          <p:nvPr/>
        </p:nvSpPr>
        <p:spPr>
          <a:xfrm>
            <a:off x="6393160" y="3429000"/>
            <a:ext cx="1354232" cy="299678"/>
          </a:xfrm>
          <a:prstGeom prst="leftRightArrow">
            <a:avLst/>
          </a:prstGeom>
          <a:solidFill>
            <a:srgbClr val="4D8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Online</a:t>
            </a:r>
            <a:endParaRPr lang="ko-KR" altLang="en-US" sz="10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C6F445-11AE-5B27-5EF8-997F4804DEA2}"/>
              </a:ext>
            </a:extLst>
          </p:cNvPr>
          <p:cNvSpPr/>
          <p:nvPr/>
        </p:nvSpPr>
        <p:spPr>
          <a:xfrm>
            <a:off x="3656856" y="2494005"/>
            <a:ext cx="648072" cy="137112"/>
          </a:xfrm>
          <a:prstGeom prst="roundRect">
            <a:avLst>
              <a:gd name="adj" fmla="val 50000"/>
            </a:avLst>
          </a:prstGeom>
          <a:solidFill>
            <a:schemeClr val="accent5">
              <a:lumMod val="2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8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8DE0021-CA21-B330-99E7-084DD282D4F6}"/>
              </a:ext>
            </a:extLst>
          </p:cNvPr>
          <p:cNvSpPr/>
          <p:nvPr/>
        </p:nvSpPr>
        <p:spPr>
          <a:xfrm>
            <a:off x="3728864" y="5626353"/>
            <a:ext cx="648072" cy="137112"/>
          </a:xfrm>
          <a:prstGeom prst="roundRect">
            <a:avLst>
              <a:gd name="adj" fmla="val 50000"/>
            </a:avLst>
          </a:prstGeom>
          <a:solidFill>
            <a:schemeClr val="accent5">
              <a:lumMod val="2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8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화살표: 위쪽/아래쪽 46">
            <a:extLst>
              <a:ext uri="{FF2B5EF4-FFF2-40B4-BE49-F238E27FC236}">
                <a16:creationId xmlns:a16="http://schemas.microsoft.com/office/drawing/2014/main" id="{E18AC3E3-A670-E631-A818-FFF7E7160FB4}"/>
              </a:ext>
            </a:extLst>
          </p:cNvPr>
          <p:cNvSpPr/>
          <p:nvPr/>
        </p:nvSpPr>
        <p:spPr>
          <a:xfrm>
            <a:off x="3440832" y="5589240"/>
            <a:ext cx="152869" cy="211339"/>
          </a:xfrm>
          <a:prstGeom prst="upDownArrow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B5F8934-028C-AFB5-0EE1-159A228459EA}"/>
              </a:ext>
            </a:extLst>
          </p:cNvPr>
          <p:cNvSpPr/>
          <p:nvPr/>
        </p:nvSpPr>
        <p:spPr>
          <a:xfrm>
            <a:off x="2540732" y="1052736"/>
            <a:ext cx="2016224" cy="281129"/>
          </a:xfrm>
          <a:prstGeom prst="roundRect">
            <a:avLst>
              <a:gd name="adj" fmla="val 18112"/>
            </a:avLst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IVI Device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2E7A768-CF0A-3897-6177-C961476E8E3F}"/>
              </a:ext>
            </a:extLst>
          </p:cNvPr>
          <p:cNvSpPr/>
          <p:nvPr/>
        </p:nvSpPr>
        <p:spPr>
          <a:xfrm>
            <a:off x="7977336" y="4437112"/>
            <a:ext cx="1080120" cy="209121"/>
          </a:xfrm>
          <a:prstGeom prst="roundRect">
            <a:avLst>
              <a:gd name="adj" fmla="val 50000"/>
            </a:avLst>
          </a:prstGeom>
          <a:solidFill>
            <a:srgbClr val="4D81C2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Cloud API</a:t>
            </a:r>
            <a:endParaRPr lang="ko-KR" altLang="en-US" sz="105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2" name="사각형: 둥근 모서리 13311">
            <a:extLst>
              <a:ext uri="{FF2B5EF4-FFF2-40B4-BE49-F238E27FC236}">
                <a16:creationId xmlns:a16="http://schemas.microsoft.com/office/drawing/2014/main" id="{595FD3F5-55DA-2CA3-EEC8-6DA82FA1AB18}"/>
              </a:ext>
            </a:extLst>
          </p:cNvPr>
          <p:cNvSpPr/>
          <p:nvPr/>
        </p:nvSpPr>
        <p:spPr>
          <a:xfrm>
            <a:off x="560512" y="5805264"/>
            <a:ext cx="5832648" cy="360040"/>
          </a:xfrm>
          <a:prstGeom prst="roundRect">
            <a:avLst/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Android OS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5" name="사각형: 둥근 모서리 13314">
            <a:extLst>
              <a:ext uri="{FF2B5EF4-FFF2-40B4-BE49-F238E27FC236}">
                <a16:creationId xmlns:a16="http://schemas.microsoft.com/office/drawing/2014/main" id="{5F2E3D62-3033-17AB-CD97-D2E043137114}"/>
              </a:ext>
            </a:extLst>
          </p:cNvPr>
          <p:cNvSpPr/>
          <p:nvPr/>
        </p:nvSpPr>
        <p:spPr>
          <a:xfrm>
            <a:off x="560512" y="6201308"/>
            <a:ext cx="5832648" cy="360040"/>
          </a:xfrm>
          <a:prstGeom prst="roundRect">
            <a:avLst/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Hardware</a:t>
            </a:r>
          </a:p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(CPU, NPU, RAM, Storage, Sensors, ...)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69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43B-1C73-588C-5D11-7690E28C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EC29D42-616D-7A28-DF2F-21785E24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내용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9934DEC4-AC53-3E50-8DE3-45E787F1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전체 모듈간 연동관계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44" name="텍스트 상자 2">
            <a:extLst>
              <a:ext uri="{FF2B5EF4-FFF2-40B4-BE49-F238E27FC236}">
                <a16:creationId xmlns:a16="http://schemas.microsoft.com/office/drawing/2014/main" id="{A05423B6-F57A-684D-6739-FA60485D9098}"/>
              </a:ext>
            </a:extLst>
          </p:cNvPr>
          <p:cNvSpPr txBox="1">
            <a:spLocks/>
          </p:cNvSpPr>
          <p:nvPr/>
        </p:nvSpPr>
        <p:spPr>
          <a:xfrm>
            <a:off x="5667911" y="1000473"/>
            <a:ext cx="4073841" cy="529952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음성 질의를 통해 사용자 질의를 받습니다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차량에 대한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답변을 생성하고 그 외의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 모델(OpenAI, Gemini, 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활용하여 질문에 대한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Semantic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역할을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질문의 맥락을 판단하여 답변을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On-Device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통하여 생성할지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생성할지를 결정합니다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또한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차량 제어 요청을 실행하는 역할도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 STT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사용자의 음성 데이터를 텍스트로 변환하여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음성 발화 기능을 제공하여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답변을 사용자에게 음성으로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 Weather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날씨 관련 질문에 대한 정보를 제공하며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Current Weather Data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5 Day/3 Hour Forecast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사용자의 날씨 요청에 응답합니다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geocoding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기능을 통해 위치 및 장소 기반 질문에 대한 정보를 처리합니다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음악에 대한 요청을 입력 받아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축적된 사용자의 노래 데이터베이스를 참고하여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73546E-1EA3-C186-A8D3-0FE1B3FF2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412776"/>
            <a:ext cx="504056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9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BA0B-7835-5027-82F7-0EF9E162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CC61A43-6F70-AB7F-BFF7-20B8966B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987C46F8-8EB6-01A0-A900-E7B5AE4D975E}"/>
              </a:ext>
            </a:extLst>
          </p:cNvPr>
          <p:cNvSpPr txBox="1">
            <a:spLocks/>
          </p:cNvSpPr>
          <p:nvPr/>
        </p:nvSpPr>
        <p:spPr>
          <a:xfrm>
            <a:off x="5141640" y="1570135"/>
            <a:ext cx="4575247" cy="328827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 질의가 입력되면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질문을 분석합니다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관련된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GPT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답변을 생성하고 전달합니다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관련된 답변은 일반형과 절차형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가지 유형으로 분류됩니다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일반형 답변은 이미지와 텍스트 스트리밍으로 구성됩니다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절차형 답변은 단계별로 이미지와 텍스트가 전달됩니다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차량과 관련 없는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통하여 답변을 생성합니다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이를 통해 차량 도메인은 온디바이스에서 안전하게 처리하고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그 외의 정보는 외부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연동하여 정확도와 확장성을 동시에 확보했습니다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2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9C0406-7505-5188-4DE4-A2D3FFAD7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4653136" cy="465313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D1B87453-2F3B-5F9E-11EF-315DF57B0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0731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80CF-F2F8-3574-63E2-60A4FF3B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BF49C4F-FCFA-AECF-6033-924F1C4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A3A534D-061E-B9E1-9559-64ECFF64757B}"/>
              </a:ext>
            </a:extLst>
          </p:cNvPr>
          <p:cNvSpPr txBox="1">
            <a:spLocks/>
          </p:cNvSpPr>
          <p:nvPr/>
        </p:nvSpPr>
        <p:spPr>
          <a:xfrm>
            <a:off x="5313040" y="2132856"/>
            <a:ext cx="4289865" cy="208326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입력되면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지원하는 차량 제어 목록에 해당되면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AIDL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지원하는 차량 제어 목록은 볼륨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밝기 총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가지입니다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온도 제어 기능을 사용하기 위해서는 타겟 디바이스 초기 스크립트 설정이 필요합니다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제어가 완료된 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제어 완료 문구를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481040-B8A2-29C6-920A-2FEC1E8C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8" y="1340768"/>
            <a:ext cx="4913784" cy="4913784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EDC20D24-0DDB-D8FA-8153-004153D93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826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60A7-2AAD-111F-1152-AB1C5D4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89865CA-AE07-D297-9464-B8850A529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7708037E-FE46-B11E-0AC4-BD1C236CE38F}"/>
              </a:ext>
            </a:extLst>
          </p:cNvPr>
          <p:cNvSpPr txBox="1">
            <a:spLocks/>
          </p:cNvSpPr>
          <p:nvPr/>
        </p:nvSpPr>
        <p:spPr>
          <a:xfrm>
            <a:off x="5601072" y="1700808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개인화 DB를 반영하여 사용자 친화적인 음악 추천 서비스를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음악 요청을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Music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카테고리를 분류합니다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요청을 분석하여 키워드를 추출하고 개인화된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추천이 필요할 경우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사용자의 플레이리스트 이력을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단순 키워드로 분류될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조회하지 않고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곡 생성 방식을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으로 추천 사유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사유 문구는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사용자에게 음성으로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곡은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노래를 재생할 수 있습니다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18643F-81C7-C244-1084-EA373CAF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5057800" cy="5057800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4DBB5302-9D59-C5D7-FD00-D4A13D581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Live AI DJ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9033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C315-3550-B7A9-7933-58078115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60F5596-4FBE-20CA-977A-92A706B4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BDB86-BE9C-C030-8453-507AA91B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000473"/>
            <a:ext cx="5491061" cy="401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상자 2">
            <a:extLst>
              <a:ext uri="{FF2B5EF4-FFF2-40B4-BE49-F238E27FC236}">
                <a16:creationId xmlns:a16="http://schemas.microsoft.com/office/drawing/2014/main" id="{6A445321-BFA0-7A67-899D-ADA776B37005}"/>
              </a:ext>
            </a:extLst>
          </p:cNvPr>
          <p:cNvSpPr txBox="1">
            <a:spLocks/>
          </p:cNvSpPr>
          <p:nvPr/>
        </p:nvSpPr>
        <p:spPr>
          <a:xfrm>
            <a:off x="5691533" y="1772816"/>
            <a:ext cx="4073841" cy="225254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질의가 들어오면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쪽으로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라우팅됩니다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이때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질의에서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카테고리 정보 등을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지역명의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geocoding API에서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카테고리 기준 검색을 시도하기 위해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 데이터를 가져오고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카테고리를 기준으로 타겟 지역 주변 장소를 검색합니다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검색된 주변 장소 데이터를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입력받아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적절한 자연어 응답을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9344C805-AA87-E83B-9207-BF0921DE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 Calling(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질의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4996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EFA0-9E2C-FA7E-EF67-886ACC03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8164A3B-F4C8-9B20-2E23-57BF183B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1C7E788-F199-A5F0-6F6B-2FCD2DBE1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9" y="1000473"/>
            <a:ext cx="5472483" cy="315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3543A403-036E-8E90-DAB7-FD1A8E489A5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352211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 질의로 분류되면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Orchestrator는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입력된 정보에 따라 날씨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발생하여 질의에서 사용자가 물어보는 날짜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추출된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결과를 바탕으로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OpenWeather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호출하여 시간별 기온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습도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강수 가능성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강수량과 같은 데이터를 받아오고 해당 결과를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prompt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포함시켜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모델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답변을 요청합니다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즉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OpenAI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번 호출이 되며 첫 번째 호출에서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발생시키고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두 번째 호출에서는 날씨 정보를 토대로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답변은 앱으로 전달되어 사용자에게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95890138-8A88-743F-C6DD-1E7364138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 Calling(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날씨 질의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241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A119-FD7C-1C51-FABC-FB37CAD1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57B350D2-09EB-0112-BCD5-70E9722D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019F4E86-E0E2-85AE-6B20-09A0E5D1D547}"/>
              </a:ext>
            </a:extLst>
          </p:cNvPr>
          <p:cNvSpPr txBox="1">
            <a:spLocks/>
          </p:cNvSpPr>
          <p:nvPr/>
        </p:nvSpPr>
        <p:spPr>
          <a:xfrm>
            <a:off x="5643045" y="1772816"/>
            <a:ext cx="4073841" cy="428386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질문을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질문을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먼저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질문을 분석하여 차량 질문인지 그 외 질문인지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적절한 답변과 이미지가 존재할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매뉴얼 데이터에서 적절한 답변을 찾지 못할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Cloud LLM(OpenAI,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Gemini,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호출하여 최종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이를 음성으로 변환하여 사용자에게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각 답변 생성 과정을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Voice Chrome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AIMO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캐릭터 애니메이션을 통하여 사용자에게 알려줍니다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흐름은 질문 입력 → 카테고리 분류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선택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 → 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응답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D759C-EB3C-8809-4195-114B1A008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" y="1160108"/>
            <a:ext cx="4805108" cy="5302189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85FABAC0-F5F9-7592-B905-1FF19C83F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Vehicle Q&amp;A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918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3B24-DD25-0F7C-4850-B258E7D5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72C7919-CACF-E992-4303-0733A69D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0BBF537-745E-A693-EEA2-B91D25AA83BD}"/>
              </a:ext>
            </a:extLst>
          </p:cNvPr>
          <p:cNvSpPr txBox="1">
            <a:spLocks/>
          </p:cNvSpPr>
          <p:nvPr/>
        </p:nvSpPr>
        <p:spPr>
          <a:xfrm>
            <a:off x="5631687" y="1988840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미완성된 문장도 이전 대화 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요청이 현재 제공되는 차량 제어 목록에 해당되는지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밝기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볼륨 제어에 해당된다면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AIDL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제어가 완료된 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차량 제어 완료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 완료 문구를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음성으로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제공하는 차량 제어 목록이 아닐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전체 흐름은 요청 입력 → 카테고리 분류 → 차량 제어 → 제어 완료 문구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AC25A3D-4B49-2991-EDEE-1DA70BC8B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160109"/>
            <a:ext cx="4968552" cy="513396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187D2148-9D3C-5A5E-EA55-DFB3510CC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Vehicle Control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7074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62C6-A194-8099-00A8-02BE40C9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536E879-A40D-D93A-BBE9-70677C2E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81DE392C-2AAA-1082-9631-C666F6B90D09}"/>
              </a:ext>
            </a:extLst>
          </p:cNvPr>
          <p:cNvSpPr txBox="1">
            <a:spLocks/>
          </p:cNvSpPr>
          <p:nvPr/>
        </p:nvSpPr>
        <p:spPr>
          <a:xfrm>
            <a:off x="5559679" y="1775315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미완성된 문장도 이전 대화 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반환될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요청인지 판단합니다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실행이라면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MusicRouter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사용자의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개인화된 요청이라면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개인화된 요청이 아니라면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사용하여 추천 사유를 생성합니다.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추천 사유를 음성으로 출력합니다.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전체 흐름은 요청 입력 → 요청 분석 →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 조회 → 노래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검색 → 추천 사유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57D62B-4516-F9FB-2B73-4E6B126E5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1681062"/>
            <a:ext cx="5210784" cy="3789257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A9B09D47-6EEC-0F5C-843A-8279013D6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Live AI DJ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2501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821F-A057-E995-3986-F819608E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0121ECA-4E38-FBCA-1F18-B70CFD1D8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E33DEFEC-2283-50DF-9D17-2A87249123E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555344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질의를 하면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해당 요청 문장을 쿼리 </a:t>
            </a:r>
            <a:r>
              <a:rPr lang="ko-KR" altLang="en-US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리라이팅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이후에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요청이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’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반환하여 클라우드 답변 요청으로 분류합니다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클라우드 요청일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 (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으로 답변 생성 요청을 보냅니다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사전에 정의된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조건에 따라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여부를 판단하고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필요한 파라미터를 분석하여 반환합니다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반환된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정보에 따라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getWeather()를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호출하여 실제 날씨 데이터를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OpenWeather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실시간 날씨 정보를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형태로 반환하며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GPS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기반 위치 정보가 필요할 경우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KakaoLocation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getCurrentLocation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또는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findPositionByPlaceName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통해 위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 값을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수집된 날씨 정보와 함께 답변 생성 요청을 보냄으로써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사용자에게 전달할 최종 답변을 전달 받습니다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최종 답변은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TTS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이를 음성으로 출력하여 사용자에게 제공합니다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흐름은 기능 요청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의미 해석 → 기능 호출 판단 → 외부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연동 → 최종 답변 생성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5C0CC-61C6-8BC7-F314-AAF8D872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8" y="1628800"/>
            <a:ext cx="5248833" cy="383873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46CC5839-1F97-564F-98E1-2570E210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7020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Function Calling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과정을 포함한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Cloud LLM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8128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399C-BD9F-E6E3-2650-C6163A6E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3FC0365-1CB9-D0FB-6E51-354B6772B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B7C999F4-720B-47AA-7183-2C49B22698F3}"/>
              </a:ext>
            </a:extLst>
          </p:cNvPr>
          <p:cNvSpPr txBox="1">
            <a:spLocks/>
          </p:cNvSpPr>
          <p:nvPr/>
        </p:nvSpPr>
        <p:spPr>
          <a:xfrm>
            <a:off x="272481" y="998328"/>
            <a:ext cx="9444406" cy="199740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음악 플레이어에서 곡이 재생되거나 새로운 곡으로 변경되면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MediaSession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통해 해당 정보를 가져옵니다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현재 재생 중인 곡 정보를 기반으로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멘트 생성을 위해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Android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시스템을 통해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Broadcast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형태로 인텐트를 전송합니다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BroadcastReceiver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인텐트를 수신하여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내부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상태값을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갱신한 뒤 곡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singleTurnChat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호출하여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재생 중인 곡의 가사가 존재할 경우 가사 요약 요청을 보냅니다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Local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사용하여 곡 제목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아티스트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 등을 활용한 자연스러운 멘트를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멘트는 다시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이를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넘겨 음성으로 출력합니다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최종적으로 사용자에게 재생 중인 음악과 어울리는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멘트가 자연스럽게 음성으로 안내됩니다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과정은 곡 재생 이벤트 →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인텐트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전달 → 곡 정보 업데이트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기반 멘트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음성 출력 순서로 이루어집니다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5BC2FE-D398-A5C8-8137-E3DD9BD19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3140968"/>
            <a:ext cx="6312007" cy="3456384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1335BFC6-4C88-825A-50E0-8C5DC5DE7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7246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AI DJ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971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6BD3AF29-20C0-D45F-A4C8-37E3256E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Voice Chrome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0D7EA0-7E0D-AC9C-731A-2F43552C2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84" y="1274948"/>
            <a:ext cx="4155393" cy="23340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3AB518-09DF-2E8B-5C8D-456E5D4AD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77" y="3969060"/>
            <a:ext cx="4159700" cy="23340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1564D6-3155-5262-B2FA-57AABE82F0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841" y="3957417"/>
            <a:ext cx="4193137" cy="23457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2FF9F9-DCC8-72F1-7332-12D4D57F7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1840" y="1274948"/>
            <a:ext cx="4193137" cy="23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42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4C189E32-DB25-7668-9991-1EEB93F4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BB13D3-E85E-9A40-C43E-B5D488BF5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40" y="1124744"/>
            <a:ext cx="908901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806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348B291-BDB1-10A8-33F9-17AD62FA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2D77C-88C5-3C5D-8721-417DBC644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91" y="1191358"/>
            <a:ext cx="9032027" cy="50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67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2767-85B2-FD36-79B4-383D9ECC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16DD5DB-E8D7-10D0-AF80-1ED9275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0EE904B-5D47-96D2-0ABD-902CC9D75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Live AI DJ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D84DF-82A6-EE72-3D37-5200C6C8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268761"/>
            <a:ext cx="9253537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55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6305-98BE-8DDC-F866-CF7DA78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D2F6EAB-A150-09AB-C933-45871376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주요 개발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 Task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내역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DBFA6387-542A-C42A-2C9D-699D562F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42079"/>
              </p:ext>
            </p:extLst>
          </p:nvPr>
        </p:nvGraphicFramePr>
        <p:xfrm>
          <a:off x="225430" y="665523"/>
          <a:ext cx="9528170" cy="59931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688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용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88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 MAIAGENT-666 [AIAGENT]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키오스크 및 최신 버전 점검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6</a:t>
                      </a: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.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05.12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 MAIAGENT-805 [SRS-AIP-1101]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클라우드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LLM API Key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발급 및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Test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500345"/>
                  </a:ext>
                </a:extLst>
              </a:tr>
              <a:tr h="211688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MAIAGENT-945 Vehicle Q&amp;A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답변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MAIAGENT-1033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Vehicle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Q&amp;A 와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Control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답변 GUI 사양 반영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MAIAGENT-935 [26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투비원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] 4.2.2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자연어 차량 제어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_ Vehicle Control 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71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MAIAGENT-974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98388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MAIAGENT-980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보이스 크롬 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17347"/>
                  </a:ext>
                </a:extLst>
              </a:tr>
              <a:tr h="211688">
                <a:tc rowSpan="16"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비즈니스로직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MAIAGENT-833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따른 명령을 처리해야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26.05.29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MAIAGENT-834 [SRS-AIP-0501]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APP은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제어 명령을 차량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전달해야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4083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MAIAGENT-819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에 따른 명령을 처리해야 한다.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MAIAGENT-820 [SRS-AIP-0501]APP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은 제어 명령을 차량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에 전달해야 한다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.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09868"/>
                  </a:ext>
                </a:extLst>
              </a:tr>
              <a:tr h="2728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MAIAGENT-821 [SRS-AIP-0601]시스템은 제어 완료 후 사용자에게 음성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or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Text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로 결과를 안내해야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759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MAIAGENT-844 26` 6/15(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)~19(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금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주간내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, BU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장님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데모건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02853"/>
                  </a:ext>
                </a:extLst>
              </a:tr>
              <a:tr h="272879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MAIAGENT-799 [SRS-AIP-0802]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도메인 추출을 기존과 같이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LLM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을 통해서 분류 할지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별도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Semantic Router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임베딩할지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검토 필요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1025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MAIAGENT-800 [SRS-AIP-0901]사용자 지정 LLM 호출 및 답변 생성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70240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MAIAGENT-920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세팅을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shell script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0460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MAIAGENT-931 [SRS-AIP-0803]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Cloud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LLM API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Prompt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표준화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0245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MAIAGENT-979 [AI DJ]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가사 표시 기능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_Lyrics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324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MAIAGENT-972 라이브 AI DJ_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Spotify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Web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API 연동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25201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개인화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DB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6324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MAIAGENT-1107 [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] SOS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입력시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STT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호출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1024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MAIAGENT-971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검색 쿼리 및 추천 문구 생성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14197"/>
                  </a:ext>
                </a:extLst>
              </a:tr>
              <a:tr h="220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MAIAGENT-973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Spotify Streaming Background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재생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정지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Chat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26.08.20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78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3065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7DD724-CDB4-46DE-8980-774B6D46342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083a470-9989-4215-a6be-3a753a2b5f30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194078360</TotalTime>
  <Words>4446</Words>
  <Application>Microsoft Office PowerPoint</Application>
  <PresentationFormat>A4 용지(210x297mm)</PresentationFormat>
  <Paragraphs>517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HY헤드라인M</vt:lpstr>
      <vt:lpstr>굴림</vt:lpstr>
      <vt:lpstr>맑은 고딕</vt:lpstr>
      <vt:lpstr>페이퍼로지 6 SemiBold</vt:lpstr>
      <vt:lpstr>페이퍼로지 7 Bold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1446</cp:revision>
  <cp:lastPrinted>2014-02-11T08:53:40Z</cp:lastPrinted>
  <dcterms:created xsi:type="dcterms:W3CDTF">2008-08-28T07:58:34Z</dcterms:created>
  <dcterms:modified xsi:type="dcterms:W3CDTF">2026-08-25T05:39:13Z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6c8052f8-6d20-481e-a88c-2a23f34d153f_SiteId">
    <vt:lpwstr>7cf932c0-bced-4490-b11f-48d23b1fe0d9</vt:lpwstr>
  </property>
  <property fmtid="{D5CDD505-2E9C-101B-9397-08002B2CF9AE}" pid="4" name="MSIP_Label_6c8052f8-6d20-481e-a88c-2a23f34d153f_SetDate">
    <vt:lpwstr>2024-05-07T04:44:04Z</vt:lpwstr>
  </property>
  <property fmtid="{D5CDD505-2E9C-101B-9397-08002B2CF9AE}" pid="5" name="MSIP_Label_6c8052f8-6d20-481e-a88c-2a23f34d153f_Name">
    <vt:lpwstr>내부직원 사용</vt:lpwstr>
  </property>
  <property fmtid="{D5CDD505-2E9C-101B-9397-08002B2CF9AE}" pid="6" name="MSIP_Label_6c8052f8-6d20-481e-a88c-2a23f34d153f_Method">
    <vt:lpwstr>Standard</vt:lpwstr>
  </property>
  <property fmtid="{D5CDD505-2E9C-101B-9397-08002B2CF9AE}" pid="7" name="MSIP_Label_6c8052f8-6d20-481e-a88c-2a23f34d153f_Enabled">
    <vt:lpwstr>true</vt:lpwstr>
  </property>
  <property fmtid="{D5CDD505-2E9C-101B-9397-08002B2CF9AE}" pid="8" name="MSIP_Label_6c8052f8-6d20-481e-a88c-2a23f34d153f_ContentBits">
    <vt:lpwstr>8</vt:lpwstr>
  </property>
  <property fmtid="{D5CDD505-2E9C-101B-9397-08002B2CF9AE}" pid="9" name="MSIP_Label_6c8052f8-6d20-481e-a88c-2a23f34d153f_ActionId">
    <vt:lpwstr>94bd5dad-6687-4329-be00-13394449cb7c</vt:lpwstr>
  </property>
</Properties>
</file>