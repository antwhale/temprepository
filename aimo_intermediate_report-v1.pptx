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7" r:id="rId2"/>
    <p:sldMasterId id="2147483652" r:id="rId3"/>
  </p:sldMasterIdLst>
  <p:notesMasterIdLst>
    <p:notesMasterId r:id="rId29"/>
  </p:notesMasterIdLst>
  <p:sldIdLst>
    <p:sldId id="343" r:id="rId4"/>
    <p:sldId id="362" r:id="rId5"/>
    <p:sldId id="366" r:id="rId6"/>
    <p:sldId id="264" r:id="rId7"/>
    <p:sldId id="395" r:id="rId8"/>
    <p:sldId id="396" r:id="rId9"/>
    <p:sldId id="356" r:id="rId10"/>
    <p:sldId id="342" r:id="rId11"/>
    <p:sldId id="371" r:id="rId12"/>
    <p:sldId id="386" r:id="rId13"/>
    <p:sldId id="376" r:id="rId14"/>
    <p:sldId id="370" r:id="rId15"/>
    <p:sldId id="397" r:id="rId16"/>
    <p:sldId id="387" r:id="rId17"/>
    <p:sldId id="388" r:id="rId18"/>
    <p:sldId id="382" r:id="rId19"/>
    <p:sldId id="390" r:id="rId20"/>
    <p:sldId id="399" r:id="rId21"/>
    <p:sldId id="391" r:id="rId22"/>
    <p:sldId id="393" r:id="rId23"/>
    <p:sldId id="383" r:id="rId24"/>
    <p:sldId id="384" r:id="rId25"/>
    <p:sldId id="385" r:id="rId26"/>
    <p:sldId id="398" r:id="rId27"/>
    <p:sldId id="377" r:id="rId28"/>
  </p:sldIdLst>
  <p:sldSz cx="9906000" cy="6858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000068"/>
    <a:srgbClr val="004200"/>
    <a:srgbClr val="002E00"/>
    <a:srgbClr val="006600"/>
    <a:srgbClr val="A2D668"/>
    <a:srgbClr val="0000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97" autoAdjust="0"/>
    <p:restoredTop sz="90482" autoAdjust="0"/>
  </p:normalViewPr>
  <p:slideViewPr>
    <p:cSldViewPr>
      <p:cViewPr varScale="1">
        <p:scale>
          <a:sx n="165" d="100"/>
          <a:sy n="165" d="100"/>
        </p:scale>
        <p:origin x="702" y="156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42" y="-10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6913" y="739775"/>
            <a:ext cx="5343525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65BCA0B-FEA2-4C6D-8135-B5F232A2F2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04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2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E780-1DD3-4DD5-8E26-0AE60D29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9A3AB82-6393-A439-68F1-6934B1F3DC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7FE1217-620A-49D5-10A0-9CC099896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70CD56EE-722A-BDF0-F240-937CF9CB5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3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9252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9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F224-A804-C6D1-2CB3-4BD01775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3D57DDB-CC38-727F-D3D4-C581005107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199A994-7CDD-B1CB-A6A7-9BD971F98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90F9D11-CECB-AECB-B47F-E6178A738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482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A4F1-2DEB-CB45-3429-41BA9B56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8952D2F5-CFBA-FFA1-156B-7A66E82C5E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FE0D46A-DB27-A1D3-920A-4D8E89104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E29E4E7-D0B4-DAC5-7BD2-EB1AA256A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334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DB99094-17D2-4010-A0AE-C527454DDB8A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8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C831-4B1B-2B65-75D2-4DED10A1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1E277689-6C18-2781-52C5-64894D724F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F0C91523-C05C-5713-860E-24CB99451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456B7005-72B6-AF62-318D-8EDBA99B1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9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046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9D51-452C-D520-DAE2-1CB2EF4EA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BC932B00-B44D-1BE6-B012-27C7DE9C2A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5B862A8C-72DA-9C76-648B-C1F6438FF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EE457877-DE58-3302-3F8B-B9FFDE40B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10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325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A9EAB-6F7B-6771-955C-7F8280E6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C51ED13-5455-0FA9-3E74-C7F3760B3E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F0604881-F69A-CC01-0CCA-D7605F688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A404A1DA-CE1A-C47F-9EA8-8AEB1FE2C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11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1203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4843B-35FC-6F05-0785-E1A5D4F6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1627752-DB90-694E-4245-C7A63BA0B4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D79C3F06-14E8-97FA-E984-DA041D0D8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F8642D9F-3248-0603-4CF8-7D961A411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12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673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754CD-4AC9-8732-AECE-A3CA306E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3AC619E4-C310-127C-190A-E010E1A6E7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E09B4DCB-AC81-BEF4-9464-4B907A81A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7F7DF61D-24C4-8A3E-99C2-D21304FB7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13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1280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C3B8-9D1D-E3E2-3317-4CF410D1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BB3CE24-B537-2373-17AB-CCEFE6E60C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41B63F20-A74D-0516-3768-820B78F7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D7D272D5-3671-B031-028B-5B651411A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14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1716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F682-4623-682A-D586-66076D9C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FAC9552F-BD78-D881-1C90-CFE884436F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059F41D9-B702-5FD2-B3B8-5C10B9636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4BE2491-95C0-FC63-8699-D3C492DF9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15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3098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58FB-2184-2BF4-336E-AB114D0D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6201D1BC-44BE-394C-1CE4-98EB0B389D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1749AFE3-A598-3305-F9B8-8D56F6DE7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D6185971-3D3E-C862-6F4B-122AED3A0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16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050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86AB-CAAE-8CDE-6B0F-DDA7E7D9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4EA5ADA2-E38D-1BF9-17B7-DAF8070851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68FC8A86-16B9-141C-EBA1-F8873C7A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B749273C-BC58-7FE9-A87D-5C23419D6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17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563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0D5A-CCAD-8465-3090-51E74637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A2EB2E32-7D55-8930-C886-68842249F2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AB1566A5-CEF1-4335-28FD-94017D128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5AE48BB1-071A-BB01-9345-7732C7568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18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4616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DE2B-8076-2D62-504C-277043F6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22CB4B7B-6805-82A6-6B8C-1F1C7D6C28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8A9A08AB-EC6E-6C4F-7CDD-0FE1CF64A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54B1F491-53F8-6E8C-2662-3C24E9920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19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3558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DEEA-B777-E7AF-B821-83B7A45C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437F1140-531B-9A13-EF73-04853867B3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E43653FC-A86B-C0FF-04BF-F96655D98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A36D157E-E5B3-08B0-A7DB-2C30FECBF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20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67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21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0748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22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5451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23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221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5FDE-B2A0-ADAD-9FCE-746C07160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EC99650B-A457-5909-150F-6DF637194E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72085A9B-BFB4-60B7-BEE8-B174B7DD5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4E1EF6C5-940B-A63C-B8E6-B2C654528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24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6163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44B6-2A00-4CD0-A588-4D01CDD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F36C82BA-7241-2A82-8B30-EF85E7EEF9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5D941F75-98A4-2FEA-E82E-C6762680E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B47E04CB-5829-75AB-1A29-C99B4D8F3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25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940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7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9271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17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12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1676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7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9A77F8F-9608-4520-8017-5E4B26AB054F}" type="datetimeFigureOut">
              <a:rPr lang="ko-KR" altLang="en-US"/>
              <a:pPr>
                <a:defRPr/>
              </a:pPr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7E7F788-7958-4CC9-BA86-4417EA3464E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7" descr="슬로건단독형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6581775"/>
            <a:ext cx="15875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33" descr="logo0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3"/>
          <a:stretch>
            <a:fillRect/>
          </a:stretch>
        </p:blipFill>
        <p:spPr bwMode="auto">
          <a:xfrm>
            <a:off x="8599488" y="19050"/>
            <a:ext cx="1249362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56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3641089" y="4797152"/>
            <a:ext cx="2534917" cy="885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en-US" altLang="ko-KR" sz="2400" u="none" dirty="0">
                <a:latin typeface="현대하모니 M" pitchFamily="18" charset="-127"/>
                <a:ea typeface="현대하모니 M" pitchFamily="18" charset="-127"/>
              </a:rPr>
              <a:t>2026.</a:t>
            </a:r>
            <a:r>
              <a:rPr lang="ko-KR" altLang="en-US" sz="2400" u="none" dirty="0"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en-US" altLang="ko-KR" sz="2400" u="none" dirty="0">
                <a:latin typeface="현대하모니 M" pitchFamily="18" charset="-127"/>
                <a:ea typeface="현대하모니 M" pitchFamily="18" charset="-127"/>
              </a:rPr>
              <a:t>08. 14 </a:t>
            </a:r>
          </a:p>
          <a:p>
            <a:pPr marL="342900" indent="-342900" algn="ctr">
              <a:spcBef>
                <a:spcPct val="20000"/>
              </a:spcBef>
            </a:pPr>
            <a:r>
              <a:rPr lang="ko-KR" altLang="en-US" sz="2400" u="none" dirty="0">
                <a:ea typeface="현대하모니 M" panose="02020603020101020101"/>
              </a:rPr>
              <a:t>㈜투비원솔루션즈</a:t>
            </a:r>
            <a:endParaRPr lang="en-US" altLang="ko-KR" sz="2400" u="none" dirty="0">
              <a:latin typeface="현대하모니 M" pitchFamily="18" charset="-127"/>
              <a:ea typeface="현대하모니 M" panose="02020603020101020101"/>
            </a:endParaRPr>
          </a:p>
        </p:txBody>
      </p:sp>
      <p:sp>
        <p:nvSpPr>
          <p:cNvPr id="7173" name="AutoShape 5" descr="표지 -white33"/>
          <p:cNvSpPr>
            <a:spLocks noChangeArrowheads="1"/>
          </p:cNvSpPr>
          <p:nvPr/>
        </p:nvSpPr>
        <p:spPr bwMode="auto">
          <a:xfrm>
            <a:off x="595313" y="1412875"/>
            <a:ext cx="8715375" cy="1516063"/>
          </a:xfrm>
          <a:prstGeom prst="roundRect">
            <a:avLst>
              <a:gd name="adj" fmla="val 6667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ko-KR" altLang="en-US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용역과제 중간 보고서</a:t>
            </a:r>
            <a:endParaRPr lang="en-US" altLang="ko-KR" sz="2800" u="none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- AIMO 1.0 AI Agent </a:t>
            </a:r>
            <a:r>
              <a:rPr lang="ko-KR" altLang="en-US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개발 연구 </a:t>
            </a:r>
            <a:r>
              <a:rPr lang="en-US" altLang="ko-KR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296863" y="708249"/>
            <a:ext cx="2567905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개요</a:t>
            </a:r>
          </a:p>
        </p:txBody>
      </p:sp>
      <p:sp>
        <p:nvSpPr>
          <p:cNvPr id="40" name="오각형 22"/>
          <p:cNvSpPr>
            <a:spLocks noChangeArrowheads="1"/>
          </p:cNvSpPr>
          <p:nvPr/>
        </p:nvSpPr>
        <p:spPr bwMode="auto">
          <a:xfrm>
            <a:off x="631825" y="1196752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용역 목적</a:t>
            </a:r>
          </a:p>
        </p:txBody>
      </p:sp>
      <p:sp>
        <p:nvSpPr>
          <p:cNvPr id="41" name="TextBox 23"/>
          <p:cNvSpPr txBox="1">
            <a:spLocks noChangeArrowheads="1"/>
          </p:cNvSpPr>
          <p:nvPr/>
        </p:nvSpPr>
        <p:spPr bwMode="auto">
          <a:xfrm flipH="1">
            <a:off x="1917698" y="1196752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AIMO 1.0 AI Agent 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개발 연구</a:t>
            </a:r>
            <a:endParaRPr kumimoji="0" lang="en-US" altLang="ko-KR" sz="1600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44" name="오각형 22"/>
          <p:cNvSpPr>
            <a:spLocks noChangeArrowheads="1"/>
          </p:cNvSpPr>
          <p:nvPr/>
        </p:nvSpPr>
        <p:spPr bwMode="auto">
          <a:xfrm>
            <a:off x="631825" y="1844824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용역 기간</a:t>
            </a:r>
          </a:p>
        </p:txBody>
      </p:sp>
      <p:sp>
        <p:nvSpPr>
          <p:cNvPr id="45" name="TextBox 23"/>
          <p:cNvSpPr txBox="1">
            <a:spLocks noChangeArrowheads="1"/>
          </p:cNvSpPr>
          <p:nvPr/>
        </p:nvSpPr>
        <p:spPr bwMode="auto">
          <a:xfrm flipH="1">
            <a:off x="1928663" y="1844824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2026.05.01 ~ 2026.12.31 (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총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8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개월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)</a:t>
            </a:r>
          </a:p>
        </p:txBody>
      </p:sp>
      <p:sp>
        <p:nvSpPr>
          <p:cNvPr id="46" name="AutoShape 761"/>
          <p:cNvSpPr>
            <a:spLocks noChangeArrowheads="1"/>
          </p:cNvSpPr>
          <p:nvPr/>
        </p:nvSpPr>
        <p:spPr bwMode="auto">
          <a:xfrm>
            <a:off x="307975" y="2652465"/>
            <a:ext cx="2628801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내용 및 범위</a:t>
            </a: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425675"/>
              </p:ext>
            </p:extLst>
          </p:nvPr>
        </p:nvGraphicFramePr>
        <p:xfrm>
          <a:off x="488950" y="3212976"/>
          <a:ext cx="9001125" cy="28601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항목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용역 내용 및 범위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9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Vehicle Q&amp;A </a:t>
                      </a:r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및</a:t>
                      </a:r>
                      <a:endParaRPr lang="en-US" altLang="ko-KR" sz="1200" b="1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Whisper-Medium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모델을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STT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서비스 구현 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사용자 음성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입력받아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기존 대화 히스토리 기반으로 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multi-turn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Semantic Router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와 차량 매뉴얼 답변을 반환하는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Orchestrator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차량 매뉴얼에 없는 정보를 응답하는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CloudLLM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Lottie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이미지를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처리 과정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차량 매뉴얼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/DTC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코드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자동차 정비 매뉴얼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/IVI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매뉴얼 기반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결과 공유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FloatingView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Pleos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활용한 답변 출력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28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95F4-47BC-51C2-A984-7A750066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BCA35E30-A494-404F-AB6E-512B507CC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AutoShape 761">
            <a:extLst>
              <a:ext uri="{FF2B5EF4-FFF2-40B4-BE49-F238E27FC236}">
                <a16:creationId xmlns:a16="http://schemas.microsoft.com/office/drawing/2014/main" id="{CB4B966F-4BB7-D645-0EF8-0D29868DF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620688"/>
            <a:ext cx="3060849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내용 및 범위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5157B2D-7C30-C398-5024-34F767859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53118"/>
              </p:ext>
            </p:extLst>
          </p:nvPr>
        </p:nvGraphicFramePr>
        <p:xfrm>
          <a:off x="488950" y="1052736"/>
          <a:ext cx="9001125" cy="48924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항목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용역 내용 및 범위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Vehicle Control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Whisper-Medium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모델을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STT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서비스 구현 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사용자 음성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입력받아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기존 대화 히스토리 기반으로 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multi-turn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Semantic Router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와 차량 매뉴얼 답변을 반환하는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Orchestrator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사용자의 자연어 입력을 받아 차량 기능 제어하는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Lottie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이미지를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처리 과정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결과 공유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FloatingView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를 활용한 차량 제어 결과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Pleos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활용한 답변 출력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Live AI DJ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도로 주행 상황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노래 제목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가수명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가사 등을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DJ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멘트 생성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DJ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멘트 생성을 위한 모비스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On-Device GPT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개인화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DB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Spotify API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를 활용한 사용자 친화적인 노래 추천서비스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LLM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정확도 향상 및 개인화를 위한 질의 도메인화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(Query Routing)</a:t>
                      </a: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노래 추천 리스트 공유를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9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클라우드 연동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Query Routing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기반 클라우드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LLM API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연동</a:t>
                      </a:r>
                      <a:endParaRPr lang="en-US" altLang="ko-KR" sz="1200" b="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날씨 데이터 질의를 위하여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Geomatry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API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연동</a:t>
                      </a:r>
                      <a:endParaRPr lang="en-US" altLang="ko-KR" sz="1200" b="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다양한 클라우드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LLM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서비스 제공을 위하여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Open AI, Gemini,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Claude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API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연동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4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업무별 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수행 </a:t>
            </a:r>
            <a:r>
              <a:rPr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내용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B" pitchFamily="18" charset="-127"/>
              <a:ea typeface="현대하모니 B" pitchFamily="18" charset="-127"/>
              <a:cs typeface="+mn-cs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057B5A-D059-8CD2-B96E-8A4BDEF27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765239"/>
              </p:ext>
            </p:extLst>
          </p:nvPr>
        </p:nvGraphicFramePr>
        <p:xfrm>
          <a:off x="346930" y="1221155"/>
          <a:ext cx="8929688" cy="52767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834448901"/>
                    </a:ext>
                  </a:extLst>
                </a:gridCol>
                <a:gridCol w="1045258">
                  <a:extLst>
                    <a:ext uri="{9D8B030D-6E8A-4147-A177-3AD203B41FA5}">
                      <a16:colId xmlns:a16="http://schemas.microsoft.com/office/drawing/2014/main" val="2477019585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716681536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4197361404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2915706603"/>
                    </a:ext>
                  </a:extLst>
                </a:gridCol>
              </a:tblGrid>
              <a:tr h="5388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구분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설계 및 모델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현대하모니 L" pitchFamily="18" charset="-127"/>
                          <a:ea typeface="현대하모니 L" pitchFamily="18" charset="-127"/>
                        </a:rPr>
                        <a:t>온디바이스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 모델 포팅 및 </a:t>
                      </a:r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Agent 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440024"/>
                  </a:ext>
                </a:extLst>
              </a:tr>
              <a:tr h="302691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Vehicle</a:t>
                      </a:r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Q&amp;A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및</a:t>
                      </a:r>
                      <a:endParaRPr lang="en-US" altLang="ko-KR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Vehicle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Control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개발 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112956"/>
                  </a:ext>
                </a:extLst>
              </a:tr>
              <a:tr h="17109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en-US" altLang="ko-KR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솔루션즈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7719"/>
                  </a:ext>
                </a:extLst>
              </a:tr>
            </a:tbl>
          </a:graphicData>
        </a:graphic>
      </p:graphicFrame>
      <p:sp>
        <p:nvSpPr>
          <p:cNvPr id="17" name="모서리가 둥근 직사각형 1">
            <a:extLst>
              <a:ext uri="{FF2B5EF4-FFF2-40B4-BE49-F238E27FC236}">
                <a16:creationId xmlns:a16="http://schemas.microsoft.com/office/drawing/2014/main" id="{5CE7AAF1-444B-8AC6-A842-623085E27C9B}"/>
              </a:ext>
            </a:extLst>
          </p:cNvPr>
          <p:cNvSpPr/>
          <p:nvPr/>
        </p:nvSpPr>
        <p:spPr bwMode="auto">
          <a:xfrm>
            <a:off x="2487883" y="1868546"/>
            <a:ext cx="2091378" cy="503128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Whisper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기반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STT Service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4" name="모서리가 둥근 직사각형 1">
            <a:extLst>
              <a:ext uri="{FF2B5EF4-FFF2-40B4-BE49-F238E27FC236}">
                <a16:creationId xmlns:a16="http://schemas.microsoft.com/office/drawing/2014/main" id="{6806885F-D074-9B85-FB03-2D5746822A6E}"/>
              </a:ext>
            </a:extLst>
          </p:cNvPr>
          <p:cNvSpPr/>
          <p:nvPr/>
        </p:nvSpPr>
        <p:spPr bwMode="auto">
          <a:xfrm>
            <a:off x="2487883" y="3127350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On-Device RAG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데이터 및 서비스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구조 설계</a:t>
            </a: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ECCD9078-4AC0-7DBD-2131-4AFC36C5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4" y="694267"/>
            <a:ext cx="3960316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Vehicle Q&amp;A 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Vehicle Control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</a:p>
        </p:txBody>
      </p:sp>
      <p:sp>
        <p:nvSpPr>
          <p:cNvPr id="9" name="모서리가 둥근 직사각형 1">
            <a:extLst>
              <a:ext uri="{FF2B5EF4-FFF2-40B4-BE49-F238E27FC236}">
                <a16:creationId xmlns:a16="http://schemas.microsoft.com/office/drawing/2014/main" id="{B4009295-BB73-59B8-AA0C-85FE86CC23D5}"/>
              </a:ext>
            </a:extLst>
          </p:cNvPr>
          <p:cNvSpPr/>
          <p:nvPr/>
        </p:nvSpPr>
        <p:spPr bwMode="auto">
          <a:xfrm>
            <a:off x="2487883" y="3789040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On-Device Semantic Router Orchestrator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19" name="모서리가 둥근 직사각형 1">
            <a:extLst>
              <a:ext uri="{FF2B5EF4-FFF2-40B4-BE49-F238E27FC236}">
                <a16:creationId xmlns:a16="http://schemas.microsoft.com/office/drawing/2014/main" id="{C5982E94-C23C-D689-6CB8-74BE2C07F0F2}"/>
              </a:ext>
            </a:extLst>
          </p:cNvPr>
          <p:cNvSpPr/>
          <p:nvPr/>
        </p:nvSpPr>
        <p:spPr bwMode="auto">
          <a:xfrm>
            <a:off x="4811774" y="1854000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LLM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 온디바이스 포팅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21" name="모서리가 둥근 직사각형 1">
            <a:extLst>
              <a:ext uri="{FF2B5EF4-FFF2-40B4-BE49-F238E27FC236}">
                <a16:creationId xmlns:a16="http://schemas.microsoft.com/office/drawing/2014/main" id="{1F527311-A9C0-3D82-F875-E4734DC125C2}"/>
              </a:ext>
            </a:extLst>
          </p:cNvPr>
          <p:cNvSpPr/>
          <p:nvPr/>
        </p:nvSpPr>
        <p:spPr bwMode="auto">
          <a:xfrm>
            <a:off x="5891763" y="1854000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디바이스 환경에서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기본 동작 확인</a:t>
            </a:r>
          </a:p>
        </p:txBody>
      </p:sp>
      <p:sp>
        <p:nvSpPr>
          <p:cNvPr id="8203" name="모서리가 둥근 직사각형 1">
            <a:extLst>
              <a:ext uri="{FF2B5EF4-FFF2-40B4-BE49-F238E27FC236}">
                <a16:creationId xmlns:a16="http://schemas.microsoft.com/office/drawing/2014/main" id="{D174568E-EC9A-177E-6720-805FA9B26E27}"/>
              </a:ext>
            </a:extLst>
          </p:cNvPr>
          <p:cNvSpPr/>
          <p:nvPr/>
        </p:nvSpPr>
        <p:spPr bwMode="auto">
          <a:xfrm>
            <a:off x="2501582" y="590686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이벤트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, Prompt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구성 로직 개발</a:t>
            </a:r>
          </a:p>
        </p:txBody>
      </p:sp>
      <p:sp>
        <p:nvSpPr>
          <p:cNvPr id="8204" name="모서리가 둥근 직사각형 1">
            <a:extLst>
              <a:ext uri="{FF2B5EF4-FFF2-40B4-BE49-F238E27FC236}">
                <a16:creationId xmlns:a16="http://schemas.microsoft.com/office/drawing/2014/main" id="{84729824-CCEF-42F4-B3D6-814D7D1F6596}"/>
              </a:ext>
            </a:extLst>
          </p:cNvPr>
          <p:cNvSpPr/>
          <p:nvPr/>
        </p:nvSpPr>
        <p:spPr bwMode="auto">
          <a:xfrm>
            <a:off x="2487883" y="2479278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차량 메뉴얼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/DTC 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코드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자동차 정비 매뉴얼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/IVI 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매뉴얼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기반 질의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-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응답 형태 학습 데이터 구축</a:t>
            </a:r>
          </a:p>
        </p:txBody>
      </p:sp>
      <p:sp>
        <p:nvSpPr>
          <p:cNvPr id="8213" name="모서리가 둥근 직사각형 1">
            <a:extLst>
              <a:ext uri="{FF2B5EF4-FFF2-40B4-BE49-F238E27FC236}">
                <a16:creationId xmlns:a16="http://schemas.microsoft.com/office/drawing/2014/main" id="{90E14CB3-29F4-515C-B28B-8935A277D9CF}"/>
              </a:ext>
            </a:extLst>
          </p:cNvPr>
          <p:cNvSpPr/>
          <p:nvPr/>
        </p:nvSpPr>
        <p:spPr bwMode="auto">
          <a:xfrm>
            <a:off x="4802063" y="264667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온디바이스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모델과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Vector DB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기반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RAG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파이프라인 연동 구현</a:t>
            </a:r>
          </a:p>
        </p:txBody>
      </p:sp>
      <p:sp>
        <p:nvSpPr>
          <p:cNvPr id="8220" name="모서리가 둥근 직사각형 1">
            <a:extLst>
              <a:ext uri="{FF2B5EF4-FFF2-40B4-BE49-F238E27FC236}">
                <a16:creationId xmlns:a16="http://schemas.microsoft.com/office/drawing/2014/main" id="{E4CE4A99-4EF3-6FDE-0FB7-CCB41BE30495}"/>
              </a:ext>
            </a:extLst>
          </p:cNvPr>
          <p:cNvSpPr/>
          <p:nvPr/>
        </p:nvSpPr>
        <p:spPr bwMode="auto">
          <a:xfrm>
            <a:off x="2487883" y="4437112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 차량 제어 서비스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28" name="모서리가 둥근 직사각형 1">
            <a:extLst>
              <a:ext uri="{FF2B5EF4-FFF2-40B4-BE49-F238E27FC236}">
                <a16:creationId xmlns:a16="http://schemas.microsoft.com/office/drawing/2014/main" id="{506C6AF7-16A9-A95C-831E-477727508AF4}"/>
              </a:ext>
            </a:extLst>
          </p:cNvPr>
          <p:cNvSpPr/>
          <p:nvPr/>
        </p:nvSpPr>
        <p:spPr bwMode="auto">
          <a:xfrm>
            <a:off x="4802063" y="329151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각 이벤트와 아바타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애니메이션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연동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29" name="모서리가 둥근 직사각형 1">
            <a:extLst>
              <a:ext uri="{FF2B5EF4-FFF2-40B4-BE49-F238E27FC236}">
                <a16:creationId xmlns:a16="http://schemas.microsoft.com/office/drawing/2014/main" id="{9A6585BD-623F-AE03-3FEE-D25752561FB3}"/>
              </a:ext>
            </a:extLst>
          </p:cNvPr>
          <p:cNvSpPr/>
          <p:nvPr/>
        </p:nvSpPr>
        <p:spPr bwMode="auto">
          <a:xfrm>
            <a:off x="4802063" y="460012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 이벤트 기반 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SLM Prompt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처리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 명령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Intent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매핑 등 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SLM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전체 흐름 테스트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0" name="모서리가 둥근 직사각형 1">
            <a:extLst>
              <a:ext uri="{FF2B5EF4-FFF2-40B4-BE49-F238E27FC236}">
                <a16:creationId xmlns:a16="http://schemas.microsoft.com/office/drawing/2014/main" id="{014CC5DC-55B9-ECF4-EBAC-F0FB4537FE65}"/>
              </a:ext>
            </a:extLst>
          </p:cNvPr>
          <p:cNvSpPr/>
          <p:nvPr/>
        </p:nvSpPr>
        <p:spPr bwMode="auto">
          <a:xfrm>
            <a:off x="4811774" y="524463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Query Routing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API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연동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1" name="모서리가 둥근 직사각형 1">
            <a:extLst>
              <a:ext uri="{FF2B5EF4-FFF2-40B4-BE49-F238E27FC236}">
                <a16:creationId xmlns:a16="http://schemas.microsoft.com/office/drawing/2014/main" id="{9840E961-106D-91A7-DF5C-B000FB9D68A5}"/>
              </a:ext>
            </a:extLst>
          </p:cNvPr>
          <p:cNvSpPr/>
          <p:nvPr/>
        </p:nvSpPr>
        <p:spPr bwMode="auto">
          <a:xfrm>
            <a:off x="4802063" y="589217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Query Routing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도메인 포함 사용자 개인화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RAG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데이터 증분 구현</a:t>
            </a:r>
          </a:p>
        </p:txBody>
      </p:sp>
      <p:sp>
        <p:nvSpPr>
          <p:cNvPr id="8232" name="모서리가 둥근 직사각형 1">
            <a:extLst>
              <a:ext uri="{FF2B5EF4-FFF2-40B4-BE49-F238E27FC236}">
                <a16:creationId xmlns:a16="http://schemas.microsoft.com/office/drawing/2014/main" id="{794EBBC6-6BAD-4175-3447-090AECB47C1D}"/>
              </a:ext>
            </a:extLst>
          </p:cNvPr>
          <p:cNvSpPr/>
          <p:nvPr/>
        </p:nvSpPr>
        <p:spPr bwMode="auto">
          <a:xfrm>
            <a:off x="4811161" y="394282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리소스 사용량 및 추론 속도 기반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SLM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/RAG/3D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아바타 최적화</a:t>
            </a:r>
          </a:p>
        </p:txBody>
      </p:sp>
      <p:sp>
        <p:nvSpPr>
          <p:cNvPr id="8233" name="모서리가 둥근 직사각형 1">
            <a:extLst>
              <a:ext uri="{FF2B5EF4-FFF2-40B4-BE49-F238E27FC236}">
                <a16:creationId xmlns:a16="http://schemas.microsoft.com/office/drawing/2014/main" id="{16DE4054-E849-734C-FD22-0EB4D03CCCE2}"/>
              </a:ext>
            </a:extLst>
          </p:cNvPr>
          <p:cNvSpPr/>
          <p:nvPr/>
        </p:nvSpPr>
        <p:spPr bwMode="auto">
          <a:xfrm>
            <a:off x="7133593" y="1851324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성능 기준 만족 여부 확인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4" name="모서리가 둥근 직사각형 1">
            <a:extLst>
              <a:ext uri="{FF2B5EF4-FFF2-40B4-BE49-F238E27FC236}">
                <a16:creationId xmlns:a16="http://schemas.microsoft.com/office/drawing/2014/main" id="{61E77630-E05A-DF31-D294-3F24146A76FD}"/>
              </a:ext>
            </a:extLst>
          </p:cNvPr>
          <p:cNvSpPr/>
          <p:nvPr/>
        </p:nvSpPr>
        <p:spPr bwMode="auto">
          <a:xfrm>
            <a:off x="8213582" y="1851324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최종 결과물 수합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및 산출물 검토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5" name="모서리가 둥근 직사각형 1">
            <a:extLst>
              <a:ext uri="{FF2B5EF4-FFF2-40B4-BE49-F238E27FC236}">
                <a16:creationId xmlns:a16="http://schemas.microsoft.com/office/drawing/2014/main" id="{784CCDF8-8156-0C0F-12D8-041FDAF3F77C}"/>
              </a:ext>
            </a:extLst>
          </p:cNvPr>
          <p:cNvSpPr/>
          <p:nvPr/>
        </p:nvSpPr>
        <p:spPr bwMode="auto">
          <a:xfrm>
            <a:off x="7085831" y="264667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전체 기능 체크 리스트 기반 최종 통합 테스트 수행</a:t>
            </a:r>
          </a:p>
        </p:txBody>
      </p:sp>
      <p:sp>
        <p:nvSpPr>
          <p:cNvPr id="8236" name="모서리가 둥근 직사각형 1">
            <a:extLst>
              <a:ext uri="{FF2B5EF4-FFF2-40B4-BE49-F238E27FC236}">
                <a16:creationId xmlns:a16="http://schemas.microsoft.com/office/drawing/2014/main" id="{5BBDC25F-CAED-5DF3-6DC1-13A1B42F8729}"/>
              </a:ext>
            </a:extLst>
          </p:cNvPr>
          <p:cNvSpPr/>
          <p:nvPr/>
        </p:nvSpPr>
        <p:spPr bwMode="auto">
          <a:xfrm>
            <a:off x="7085831" y="329151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실제 차량 기능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연동에 대한 엔드투엔드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7" name="모서리가 둥근 직사각형 1">
            <a:extLst>
              <a:ext uri="{FF2B5EF4-FFF2-40B4-BE49-F238E27FC236}">
                <a16:creationId xmlns:a16="http://schemas.microsoft.com/office/drawing/2014/main" id="{05A421E5-AEFB-D4DC-65B4-19FAB1B2EF56}"/>
              </a:ext>
            </a:extLst>
          </p:cNvPr>
          <p:cNvSpPr/>
          <p:nvPr/>
        </p:nvSpPr>
        <p:spPr bwMode="auto">
          <a:xfrm>
            <a:off x="7085831" y="460012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릴리즈 노트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소스 코드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8" name="모서리가 둥근 직사각형 1">
            <a:extLst>
              <a:ext uri="{FF2B5EF4-FFF2-40B4-BE49-F238E27FC236}">
                <a16:creationId xmlns:a16="http://schemas.microsoft.com/office/drawing/2014/main" id="{FA36E6A5-2AE9-2F7A-8D0E-33263D6BD0CF}"/>
              </a:ext>
            </a:extLst>
          </p:cNvPr>
          <p:cNvSpPr/>
          <p:nvPr/>
        </p:nvSpPr>
        <p:spPr bwMode="auto">
          <a:xfrm>
            <a:off x="7095542" y="524463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산출물 전체 패키징 및 납품 완료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239" name="모서리가 둥근 직사각형 1">
            <a:extLst>
              <a:ext uri="{FF2B5EF4-FFF2-40B4-BE49-F238E27FC236}">
                <a16:creationId xmlns:a16="http://schemas.microsoft.com/office/drawing/2014/main" id="{7950B7F2-3756-2BC5-C9F4-9D41A4952E49}"/>
              </a:ext>
            </a:extLst>
          </p:cNvPr>
          <p:cNvSpPr/>
          <p:nvPr/>
        </p:nvSpPr>
        <p:spPr bwMode="auto">
          <a:xfrm>
            <a:off x="7085831" y="589217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모비스 검수 피드백 반영 후 최종본 확정 및 이관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240" name="모서리가 둥근 직사각형 1">
            <a:extLst>
              <a:ext uri="{FF2B5EF4-FFF2-40B4-BE49-F238E27FC236}">
                <a16:creationId xmlns:a16="http://schemas.microsoft.com/office/drawing/2014/main" id="{6EBA85FD-8EB4-D13E-B1D5-99692F59C861}"/>
              </a:ext>
            </a:extLst>
          </p:cNvPr>
          <p:cNvSpPr/>
          <p:nvPr/>
        </p:nvSpPr>
        <p:spPr bwMode="auto">
          <a:xfrm>
            <a:off x="7094929" y="394282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온디바이스 실행 환경에서 성능 튜닝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최적화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로딩 시간 개선 등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cxnSp>
        <p:nvCxnSpPr>
          <p:cNvPr id="8244" name="연결선: 꺾임 8243">
            <a:extLst>
              <a:ext uri="{FF2B5EF4-FFF2-40B4-BE49-F238E27FC236}">
                <a16:creationId xmlns:a16="http://schemas.microsoft.com/office/drawing/2014/main" id="{3F43ED1E-D4AE-0CF2-A04B-A8D25160155F}"/>
              </a:ext>
            </a:extLst>
          </p:cNvPr>
          <p:cNvCxnSpPr>
            <a:cxnSpLocks/>
            <a:stCxn id="19" idx="2"/>
            <a:endCxn id="8213" idx="0"/>
          </p:cNvCxnSpPr>
          <p:nvPr/>
        </p:nvCxnSpPr>
        <p:spPr>
          <a:xfrm rot="16200000" flipH="1">
            <a:off x="5430181" y="2229105"/>
            <a:ext cx="275002" cy="560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83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ADB78-9A7A-10F3-9B88-3BEA3351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4D99BFD5-B274-87A3-6E07-8CE48A547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업무별 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수행 </a:t>
            </a:r>
            <a:r>
              <a:rPr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내용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B" pitchFamily="18" charset="-127"/>
              <a:ea typeface="현대하모니 B" pitchFamily="18" charset="-127"/>
              <a:cs typeface="+mn-cs"/>
            </a:endParaRP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EFBB124E-D21E-8CE3-3C44-073006697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4" y="694267"/>
            <a:ext cx="3960316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Vehicle Q&amp;A 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Vehicle Control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C66B839-F583-E8E2-9D57-9B8889391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053824"/>
              </p:ext>
            </p:extLst>
          </p:nvPr>
        </p:nvGraphicFramePr>
        <p:xfrm>
          <a:off x="272480" y="1268760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설계 및 모델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" name="모서리가 둥근 직사각형 1">
            <a:extLst>
              <a:ext uri="{FF2B5EF4-FFF2-40B4-BE49-F238E27FC236}">
                <a16:creationId xmlns:a16="http://schemas.microsoft.com/office/drawing/2014/main" id="{EF6787B2-0982-9BEE-A7AE-58E22BCBEFB3}"/>
              </a:ext>
            </a:extLst>
          </p:cNvPr>
          <p:cNvSpPr/>
          <p:nvPr/>
        </p:nvSpPr>
        <p:spPr bwMode="auto">
          <a:xfrm>
            <a:off x="1712640" y="1709160"/>
            <a:ext cx="2091378" cy="503128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Whisper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기반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STT Service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6" name="모서리가 둥근 직사각형 1">
            <a:extLst>
              <a:ext uri="{FF2B5EF4-FFF2-40B4-BE49-F238E27FC236}">
                <a16:creationId xmlns:a16="http://schemas.microsoft.com/office/drawing/2014/main" id="{1D88B6A2-572D-A66B-6EC9-2D15B3F62E0D}"/>
              </a:ext>
            </a:extLst>
          </p:cNvPr>
          <p:cNvSpPr/>
          <p:nvPr/>
        </p:nvSpPr>
        <p:spPr bwMode="auto">
          <a:xfrm>
            <a:off x="6101982" y="1709160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On-Device RAG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데이터 및 서비스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구조 설계</a:t>
            </a:r>
          </a:p>
        </p:txBody>
      </p:sp>
      <p:sp>
        <p:nvSpPr>
          <p:cNvPr id="8" name="모서리가 둥근 직사각형 1">
            <a:extLst>
              <a:ext uri="{FF2B5EF4-FFF2-40B4-BE49-F238E27FC236}">
                <a16:creationId xmlns:a16="http://schemas.microsoft.com/office/drawing/2014/main" id="{B2F9B0DC-8980-A10F-922F-A139A94A682A}"/>
              </a:ext>
            </a:extLst>
          </p:cNvPr>
          <p:cNvSpPr/>
          <p:nvPr/>
        </p:nvSpPr>
        <p:spPr bwMode="auto">
          <a:xfrm>
            <a:off x="1712640" y="227377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On-Device Semantic Router Orchestrator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12" name="모서리가 둥근 직사각형 1">
            <a:extLst>
              <a:ext uri="{FF2B5EF4-FFF2-40B4-BE49-F238E27FC236}">
                <a16:creationId xmlns:a16="http://schemas.microsoft.com/office/drawing/2014/main" id="{E793D1E6-ECF6-E35F-558E-A6B73B7A080C}"/>
              </a:ext>
            </a:extLst>
          </p:cNvPr>
          <p:cNvSpPr/>
          <p:nvPr/>
        </p:nvSpPr>
        <p:spPr bwMode="auto">
          <a:xfrm>
            <a:off x="3907311" y="1709160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차량 메뉴얼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/DTC 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코드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자동차 정비 매뉴얼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/IVI 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매뉴얼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기반 질의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-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응답 형태 학습 데이터 구축</a:t>
            </a:r>
          </a:p>
        </p:txBody>
      </p:sp>
      <p:sp>
        <p:nvSpPr>
          <p:cNvPr id="14" name="모서리가 둥근 직사각형 1">
            <a:extLst>
              <a:ext uri="{FF2B5EF4-FFF2-40B4-BE49-F238E27FC236}">
                <a16:creationId xmlns:a16="http://schemas.microsoft.com/office/drawing/2014/main" id="{30A5D2F4-D7DA-0686-89C2-BDD6D42E36D7}"/>
              </a:ext>
            </a:extLst>
          </p:cNvPr>
          <p:cNvSpPr/>
          <p:nvPr/>
        </p:nvSpPr>
        <p:spPr bwMode="auto">
          <a:xfrm>
            <a:off x="3907311" y="227377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 차량 제어 서비스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16" name="모서리가 둥근 직사각형 1">
            <a:extLst>
              <a:ext uri="{FF2B5EF4-FFF2-40B4-BE49-F238E27FC236}">
                <a16:creationId xmlns:a16="http://schemas.microsoft.com/office/drawing/2014/main" id="{90186548-AB8A-6E2C-CBA2-395F17E07251}"/>
              </a:ext>
            </a:extLst>
          </p:cNvPr>
          <p:cNvSpPr/>
          <p:nvPr/>
        </p:nvSpPr>
        <p:spPr bwMode="auto">
          <a:xfrm>
            <a:off x="6101982" y="227377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UI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UX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제공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487F81DC-3185-116A-89D7-252FDB5D5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592558"/>
              </p:ext>
            </p:extLst>
          </p:nvPr>
        </p:nvGraphicFramePr>
        <p:xfrm>
          <a:off x="272480" y="3212976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현대하모니 L" pitchFamily="18" charset="-127"/>
                          <a:ea typeface="현대하모니 L" pitchFamily="18" charset="-127"/>
                        </a:rPr>
                        <a:t>온디바이스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 모델 포팅 및 기능 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493FC00-9D37-9A45-CC57-B7AF89D88957}"/>
              </a:ext>
            </a:extLst>
          </p:cNvPr>
          <p:cNvSpPr/>
          <p:nvPr/>
        </p:nvSpPr>
        <p:spPr>
          <a:xfrm>
            <a:off x="4736976" y="2924944"/>
            <a:ext cx="288032" cy="23000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모서리가 둥근 직사각형 1">
            <a:extLst>
              <a:ext uri="{FF2B5EF4-FFF2-40B4-BE49-F238E27FC236}">
                <a16:creationId xmlns:a16="http://schemas.microsoft.com/office/drawing/2014/main" id="{F062E21B-AD51-F63F-F398-FD654C011F78}"/>
              </a:ext>
            </a:extLst>
          </p:cNvPr>
          <p:cNvSpPr/>
          <p:nvPr/>
        </p:nvSpPr>
        <p:spPr bwMode="auto">
          <a:xfrm>
            <a:off x="3903676" y="361030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활용한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Multi-turn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28" name="모서리가 둥근 직사각형 1">
            <a:extLst>
              <a:ext uri="{FF2B5EF4-FFF2-40B4-BE49-F238E27FC236}">
                <a16:creationId xmlns:a16="http://schemas.microsoft.com/office/drawing/2014/main" id="{8DF34EA7-E8C9-13FE-1DB5-5920F40FFCB8}"/>
              </a:ext>
            </a:extLst>
          </p:cNvPr>
          <p:cNvSpPr/>
          <p:nvPr/>
        </p:nvSpPr>
        <p:spPr bwMode="auto">
          <a:xfrm>
            <a:off x="3903676" y="420834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리소스 사용량에 다른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Lottie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애니메이션 최적화</a:t>
            </a:r>
          </a:p>
        </p:txBody>
      </p:sp>
      <p:sp>
        <p:nvSpPr>
          <p:cNvPr id="30" name="모서리가 둥근 직사각형 1">
            <a:extLst>
              <a:ext uri="{FF2B5EF4-FFF2-40B4-BE49-F238E27FC236}">
                <a16:creationId xmlns:a16="http://schemas.microsoft.com/office/drawing/2014/main" id="{DBF9DB5C-E67A-012F-4DD9-43D41D08A93F}"/>
              </a:ext>
            </a:extLst>
          </p:cNvPr>
          <p:cNvSpPr/>
          <p:nvPr/>
        </p:nvSpPr>
        <p:spPr bwMode="auto">
          <a:xfrm>
            <a:off x="6101982" y="420834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UI/UX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2" name="모서리가 둥근 직사각형 1">
            <a:extLst>
              <a:ext uri="{FF2B5EF4-FFF2-40B4-BE49-F238E27FC236}">
                <a16:creationId xmlns:a16="http://schemas.microsoft.com/office/drawing/2014/main" id="{073BF380-96F0-C4F5-FD45-21C2661EA2D1}"/>
              </a:ext>
            </a:extLst>
          </p:cNvPr>
          <p:cNvSpPr/>
          <p:nvPr/>
        </p:nvSpPr>
        <p:spPr bwMode="auto">
          <a:xfrm>
            <a:off x="1712640" y="360285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디바이스 환경에서 기본 동작 확인</a:t>
            </a:r>
          </a:p>
        </p:txBody>
      </p:sp>
      <p:sp>
        <p:nvSpPr>
          <p:cNvPr id="35" name="모서리가 둥근 직사각형 1">
            <a:extLst>
              <a:ext uri="{FF2B5EF4-FFF2-40B4-BE49-F238E27FC236}">
                <a16:creationId xmlns:a16="http://schemas.microsoft.com/office/drawing/2014/main" id="{D5DA2894-EE92-0BC1-0950-F64957EC147B}"/>
              </a:ext>
            </a:extLst>
          </p:cNvPr>
          <p:cNvSpPr/>
          <p:nvPr/>
        </p:nvSpPr>
        <p:spPr bwMode="auto">
          <a:xfrm>
            <a:off x="6101982" y="361954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API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연동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7" name="모서리가 둥근 직사각형 1">
            <a:extLst>
              <a:ext uri="{FF2B5EF4-FFF2-40B4-BE49-F238E27FC236}">
                <a16:creationId xmlns:a16="http://schemas.microsoft.com/office/drawing/2014/main" id="{0AB48F3B-BB16-42D8-D89A-5B5ED3641128}"/>
              </a:ext>
            </a:extLst>
          </p:cNvPr>
          <p:cNvSpPr/>
          <p:nvPr/>
        </p:nvSpPr>
        <p:spPr bwMode="auto">
          <a:xfrm>
            <a:off x="1712640" y="420000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타앱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간의 데이터 공유를 위한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인터페이스 설계 및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1E0BA7E3-E035-A14C-FBEE-88511EE4D30D}"/>
              </a:ext>
            </a:extLst>
          </p:cNvPr>
          <p:cNvSpPr/>
          <p:nvPr/>
        </p:nvSpPr>
        <p:spPr>
          <a:xfrm>
            <a:off x="4736976" y="4869160"/>
            <a:ext cx="288032" cy="23000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E672779-661B-08CD-0178-F794C2B68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46289"/>
              </p:ext>
            </p:extLst>
          </p:nvPr>
        </p:nvGraphicFramePr>
        <p:xfrm>
          <a:off x="272480" y="5157192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  <a:endParaRPr lang="en-US" altLang="ko-KR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3" name="모서리가 둥근 직사각형 1">
            <a:extLst>
              <a:ext uri="{FF2B5EF4-FFF2-40B4-BE49-F238E27FC236}">
                <a16:creationId xmlns:a16="http://schemas.microsoft.com/office/drawing/2014/main" id="{D64ADF00-1669-4789-F34A-009FCD3065D8}"/>
              </a:ext>
            </a:extLst>
          </p:cNvPr>
          <p:cNvSpPr/>
          <p:nvPr/>
        </p:nvSpPr>
        <p:spPr bwMode="auto">
          <a:xfrm>
            <a:off x="1712640" y="5575622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전체 기능 체크 리스트 기반 최종 통합 테스트 수행</a:t>
            </a:r>
          </a:p>
        </p:txBody>
      </p:sp>
      <p:sp>
        <p:nvSpPr>
          <p:cNvPr id="45" name="모서리가 둥근 직사각형 1">
            <a:extLst>
              <a:ext uri="{FF2B5EF4-FFF2-40B4-BE49-F238E27FC236}">
                <a16:creationId xmlns:a16="http://schemas.microsoft.com/office/drawing/2014/main" id="{302B25DE-0416-1EB9-00AE-67944152EA49}"/>
              </a:ext>
            </a:extLst>
          </p:cNvPr>
          <p:cNvSpPr/>
          <p:nvPr/>
        </p:nvSpPr>
        <p:spPr bwMode="auto">
          <a:xfrm>
            <a:off x="1712640" y="615849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실제 차량 기능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연동에 대한 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엔드투엔드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47" name="모서리가 둥근 직사각형 1">
            <a:extLst>
              <a:ext uri="{FF2B5EF4-FFF2-40B4-BE49-F238E27FC236}">
                <a16:creationId xmlns:a16="http://schemas.microsoft.com/office/drawing/2014/main" id="{18B2CFE7-5A9D-70AD-FCDA-66636B154CD7}"/>
              </a:ext>
            </a:extLst>
          </p:cNvPr>
          <p:cNvSpPr/>
          <p:nvPr/>
        </p:nvSpPr>
        <p:spPr bwMode="auto">
          <a:xfrm>
            <a:off x="3903676" y="5575622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릴리즈 노트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소스 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49" name="모서리가 둥근 직사각형 1">
            <a:extLst>
              <a:ext uri="{FF2B5EF4-FFF2-40B4-BE49-F238E27FC236}">
                <a16:creationId xmlns:a16="http://schemas.microsoft.com/office/drawing/2014/main" id="{81B3F173-A64F-B9B7-AA26-C903BF78FE1A}"/>
              </a:ext>
            </a:extLst>
          </p:cNvPr>
          <p:cNvSpPr/>
          <p:nvPr/>
        </p:nvSpPr>
        <p:spPr bwMode="auto">
          <a:xfrm>
            <a:off x="6101982" y="615849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산출물 전체 패키징 및 납품 완료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1" name="모서리가 둥근 직사각형 1">
            <a:extLst>
              <a:ext uri="{FF2B5EF4-FFF2-40B4-BE49-F238E27FC236}">
                <a16:creationId xmlns:a16="http://schemas.microsoft.com/office/drawing/2014/main" id="{52283CD8-49B6-81B5-F90F-8F6123B86BD0}"/>
              </a:ext>
            </a:extLst>
          </p:cNvPr>
          <p:cNvSpPr/>
          <p:nvPr/>
        </p:nvSpPr>
        <p:spPr bwMode="auto">
          <a:xfrm>
            <a:off x="3903676" y="616857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모비스 검수 피드백 반영 후 최종본 확정 및 이관</a:t>
            </a:r>
          </a:p>
        </p:txBody>
      </p:sp>
      <p:sp>
        <p:nvSpPr>
          <p:cNvPr id="53" name="모서리가 둥근 직사각형 1">
            <a:extLst>
              <a:ext uri="{FF2B5EF4-FFF2-40B4-BE49-F238E27FC236}">
                <a16:creationId xmlns:a16="http://schemas.microsoft.com/office/drawing/2014/main" id="{1D7A0C98-A9F6-7441-6780-615BED137BB0}"/>
              </a:ext>
            </a:extLst>
          </p:cNvPr>
          <p:cNvSpPr/>
          <p:nvPr/>
        </p:nvSpPr>
        <p:spPr bwMode="auto">
          <a:xfrm>
            <a:off x="6102286" y="5575622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온디바이스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실행 환경에서 성능 튜닝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최적화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로딩 시간 개선 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61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708C-E334-05F1-09A3-669D148F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AAF4FF97-51D3-6681-ADE7-11848835A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업무별 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수행 </a:t>
            </a:r>
            <a:r>
              <a:rPr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내용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B" pitchFamily="18" charset="-127"/>
              <a:ea typeface="현대하모니 B" pitchFamily="18" charset="-127"/>
              <a:cs typeface="+mn-cs"/>
            </a:endParaRP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83531854-E916-2BB0-A6AB-881F1724A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4" y="694267"/>
            <a:ext cx="187220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LIVE AI DJ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4648F46-6F8D-13CA-45A4-ECF9A83AB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026325"/>
              </p:ext>
            </p:extLst>
          </p:nvPr>
        </p:nvGraphicFramePr>
        <p:xfrm>
          <a:off x="272480" y="1196660"/>
          <a:ext cx="9361040" cy="1296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설계 및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9564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14" name="모서리가 둥근 직사각형 1">
            <a:extLst>
              <a:ext uri="{FF2B5EF4-FFF2-40B4-BE49-F238E27FC236}">
                <a16:creationId xmlns:a16="http://schemas.microsoft.com/office/drawing/2014/main" id="{7FC2A64B-9986-4132-3C25-1988E7836F47}"/>
              </a:ext>
            </a:extLst>
          </p:cNvPr>
          <p:cNvSpPr/>
          <p:nvPr/>
        </p:nvSpPr>
        <p:spPr bwMode="auto">
          <a:xfrm>
            <a:off x="1640632" y="172381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 개인화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DB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설계 및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16" name="모서리가 둥근 직사각형 1">
            <a:extLst>
              <a:ext uri="{FF2B5EF4-FFF2-40B4-BE49-F238E27FC236}">
                <a16:creationId xmlns:a16="http://schemas.microsoft.com/office/drawing/2014/main" id="{DBAD94F8-2A12-FE72-63E4-FC22A09CB365}"/>
              </a:ext>
            </a:extLst>
          </p:cNvPr>
          <p:cNvSpPr/>
          <p:nvPr/>
        </p:nvSpPr>
        <p:spPr bwMode="auto">
          <a:xfrm>
            <a:off x="5967404" y="172381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UI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UX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제공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F1D5E0A-2312-E2D3-948F-65ECB31E6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667951"/>
              </p:ext>
            </p:extLst>
          </p:nvPr>
        </p:nvGraphicFramePr>
        <p:xfrm>
          <a:off x="272480" y="2996952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AIDL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 서비스 연결 및 기능 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F9B34D29-E61E-037F-C746-A24CEC444383}"/>
              </a:ext>
            </a:extLst>
          </p:cNvPr>
          <p:cNvSpPr/>
          <p:nvPr/>
        </p:nvSpPr>
        <p:spPr>
          <a:xfrm>
            <a:off x="4736976" y="2622930"/>
            <a:ext cx="288032" cy="23000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모서리가 둥근 직사각형 1">
            <a:extLst>
              <a:ext uri="{FF2B5EF4-FFF2-40B4-BE49-F238E27FC236}">
                <a16:creationId xmlns:a16="http://schemas.microsoft.com/office/drawing/2014/main" id="{931F2211-A387-0964-DB19-B747ECCB6942}"/>
              </a:ext>
            </a:extLst>
          </p:cNvPr>
          <p:cNvSpPr/>
          <p:nvPr/>
        </p:nvSpPr>
        <p:spPr bwMode="auto">
          <a:xfrm>
            <a:off x="3903676" y="3394281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가사 조회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28" name="모서리가 둥근 직사각형 1">
            <a:extLst>
              <a:ext uri="{FF2B5EF4-FFF2-40B4-BE49-F238E27FC236}">
                <a16:creationId xmlns:a16="http://schemas.microsoft.com/office/drawing/2014/main" id="{50863013-D36F-B378-0F1F-6E0D93FC57CF}"/>
              </a:ext>
            </a:extLst>
          </p:cNvPr>
          <p:cNvSpPr/>
          <p:nvPr/>
        </p:nvSpPr>
        <p:spPr bwMode="auto">
          <a:xfrm>
            <a:off x="3903676" y="399232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앱 성능을 위한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LLM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 최적화</a:t>
            </a:r>
          </a:p>
        </p:txBody>
      </p:sp>
      <p:sp>
        <p:nvSpPr>
          <p:cNvPr id="30" name="모서리가 둥근 직사각형 1">
            <a:extLst>
              <a:ext uri="{FF2B5EF4-FFF2-40B4-BE49-F238E27FC236}">
                <a16:creationId xmlns:a16="http://schemas.microsoft.com/office/drawing/2014/main" id="{1A3AC310-FFE8-B641-4391-294438676905}"/>
              </a:ext>
            </a:extLst>
          </p:cNvPr>
          <p:cNvSpPr/>
          <p:nvPr/>
        </p:nvSpPr>
        <p:spPr bwMode="auto">
          <a:xfrm>
            <a:off x="6101982" y="399232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UI/UX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2" name="모서리가 둥근 직사각형 1">
            <a:extLst>
              <a:ext uri="{FF2B5EF4-FFF2-40B4-BE49-F238E27FC236}">
                <a16:creationId xmlns:a16="http://schemas.microsoft.com/office/drawing/2014/main" id="{324A1E3B-46C9-88FB-B96D-23AEB1E35E63}"/>
              </a:ext>
            </a:extLst>
          </p:cNvPr>
          <p:cNvSpPr/>
          <p:nvPr/>
        </p:nvSpPr>
        <p:spPr bwMode="auto">
          <a:xfrm>
            <a:off x="1712640" y="3386831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개인화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DB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서비스 연결 및 조회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5" name="모서리가 둥근 직사각형 1">
            <a:extLst>
              <a:ext uri="{FF2B5EF4-FFF2-40B4-BE49-F238E27FC236}">
                <a16:creationId xmlns:a16="http://schemas.microsoft.com/office/drawing/2014/main" id="{D5795625-D3D9-480F-AF88-27C59F53EF0E}"/>
              </a:ext>
            </a:extLst>
          </p:cNvPr>
          <p:cNvSpPr/>
          <p:nvPr/>
        </p:nvSpPr>
        <p:spPr bwMode="auto">
          <a:xfrm>
            <a:off x="6101982" y="340351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API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활용한 </a:t>
            </a:r>
            <a:r>
              <a:rPr kumimoji="0" lang="en-US" altLang="ko-KR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MusicRouter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7" name="모서리가 둥근 직사각형 1">
            <a:extLst>
              <a:ext uri="{FF2B5EF4-FFF2-40B4-BE49-F238E27FC236}">
                <a16:creationId xmlns:a16="http://schemas.microsoft.com/office/drawing/2014/main" id="{6A903010-8945-6000-BD7F-D96E89280316}"/>
              </a:ext>
            </a:extLst>
          </p:cNvPr>
          <p:cNvSpPr/>
          <p:nvPr/>
        </p:nvSpPr>
        <p:spPr bwMode="auto">
          <a:xfrm>
            <a:off x="1712640" y="398397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타앱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간의 데이터 공유를 위한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인터페이스 설계 및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BF5DAF38-67FD-1AE3-7755-6F9ECEA8CD80}"/>
              </a:ext>
            </a:extLst>
          </p:cNvPr>
          <p:cNvSpPr/>
          <p:nvPr/>
        </p:nvSpPr>
        <p:spPr>
          <a:xfrm>
            <a:off x="4736976" y="4711162"/>
            <a:ext cx="288032" cy="23000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66E4CA0D-1EE7-9518-6BA5-79E59F235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466456"/>
              </p:ext>
            </p:extLst>
          </p:nvPr>
        </p:nvGraphicFramePr>
        <p:xfrm>
          <a:off x="272480" y="5085184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  <a:endParaRPr lang="en-US" altLang="ko-KR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3" name="모서리가 둥근 직사각형 1">
            <a:extLst>
              <a:ext uri="{FF2B5EF4-FFF2-40B4-BE49-F238E27FC236}">
                <a16:creationId xmlns:a16="http://schemas.microsoft.com/office/drawing/2014/main" id="{57BF777F-CC90-4EA3-0A3B-A8640887DD06}"/>
              </a:ext>
            </a:extLst>
          </p:cNvPr>
          <p:cNvSpPr/>
          <p:nvPr/>
        </p:nvSpPr>
        <p:spPr bwMode="auto">
          <a:xfrm>
            <a:off x="1712640" y="5503614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전체 기능 체크 리스트 기반 최종 통합 테스트 수행</a:t>
            </a:r>
          </a:p>
        </p:txBody>
      </p:sp>
      <p:sp>
        <p:nvSpPr>
          <p:cNvPr id="45" name="모서리가 둥근 직사각형 1">
            <a:extLst>
              <a:ext uri="{FF2B5EF4-FFF2-40B4-BE49-F238E27FC236}">
                <a16:creationId xmlns:a16="http://schemas.microsoft.com/office/drawing/2014/main" id="{DD565B40-3C45-13F0-525E-2C3B9358268D}"/>
              </a:ext>
            </a:extLst>
          </p:cNvPr>
          <p:cNvSpPr/>
          <p:nvPr/>
        </p:nvSpPr>
        <p:spPr bwMode="auto">
          <a:xfrm>
            <a:off x="1712640" y="608648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실제 차량 기능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연동에 대한 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엔드투엔드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47" name="모서리가 둥근 직사각형 1">
            <a:extLst>
              <a:ext uri="{FF2B5EF4-FFF2-40B4-BE49-F238E27FC236}">
                <a16:creationId xmlns:a16="http://schemas.microsoft.com/office/drawing/2014/main" id="{1E8DC7A9-36A9-183C-988C-773A8FBF531B}"/>
              </a:ext>
            </a:extLst>
          </p:cNvPr>
          <p:cNvSpPr/>
          <p:nvPr/>
        </p:nvSpPr>
        <p:spPr bwMode="auto">
          <a:xfrm>
            <a:off x="3903676" y="5503614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릴리즈 노트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소스 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49" name="모서리가 둥근 직사각형 1">
            <a:extLst>
              <a:ext uri="{FF2B5EF4-FFF2-40B4-BE49-F238E27FC236}">
                <a16:creationId xmlns:a16="http://schemas.microsoft.com/office/drawing/2014/main" id="{505EF636-2DA2-0C60-3F95-599A842F49A9}"/>
              </a:ext>
            </a:extLst>
          </p:cNvPr>
          <p:cNvSpPr/>
          <p:nvPr/>
        </p:nvSpPr>
        <p:spPr bwMode="auto">
          <a:xfrm>
            <a:off x="6101982" y="608648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산출물 전체 패키징 및 납품 완료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1" name="모서리가 둥근 직사각형 1">
            <a:extLst>
              <a:ext uri="{FF2B5EF4-FFF2-40B4-BE49-F238E27FC236}">
                <a16:creationId xmlns:a16="http://schemas.microsoft.com/office/drawing/2014/main" id="{D5E60DA6-AF7E-52B8-F641-2989296F9CCC}"/>
              </a:ext>
            </a:extLst>
          </p:cNvPr>
          <p:cNvSpPr/>
          <p:nvPr/>
        </p:nvSpPr>
        <p:spPr bwMode="auto">
          <a:xfrm>
            <a:off x="3903676" y="609656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모비스 검수 피드백 반영 후 최종본 확정 및 이관</a:t>
            </a:r>
          </a:p>
        </p:txBody>
      </p:sp>
      <p:sp>
        <p:nvSpPr>
          <p:cNvPr id="53" name="모서리가 둥근 직사각형 1">
            <a:extLst>
              <a:ext uri="{FF2B5EF4-FFF2-40B4-BE49-F238E27FC236}">
                <a16:creationId xmlns:a16="http://schemas.microsoft.com/office/drawing/2014/main" id="{792303A1-283C-C4B4-3D4E-F9CFBFEFB2D7}"/>
              </a:ext>
            </a:extLst>
          </p:cNvPr>
          <p:cNvSpPr/>
          <p:nvPr/>
        </p:nvSpPr>
        <p:spPr bwMode="auto">
          <a:xfrm>
            <a:off x="6102286" y="5503614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온디바이스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실행 환경에서 성능 튜닝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최적화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로딩 시간 개선 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5" name="모서리가 둥근 직사각형 1">
            <a:extLst>
              <a:ext uri="{FF2B5EF4-FFF2-40B4-BE49-F238E27FC236}">
                <a16:creationId xmlns:a16="http://schemas.microsoft.com/office/drawing/2014/main" id="{C0880B94-DEFF-2DF8-10F7-F22AE15B0719}"/>
              </a:ext>
            </a:extLst>
          </p:cNvPr>
          <p:cNvSpPr/>
          <p:nvPr/>
        </p:nvSpPr>
        <p:spPr bwMode="auto">
          <a:xfrm>
            <a:off x="3804018" y="172381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가사 조회 서비스 설계 및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71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F615331-AF97-66F4-6E33-5FBC8B6A4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27819"/>
              </p:ext>
            </p:extLst>
          </p:nvPr>
        </p:nvGraphicFramePr>
        <p:xfrm>
          <a:off x="272480" y="726353"/>
          <a:ext cx="9360594" cy="290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4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4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분 류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 목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제출 </a:t>
                      </a:r>
                      <a:r>
                        <a:rPr lang="ko-KR" altLang="en-US" sz="1600" i="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형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제출 기한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46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M" pitchFamily="18" charset="-127"/>
                          <a:ea typeface="현대하모니 M" pitchFamily="18" charset="-127"/>
                        </a:rPr>
                        <a:t>SADS </a:t>
                      </a: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시스템 아키텍처 설계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소스 코드 및 바이너리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aseline="0">
                          <a:latin typeface="현대하모니 M" pitchFamily="18" charset="-127"/>
                          <a:ea typeface="현대하모니 M" pitchFamily="18" charset="-127"/>
                        </a:rPr>
                        <a:t>전체 기능 소스 코드 및 실행 바이너리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릴리즈 노트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aseline="0">
                          <a:latin typeface="현대하모니 M" pitchFamily="18" charset="-127"/>
                          <a:ea typeface="현대하모니 M" pitchFamily="18" charset="-127"/>
                        </a:rPr>
                        <a:t>릴리즈 노트 문서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1" marR="36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과제 계획서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전체 개발 일정</a:t>
                      </a:r>
                      <a:r>
                        <a:rPr lang="en-US" altLang="ko-KR" sz="1200" dirty="0">
                          <a:latin typeface="현대하모니 M" pitchFamily="18" charset="-127"/>
                          <a:ea typeface="현대하모니 M" pitchFamily="18" charset="-127"/>
                        </a:rPr>
                        <a:t>, </a:t>
                      </a: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추진 전략 등 과제 계획서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완료 보고서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최종 개발 결과 및 검수 내역 포함 보고서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83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시나리오 기반 통합 테스트 결과서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시나리오 기반 통합 테스트 수행 결과서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용역산출물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74" y="5874278"/>
            <a:ext cx="4259747" cy="2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ko-KR" sz="1200" u="none" dirty="0">
                <a:latin typeface="현대하모니 M" pitchFamily="18" charset="-127"/>
                <a:ea typeface="현대하모니 M" pitchFamily="18" charset="-127"/>
              </a:rPr>
              <a:t>※ 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상기 용역산출물은 본 계약에 따라 </a:t>
            </a:r>
            <a:r>
              <a:rPr lang="ko-KR" altLang="en-US" sz="1200" u="none" dirty="0" err="1">
                <a:latin typeface="현대하모니 M" pitchFamily="18" charset="-127"/>
                <a:ea typeface="현대하모니 M" pitchFamily="18" charset="-127"/>
              </a:rPr>
              <a:t>모비스의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 소유로 한다</a:t>
            </a:r>
            <a:r>
              <a:rPr lang="en-US" altLang="ko-KR" sz="1200" u="none" dirty="0">
                <a:latin typeface="현대하모니 M" pitchFamily="18" charset="-127"/>
                <a:ea typeface="현대하모니 M" pitchFamily="18" charset="-127"/>
              </a:rPr>
              <a:t>.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 </a:t>
            </a:r>
            <a:endParaRPr lang="en-US" altLang="ko-KR" sz="1200" u="none" dirty="0"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9027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4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수행 이력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006467"/>
              </p:ext>
            </p:extLst>
          </p:nvPr>
        </p:nvGraphicFramePr>
        <p:xfrm>
          <a:off x="488504" y="1157720"/>
          <a:ext cx="8911738" cy="5295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43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643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643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4776">
                <a:tc row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‘26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년</a:t>
                      </a:r>
                      <a:endParaRPr lang="ko-KR" altLang="en-US" sz="1400" dirty="0"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ea typeface="현대하모니 L" pitchFamily="18" charset="-127"/>
                        </a:rPr>
                        <a:t>5</a:t>
                      </a:r>
                      <a:endParaRPr lang="ko-KR" altLang="en-US" sz="1400" dirty="0"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6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7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8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9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19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용역</a:t>
                      </a: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일정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1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S/W</a:t>
                      </a:r>
                      <a:r>
                        <a:rPr lang="en-US" altLang="ko-KR" sz="1200" b="1" baseline="0" dirty="0"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lang="ko-KR" altLang="en-US" sz="1200" b="1" baseline="0" dirty="0">
                          <a:latin typeface="현대하모니 L" pitchFamily="18" charset="-127"/>
                          <a:ea typeface="현대하모니 L" pitchFamily="18" charset="-127"/>
                        </a:rPr>
                        <a:t>개발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기타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타원 39"/>
          <p:cNvSpPr/>
          <p:nvPr/>
        </p:nvSpPr>
        <p:spPr bwMode="auto">
          <a:xfrm>
            <a:off x="2072680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12368" name="TextBox 5"/>
          <p:cNvSpPr txBox="1">
            <a:spLocks noChangeArrowheads="1"/>
          </p:cNvSpPr>
          <p:nvPr/>
        </p:nvSpPr>
        <p:spPr bwMode="auto">
          <a:xfrm>
            <a:off x="2072928" y="1890505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용역</a:t>
            </a:r>
            <a:endParaRPr lang="en-US" altLang="ko-KR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착수</a:t>
            </a:r>
          </a:p>
        </p:txBody>
      </p:sp>
      <p:sp>
        <p:nvSpPr>
          <p:cNvPr id="12372" name="TextBox 18"/>
          <p:cNvSpPr txBox="1">
            <a:spLocks noChangeArrowheads="1"/>
          </p:cNvSpPr>
          <p:nvPr/>
        </p:nvSpPr>
        <p:spPr bwMode="auto">
          <a:xfrm>
            <a:off x="8164517" y="2546982"/>
            <a:ext cx="7489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9/7</a:t>
            </a:r>
          </a:p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중간보고</a:t>
            </a:r>
          </a:p>
        </p:txBody>
      </p:sp>
      <p:sp>
        <p:nvSpPr>
          <p:cNvPr id="12373" name="TextBox 20"/>
          <p:cNvSpPr txBox="1">
            <a:spLocks noChangeArrowheads="1"/>
          </p:cNvSpPr>
          <p:nvPr/>
        </p:nvSpPr>
        <p:spPr bwMode="auto">
          <a:xfrm>
            <a:off x="2000672" y="2492896"/>
            <a:ext cx="3946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5/1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374" name="TextBox 22"/>
          <p:cNvSpPr txBox="1">
            <a:spLocks noChangeArrowheads="1"/>
          </p:cNvSpPr>
          <p:nvPr/>
        </p:nvSpPr>
        <p:spPr bwMode="auto">
          <a:xfrm>
            <a:off x="6431897" y="1916832"/>
            <a:ext cx="6078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서비스</a:t>
            </a:r>
            <a:endParaRPr lang="en-US" altLang="ko-KR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통합</a:t>
            </a:r>
          </a:p>
        </p:txBody>
      </p:sp>
      <p:sp>
        <p:nvSpPr>
          <p:cNvPr id="12375" name="TextBox 23"/>
          <p:cNvSpPr txBox="1">
            <a:spLocks noChangeArrowheads="1"/>
          </p:cNvSpPr>
          <p:nvPr/>
        </p:nvSpPr>
        <p:spPr bwMode="auto">
          <a:xfrm>
            <a:off x="6513611" y="2554275"/>
            <a:ext cx="3946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8/7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81" name="타원 80"/>
          <p:cNvSpPr/>
          <p:nvPr/>
        </p:nvSpPr>
        <p:spPr bwMode="auto">
          <a:xfrm>
            <a:off x="9273729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cxnSp>
        <p:nvCxnSpPr>
          <p:cNvPr id="4" name="직선 연결선 3"/>
          <p:cNvCxnSpPr>
            <a:stCxn id="40" idx="6"/>
            <a:endCxn id="81" idx="2"/>
          </p:cNvCxnSpPr>
          <p:nvPr/>
        </p:nvCxnSpPr>
        <p:spPr bwMode="auto">
          <a:xfrm>
            <a:off x="2252067" y="2436441"/>
            <a:ext cx="7021662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/>
        </p:nvSpPr>
        <p:spPr bwMode="auto">
          <a:xfrm>
            <a:off x="8456303" y="2345953"/>
            <a:ext cx="179388" cy="1809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79" name="직사각형 78"/>
          <p:cNvSpPr/>
          <p:nvPr/>
        </p:nvSpPr>
        <p:spPr bwMode="auto">
          <a:xfrm>
            <a:off x="6949645" y="2257785"/>
            <a:ext cx="1387731" cy="333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최적화 및 오류개선</a:t>
            </a:r>
          </a:p>
        </p:txBody>
      </p:sp>
      <p:sp>
        <p:nvSpPr>
          <p:cNvPr id="99" name="타원 98"/>
          <p:cNvSpPr/>
          <p:nvPr/>
        </p:nvSpPr>
        <p:spPr bwMode="auto">
          <a:xfrm>
            <a:off x="6645821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12398" name="TextBox 25"/>
          <p:cNvSpPr txBox="1">
            <a:spLocks noChangeArrowheads="1"/>
          </p:cNvSpPr>
          <p:nvPr/>
        </p:nvSpPr>
        <p:spPr bwMode="auto">
          <a:xfrm>
            <a:off x="2000672" y="3068960"/>
            <a:ext cx="135331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시스템 상세 설계</a:t>
            </a:r>
          </a:p>
        </p:txBody>
      </p:sp>
      <p:sp>
        <p:nvSpPr>
          <p:cNvPr id="62" name="TextBox 9"/>
          <p:cNvSpPr txBox="1">
            <a:spLocks noChangeArrowheads="1"/>
          </p:cNvSpPr>
          <p:nvPr/>
        </p:nvSpPr>
        <p:spPr bwMode="auto">
          <a:xfrm>
            <a:off x="272480" y="764704"/>
            <a:ext cx="42851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용역 기간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: 2026.05.1 ~ 2026.12.31 (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총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8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개월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8BBB1325-E834-07CB-8BF7-C310D3F48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4082" y="5942448"/>
            <a:ext cx="131157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BU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장님 보고 준비</a:t>
            </a:r>
          </a:p>
        </p:txBody>
      </p:sp>
      <p:sp>
        <p:nvSpPr>
          <p:cNvPr id="58" name="TextBox 25">
            <a:extLst>
              <a:ext uri="{FF2B5EF4-FFF2-40B4-BE49-F238E27FC236}">
                <a16:creationId xmlns:a16="http://schemas.microsoft.com/office/drawing/2014/main" id="{D072E878-719D-4BA7-5BE5-E0BB6BBA9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5951" y="4031486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Music Router 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개발</a:t>
            </a:r>
          </a:p>
        </p:txBody>
      </p:sp>
      <p:sp>
        <p:nvSpPr>
          <p:cNvPr id="66" name="TextBox 25">
            <a:extLst>
              <a:ext uri="{FF2B5EF4-FFF2-40B4-BE49-F238E27FC236}">
                <a16:creationId xmlns:a16="http://schemas.microsoft.com/office/drawing/2014/main" id="{EFB189F6-2FE3-A90B-0788-92C9436C6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450" y="4966723"/>
            <a:ext cx="8451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UI/UX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구현</a:t>
            </a:r>
          </a:p>
        </p:txBody>
      </p:sp>
      <p:sp>
        <p:nvSpPr>
          <p:cNvPr id="74" name="TextBox 25">
            <a:extLst>
              <a:ext uri="{FF2B5EF4-FFF2-40B4-BE49-F238E27FC236}">
                <a16:creationId xmlns:a16="http://schemas.microsoft.com/office/drawing/2014/main" id="{50C122E2-BC77-B2E3-FDEE-08E2F768D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00" y="5607239"/>
            <a:ext cx="127631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오류 및 </a:t>
            </a:r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GUI 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개선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E0F4CF6D-F111-D612-9461-2866BB6D7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871" y="4412997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Multi-Turn 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기능 개발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CB6BA099-4E07-0B62-9B3D-DF103D42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720" y="5388657"/>
            <a:ext cx="135331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 err="1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남양테크쇼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준비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6669884-7B67-544E-760A-D70F97A01301}"/>
              </a:ext>
            </a:extLst>
          </p:cNvPr>
          <p:cNvSpPr/>
          <p:nvPr/>
        </p:nvSpPr>
        <p:spPr bwMode="auto">
          <a:xfrm>
            <a:off x="2072680" y="3368086"/>
            <a:ext cx="126513" cy="14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9031445A-CB14-DFCF-37BB-A4A6FFA3D240}"/>
              </a:ext>
            </a:extLst>
          </p:cNvPr>
          <p:cNvCxnSpPr>
            <a:cxnSpLocks/>
          </p:cNvCxnSpPr>
          <p:nvPr/>
        </p:nvCxnSpPr>
        <p:spPr bwMode="auto">
          <a:xfrm>
            <a:off x="2199193" y="3429000"/>
            <a:ext cx="722474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772C066-9D48-F9B0-3F67-6A3509F0AD93}"/>
              </a:ext>
            </a:extLst>
          </p:cNvPr>
          <p:cNvSpPr/>
          <p:nvPr/>
        </p:nvSpPr>
        <p:spPr bwMode="auto">
          <a:xfrm>
            <a:off x="2921667" y="3368084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9AE7328-78A6-7844-A477-9E2F591B323B}"/>
              </a:ext>
            </a:extLst>
          </p:cNvPr>
          <p:cNvCxnSpPr>
            <a:cxnSpLocks/>
            <a:endCxn id="93" idx="1"/>
          </p:cNvCxnSpPr>
          <p:nvPr/>
        </p:nvCxnSpPr>
        <p:spPr bwMode="auto">
          <a:xfrm>
            <a:off x="2863571" y="5740040"/>
            <a:ext cx="543820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0027E92-8D04-331B-E045-2635F46F8086}"/>
              </a:ext>
            </a:extLst>
          </p:cNvPr>
          <p:cNvSpPr/>
          <p:nvPr/>
        </p:nvSpPr>
        <p:spPr bwMode="auto">
          <a:xfrm>
            <a:off x="3407391" y="5674816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1C2B3FB-524D-CE52-290B-4A2F971E5B85}"/>
              </a:ext>
            </a:extLst>
          </p:cNvPr>
          <p:cNvSpPr/>
          <p:nvPr/>
        </p:nvSpPr>
        <p:spPr bwMode="auto">
          <a:xfrm>
            <a:off x="2731171" y="5674816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206412F6-F7DA-ED36-6406-D60F2550A3BF}"/>
              </a:ext>
            </a:extLst>
          </p:cNvPr>
          <p:cNvCxnSpPr>
            <a:cxnSpLocks/>
            <a:endCxn id="100" idx="1"/>
          </p:cNvCxnSpPr>
          <p:nvPr/>
        </p:nvCxnSpPr>
        <p:spPr bwMode="auto">
          <a:xfrm>
            <a:off x="3691739" y="6244096"/>
            <a:ext cx="543820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BF358528-82B5-7EFC-8723-EDF9E5B47746}"/>
              </a:ext>
            </a:extLst>
          </p:cNvPr>
          <p:cNvSpPr/>
          <p:nvPr/>
        </p:nvSpPr>
        <p:spPr bwMode="auto">
          <a:xfrm>
            <a:off x="4235559" y="6178872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B0082C4-4725-6E64-FA3C-A7F16DE86B0A}"/>
              </a:ext>
            </a:extLst>
          </p:cNvPr>
          <p:cNvSpPr/>
          <p:nvPr/>
        </p:nvSpPr>
        <p:spPr bwMode="auto">
          <a:xfrm>
            <a:off x="3559339" y="6178872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758F753-D8B0-38C0-AB04-9F83CABB1286}"/>
              </a:ext>
            </a:extLst>
          </p:cNvPr>
          <p:cNvCxnSpPr>
            <a:cxnSpLocks/>
            <a:stCxn id="107" idx="3"/>
            <a:endCxn id="103" idx="1"/>
          </p:cNvCxnSpPr>
          <p:nvPr/>
        </p:nvCxnSpPr>
        <p:spPr bwMode="auto">
          <a:xfrm>
            <a:off x="3224808" y="4711694"/>
            <a:ext cx="1025615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EF9402D-1BF2-9498-97A6-9047E9CE7B67}"/>
              </a:ext>
            </a:extLst>
          </p:cNvPr>
          <p:cNvSpPr/>
          <p:nvPr/>
        </p:nvSpPr>
        <p:spPr bwMode="auto">
          <a:xfrm>
            <a:off x="4250423" y="4646470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4632FA1-81E1-129B-5C76-89AA9A79E997}"/>
              </a:ext>
            </a:extLst>
          </p:cNvPr>
          <p:cNvSpPr/>
          <p:nvPr/>
        </p:nvSpPr>
        <p:spPr bwMode="auto">
          <a:xfrm>
            <a:off x="3098295" y="4646470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10" name="TextBox 25">
            <a:extLst>
              <a:ext uri="{FF2B5EF4-FFF2-40B4-BE49-F238E27FC236}">
                <a16:creationId xmlns:a16="http://schemas.microsoft.com/office/drawing/2014/main" id="{430B1C95-7A13-7999-1731-41B7CD34F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511" y="4398715"/>
            <a:ext cx="245612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STT, Orchestrator, GPT Service 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연동</a:t>
            </a: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3FCF395C-3C46-2B93-C0BF-10E149ACA0B3}"/>
              </a:ext>
            </a:extLst>
          </p:cNvPr>
          <p:cNvCxnSpPr>
            <a:cxnSpLocks/>
            <a:stCxn id="113" idx="3"/>
            <a:endCxn id="112" idx="1"/>
          </p:cNvCxnSpPr>
          <p:nvPr/>
        </p:nvCxnSpPr>
        <p:spPr bwMode="auto">
          <a:xfrm>
            <a:off x="4389695" y="5222416"/>
            <a:ext cx="3587641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494F5608-C8BE-C921-7BAD-A69FA95ECC48}"/>
              </a:ext>
            </a:extLst>
          </p:cNvPr>
          <p:cNvSpPr/>
          <p:nvPr/>
        </p:nvSpPr>
        <p:spPr bwMode="auto">
          <a:xfrm>
            <a:off x="7977336" y="5157192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341109B-AF17-05B3-4C99-EEC63A6A8E28}"/>
              </a:ext>
            </a:extLst>
          </p:cNvPr>
          <p:cNvSpPr/>
          <p:nvPr/>
        </p:nvSpPr>
        <p:spPr bwMode="auto">
          <a:xfrm>
            <a:off x="4263182" y="5157192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65BDDD0E-7E4A-DDD6-F923-6CADA4C4250E}"/>
              </a:ext>
            </a:extLst>
          </p:cNvPr>
          <p:cNvCxnSpPr>
            <a:cxnSpLocks/>
            <a:stCxn id="116" idx="3"/>
            <a:endCxn id="115" idx="1"/>
          </p:cNvCxnSpPr>
          <p:nvPr/>
        </p:nvCxnSpPr>
        <p:spPr bwMode="auto">
          <a:xfrm>
            <a:off x="5126649" y="4710892"/>
            <a:ext cx="1356022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6D7702B-17A3-0752-8A8D-E923D8620FAE}"/>
              </a:ext>
            </a:extLst>
          </p:cNvPr>
          <p:cNvSpPr/>
          <p:nvPr/>
        </p:nvSpPr>
        <p:spPr bwMode="auto">
          <a:xfrm>
            <a:off x="6482671" y="4645668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D395853-E8C6-E1FE-3F9E-27E3495925FC}"/>
              </a:ext>
            </a:extLst>
          </p:cNvPr>
          <p:cNvSpPr/>
          <p:nvPr/>
        </p:nvSpPr>
        <p:spPr bwMode="auto">
          <a:xfrm>
            <a:off x="5000136" y="4645668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ADEDB5C8-93D3-20F4-1325-A495C353D31E}"/>
              </a:ext>
            </a:extLst>
          </p:cNvPr>
          <p:cNvCxnSpPr>
            <a:cxnSpLocks/>
            <a:stCxn id="119" idx="3"/>
            <a:endCxn id="118" idx="1"/>
          </p:cNvCxnSpPr>
          <p:nvPr/>
        </p:nvCxnSpPr>
        <p:spPr bwMode="auto">
          <a:xfrm>
            <a:off x="5897044" y="4325435"/>
            <a:ext cx="1122495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16A3925F-E920-BE25-C8C1-C253A421F272}"/>
              </a:ext>
            </a:extLst>
          </p:cNvPr>
          <p:cNvSpPr/>
          <p:nvPr/>
        </p:nvSpPr>
        <p:spPr bwMode="auto">
          <a:xfrm>
            <a:off x="7019539" y="4260211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02876718-09CB-0318-FEB5-8F40F39625F0}"/>
              </a:ext>
            </a:extLst>
          </p:cNvPr>
          <p:cNvSpPr/>
          <p:nvPr/>
        </p:nvSpPr>
        <p:spPr bwMode="auto">
          <a:xfrm>
            <a:off x="5770531" y="4260211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F01D9E70-A7C1-A20E-167B-10EB1E967C99}"/>
              </a:ext>
            </a:extLst>
          </p:cNvPr>
          <p:cNvCxnSpPr>
            <a:cxnSpLocks/>
            <a:stCxn id="122" idx="3"/>
            <a:endCxn id="121" idx="1"/>
          </p:cNvCxnSpPr>
          <p:nvPr/>
        </p:nvCxnSpPr>
        <p:spPr bwMode="auto">
          <a:xfrm>
            <a:off x="7023729" y="5946694"/>
            <a:ext cx="765731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5861E80-A256-4F4B-A79E-A874A31E6EEB}"/>
              </a:ext>
            </a:extLst>
          </p:cNvPr>
          <p:cNvSpPr/>
          <p:nvPr/>
        </p:nvSpPr>
        <p:spPr bwMode="auto">
          <a:xfrm>
            <a:off x="7789460" y="5881470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05366F15-7C41-6F35-89E4-2D74808546DE}"/>
              </a:ext>
            </a:extLst>
          </p:cNvPr>
          <p:cNvSpPr/>
          <p:nvPr/>
        </p:nvSpPr>
        <p:spPr bwMode="auto">
          <a:xfrm>
            <a:off x="6897216" y="5881470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460FF95-14FD-2E88-3E60-CBA77C1AAA71}"/>
              </a:ext>
            </a:extLst>
          </p:cNvPr>
          <p:cNvSpPr/>
          <p:nvPr/>
        </p:nvSpPr>
        <p:spPr bwMode="auto">
          <a:xfrm>
            <a:off x="2926192" y="3741190"/>
            <a:ext cx="126513" cy="14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96D8577C-0BE8-2029-75F7-8F479419E026}"/>
              </a:ext>
            </a:extLst>
          </p:cNvPr>
          <p:cNvCxnSpPr>
            <a:cxnSpLocks/>
          </p:cNvCxnSpPr>
          <p:nvPr/>
        </p:nvCxnSpPr>
        <p:spPr bwMode="auto">
          <a:xfrm>
            <a:off x="3052705" y="3802104"/>
            <a:ext cx="722474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D69C3D5-1892-65D2-20A4-F41CBD95BF5A}"/>
              </a:ext>
            </a:extLst>
          </p:cNvPr>
          <p:cNvSpPr/>
          <p:nvPr/>
        </p:nvSpPr>
        <p:spPr bwMode="auto">
          <a:xfrm>
            <a:off x="3775179" y="3741188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88" name="TextBox 25">
            <a:extLst>
              <a:ext uri="{FF2B5EF4-FFF2-40B4-BE49-F238E27FC236}">
                <a16:creationId xmlns:a16="http://schemas.microsoft.com/office/drawing/2014/main" id="{58C1B7E5-0CF5-7ABD-D472-B03F62522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720" y="3499240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외부</a:t>
            </a:r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API 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계정 생성 및 테스트</a:t>
            </a:r>
          </a:p>
        </p:txBody>
      </p:sp>
      <p:cxnSp>
        <p:nvCxnSpPr>
          <p:cNvPr id="12289" name="직선 연결선 12288">
            <a:extLst>
              <a:ext uri="{FF2B5EF4-FFF2-40B4-BE49-F238E27FC236}">
                <a16:creationId xmlns:a16="http://schemas.microsoft.com/office/drawing/2014/main" id="{86C130F3-F9FF-6E40-5402-27C81608C150}"/>
              </a:ext>
            </a:extLst>
          </p:cNvPr>
          <p:cNvCxnSpPr>
            <a:cxnSpLocks/>
            <a:stCxn id="12292" idx="3"/>
            <a:endCxn id="12291" idx="1"/>
          </p:cNvCxnSpPr>
          <p:nvPr/>
        </p:nvCxnSpPr>
        <p:spPr bwMode="auto">
          <a:xfrm>
            <a:off x="5538713" y="3860143"/>
            <a:ext cx="1520022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1" name="직사각형 12290">
            <a:extLst>
              <a:ext uri="{FF2B5EF4-FFF2-40B4-BE49-F238E27FC236}">
                <a16:creationId xmlns:a16="http://schemas.microsoft.com/office/drawing/2014/main" id="{EEA195C9-CC4A-6D98-8235-810F89378C14}"/>
              </a:ext>
            </a:extLst>
          </p:cNvPr>
          <p:cNvSpPr/>
          <p:nvPr/>
        </p:nvSpPr>
        <p:spPr bwMode="auto">
          <a:xfrm>
            <a:off x="7058735" y="3794919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92" name="직사각형 12291">
            <a:extLst>
              <a:ext uri="{FF2B5EF4-FFF2-40B4-BE49-F238E27FC236}">
                <a16:creationId xmlns:a16="http://schemas.microsoft.com/office/drawing/2014/main" id="{CC15B9B4-4914-5269-CE27-C5B3E02E6E48}"/>
              </a:ext>
            </a:extLst>
          </p:cNvPr>
          <p:cNvSpPr/>
          <p:nvPr/>
        </p:nvSpPr>
        <p:spPr bwMode="auto">
          <a:xfrm>
            <a:off x="5412200" y="3794919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94" name="TextBox 25">
            <a:extLst>
              <a:ext uri="{FF2B5EF4-FFF2-40B4-BE49-F238E27FC236}">
                <a16:creationId xmlns:a16="http://schemas.microsoft.com/office/drawing/2014/main" id="{E333C3F3-6D57-909D-7FBE-A04E579CB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021" y="3527430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Intent Interface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설계 및 구현</a:t>
            </a:r>
          </a:p>
        </p:txBody>
      </p:sp>
      <p:cxnSp>
        <p:nvCxnSpPr>
          <p:cNvPr id="12295" name="직선 연결선 12294">
            <a:extLst>
              <a:ext uri="{FF2B5EF4-FFF2-40B4-BE49-F238E27FC236}">
                <a16:creationId xmlns:a16="http://schemas.microsoft.com/office/drawing/2014/main" id="{0B52537B-BEB6-13E5-DE33-01B7E9C2D7D3}"/>
              </a:ext>
            </a:extLst>
          </p:cNvPr>
          <p:cNvCxnSpPr>
            <a:cxnSpLocks/>
            <a:stCxn id="12297" idx="3"/>
            <a:endCxn id="12296" idx="1"/>
          </p:cNvCxnSpPr>
          <p:nvPr/>
        </p:nvCxnSpPr>
        <p:spPr bwMode="auto">
          <a:xfrm>
            <a:off x="6949645" y="4868818"/>
            <a:ext cx="1549250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6" name="직사각형 12295">
            <a:extLst>
              <a:ext uri="{FF2B5EF4-FFF2-40B4-BE49-F238E27FC236}">
                <a16:creationId xmlns:a16="http://schemas.microsoft.com/office/drawing/2014/main" id="{0F970B25-0146-6826-3781-AA26B208D22E}"/>
              </a:ext>
            </a:extLst>
          </p:cNvPr>
          <p:cNvSpPr/>
          <p:nvPr/>
        </p:nvSpPr>
        <p:spPr bwMode="auto">
          <a:xfrm>
            <a:off x="8498895" y="4803594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97" name="직사각형 12296">
            <a:extLst>
              <a:ext uri="{FF2B5EF4-FFF2-40B4-BE49-F238E27FC236}">
                <a16:creationId xmlns:a16="http://schemas.microsoft.com/office/drawing/2014/main" id="{27485400-2B4E-8BC5-30BF-766516702506}"/>
              </a:ext>
            </a:extLst>
          </p:cNvPr>
          <p:cNvSpPr/>
          <p:nvPr/>
        </p:nvSpPr>
        <p:spPr bwMode="auto">
          <a:xfrm>
            <a:off x="6823132" y="4803594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99" name="TextBox 25">
            <a:extLst>
              <a:ext uri="{FF2B5EF4-FFF2-40B4-BE49-F238E27FC236}">
                <a16:creationId xmlns:a16="http://schemas.microsoft.com/office/drawing/2014/main" id="{DD44EB78-744E-D573-D91A-6510BC26C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087" y="4581128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노래 추천 알고리즘 개발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FCF7-8CA7-D754-CCFF-61F9F9BCA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820CFCD0-D6E6-B2C6-43BC-D9462109B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5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SW 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구조도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7904584-09A4-5AB9-69A1-B0C70F04C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AIMO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1.0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u="none" dirty="0" err="1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AIAgent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App 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소프트웨어 구조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8D4E8AD-3267-03B4-6A82-56D3D069EF45}"/>
              </a:ext>
            </a:extLst>
          </p:cNvPr>
          <p:cNvSpPr/>
          <p:nvPr/>
        </p:nvSpPr>
        <p:spPr>
          <a:xfrm>
            <a:off x="272480" y="1200514"/>
            <a:ext cx="6478494" cy="5540854"/>
          </a:xfrm>
          <a:prstGeom prst="roundRect">
            <a:avLst>
              <a:gd name="adj" fmla="val 6871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1E14A-AF47-6C26-F075-52051E63F716}"/>
              </a:ext>
            </a:extLst>
          </p:cNvPr>
          <p:cNvSpPr txBox="1"/>
          <p:nvPr/>
        </p:nvSpPr>
        <p:spPr>
          <a:xfrm>
            <a:off x="2863249" y="989354"/>
            <a:ext cx="124938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u="none">
                <a:ea typeface="현대하모니 M" panose="02020603020101020101"/>
              </a:rPr>
              <a:t>IVI Device</a:t>
            </a:r>
            <a:endParaRPr lang="ko-KR" altLang="en-US" b="1" u="none">
              <a:ea typeface="현대하모니 M" panose="02020603020101020101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27D06F-2C9A-1EE5-C714-C32DE4FC3D40}"/>
              </a:ext>
            </a:extLst>
          </p:cNvPr>
          <p:cNvSpPr/>
          <p:nvPr/>
        </p:nvSpPr>
        <p:spPr>
          <a:xfrm>
            <a:off x="634120" y="1316595"/>
            <a:ext cx="5716339" cy="11530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none">
              <a:ea typeface="현대하모니 M" panose="02020603020101020101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DEE73E-5435-7696-C9F5-7A2404185BCA}"/>
              </a:ext>
            </a:extLst>
          </p:cNvPr>
          <p:cNvSpPr/>
          <p:nvPr/>
        </p:nvSpPr>
        <p:spPr>
          <a:xfrm>
            <a:off x="629773" y="5936484"/>
            <a:ext cx="5716339" cy="3064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Android OS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336752-48B4-CFF3-014B-2823DD171B3D}"/>
              </a:ext>
            </a:extLst>
          </p:cNvPr>
          <p:cNvSpPr/>
          <p:nvPr/>
        </p:nvSpPr>
        <p:spPr>
          <a:xfrm>
            <a:off x="629773" y="6299927"/>
            <a:ext cx="5716339" cy="30042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Hardware</a:t>
            </a:r>
          </a:p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(CPU, NPU, RAM, Storage, Sensors, ...)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DE645-7878-F7B1-3237-9C670DCCCFEF}"/>
              </a:ext>
            </a:extLst>
          </p:cNvPr>
          <p:cNvSpPr txBox="1"/>
          <p:nvPr/>
        </p:nvSpPr>
        <p:spPr>
          <a:xfrm>
            <a:off x="679591" y="1752057"/>
            <a:ext cx="14789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b="1" u="none">
                <a:ea typeface="현대하모니 M" panose="02020603020101020101"/>
              </a:rPr>
              <a:t>Application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656CBF-C732-39E1-B898-2F98B3F1F479}"/>
              </a:ext>
            </a:extLst>
          </p:cNvPr>
          <p:cNvSpPr/>
          <p:nvPr/>
        </p:nvSpPr>
        <p:spPr>
          <a:xfrm>
            <a:off x="2363827" y="1449989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AI Agent HMI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83DB82-D299-FEFB-1347-BCF1EB05BCC4}"/>
              </a:ext>
            </a:extLst>
          </p:cNvPr>
          <p:cNvSpPr/>
          <p:nvPr/>
        </p:nvSpPr>
        <p:spPr>
          <a:xfrm>
            <a:off x="2360364" y="1790186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History Msg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5E5C31C-4D01-BD37-7380-967F18A6C2CC}"/>
              </a:ext>
            </a:extLst>
          </p:cNvPr>
          <p:cNvSpPr/>
          <p:nvPr/>
        </p:nvSpPr>
        <p:spPr>
          <a:xfrm>
            <a:off x="2366558" y="2109778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Contextual Feedback via TTS 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A5D0491-2194-2036-978D-A5B2F18C889F}"/>
              </a:ext>
            </a:extLst>
          </p:cNvPr>
          <p:cNvSpPr/>
          <p:nvPr/>
        </p:nvSpPr>
        <p:spPr>
          <a:xfrm>
            <a:off x="4283948" y="1449989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Voice Cmd Handling / QA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3A4785-8625-3EB6-C895-EF488491BF23}"/>
              </a:ext>
            </a:extLst>
          </p:cNvPr>
          <p:cNvSpPr/>
          <p:nvPr/>
        </p:nvSpPr>
        <p:spPr>
          <a:xfrm>
            <a:off x="4283948" y="1781618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Vehicle Status Summary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961BCC-0977-199D-1B38-5398797192BC}"/>
              </a:ext>
            </a:extLst>
          </p:cNvPr>
          <p:cNvSpPr/>
          <p:nvPr/>
        </p:nvSpPr>
        <p:spPr>
          <a:xfrm>
            <a:off x="4290142" y="2107179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Response Caching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98F084-47F3-291E-C16F-A9D204034EE8}"/>
              </a:ext>
            </a:extLst>
          </p:cNvPr>
          <p:cNvSpPr/>
          <p:nvPr/>
        </p:nvSpPr>
        <p:spPr>
          <a:xfrm>
            <a:off x="634120" y="4441034"/>
            <a:ext cx="5716339" cy="11530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u="none">
              <a:ea typeface="현대하모니 M" panose="02020603020101020101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044D35-C47D-E54D-D85B-B79CD1CDB210}"/>
              </a:ext>
            </a:extLst>
          </p:cNvPr>
          <p:cNvSpPr txBox="1"/>
          <p:nvPr/>
        </p:nvSpPr>
        <p:spPr>
          <a:xfrm>
            <a:off x="679591" y="4794408"/>
            <a:ext cx="1478918" cy="4231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50" b="1" u="none">
                <a:ea typeface="현대하모니 M" panose="02020603020101020101"/>
              </a:rPr>
              <a:t>Interaction </a:t>
            </a:r>
          </a:p>
          <a:p>
            <a:r>
              <a:rPr lang="en-US" altLang="ko-KR" sz="1100" b="1" u="none">
                <a:ea typeface="현대하모니 M" panose="02020603020101020101"/>
              </a:rPr>
              <a:t>I/O Interface</a:t>
            </a:r>
            <a:endParaRPr lang="ko-KR" altLang="en-US" sz="1100" b="1" u="none">
              <a:ea typeface="현대하모니 M" panose="02020603020101020101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5348CFE-300D-F74B-BF44-2911041B5437}"/>
              </a:ext>
            </a:extLst>
          </p:cNvPr>
          <p:cNvSpPr/>
          <p:nvPr/>
        </p:nvSpPr>
        <p:spPr>
          <a:xfrm>
            <a:off x="2451250" y="4854577"/>
            <a:ext cx="1858462" cy="2698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Pleos TTS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138FFAB-B6B7-0795-53E4-CC4E671A1F54}"/>
              </a:ext>
            </a:extLst>
          </p:cNvPr>
          <p:cNvSpPr/>
          <p:nvPr/>
        </p:nvSpPr>
        <p:spPr>
          <a:xfrm>
            <a:off x="2451250" y="5224318"/>
            <a:ext cx="1858462" cy="2698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User Input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F0BCF38-E6E5-BF7B-9D40-E5BDADAB6780}"/>
              </a:ext>
            </a:extLst>
          </p:cNvPr>
          <p:cNvSpPr/>
          <p:nvPr/>
        </p:nvSpPr>
        <p:spPr>
          <a:xfrm>
            <a:off x="2451250" y="4490580"/>
            <a:ext cx="1858462" cy="2698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Mobis STT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511EB7-AD0F-DEC7-6BB5-E8667F17319C}"/>
              </a:ext>
            </a:extLst>
          </p:cNvPr>
          <p:cNvSpPr/>
          <p:nvPr/>
        </p:nvSpPr>
        <p:spPr>
          <a:xfrm>
            <a:off x="634120" y="2764370"/>
            <a:ext cx="5716339" cy="16061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u="none">
              <a:ea typeface="현대하모니 M" panose="02020603020101020101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F4EC99-8CEA-9484-2671-510CA4E7E9FB}"/>
              </a:ext>
            </a:extLst>
          </p:cNvPr>
          <p:cNvSpPr txBox="1"/>
          <p:nvPr/>
        </p:nvSpPr>
        <p:spPr>
          <a:xfrm>
            <a:off x="679591" y="3391286"/>
            <a:ext cx="147891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50" b="1" u="none">
                <a:ea typeface="현대하모니 M" panose="02020603020101020101"/>
              </a:rPr>
              <a:t>AI Agent</a:t>
            </a:r>
          </a:p>
          <a:p>
            <a:r>
              <a:rPr lang="en-US" altLang="ko-KR" sz="1050" b="1" u="none">
                <a:ea typeface="현대하모니 M" panose="02020603020101020101"/>
              </a:rPr>
              <a:t>Framework</a:t>
            </a:r>
            <a:endParaRPr lang="ko-KR" altLang="en-US" sz="1100" b="1" u="none">
              <a:ea typeface="현대하모니 M" panose="02020603020101020101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89C1D20-7598-FC35-7867-714EB8B580FD}"/>
              </a:ext>
            </a:extLst>
          </p:cNvPr>
          <p:cNvSpPr/>
          <p:nvPr/>
        </p:nvSpPr>
        <p:spPr>
          <a:xfrm>
            <a:off x="4622652" y="2861148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Intent Analysis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DAC7FA-A378-9A7E-61A9-28616FA490ED}"/>
              </a:ext>
            </a:extLst>
          </p:cNvPr>
          <p:cNvSpPr/>
          <p:nvPr/>
        </p:nvSpPr>
        <p:spPr>
          <a:xfrm>
            <a:off x="1583574" y="2798864"/>
            <a:ext cx="4688596" cy="7444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u="none">
              <a:ea typeface="현대하모니 M" panose="02020603020101020101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AB9F901-8401-998D-BF88-67D1AD662B63}"/>
              </a:ext>
            </a:extLst>
          </p:cNvPr>
          <p:cNvSpPr/>
          <p:nvPr/>
        </p:nvSpPr>
        <p:spPr>
          <a:xfrm>
            <a:off x="2961621" y="2861148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Intent Receiver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4EF6CF-7978-4CFD-2EB2-5B4FB3677D4C}"/>
              </a:ext>
            </a:extLst>
          </p:cNvPr>
          <p:cNvSpPr txBox="1"/>
          <p:nvPr/>
        </p:nvSpPr>
        <p:spPr>
          <a:xfrm>
            <a:off x="1677438" y="3085706"/>
            <a:ext cx="1094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u="none">
                <a:ea typeface="현대하모니 M" panose="02020603020101020101"/>
              </a:rPr>
              <a:t>ContextAgent</a:t>
            </a:r>
            <a:endParaRPr lang="ko-KR" altLang="en-US" sz="900" b="1" u="none">
              <a:ea typeface="현대하모니 M" panose="02020603020101020101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AF1CDD-203E-DCD1-D43A-DD1151D868D6}"/>
              </a:ext>
            </a:extLst>
          </p:cNvPr>
          <p:cNvSpPr/>
          <p:nvPr/>
        </p:nvSpPr>
        <p:spPr>
          <a:xfrm>
            <a:off x="2970211" y="3204948"/>
            <a:ext cx="325554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Prompt Generator (context + query)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B006535-1E3B-5E35-00BB-EAF8F8A1FB97}"/>
              </a:ext>
            </a:extLst>
          </p:cNvPr>
          <p:cNvSpPr/>
          <p:nvPr/>
        </p:nvSpPr>
        <p:spPr>
          <a:xfrm>
            <a:off x="4631242" y="3630290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RAG(Vector DB)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8EC8E5C-8D3E-0EC2-B32B-9F9DEFE51E49}"/>
              </a:ext>
            </a:extLst>
          </p:cNvPr>
          <p:cNvSpPr/>
          <p:nvPr/>
        </p:nvSpPr>
        <p:spPr>
          <a:xfrm>
            <a:off x="1592164" y="3595439"/>
            <a:ext cx="4688596" cy="3368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u="none">
              <a:ea typeface="현대하모니 M" panose="02020603020101020101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C0237B7-4DF8-728D-8CAE-7F748F0D506D}"/>
              </a:ext>
            </a:extLst>
          </p:cNvPr>
          <p:cNvSpPr/>
          <p:nvPr/>
        </p:nvSpPr>
        <p:spPr>
          <a:xfrm>
            <a:off x="2970211" y="3630290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SLM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286ACB-D7FE-9F01-7013-F62D35783622}"/>
              </a:ext>
            </a:extLst>
          </p:cNvPr>
          <p:cNvSpPr txBox="1"/>
          <p:nvPr/>
        </p:nvSpPr>
        <p:spPr>
          <a:xfrm>
            <a:off x="1675325" y="3643220"/>
            <a:ext cx="1094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u="none">
                <a:ea typeface="현대하모니 M" panose="02020603020101020101"/>
              </a:rPr>
              <a:t>LLMAgent</a:t>
            </a:r>
            <a:endParaRPr lang="ko-KR" altLang="en-US" sz="900" b="1" u="none">
              <a:ea typeface="현대하모니 M" panose="02020603020101020101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DCB62D4-AC83-AEC7-5E5D-D26D6F6DBC99}"/>
              </a:ext>
            </a:extLst>
          </p:cNvPr>
          <p:cNvSpPr/>
          <p:nvPr/>
        </p:nvSpPr>
        <p:spPr>
          <a:xfrm>
            <a:off x="4631242" y="4024134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IBD MCP Service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EB2194-8F9E-7E82-C4F6-037A2F24715E}"/>
              </a:ext>
            </a:extLst>
          </p:cNvPr>
          <p:cNvSpPr/>
          <p:nvPr/>
        </p:nvSpPr>
        <p:spPr>
          <a:xfrm>
            <a:off x="1592164" y="3989283"/>
            <a:ext cx="4688596" cy="3368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u="none">
              <a:ea typeface="현대하모니 M" panose="02020603020101020101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EF6DEA8-4E14-AD75-E79E-C72B46FEFDE0}"/>
              </a:ext>
            </a:extLst>
          </p:cNvPr>
          <p:cNvSpPr/>
          <p:nvPr/>
        </p:nvSpPr>
        <p:spPr>
          <a:xfrm>
            <a:off x="2970211" y="4024134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Query Routing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49DD26-E00F-3A12-3CC1-978C0D0D0A90}"/>
              </a:ext>
            </a:extLst>
          </p:cNvPr>
          <p:cNvSpPr txBox="1"/>
          <p:nvPr/>
        </p:nvSpPr>
        <p:spPr>
          <a:xfrm>
            <a:off x="1675325" y="4037064"/>
            <a:ext cx="1094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u="none">
                <a:ea typeface="현대하모니 M" panose="02020603020101020101"/>
              </a:rPr>
              <a:t>ActionAgent</a:t>
            </a:r>
            <a:endParaRPr lang="ko-KR" altLang="en-US" sz="900" b="1" u="none">
              <a:ea typeface="현대하모니 M" panose="02020603020101020101"/>
            </a:endParaRPr>
          </a:p>
        </p:txBody>
      </p:sp>
      <p:sp>
        <p:nvSpPr>
          <p:cNvPr id="36" name="화살표: 위쪽/아래쪽 35">
            <a:extLst>
              <a:ext uri="{FF2B5EF4-FFF2-40B4-BE49-F238E27FC236}">
                <a16:creationId xmlns:a16="http://schemas.microsoft.com/office/drawing/2014/main" id="{51144EE1-D269-8483-4530-F2AA64FE6898}"/>
              </a:ext>
            </a:extLst>
          </p:cNvPr>
          <p:cNvSpPr/>
          <p:nvPr/>
        </p:nvSpPr>
        <p:spPr>
          <a:xfrm>
            <a:off x="3450561" y="2491291"/>
            <a:ext cx="104748" cy="25782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37" name="화살표: 위쪽/아래쪽 36">
            <a:extLst>
              <a:ext uri="{FF2B5EF4-FFF2-40B4-BE49-F238E27FC236}">
                <a16:creationId xmlns:a16="http://schemas.microsoft.com/office/drawing/2014/main" id="{1F92DD22-DDF9-7D9A-ECFC-BD07DC05E35E}"/>
              </a:ext>
            </a:extLst>
          </p:cNvPr>
          <p:cNvSpPr/>
          <p:nvPr/>
        </p:nvSpPr>
        <p:spPr>
          <a:xfrm>
            <a:off x="3422976" y="5608055"/>
            <a:ext cx="132333" cy="32842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66F307-A589-8A21-3909-5C03E43CFABC}"/>
              </a:ext>
            </a:extLst>
          </p:cNvPr>
          <p:cNvSpPr txBox="1"/>
          <p:nvPr/>
        </p:nvSpPr>
        <p:spPr>
          <a:xfrm>
            <a:off x="3487941" y="2493355"/>
            <a:ext cx="775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i="1" u="none">
                <a:solidFill>
                  <a:schemeClr val="bg2">
                    <a:lumMod val="50000"/>
                  </a:schemeClr>
                </a:solidFill>
                <a:ea typeface="현대하모니 M" panose="02020603020101020101"/>
              </a:rPr>
              <a:t>Offline</a:t>
            </a:r>
            <a:endParaRPr lang="ko-KR" altLang="en-US" sz="900" u="none">
              <a:solidFill>
                <a:schemeClr val="bg2">
                  <a:lumMod val="50000"/>
                </a:schemeClr>
              </a:solidFill>
              <a:ea typeface="현대하모니 M" panose="02020603020101020101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D259D4-CD96-B50B-01AE-99142D15F0CD}"/>
              </a:ext>
            </a:extLst>
          </p:cNvPr>
          <p:cNvSpPr txBox="1"/>
          <p:nvPr/>
        </p:nvSpPr>
        <p:spPr>
          <a:xfrm>
            <a:off x="3459933" y="5649158"/>
            <a:ext cx="775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i="1" u="none">
                <a:solidFill>
                  <a:schemeClr val="bg2">
                    <a:lumMod val="50000"/>
                  </a:schemeClr>
                </a:solidFill>
                <a:ea typeface="현대하모니 M" panose="02020603020101020101"/>
              </a:rPr>
              <a:t>Offline</a:t>
            </a:r>
            <a:endParaRPr lang="ko-KR" altLang="en-US" sz="900" u="none">
              <a:solidFill>
                <a:schemeClr val="bg2">
                  <a:lumMod val="50000"/>
                </a:schemeClr>
              </a:solidFill>
              <a:ea typeface="현대하모니 M" panose="02020603020101020101"/>
            </a:endParaRPr>
          </a:p>
        </p:txBody>
      </p:sp>
      <p:pic>
        <p:nvPicPr>
          <p:cNvPr id="40" name="Picture 2" descr="클라우드 서버 - 무료 여러 가지 잡다한개 아이콘">
            <a:extLst>
              <a:ext uri="{FF2B5EF4-FFF2-40B4-BE49-F238E27FC236}">
                <a16:creationId xmlns:a16="http://schemas.microsoft.com/office/drawing/2014/main" id="{2A5AE5FD-B4C1-02C7-3FE2-D11472D1A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274" y="2592456"/>
            <a:ext cx="1883905" cy="188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화살표: 왼쪽/오른쪽 40">
            <a:extLst>
              <a:ext uri="{FF2B5EF4-FFF2-40B4-BE49-F238E27FC236}">
                <a16:creationId xmlns:a16="http://schemas.microsoft.com/office/drawing/2014/main" id="{73D1EB86-3688-9E5A-1D4A-998A383AB22B}"/>
              </a:ext>
            </a:extLst>
          </p:cNvPr>
          <p:cNvSpPr/>
          <p:nvPr/>
        </p:nvSpPr>
        <p:spPr>
          <a:xfrm>
            <a:off x="6367605" y="3489362"/>
            <a:ext cx="1354232" cy="14930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395982-D6F8-FF23-C507-6602D1C97474}"/>
              </a:ext>
            </a:extLst>
          </p:cNvPr>
          <p:cNvSpPr txBox="1"/>
          <p:nvPr/>
        </p:nvSpPr>
        <p:spPr>
          <a:xfrm>
            <a:off x="7663924" y="4478461"/>
            <a:ext cx="1537548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u="none">
                <a:ea typeface="현대하모니 M" panose="02020603020101020101"/>
              </a:rPr>
              <a:t>Cloud API</a:t>
            </a:r>
            <a:endParaRPr lang="ko-KR" altLang="en-US" sz="1100" b="1" u="none">
              <a:ea typeface="현대하모니 M" panose="02020603020101020101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E59432-72CF-B76D-FFB4-42C1244D1EB9}"/>
              </a:ext>
            </a:extLst>
          </p:cNvPr>
          <p:cNvSpPr txBox="1"/>
          <p:nvPr/>
        </p:nvSpPr>
        <p:spPr>
          <a:xfrm>
            <a:off x="6758313" y="3288171"/>
            <a:ext cx="775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i="1" u="none">
                <a:solidFill>
                  <a:schemeClr val="bg2">
                    <a:lumMod val="50000"/>
                  </a:schemeClr>
                </a:solidFill>
                <a:ea typeface="현대하모니 M" panose="02020603020101020101"/>
              </a:rPr>
              <a:t>Online</a:t>
            </a:r>
            <a:endParaRPr lang="ko-KR" altLang="en-US" sz="900" u="none">
              <a:solidFill>
                <a:schemeClr val="bg2">
                  <a:lumMod val="50000"/>
                </a:schemeClr>
              </a:solidFill>
              <a:ea typeface="현대하모니 M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205069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443B-1C73-588C-5D11-7690E28C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EC29D42-616D-7A28-DF2F-21785E24D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6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개발 내용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9934DEC4-AC53-3E50-8DE3-45E787F1D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전체 모듈간 연동관계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44" name="텍스트 상자 2">
            <a:extLst>
              <a:ext uri="{FF2B5EF4-FFF2-40B4-BE49-F238E27FC236}">
                <a16:creationId xmlns:a16="http://schemas.microsoft.com/office/drawing/2014/main" id="{A05423B6-F57A-684D-6739-FA60485D9098}"/>
              </a:ext>
            </a:extLst>
          </p:cNvPr>
          <p:cNvSpPr txBox="1">
            <a:spLocks/>
          </p:cNvSpPr>
          <p:nvPr/>
        </p:nvSpPr>
        <p:spPr>
          <a:xfrm>
            <a:off x="5667911" y="1000473"/>
            <a:ext cx="4073841" cy="5045612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 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음성 질의를 통해 사용자 질의를 받습니다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차량에 대한 질문은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답변을 생성하고 그 외의 질문은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모델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(OpenAI, Gemini, Claude)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활용하여 질문에 대한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Semantic 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 역할을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질문의 맥락을 판단하여 답변을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On-Device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통하여 생성할지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생성할지를 결정합니다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또한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사용자의 차량제어 요청을 실행하는 역할도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Mobis STT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사용자의 음성데이터를 텍스트로 반환하여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모듈은 음성 발화 기능을 제공하여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생성된 답변을 사용자에게 음성으로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 Weather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모듈은 날씨 관련 질문에 대한 정보를 제공하며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Current Weather Data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5 Day/3 Hour Forecast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통해 사용자의 날씨 요청에 응답합니다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API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모듈은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geocoding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기능을 통해 위치 및 장소 기반 질문에 대한 정보를 처리합니다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Live AIDJ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사용자의 음악에 대한 요청을 입력 받아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축적된 사용자의 노래 데이터베이스를 참고하여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73546E-1EA3-C186-A8D3-0FE1B3FF2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412776"/>
            <a:ext cx="504056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7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BA0B-7835-5027-82F7-0EF9E162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FCC61A43-6F70-AB7F-BFF7-20B8966B6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DACB4F42-86C9-5177-142B-9279295E7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764704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Vehicle Q&amp;A 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987C46F8-8EB6-01A0-A900-E7B5AE4D975E}"/>
              </a:ext>
            </a:extLst>
          </p:cNvPr>
          <p:cNvSpPr txBox="1">
            <a:spLocks/>
          </p:cNvSpPr>
          <p:nvPr/>
        </p:nvSpPr>
        <p:spPr>
          <a:xfrm>
            <a:off x="5141640" y="1570135"/>
            <a:ext cx="4575247" cy="4003853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 질의가 입력되면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통해 질문을 분석합니다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 관련된 질문은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Rag Service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와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GPT Service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통해 답변을 생성하고 전달합니다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 관련된 답변은 일반형과 절차형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2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가지 유형으로 분류됩니다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일반형 답변은 이미지와 텍스트 스트리밍으로 구성됩니다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절차형 답변은 단계별로 이미지와 텍스트가 전달됩니다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차량과 관련 없는 질문은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반환하고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통하여 답변을 생성합니다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이를 통해 차량 도메인은 온 디바이스에서 안전하게 처리하고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그 외의 정보는 외부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API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와 연동하여 정확도와 확장성을 동시에 확보했습니다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endParaRPr lang="ko-KR" altLang="en-US" sz="12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9C0406-7505-5188-4DE4-A2D3FFAD7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245494"/>
            <a:ext cx="4653136" cy="46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37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980CF-F2F8-3574-63E2-60A4FF3B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BF49C4F-FCFA-AECF-6033-924F1C40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763D9D5-DB5D-4FC0-467C-34BD87815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Vehicle Control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FA3A534D-061E-B9E1-9559-64ECFF64757B}"/>
              </a:ext>
            </a:extLst>
          </p:cNvPr>
          <p:cNvSpPr txBox="1">
            <a:spLocks/>
          </p:cNvSpPr>
          <p:nvPr/>
        </p:nvSpPr>
        <p:spPr>
          <a:xfrm>
            <a:off x="5529064" y="2132856"/>
            <a:ext cx="4073841" cy="2929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입력되면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통해 요청을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현재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지원하는 차량제어목록에 해당되면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AIDL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서비스를 통하여 차량을 제어합니다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현재 지원하는 차량제어목록은 볼륨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온도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밝기 총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3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가지입니다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온도제어 기능을 사용하기위해서는 타겟 디바이스 초기 스크립트 설정이 필요합니다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차량제어가 완료된 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제어완료 문구를 사용자에게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481040-B8A2-29C6-920A-2FEC1E8CC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48" y="1340768"/>
            <a:ext cx="4913784" cy="491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51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60A7-2AAD-111F-1152-AB1C5D40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A89865CA-AE07-D297-9464-B8850A529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223C3F9-8805-A7A6-B82C-1538967C8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Live AI DJ 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7708037E-FE46-B11E-0AC4-BD1C236CE38F}"/>
              </a:ext>
            </a:extLst>
          </p:cNvPr>
          <p:cNvSpPr txBox="1">
            <a:spLocks/>
          </p:cNvSpPr>
          <p:nvPr/>
        </p:nvSpPr>
        <p:spPr>
          <a:xfrm>
            <a:off x="5601072" y="1700808"/>
            <a:ext cx="4073841" cy="3776034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LIVE AIDJ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사용자의 개인화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반영하여 사용자 친화적인 음악 추천서비스를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음악요청을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Music 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통하여 카테고리를 분류합니다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요청을 분석하여 키워드를 추출하고 개인화된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추천이 필요할 경우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조회합니다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 사용자의 플레이리스트 이력을 참고하여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단순 키워드로 분류될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조회하지 않고 바로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추천 곡 생성방식을 참고하여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으로 추천사유 문구를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추천사유 문구는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사용자에게 음성으로 전달됩니다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노래를 재생할 수 있습니다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18643F-81C7-C244-1084-EA373CAF2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245494"/>
            <a:ext cx="5057800" cy="50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95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8C315-3550-B7A9-7933-58078115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60F5596-4FBE-20CA-977A-92A706B4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69BE8981-9282-2CB1-EF5A-CD185421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Function Calling(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장소 질의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BDB86-BE9C-C030-8453-507AA91B9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1000473"/>
            <a:ext cx="5491061" cy="4012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상자 2">
            <a:extLst>
              <a:ext uri="{FF2B5EF4-FFF2-40B4-BE49-F238E27FC236}">
                <a16:creationId xmlns:a16="http://schemas.microsoft.com/office/drawing/2014/main" id="{6A445321-BFA0-7A67-899D-ADA776B37005}"/>
              </a:ext>
            </a:extLst>
          </p:cNvPr>
          <p:cNvSpPr txBox="1">
            <a:spLocks/>
          </p:cNvSpPr>
          <p:nvPr/>
        </p:nvSpPr>
        <p:spPr>
          <a:xfrm>
            <a:off x="5691533" y="1772816"/>
            <a:ext cx="4073841" cy="2252540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 질의가 들어오면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반환하고 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쪽으로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라우팅됩니다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이때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질의에서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지역명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장소명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 카테고리 정보 등을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지역명의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geocoding API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카테고리 기준 검색을 시도하기 위해 위도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경도 데이터를 가져오고 위도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경도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카테고리를 기준으로 타겟 지역 주변 장소를 검색합니다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 검색된 주변 장소 데이터를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입력받아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적절한 자연어 응답을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200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2EFA0-9E2C-FA7E-EF67-886ACC03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8164A3B-F4C8-9B20-2E23-57BF183BD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5F4A8D0-B3E0-5D7E-2653-3B189265C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Function Calling(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날씨 질의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61C7E788-F199-A5F0-6F6B-2FCD2DBE1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9" y="1000473"/>
            <a:ext cx="5472483" cy="315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3543A403-036E-8E90-DAB7-FD1A8E489A58}"/>
              </a:ext>
            </a:extLst>
          </p:cNvPr>
          <p:cNvSpPr txBox="1">
            <a:spLocks/>
          </p:cNvSpPr>
          <p:nvPr/>
        </p:nvSpPr>
        <p:spPr>
          <a:xfrm>
            <a:off x="5643045" y="1160109"/>
            <a:ext cx="4073841" cy="352211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날씨 질의로 분류되면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반환하고 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입력된 정보에 따라 날씨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 발생되어 질의에서 사용자가 물어보는 날짜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지역 정보를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추출된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JSON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결과를 바탕으로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OpenWeather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호출하여 시간별 기온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습도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강수 가능성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강수량과 같은 데이터를 받아오고 해당 결과를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prompt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포함시켜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모델 답변을 요청합니다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즉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OpenAI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2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번 호출이 되며 첫번째 호출에서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발생시키고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두번째 호출에서는 날씨 정보를 토대로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생성된 답변은 앱으로 전달되어 사용자에게 전달됩니다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602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A119-FD7C-1C51-FABC-FB37CAD1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57B350D2-09EB-0112-BCD5-70E9722D8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AFF0CD27-EA50-5A42-96A7-1FE277AD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6247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Vehicle Q&amp;A</a:t>
            </a:r>
            <a:endParaRPr lang="ko-KR" altLang="en-US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019F4E86-E0E2-85AE-6B20-09A0E5D1D547}"/>
              </a:ext>
            </a:extLst>
          </p:cNvPr>
          <p:cNvSpPr txBox="1">
            <a:spLocks/>
          </p:cNvSpPr>
          <p:nvPr/>
        </p:nvSpPr>
        <p:spPr>
          <a:xfrm>
            <a:off x="5643045" y="1772816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사용자가 질문을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해당 요청을 이전의 대화내역을 참조하여 질문을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먼저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질문을 분석하여 차량 질문인지 그 외 질문인지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RAG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적절한 답변과 이미지가 존재할 경우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매뉴얼 데이터에서 적절한 답변을 찾지 못할 경우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Cloud LLM(OpenAI,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Gemini,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Claude)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호출하여 최종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생성된 답변은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이를 음성으로 변환하여 사용자에게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각 답변 생성과정을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Voice Chrome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과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AIMO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캐릭터 애니메이션을 통하여 사용자에게 알려줍니다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전체 흐름은 질문 입력 → 카테고리 분류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RAG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검색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선택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) → 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응답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1D759C-EB3C-8809-4195-114B1A008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24" y="1160108"/>
            <a:ext cx="4805108" cy="530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08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3B24-DD25-0F7C-4850-B258E7D5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172C7919-CACF-E992-4303-0733A69D6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68200F0C-2D3E-D1F5-FA6C-D446AFFEB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6247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Vehicle Control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F0BBF537-745E-A693-EEA2-B91D25AA83BD}"/>
              </a:ext>
            </a:extLst>
          </p:cNvPr>
          <p:cNvSpPr txBox="1">
            <a:spLocks/>
          </p:cNvSpPr>
          <p:nvPr/>
        </p:nvSpPr>
        <p:spPr>
          <a:xfrm>
            <a:off x="5631687" y="1988840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사용자가 요청을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해당 요청을 이전의 대화내역을 참조하여 요청을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Query Rewriter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미완성된 문장도 이전 대화내역을 참고하여 완성된 요청으로 인식되도록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사용자의 요청이 현재 제공되는 차량제어목록에 해당되는지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온도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밝기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볼륨제어에 해당된다면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AIDL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서비스를 통하여 차량을 제어합니다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차량제어가 완료된 이후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통하여 차량제어완료 문구를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차량제어완료 문구를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통하여 음성으로 사용자에게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제공하는 차량제어 목록이 아닐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 전체 흐름은 요청 입력 → 카테고리 분류 → 차량제어→ 제어 완료 문구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AC25A3D-4B49-2991-EDEE-1DA70BC8B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160109"/>
            <a:ext cx="4968552" cy="51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18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62C6-A194-8099-00A8-02BE40C90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536E879-A40D-D93A-BBE9-70677C2E0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B3338063-CC92-92A9-E667-7F672ECC6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6247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Live AI DJ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81DE392C-2AAA-1082-9631-C666F6B90D09}"/>
              </a:ext>
            </a:extLst>
          </p:cNvPr>
          <p:cNvSpPr txBox="1">
            <a:spLocks/>
          </p:cNvSpPr>
          <p:nvPr/>
        </p:nvSpPr>
        <p:spPr>
          <a:xfrm>
            <a:off x="5559679" y="1775315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사용자가 요청을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해당 요청을 이전의 대화내역을 참조하여 요청을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Query Rewriter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미완성된 문장도 이전 대화내역을 참고하여 완성된 요청으로 인식되도록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반환될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Live 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실행 요청인지 판단합니다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Live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 DJ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실행이라면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MusicRouter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사용자의 요청을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개인화된 요청이라면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조회하여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Spotify Search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개인화된 요청이 아니라면 바로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Spotify Search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사용하여 추천 사유를 생성한다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추천 사유를 음성으로 출력한다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 전체 흐름은 요청 입력 → 요청 분석 →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조회→ 노래 검색 → 추천사유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57D62B-4516-F9FB-2B73-4E6B126E5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8" y="1681062"/>
            <a:ext cx="5210784" cy="378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35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821F-A057-E995-3986-F819608E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0121ECA-4E38-FBCA-1F18-B70CFD1D8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ACD21BC6-DCF7-D607-6369-AB81E6D38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6247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Function Calling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과정을 포함한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Cloud LLM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호출</a:t>
            </a: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E33DEFEC-2283-50DF-9D17-2A87249123E8}"/>
              </a:ext>
            </a:extLst>
          </p:cNvPr>
          <p:cNvSpPr txBox="1">
            <a:spLocks/>
          </p:cNvSpPr>
          <p:nvPr/>
        </p:nvSpPr>
        <p:spPr>
          <a:xfrm>
            <a:off x="5643045" y="1160109"/>
            <a:ext cx="4073841" cy="5553443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사용자가 질의를 하면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해당 요청 문장을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로 전달합니다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먼저 쿼리 라우팅을 활용하여 사용자의 요청이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'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날씨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'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와 같은 특정 기능 호출인지 분류합니다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도메인이 특정 기능 호출로 판단하면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으로 답변 생성 요청을 보냅니다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사전에 정의된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조건에 따라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실행 여부를 판단하고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필요한 파라미터를 분석하여 반환합니다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OpenAIClient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반환된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정보에 따라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getWeather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호출하여 실제 날씨 데이터를 조회합니다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OpenWeather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실시간 날씨 정보를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JSON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형태로 반환하며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GPS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기반 위치 정보가 필요할 경우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KakaoLocation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API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getCurrentLocation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또는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findPositionByPlaceName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통해 위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경도 값을 조회합니다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OpenAIClient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수집된 날씨 정보와 함께 답변 생성 요청을 보냄으로써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사용자에게 전달할 최종 답변을 전달 받습니다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최종 답변은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PleosTTS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이를 음성으로 출력하여 사용자에게 제공합니다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전체 흐름은 기능 요청 →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의미 해석 → 기능 호출 판단 → 외부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API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연동 → 최종 답변 생성 →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225D027-1809-3E2F-8C5E-D33D1AD88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" y="1098322"/>
            <a:ext cx="5566359" cy="441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878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399C-BD9F-E6E3-2650-C6163A6E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83FC0365-1CB9-D0FB-6E51-354B6772B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D16C6F64-7C7C-E74B-9714-E301AEE4E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6247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AI DJ</a:t>
            </a:r>
            <a:endParaRPr lang="ko-KR" altLang="en-US" u="none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B7C999F4-720B-47AA-7183-2C49B22698F3}"/>
              </a:ext>
            </a:extLst>
          </p:cNvPr>
          <p:cNvSpPr txBox="1">
            <a:spLocks/>
          </p:cNvSpPr>
          <p:nvPr/>
        </p:nvSpPr>
        <p:spPr>
          <a:xfrm>
            <a:off x="272481" y="998328"/>
            <a:ext cx="9444406" cy="1998624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음악 플레이어에서 곡이 재생되거나 새로운 곡으로 변경되면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모듈은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MediaSession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통해 해당 정보를 가져옵니다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모듈은 현재 재생 중인 곡 정보를 기반으로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멘트 생성을 위해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Android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시스템을 통해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Broadcast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형태로 인텐트를 전송합니다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 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BroadcastReceiver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인텐트를 수신하여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 내부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상태값을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갱신한 뒤 곡 정보를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LLMManager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generateContent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호출하여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현재 재생 중인 곡과 관련된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안내 멘트의 생성을 요청합니다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LLMManager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Local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사용하여 곡 제목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아티스트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날씨 등을 활용한 자연스러운 멘트를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생성된 멘트는 다시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이를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넘겨 음성으로 출력합니다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최종적으로 사용자에게 재생 중인 음악과 어울리는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멘트가 자연스럽게 음성으로 안내됩니다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전체 과정은 곡 재생 이벤트 →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인텐트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전달 → 곡 정보 업데이트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기반 멘트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음성 출력 순서로 이루어집니다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3C7BC1A-0DC1-189D-0602-8EB4761DB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86" y="3030515"/>
            <a:ext cx="8718315" cy="378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103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9.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6BD3AF29-20C0-D45F-A4C8-37E3256EB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Voice Chrome</a:t>
            </a:r>
            <a:endParaRPr lang="ko-KR" altLang="en-US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B38895-3398-32DA-2B7D-646BE23CF5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268" y="1187093"/>
            <a:ext cx="4193136" cy="23340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207835-F206-98FE-256F-D24303156E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64" y="1187093"/>
            <a:ext cx="4163688" cy="23139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4911D7-4682-B33D-CA52-43D4BE99DC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268" y="3903613"/>
            <a:ext cx="4217204" cy="233409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AA5E78-CAF2-CD71-4E82-29FE926476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64" y="3933056"/>
            <a:ext cx="4163688" cy="233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84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9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4C189E32-DB25-7668-9991-1EEB93F40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Vehicle Q&amp;A</a:t>
            </a:r>
            <a:endParaRPr lang="ko-KR" altLang="en-US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EC0623-DA5D-E848-06CF-508C5C0A32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4" y="1226936"/>
            <a:ext cx="8928992" cy="500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80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9.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2348B291-BDB1-10A8-33F9-17AD62FA3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Vehicle Control</a:t>
            </a:r>
            <a:endParaRPr lang="ko-KR" altLang="en-US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B34EC8-FFF1-1602-CE35-09C88EB8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60" y="1250527"/>
            <a:ext cx="9273480" cy="514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66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2767-85B2-FD36-79B4-383D9ECC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16DD5DB-E8D7-10D0-AF80-1ED927537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9.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60EE904B-5D47-96D2-0ABD-902CC9D75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Live AI DJ</a:t>
            </a:r>
            <a:endParaRPr lang="ko-KR" altLang="en-US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ED84DF-82A6-EE72-3D37-5200C6C843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56" y="1196752"/>
            <a:ext cx="9345488" cy="525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75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76305-98BE-8DDC-F866-CF7DA787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1D2F6EAB-A150-09AB-C933-458713765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10.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주요 개발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Jira Task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내역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DBFA6387-542A-C42A-2C9D-699D562F0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881388"/>
              </p:ext>
            </p:extLst>
          </p:nvPr>
        </p:nvGraphicFramePr>
        <p:xfrm>
          <a:off x="225430" y="665523"/>
          <a:ext cx="9528170" cy="609568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60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8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1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000" b="1" i="0" strike="noStrike" kern="1200" dirty="0">
                          <a:solidFill>
                            <a:srgbClr val="000000"/>
                          </a:solidFill>
                          <a:latin typeface="현대하모니 L"/>
                        </a:rPr>
                        <a:t>내 용</a:t>
                      </a:r>
                      <a:endParaRPr lang="ko-KR" altLang="en-US" sz="1000" b="1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1" i="0" strike="noStrike" kern="1200">
                          <a:solidFill>
                            <a:srgbClr val="000000"/>
                          </a:solidFill>
                          <a:latin typeface="현대하모니 L"/>
                        </a:rPr>
                        <a:t>처리 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000" b="1" i="0" strike="noStrike" kern="1200">
                          <a:solidFill>
                            <a:srgbClr val="000000"/>
                          </a:solidFill>
                          <a:latin typeface="현대하모니 L"/>
                        </a:rPr>
                        <a:t>비 고</a:t>
                      </a:r>
                      <a:endParaRPr lang="ko-KR" altLang="en-US" sz="1000" b="1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 </a:t>
                      </a:r>
                      <a:r>
                        <a:rPr lang="ko-KR" alt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개발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 MAIAGENT-666 [AIAGENT]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키오스크 및 최신 </a:t>
                      </a:r>
                      <a:r>
                        <a:rPr lang="ko-KR" altLang="en-US" sz="1000" b="0" i="0" u="none" kern="1200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버젼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 점검</a:t>
                      </a:r>
                      <a:endParaRPr lang="ko-KR" altLang="ko-KR" sz="1000" b="0" i="0" u="none" kern="1200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</a:t>
                      </a: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6</a:t>
                      </a: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.</a:t>
                      </a: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05.12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 MAIAGENT-805 [SRS-AIP-1101]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클라우드 </a:t>
                      </a: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LLM API Key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발급 및 </a:t>
                      </a: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Test</a:t>
                      </a:r>
                      <a:endParaRPr lang="ko-KR" altLang="ko-KR" sz="1000" b="0" i="0" u="none" kern="1200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26.05.28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500345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UI </a:t>
                      </a:r>
                      <a:r>
                        <a:rPr lang="ko-KR" alt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  MAIAGENT-945 Vehicle Q&amp;A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답변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플로팅뷰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26.07.10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  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MAIAGENT-1033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Vehicle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Q&amp;A 와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Control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답변 GUI 사양 반영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MAIAGENT-935 [26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년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투비원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] 4.2.2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자연어 차량 제어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_ Vehicle Control UI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712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MAIAGENT-974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플로팅뷰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26.08.11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998388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MAIAGENT-980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보이스 크롬 작업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217347"/>
                  </a:ext>
                </a:extLst>
              </a:tr>
              <a:tr h="0">
                <a:tc rowSpan="16"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latin typeface="현대하모니 L"/>
                        </a:rPr>
                        <a:t>비즈니스로직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MAIAGENT-833 [SRS-AIP-0401]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Agent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에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따른 명령을 처리해야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26.05.29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MAIAGENT-834 [SRS-AIP-0501]APP은 제어 명령을 차량 APP에 전달해야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440836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  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MAIAGENT-819 [SRS-AIP-0401]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Agent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에 따른 명령을 처리해야 한다.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MAIAGENT-820 [SRS-AIP-0501]APP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은 제어 명령을 차량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APP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에 전달해야 한다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.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7098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MAIAGENT-821 [SRS-AIP-0601]시스템은 제어 완료 후 사용자에게 음성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or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Text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로 결과를 안내해야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69759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MAIAGENT-844 26` 6/15(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)~19(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금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)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주간내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, BU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장님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데모건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02853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MAIAGENT-799 [SRS-AIP-0802]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도메인 추출을 기존과 같이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LLM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을 통해서 분류 할지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별도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Semantic Router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를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임베딩할지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검토 필요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10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MAIAGENT-800 [SRS-AIP-0901]사용자 지정 LLM 호출 및 답변 생성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97024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MAIAGENT-920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AIAgent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세팅을 위한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shell script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작업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26.07.06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74046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MAIAGENT-931 [SRS-AIP-0803]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Cloud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LLM API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Prompt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표준화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26.07.06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802452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MAIAGENT-979 [AI DJ]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가사 표시 기능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_Lyrics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건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26.07.28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313242"/>
                  </a:ext>
                </a:extLst>
              </a:tr>
              <a:tr h="25241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MAIAGENT-972 라이브 AI DJ_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Spotify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Web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API 연동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26.07.30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25201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MAIAGENT-975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개인화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DB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연동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26.08.05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63242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MAIAGENT-1107 [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AIAgent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] SOS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입력시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STT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호출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010246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MAIAGENT-971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검색 쿼리 및 추천 문구 생성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26.08.18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14197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MAIAGENT-973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 DJ_ Spotify Streaming Background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재생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정지 및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 Chat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연동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26.08.20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785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023065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d0bc021-0c43-4029-a072-964d39f3070b}" enabled="1" method="Privileged" siteId="{7cf932c0-bced-4490-b11f-48d23b1fe0d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194077926</TotalTime>
  <Words>2960</Words>
  <Application>Microsoft Office PowerPoint</Application>
  <PresentationFormat>A4 용지(210x297mm)</PresentationFormat>
  <Paragraphs>420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25</vt:i4>
      </vt:variant>
    </vt:vector>
  </HeadingPairs>
  <TitlesOfParts>
    <vt:vector size="38" baseType="lpstr">
      <vt:lpstr>HY중고딕</vt:lpstr>
      <vt:lpstr>HY헤드라인M</vt:lpstr>
      <vt:lpstr>굴림</vt:lpstr>
      <vt:lpstr>맑은 고딕</vt:lpstr>
      <vt:lpstr>맑은 고딕 Semilight</vt:lpstr>
      <vt:lpstr>현대하모니 B</vt:lpstr>
      <vt:lpstr>현대하모니 L</vt:lpstr>
      <vt:lpstr>현대하모니 M</vt:lpstr>
      <vt:lpstr>Arial</vt:lpstr>
      <vt:lpstr>Wingdings</vt:lpstr>
      <vt:lpstr>1_기본 디자인</vt:lpstr>
      <vt:lpstr>디자인 사용자 지정</vt:lpstr>
      <vt:lpstr>2_기본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Mobis</dc:creator>
  <cp:lastModifiedBy>부재식 (주)투비원솔루션즈</cp:lastModifiedBy>
  <cp:revision>1421</cp:revision>
  <cp:lastPrinted>2014-02-11T08:53:40Z</cp:lastPrinted>
  <dcterms:created xsi:type="dcterms:W3CDTF">2008-08-28T07:58:34Z</dcterms:created>
  <dcterms:modified xsi:type="dcterms:W3CDTF">2026-08-18T08:40:46Z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000800aa7c0000000000010243100207e6000400038000</vt:lpwstr>
  </property>
  <property fmtid="{D5CDD505-2E9C-101B-9397-08002B2CF9AE}" pid="3" name="MSIP_Label_6c8052f8-6d20-481e-a88c-2a23f34d153f_SiteId">
    <vt:lpwstr>7cf932c0-bced-4490-b11f-48d23b1fe0d9</vt:lpwstr>
  </property>
  <property fmtid="{D5CDD505-2E9C-101B-9397-08002B2CF9AE}" pid="4" name="MSIP_Label_6c8052f8-6d20-481e-a88c-2a23f34d153f_SetDate">
    <vt:lpwstr>2024-05-07T04:44:04Z</vt:lpwstr>
  </property>
  <property fmtid="{D5CDD505-2E9C-101B-9397-08002B2CF9AE}" pid="5" name="MSIP_Label_6c8052f8-6d20-481e-a88c-2a23f34d153f_Name">
    <vt:lpwstr>내부직원 사용</vt:lpwstr>
  </property>
  <property fmtid="{D5CDD505-2E9C-101B-9397-08002B2CF9AE}" pid="6" name="MSIP_Label_6c8052f8-6d20-481e-a88c-2a23f34d153f_Method">
    <vt:lpwstr>Standard</vt:lpwstr>
  </property>
  <property fmtid="{D5CDD505-2E9C-101B-9397-08002B2CF9AE}" pid="7" name="MSIP_Label_6c8052f8-6d20-481e-a88c-2a23f34d153f_Enabled">
    <vt:lpwstr>true</vt:lpwstr>
  </property>
  <property fmtid="{D5CDD505-2E9C-101B-9397-08002B2CF9AE}" pid="8" name="MSIP_Label_6c8052f8-6d20-481e-a88c-2a23f34d153f_ContentBits">
    <vt:lpwstr>8</vt:lpwstr>
  </property>
  <property fmtid="{D5CDD505-2E9C-101B-9397-08002B2CF9AE}" pid="9" name="MSIP_Label_6c8052f8-6d20-481e-a88c-2a23f34d153f_ActionId">
    <vt:lpwstr>94bd5dad-6687-4329-be00-13394449cb7c</vt:lpwstr>
  </property>
</Properties>
</file>