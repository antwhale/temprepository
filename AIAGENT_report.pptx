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7" r:id="rId2"/>
    <p:sldMasterId id="2147483652" r:id="rId3"/>
  </p:sldMasterIdLst>
  <p:notesMasterIdLst>
    <p:notesMasterId r:id="rId21"/>
  </p:notesMasterIdLst>
  <p:sldIdLst>
    <p:sldId id="343" r:id="rId4"/>
    <p:sldId id="362" r:id="rId5"/>
    <p:sldId id="366" r:id="rId6"/>
    <p:sldId id="264" r:id="rId7"/>
    <p:sldId id="356" r:id="rId8"/>
    <p:sldId id="342" r:id="rId9"/>
    <p:sldId id="371" r:id="rId10"/>
    <p:sldId id="370" r:id="rId11"/>
    <p:sldId id="376" r:id="rId12"/>
    <p:sldId id="381" r:id="rId13"/>
    <p:sldId id="382" r:id="rId14"/>
    <p:sldId id="377" r:id="rId15"/>
    <p:sldId id="372" r:id="rId16"/>
    <p:sldId id="379" r:id="rId17"/>
    <p:sldId id="383" r:id="rId18"/>
    <p:sldId id="384" r:id="rId19"/>
    <p:sldId id="385" r:id="rId20"/>
  </p:sldIdLst>
  <p:sldSz cx="9906000" cy="6858000" type="A4"/>
  <p:notesSz cx="6735763" cy="98663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5pPr>
    <a:lvl6pPr marL="2286000" algn="l" defTabSz="914400" rtl="0" eaLnBrk="1" latinLnBrk="1" hangingPunct="1"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6pPr>
    <a:lvl7pPr marL="2743200" algn="l" defTabSz="914400" rtl="0" eaLnBrk="1" latinLnBrk="1" hangingPunct="1"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7pPr>
    <a:lvl8pPr marL="3200400" algn="l" defTabSz="914400" rtl="0" eaLnBrk="1" latinLnBrk="1" hangingPunct="1"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8pPr>
    <a:lvl9pPr marL="3657600" algn="l" defTabSz="914400" rtl="0" eaLnBrk="1" latinLnBrk="1" hangingPunct="1">
      <a:defRPr kumimoji="1" sz="1400" u="sng" kern="1200">
        <a:solidFill>
          <a:schemeClr val="tx2"/>
        </a:solidFill>
        <a:latin typeface="HY헤드라인M" pitchFamily="18" charset="-127"/>
        <a:ea typeface="HY헤드라인M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000068"/>
    <a:srgbClr val="004200"/>
    <a:srgbClr val="002E00"/>
    <a:srgbClr val="006600"/>
    <a:srgbClr val="A2D668"/>
    <a:srgbClr val="000099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97" autoAdjust="0"/>
    <p:restoredTop sz="90482" autoAdjust="0"/>
  </p:normalViewPr>
  <p:slideViewPr>
    <p:cSldViewPr>
      <p:cViewPr varScale="1">
        <p:scale>
          <a:sx n="165" d="100"/>
          <a:sy n="165" d="100"/>
        </p:scale>
        <p:origin x="1476" y="156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3342" y="-102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 defTabSz="908050">
              <a:defRPr sz="1200" u="none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9412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 algn="r" defTabSz="908050">
              <a:defRPr sz="1200" u="none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96913" y="739775"/>
            <a:ext cx="5343525" cy="3698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86300"/>
            <a:ext cx="5389563" cy="444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1013"/>
            <a:ext cx="2919413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 defTabSz="908050">
              <a:defRPr sz="1200" u="none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71013"/>
            <a:ext cx="2919412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 u="none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65BCA0B-FEA2-4C6D-8135-B5F232A2F2B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304506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E9D400E2-54F6-45F6-B69D-16D28510DA4D}" type="slidenum">
              <a:rPr lang="en-US" altLang="ko-KR" sz="1200" u="none" smtClean="0">
                <a:solidFill>
                  <a:schemeClr val="tx1"/>
                </a:solidFill>
                <a:latin typeface="굴림" charset="-127"/>
                <a:ea typeface="굴림" charset="-127"/>
              </a:rPr>
              <a:pPr eaLnBrk="1" hangingPunct="1"/>
              <a:t>2</a:t>
            </a:fld>
            <a:endParaRPr lang="en-US" altLang="ko-KR" sz="1200" u="none">
              <a:solidFill>
                <a:schemeClr val="tx1"/>
              </a:solidFill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FE780-1DD3-4DD5-8E26-0AE60D293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B9A3AB82-6393-A439-68F1-6934B1F3DC6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57FE1217-620A-49D5-10A0-9CC099896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70CD56EE-722A-BDF0-F240-937CF9CB5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E9D400E2-54F6-45F6-B69D-16D28510DA4D}" type="slidenum">
              <a:rPr lang="en-US" altLang="ko-KR" sz="1200" u="none" smtClean="0">
                <a:solidFill>
                  <a:schemeClr val="tx1"/>
                </a:solidFill>
                <a:latin typeface="굴림" charset="-127"/>
                <a:ea typeface="굴림" charset="-127"/>
              </a:rPr>
              <a:pPr eaLnBrk="1" hangingPunct="1"/>
              <a:t>3</a:t>
            </a:fld>
            <a:endParaRPr lang="en-US" altLang="ko-KR" sz="1200" u="none">
              <a:solidFill>
                <a:schemeClr val="tx1"/>
              </a:solidFill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9252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marL="0" marR="0" lvl="0" indent="0" algn="r" defTabSz="90805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D400E2-54F6-45F6-B69D-16D28510DA4D}" type="slidenum">
              <a:rPr kumimoji="1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charset="-127"/>
                <a:ea typeface="굴림" charset="-127"/>
                <a:cs typeface="+mn-cs"/>
              </a:rPr>
              <a:pPr marL="0" marR="0" lvl="0" indent="0" algn="r" defTabSz="90805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charset="-127"/>
              <a:ea typeface="굴림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991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48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DB99094-17D2-4010-A0AE-C527454DDB8A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6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5C831-4B1B-2B65-75D2-4DED10A1F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1E277689-6C18-2781-52C5-64894D724F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F0C91523-C05C-5713-860E-24CB99451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456B7005-72B6-AF62-318D-8EDBA99B1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7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6046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4843B-35FC-6F05-0785-E1A5D4F65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51627752-DB90-694E-4245-C7A63BA0B4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D79C3F06-14E8-97FA-E984-DA041D0D8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F8642D9F-3248-0603-4CF8-7D961A411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8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76735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A9EAB-6F7B-6771-955C-7F8280E67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9C51ED13-5455-0FA9-3E74-C7F3760B3E8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F0604881-F69A-CC01-0CCA-D7605F688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A404A1DA-CE1A-C47F-9EA8-8AEB1FE2C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9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12039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EE079-2A02-1EE7-71AD-5E38E2870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5F4FD682-F295-A00F-04B9-59745C53ABA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7A655957-F88B-94F9-7413-6A6FBFE1D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1FAC008A-E31F-A48A-F55B-F4DC586210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10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4937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58FB-2184-2BF4-336E-AB114D0D3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6201D1BC-44BE-394C-1CE4-98EB0B389D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1749AFE3-A598-3305-F9B8-8D56F6DE7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D6185971-3D3E-C862-6F4B-122AED3A0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11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40509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F44B6-2A00-4CD0-A588-4D01CDDA9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F36C82BA-7241-2A82-8B30-EF85E7EEF9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5D941F75-98A4-2FEA-E82E-C6762680E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B47E04CB-5829-75AB-1A29-C99B4D8F34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12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94025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0B19A-1B74-EDC0-8731-CC1C362C8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F05991BD-AF80-FB8E-9AE5-ACED15F83ED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4D7E2A2E-F411-8501-065E-5E1CA8EBA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64199C7C-7E11-C538-B711-2C6392B16B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13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88507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43E79-530D-8CD7-B67C-B4D44FEA7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DBF54E98-0378-95F2-71CD-BF450CBD131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3CAA165B-178C-E231-371B-C789E006E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8888E255-7AA9-F083-FEE9-39BC0A1DE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14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99510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D78FA-2D5F-183C-57E1-4F4CBE229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91F031DF-9E66-3B90-F509-C7C32A0E4C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9744E321-E324-ED15-DCC2-6A7B5E5C1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299AF663-B293-3181-803D-5DE0E2CEA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15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07489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D78FA-2D5F-183C-57E1-4F4CBE229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91F031DF-9E66-3B90-F509-C7C32A0E4C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9744E321-E324-ED15-DCC2-6A7B5E5C1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299AF663-B293-3181-803D-5DE0E2CEA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16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54518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D78FA-2D5F-183C-57E1-4F4CBE229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>
            <a:extLst>
              <a:ext uri="{FF2B5EF4-FFF2-40B4-BE49-F238E27FC236}">
                <a16:creationId xmlns:a16="http://schemas.microsoft.com/office/drawing/2014/main" id="{91F031DF-9E66-3B90-F509-C7C32A0E4C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>
            <a:extLst>
              <a:ext uri="{FF2B5EF4-FFF2-40B4-BE49-F238E27FC236}">
                <a16:creationId xmlns:a16="http://schemas.microsoft.com/office/drawing/2014/main" id="{9744E321-E324-ED15-DCC2-6A7B5E5C1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299AF663-B293-3181-803D-5DE0E2CEA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defTabSz="9080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fld id="{6EA9E48E-7D76-48ED-8A5F-8FCCA0BCE03B}" type="slidenum">
              <a:rPr lang="en-US" altLang="ko-KR" sz="1200" u="none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eaLnBrk="1" hangingPunct="1"/>
              <a:t>17</a:t>
            </a:fld>
            <a:endParaRPr lang="en-US" altLang="ko-KR" sz="1200" u="none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0221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273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92719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917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125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16766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표지 복사"/>
          <p:cNvPicPr>
            <a:picLocks noChangeAspect="1" noChangeArrowheads="1"/>
          </p:cNvPicPr>
          <p:nvPr/>
        </p:nvPicPr>
        <p:blipFill>
          <a:blip r:embed="rId4">
            <a:lum brigh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"/>
          <a:stretch>
            <a:fillRect/>
          </a:stretch>
        </p:blipFill>
        <p:spPr bwMode="auto">
          <a:xfrm>
            <a:off x="0" y="466725"/>
            <a:ext cx="9906000" cy="666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4" r:id="rId1"/>
    <p:sldLayoutId id="2147484372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2051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9A77F8F-9608-4520-8017-5E4B26AB054F}" type="datetimeFigureOut">
              <a:rPr lang="ko-KR" altLang="en-US"/>
              <a:pPr>
                <a:defRPr/>
              </a:pPr>
              <a:t>2025-12-09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7E7F788-7958-4CC9-BA86-4417EA3464E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71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5" descr="표지 복사"/>
          <p:cNvPicPr>
            <a:picLocks noChangeAspect="1" noChangeArrowheads="1"/>
          </p:cNvPicPr>
          <p:nvPr/>
        </p:nvPicPr>
        <p:blipFill>
          <a:blip r:embed="rId4">
            <a:lum brigh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"/>
          <a:stretch>
            <a:fillRect/>
          </a:stretch>
        </p:blipFill>
        <p:spPr bwMode="auto">
          <a:xfrm>
            <a:off x="0" y="466725"/>
            <a:ext cx="9906000" cy="666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7" descr="슬로건단독형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6581775"/>
            <a:ext cx="15875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33" descr="logo0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53"/>
          <a:stretch>
            <a:fillRect/>
          </a:stretch>
        </p:blipFill>
        <p:spPr bwMode="auto">
          <a:xfrm>
            <a:off x="8599488" y="19050"/>
            <a:ext cx="1249362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5" r:id="rId1"/>
    <p:sldLayoutId id="2147484356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3641089" y="4797152"/>
            <a:ext cx="2534917" cy="885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900" indent="-342900" algn="ctr">
              <a:spcBef>
                <a:spcPct val="20000"/>
              </a:spcBef>
            </a:pPr>
            <a:r>
              <a:rPr lang="en-US" altLang="ko-KR" sz="2400" u="none">
                <a:latin typeface="현대하모니 M" pitchFamily="18" charset="-127"/>
                <a:ea typeface="현대하모니 M" pitchFamily="18" charset="-127"/>
              </a:rPr>
              <a:t>2025.</a:t>
            </a:r>
            <a:r>
              <a:rPr lang="ko-KR" altLang="en-US" sz="2400" u="none"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en-US" altLang="ko-KR" sz="2400" u="none">
                <a:latin typeface="현대하모니 M" pitchFamily="18" charset="-127"/>
                <a:ea typeface="현대하모니 M" pitchFamily="18" charset="-127"/>
              </a:rPr>
              <a:t>11. 28 </a:t>
            </a:r>
            <a:endParaRPr lang="en-US" altLang="ko-KR" sz="2400" u="none" dirty="0">
              <a:latin typeface="현대하모니 M" pitchFamily="18" charset="-127"/>
              <a:ea typeface="현대하모니 M" pitchFamily="18" charset="-127"/>
            </a:endParaRPr>
          </a:p>
          <a:p>
            <a:pPr marL="342900" indent="-342900" algn="ctr">
              <a:spcBef>
                <a:spcPct val="20000"/>
              </a:spcBef>
            </a:pPr>
            <a:r>
              <a:rPr lang="ko-KR" altLang="en-US" sz="2400" u="none">
                <a:ea typeface="현대하모니 M" panose="02020603020101020101"/>
              </a:rPr>
              <a:t>㈜투비원솔루션즈</a:t>
            </a:r>
            <a:endParaRPr lang="en-US" altLang="ko-KR" sz="2400" u="none" dirty="0">
              <a:latin typeface="현대하모니 M" pitchFamily="18" charset="-127"/>
              <a:ea typeface="현대하모니 M" panose="02020603020101020101"/>
            </a:endParaRPr>
          </a:p>
        </p:txBody>
      </p:sp>
      <p:sp>
        <p:nvSpPr>
          <p:cNvPr id="7173" name="AutoShape 5" descr="표지 -white33"/>
          <p:cNvSpPr>
            <a:spLocks noChangeArrowheads="1"/>
          </p:cNvSpPr>
          <p:nvPr/>
        </p:nvSpPr>
        <p:spPr bwMode="auto">
          <a:xfrm>
            <a:off x="595313" y="1412875"/>
            <a:ext cx="8715375" cy="1516063"/>
          </a:xfrm>
          <a:prstGeom prst="roundRect">
            <a:avLst>
              <a:gd name="adj" fmla="val 6667"/>
            </a:avLst>
          </a:prstGeom>
          <a:blipFill dpi="0" rotWithShape="1">
            <a:blip r:embed="rId2"/>
            <a:srcRect/>
            <a:stretch>
              <a:fillRect/>
            </a:stretch>
          </a:blip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ko-KR" altLang="en-US" sz="2800" u="none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용역과제 완료 보고서</a:t>
            </a:r>
            <a:endParaRPr lang="en-US" altLang="ko-KR" sz="2800" u="none" dirty="0">
              <a:solidFill>
                <a:srgbClr val="000000"/>
              </a:solidFill>
              <a:latin typeface="현대하모니 B" pitchFamily="18" charset="-127"/>
              <a:ea typeface="현대하모니 B" pitchFamily="18" charset="-127"/>
            </a:endParaRPr>
          </a:p>
          <a:p>
            <a:pPr algn="ctr">
              <a:spcBef>
                <a:spcPct val="50000"/>
              </a:spcBef>
            </a:pPr>
            <a:r>
              <a:rPr lang="en-US" altLang="ko-KR" sz="28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- </a:t>
            </a:r>
            <a:r>
              <a:rPr lang="ko-KR" altLang="en-US" sz="2800" u="none" dirty="0" err="1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스마트캐빈</a:t>
            </a:r>
            <a:r>
              <a:rPr lang="ko-KR" altLang="en-US" sz="28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 기반 </a:t>
            </a:r>
            <a:r>
              <a:rPr lang="en-US" altLang="ko-KR" sz="28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AI Agent </a:t>
            </a:r>
            <a:r>
              <a:rPr lang="ko-KR" altLang="en-US" sz="28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개발 연구 </a:t>
            </a:r>
            <a:r>
              <a:rPr lang="en-US" altLang="ko-KR" sz="28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1.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용역 개요 및 내용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7" name="AutoShape 761"/>
          <p:cNvSpPr>
            <a:spLocks noChangeArrowheads="1"/>
          </p:cNvSpPr>
          <p:nvPr/>
        </p:nvSpPr>
        <p:spPr bwMode="auto">
          <a:xfrm>
            <a:off x="296863" y="708249"/>
            <a:ext cx="2567905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1)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ko-KR" altLang="en-US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용역 개요</a:t>
            </a:r>
          </a:p>
        </p:txBody>
      </p:sp>
      <p:sp>
        <p:nvSpPr>
          <p:cNvPr id="40" name="오각형 22"/>
          <p:cNvSpPr>
            <a:spLocks noChangeArrowheads="1"/>
          </p:cNvSpPr>
          <p:nvPr/>
        </p:nvSpPr>
        <p:spPr bwMode="auto">
          <a:xfrm>
            <a:off x="631825" y="1196752"/>
            <a:ext cx="1203325" cy="576064"/>
          </a:xfrm>
          <a:prstGeom prst="homePlate">
            <a:avLst>
              <a:gd name="adj" fmla="val 19332"/>
            </a:avLst>
          </a:prstGeom>
          <a:solidFill>
            <a:srgbClr val="DDDDDD">
              <a:alpha val="69803"/>
            </a:srgbClr>
          </a:solidFill>
          <a:ln w="19050" algn="ctr">
            <a:solidFill>
              <a:srgbClr val="969696"/>
            </a:solidFill>
            <a:round/>
            <a:headEnd/>
            <a:tailEnd/>
          </a:ln>
        </p:spPr>
        <p:txBody>
          <a:bodyPr wrap="none" anchor="ctr" anchorCtr="1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용역 목적</a:t>
            </a:r>
          </a:p>
        </p:txBody>
      </p:sp>
      <p:sp>
        <p:nvSpPr>
          <p:cNvPr id="41" name="TextBox 23"/>
          <p:cNvSpPr txBox="1">
            <a:spLocks noChangeArrowheads="1"/>
          </p:cNvSpPr>
          <p:nvPr/>
        </p:nvSpPr>
        <p:spPr bwMode="auto">
          <a:xfrm flipH="1">
            <a:off x="1917698" y="1196752"/>
            <a:ext cx="7356475" cy="576064"/>
          </a:xfrm>
          <a:prstGeom prst="rect">
            <a:avLst/>
          </a:prstGeom>
          <a:solidFill>
            <a:srgbClr val="DDDDDD">
              <a:alpha val="30196"/>
            </a:srgbClr>
          </a:solidFill>
          <a:ln w="19050">
            <a:solidFill>
              <a:srgbClr val="9696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  </a:t>
            </a:r>
            <a:r>
              <a:rPr kumimoji="0" lang="ko-KR" altLang="en-US" sz="1600" u="none" kern="0" dirty="0" err="1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스마트캐빈</a:t>
            </a: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 기반 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AI Agent </a:t>
            </a: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개발 연구</a:t>
            </a:r>
            <a:endParaRPr kumimoji="0" lang="en-US" altLang="ko-KR" sz="1600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44" name="오각형 22"/>
          <p:cNvSpPr>
            <a:spLocks noChangeArrowheads="1"/>
          </p:cNvSpPr>
          <p:nvPr/>
        </p:nvSpPr>
        <p:spPr bwMode="auto">
          <a:xfrm>
            <a:off x="631825" y="1844824"/>
            <a:ext cx="1203325" cy="576064"/>
          </a:xfrm>
          <a:prstGeom prst="homePlate">
            <a:avLst>
              <a:gd name="adj" fmla="val 19332"/>
            </a:avLst>
          </a:prstGeom>
          <a:solidFill>
            <a:srgbClr val="DDDDDD">
              <a:alpha val="69803"/>
            </a:srgbClr>
          </a:solidFill>
          <a:ln w="19050" algn="ctr">
            <a:solidFill>
              <a:srgbClr val="969696"/>
            </a:solidFill>
            <a:round/>
            <a:headEnd/>
            <a:tailEnd/>
          </a:ln>
        </p:spPr>
        <p:txBody>
          <a:bodyPr wrap="none" anchor="ctr" anchorCtr="1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용역 기간</a:t>
            </a:r>
          </a:p>
        </p:txBody>
      </p:sp>
      <p:sp>
        <p:nvSpPr>
          <p:cNvPr id="45" name="TextBox 23"/>
          <p:cNvSpPr txBox="1">
            <a:spLocks noChangeArrowheads="1"/>
          </p:cNvSpPr>
          <p:nvPr/>
        </p:nvSpPr>
        <p:spPr bwMode="auto">
          <a:xfrm flipH="1">
            <a:off x="1928663" y="1844824"/>
            <a:ext cx="7356475" cy="576064"/>
          </a:xfrm>
          <a:prstGeom prst="rect">
            <a:avLst/>
          </a:prstGeom>
          <a:solidFill>
            <a:srgbClr val="DDDDDD">
              <a:alpha val="30196"/>
            </a:srgbClr>
          </a:solidFill>
          <a:ln w="19050">
            <a:solidFill>
              <a:srgbClr val="9696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600" u="none" kern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kumimoji="0" lang="en-US" altLang="ko-KR" sz="1600" u="none" kern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2025.07.14 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~ 2025.12.31 (</a:t>
            </a:r>
            <a:r>
              <a:rPr kumimoji="0" lang="ko-KR" altLang="en-US" sz="1600" u="none" kern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총 </a:t>
            </a:r>
            <a:r>
              <a:rPr kumimoji="0" lang="en-US" altLang="ko-KR" sz="1600" u="none" kern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5.5</a:t>
            </a:r>
            <a:r>
              <a:rPr kumimoji="0" lang="ko-KR" altLang="en-US" sz="1600" u="none" kern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개월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)</a:t>
            </a:r>
          </a:p>
        </p:txBody>
      </p:sp>
      <p:sp>
        <p:nvSpPr>
          <p:cNvPr id="46" name="AutoShape 761"/>
          <p:cNvSpPr>
            <a:spLocks noChangeArrowheads="1"/>
          </p:cNvSpPr>
          <p:nvPr/>
        </p:nvSpPr>
        <p:spPr bwMode="auto">
          <a:xfrm>
            <a:off x="307975" y="3501008"/>
            <a:ext cx="2628801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2)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ko-KR" altLang="en-US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용역 내용 및 범위</a:t>
            </a:r>
          </a:p>
        </p:txBody>
      </p:sp>
      <p:sp>
        <p:nvSpPr>
          <p:cNvPr id="21" name="오각형 22"/>
          <p:cNvSpPr>
            <a:spLocks noChangeArrowheads="1"/>
          </p:cNvSpPr>
          <p:nvPr/>
        </p:nvSpPr>
        <p:spPr bwMode="auto">
          <a:xfrm>
            <a:off x="632520" y="2492896"/>
            <a:ext cx="1203325" cy="576064"/>
          </a:xfrm>
          <a:prstGeom prst="homePlate">
            <a:avLst>
              <a:gd name="adj" fmla="val 19332"/>
            </a:avLst>
          </a:prstGeom>
          <a:solidFill>
            <a:srgbClr val="DDDDDD">
              <a:alpha val="69803"/>
            </a:srgbClr>
          </a:solidFill>
          <a:ln w="19050" algn="ctr">
            <a:solidFill>
              <a:srgbClr val="969696"/>
            </a:solidFill>
            <a:round/>
            <a:headEnd/>
            <a:tailEnd/>
          </a:ln>
        </p:spPr>
        <p:txBody>
          <a:bodyPr wrap="none" anchor="ctr" anchorCtr="1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용역 비용</a:t>
            </a:r>
          </a:p>
        </p:txBody>
      </p:sp>
      <p:sp>
        <p:nvSpPr>
          <p:cNvPr id="22" name="TextBox 23"/>
          <p:cNvSpPr txBox="1">
            <a:spLocks noChangeArrowheads="1"/>
          </p:cNvSpPr>
          <p:nvPr/>
        </p:nvSpPr>
        <p:spPr bwMode="auto">
          <a:xfrm flipH="1">
            <a:off x="1918393" y="2492896"/>
            <a:ext cx="7356475" cy="576064"/>
          </a:xfrm>
          <a:prstGeom prst="rect">
            <a:avLst/>
          </a:prstGeom>
          <a:solidFill>
            <a:srgbClr val="DDDDDD">
              <a:alpha val="30196"/>
            </a:srgbClr>
          </a:solidFill>
          <a:ln w="19050">
            <a:solidFill>
              <a:srgbClr val="9696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 </a:t>
            </a:r>
            <a:endParaRPr kumimoji="0" lang="en-US" altLang="ko-KR" sz="1600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214018"/>
              </p:ext>
            </p:extLst>
          </p:nvPr>
        </p:nvGraphicFramePr>
        <p:xfrm>
          <a:off x="488950" y="3944691"/>
          <a:ext cx="9001125" cy="25050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1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4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항목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용역 내용 및 범위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비 고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79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현대하모니 M" pitchFamily="18" charset="-127"/>
                          <a:ea typeface="현대하모니 M" pitchFamily="18" charset="-127"/>
                        </a:rPr>
                        <a:t>LLM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latin typeface="현대하모니 M" pitchFamily="18" charset="-127"/>
                          <a:ea typeface="현대하모니 M" pitchFamily="18" charset="-127"/>
                        </a:rPr>
                        <a:t>데이터 학습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차량 매뉴얼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/DTC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코드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자동차 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정비 매뉴얼</a:t>
                      </a: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/IVI 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매뉴얼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기반 질의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-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응답 대화형 형태의 사전 지식 학습 데이터 구축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LLM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사전 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지식 파인튜닝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수행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사용자 피드백 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기반 </a:t>
                      </a: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RAG 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데이터 증분</a:t>
                      </a: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구조 설계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LLM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정확도 향상 및 개인화를 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위한 질의 도메인화</a:t>
                      </a: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(Query Routing)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완료</a:t>
                      </a:r>
                      <a:endParaRPr lang="en-US" altLang="ko-KR" sz="14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27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현대하모니 M" pitchFamily="18" charset="-127"/>
                          <a:ea typeface="현대하모니 M" pitchFamily="18" charset="-127"/>
                        </a:rPr>
                        <a:t>Context Agent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latin typeface="현대하모니 M" pitchFamily="18" charset="-127"/>
                          <a:ea typeface="현대하모니 M" pitchFamily="18" charset="-127"/>
                        </a:rPr>
                        <a:t>개발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Car Care/AI Guard/AI Routine/AI DJ 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앱 연동을 위한 실시간 이벤트 수집 모듈 설계</a:t>
                      </a:r>
                      <a:endParaRPr lang="en-US" altLang="ko-KR" sz="1200" kern="1200" baseline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이벤트 기반 </a:t>
                      </a: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LLM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프롬프트 템플릿 설계 및 조립형 문장 생성 처리</a:t>
                      </a:r>
                      <a:endParaRPr lang="en-US" altLang="ko-KR" sz="1200" kern="1200" baseline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이벤트 정보 질의 처리 로직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완료</a:t>
                      </a:r>
                      <a:endParaRPr lang="en-US" altLang="ko-KR" sz="14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1280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D95F4-47BC-51C2-A984-7A750066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>
            <a:extLst>
              <a:ext uri="{FF2B5EF4-FFF2-40B4-BE49-F238E27FC236}">
                <a16:creationId xmlns:a16="http://schemas.microsoft.com/office/drawing/2014/main" id="{BCA35E30-A494-404F-AB6E-512B507CC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1.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용역 개요 및 내용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AutoShape 761">
            <a:extLst>
              <a:ext uri="{FF2B5EF4-FFF2-40B4-BE49-F238E27FC236}">
                <a16:creationId xmlns:a16="http://schemas.microsoft.com/office/drawing/2014/main" id="{CB4B966F-4BB7-D645-0EF8-0D29868DF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5" y="620688"/>
            <a:ext cx="3060849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2)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ko-KR" altLang="en-US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용역 내용 및 범위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35157B2D-7C30-C398-5024-34F767859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749608"/>
              </p:ext>
            </p:extLst>
          </p:nvPr>
        </p:nvGraphicFramePr>
        <p:xfrm>
          <a:off x="488950" y="1052736"/>
          <a:ext cx="9001125" cy="4605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1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항목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용역 내용 및 범위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비 고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5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현대하모니 M" pitchFamily="18" charset="-127"/>
                          <a:ea typeface="현대하모니 M" pitchFamily="18" charset="-127"/>
                        </a:rPr>
                        <a:t>LLM Agent</a:t>
                      </a:r>
                    </a:p>
                    <a:p>
                      <a:pPr algn="ctr" latinLnBrk="1"/>
                      <a:r>
                        <a:rPr lang="en-US" altLang="ko-KR" sz="1200" b="1" dirty="0">
                          <a:latin typeface="현대하모니 M" pitchFamily="18" charset="-127"/>
                          <a:ea typeface="현대하모니 M" pitchFamily="18" charset="-127"/>
                        </a:rPr>
                        <a:t> </a:t>
                      </a:r>
                      <a:r>
                        <a:rPr lang="ko-KR" altLang="en-US" sz="1200" b="1" dirty="0">
                          <a:latin typeface="현대하모니 M" pitchFamily="18" charset="-127"/>
                          <a:ea typeface="현대하모니 M" pitchFamily="18" charset="-127"/>
                        </a:rPr>
                        <a:t>개발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On-device </a:t>
                      </a: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Vector DB(Object Box)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기반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RAG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구조 설계 및 검색 체계 구성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스크립트 유사도 검색용 </a:t>
                      </a:r>
                      <a:r>
                        <a:rPr lang="ko-KR" altLang="en-US" sz="1200" kern="1200" baseline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임베딩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모델</a:t>
                      </a: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(BGE-M3)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On-device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적용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차량 매뉴얼</a:t>
                      </a: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/DTC 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코드</a:t>
                      </a: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자동차 정비 매뉴얼</a:t>
                      </a: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/IVI 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매뉴얼 등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문서 벡터화 및 실시간 검색 지원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SLM, Embedding</a:t>
                      </a: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, Vector DB 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통합 </a:t>
                      </a: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RAG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파이프라인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구성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Pleos STT/TTS 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엔진</a:t>
                      </a: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연동 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및 </a:t>
                      </a: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SLM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응답 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결과 연동</a:t>
                      </a:r>
                      <a:endParaRPr lang="en-US" altLang="ko-KR" sz="1200" b="0" kern="1200" baseline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b="1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SLM </a:t>
                      </a:r>
                      <a:r>
                        <a:rPr lang="ko-KR" altLang="en-US" sz="1200" b="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모델 기반</a:t>
                      </a:r>
                      <a:r>
                        <a:rPr lang="en-US" altLang="ko-KR" sz="1200" b="1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Query Routing </a:t>
                      </a:r>
                      <a:r>
                        <a:rPr lang="ko-KR" altLang="en-US" sz="1200" b="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기능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사용자 질의 기반 도메인 분류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Android Intent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호환 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방식 구현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완료</a:t>
                      </a:r>
                      <a:endParaRPr lang="en-US" altLang="ko-KR" sz="14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현대하모니 M" pitchFamily="18" charset="-127"/>
                          <a:ea typeface="현대하모니 M" pitchFamily="18" charset="-127"/>
                        </a:rPr>
                        <a:t>아바타 및 </a:t>
                      </a:r>
                      <a:endParaRPr lang="en-US" altLang="ko-KR" sz="1200" b="1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  <a:p>
                      <a:pPr algn="ctr" latinLnBrk="1"/>
                      <a:r>
                        <a:rPr lang="en-US" altLang="ko-KR" sz="1200" b="1" dirty="0">
                          <a:latin typeface="현대하모니 M" pitchFamily="18" charset="-127"/>
                          <a:ea typeface="현대하모니 M" pitchFamily="18" charset="-127"/>
                        </a:rPr>
                        <a:t>UI </a:t>
                      </a:r>
                      <a:r>
                        <a:rPr lang="ko-KR" altLang="en-US" sz="1200" b="1" dirty="0">
                          <a:latin typeface="현대하모니 M" pitchFamily="18" charset="-127"/>
                          <a:ea typeface="현대하모니 M" pitchFamily="18" charset="-127"/>
                        </a:rPr>
                        <a:t>개발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3D 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아바타 </a:t>
                      </a: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Unity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기본형 구성</a:t>
                      </a:r>
                      <a:endParaRPr lang="en-US" altLang="ko-KR" sz="1200" kern="1200" baseline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Floating View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와 </a:t>
                      </a: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Unity 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생애주기 연동 구현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아바타 표정</a:t>
                      </a: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애니메이션</a:t>
                      </a: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총 </a:t>
                      </a: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14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종</a:t>
                      </a: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제어 로직 구성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Unity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기반 </a:t>
                      </a:r>
                      <a:r>
                        <a:rPr lang="ko-KR" altLang="en-US" sz="1200" kern="1200" baseline="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온디바이스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아바타 실시간 렌더링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HMI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개발</a:t>
                      </a: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아바타 애니메이션</a:t>
                      </a: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,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사용자 질의 출력</a:t>
                      </a:r>
                      <a:r>
                        <a:rPr lang="en-US" altLang="ko-KR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타기능 및 타앱 인텐트 이벤트와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연동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완료</a:t>
                      </a:r>
                      <a:endParaRPr lang="en-US" altLang="ko-KR" sz="14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9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현대하모니 M" pitchFamily="18" charset="-127"/>
                          <a:ea typeface="현대하모니 M" pitchFamily="18" charset="-127"/>
                        </a:rPr>
                        <a:t>클라우드 연동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ko-KR" altLang="en-US" sz="1200" b="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Query Routing </a:t>
                      </a:r>
                      <a:r>
                        <a:rPr lang="ko-KR" altLang="en-US" sz="1200" b="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기반 클라우드 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LLM </a:t>
                      </a:r>
                      <a:r>
                        <a:rPr lang="en-US" altLang="ko-KR" sz="1200" b="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API </a:t>
                      </a:r>
                      <a:r>
                        <a:rPr lang="ko-KR" altLang="en-US" sz="1200" b="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연동</a:t>
                      </a:r>
                      <a:endParaRPr lang="en-US" altLang="ko-KR" sz="1200" b="0" kern="1200" baseline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200" b="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b="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날씨 데이터 질의를 위하여 </a:t>
                      </a:r>
                      <a:r>
                        <a:rPr lang="en-US" altLang="ko-KR" sz="1200" b="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Geomatry API </a:t>
                      </a:r>
                      <a:r>
                        <a:rPr lang="ko-KR" altLang="en-US" sz="1200" b="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연동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완료</a:t>
                      </a:r>
                      <a:endParaRPr lang="en-US" altLang="ko-KR" sz="14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145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marR="0" lvl="0" indent="-508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2. </a:t>
            </a:r>
            <a:r>
              <a:rPr kumimoji="1" lang="ko-KR" altLang="en-US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업무별 </a:t>
            </a:r>
            <a:r>
              <a:rPr kumimoji="1" lang="ko-KR" altLang="en-US" sz="2400" u="none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수행 </a:t>
            </a:r>
            <a:r>
              <a:rPr lang="ko-KR" altLang="en-US" sz="2400" u="none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내용</a:t>
            </a:r>
            <a:r>
              <a:rPr kumimoji="1" lang="ko-KR" altLang="en-US" sz="2400" u="none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(</a:t>
            </a:r>
            <a:r>
              <a:rPr kumimoji="1" lang="ko-KR" altLang="en-US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검수</a:t>
            </a: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kumimoji="1" lang="ko-KR" altLang="en-US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포함</a:t>
            </a:r>
            <a:r>
              <a:rPr kumimoji="1" lang="en-US" altLang="ko-KR" sz="2400" u="none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)</a:t>
            </a:r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현대하모니 B" pitchFamily="18" charset="-127"/>
              <a:ea typeface="현대하모니 B" pitchFamily="18" charset="-127"/>
              <a:cs typeface="+mn-cs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B057B5A-D059-8CD2-B96E-8A4BDEF274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443858"/>
              </p:ext>
            </p:extLst>
          </p:nvPr>
        </p:nvGraphicFramePr>
        <p:xfrm>
          <a:off x="346930" y="1221154"/>
          <a:ext cx="8929688" cy="52809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834448901"/>
                    </a:ext>
                  </a:extLst>
                </a:gridCol>
                <a:gridCol w="1045258">
                  <a:extLst>
                    <a:ext uri="{9D8B030D-6E8A-4147-A177-3AD203B41FA5}">
                      <a16:colId xmlns:a16="http://schemas.microsoft.com/office/drawing/2014/main" val="2477019585"/>
                    </a:ext>
                  </a:extLst>
                </a:gridCol>
                <a:gridCol w="2292106">
                  <a:extLst>
                    <a:ext uri="{9D8B030D-6E8A-4147-A177-3AD203B41FA5}">
                      <a16:colId xmlns:a16="http://schemas.microsoft.com/office/drawing/2014/main" val="716681536"/>
                    </a:ext>
                  </a:extLst>
                </a:gridCol>
                <a:gridCol w="2292106">
                  <a:extLst>
                    <a:ext uri="{9D8B030D-6E8A-4147-A177-3AD203B41FA5}">
                      <a16:colId xmlns:a16="http://schemas.microsoft.com/office/drawing/2014/main" val="4197361404"/>
                    </a:ext>
                  </a:extLst>
                </a:gridCol>
                <a:gridCol w="2292106">
                  <a:extLst>
                    <a:ext uri="{9D8B030D-6E8A-4147-A177-3AD203B41FA5}">
                      <a16:colId xmlns:a16="http://schemas.microsoft.com/office/drawing/2014/main" val="2915706603"/>
                    </a:ext>
                  </a:extLst>
                </a:gridCol>
              </a:tblGrid>
              <a:tr h="1196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구분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주체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설계 및 모델 개발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현대하모니 L" pitchFamily="18" charset="-127"/>
                          <a:ea typeface="현대하모니 L" pitchFamily="18" charset="-127"/>
                        </a:rPr>
                        <a:t>온디바이스</a:t>
                      </a:r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 모델 포팅 및 </a:t>
                      </a:r>
                      <a:r>
                        <a:rPr lang="en-US" altLang="ko-KR" sz="1400" dirty="0">
                          <a:latin typeface="현대하모니 L" pitchFamily="18" charset="-127"/>
                          <a:ea typeface="현대하모니 L" pitchFamily="18" charset="-127"/>
                        </a:rPr>
                        <a:t>Agent </a:t>
                      </a:r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구현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현대하모니 L" pitchFamily="18" charset="-127"/>
                          <a:ea typeface="현대하모니 L" pitchFamily="18" charset="-127"/>
                        </a:rPr>
                        <a:t>통합 검수 및 릴리즈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440024"/>
                  </a:ext>
                </a:extLst>
              </a:tr>
              <a:tr h="75094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AI Agent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개발 연구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모비스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7112956"/>
                  </a:ext>
                </a:extLst>
              </a:tr>
              <a:tr h="40119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latin typeface="현대하모니 L" pitchFamily="18" charset="-127"/>
                          <a:ea typeface="현대하모니 L" pitchFamily="18" charset="-127"/>
                        </a:rPr>
                        <a:t>투비원</a:t>
                      </a:r>
                      <a:endParaRPr lang="en-US" altLang="ko-KR" sz="1200" b="1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  <a:p>
                      <a:pPr algn="ctr" latinLnBrk="1"/>
                      <a:r>
                        <a:rPr lang="ko-KR" altLang="en-US" sz="1200" b="1" dirty="0" err="1">
                          <a:latin typeface="현대하모니 L" pitchFamily="18" charset="-127"/>
                          <a:ea typeface="현대하모니 L" pitchFamily="18" charset="-127"/>
                        </a:rPr>
                        <a:t>솔루션즈</a:t>
                      </a:r>
                      <a:endParaRPr lang="ko-KR" altLang="en-US" sz="1200" b="1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07719"/>
                  </a:ext>
                </a:extLst>
              </a:tr>
            </a:tbl>
          </a:graphicData>
        </a:graphic>
      </p:graphicFrame>
      <p:sp>
        <p:nvSpPr>
          <p:cNvPr id="17" name="모서리가 둥근 직사각형 1">
            <a:extLst>
              <a:ext uri="{FF2B5EF4-FFF2-40B4-BE49-F238E27FC236}">
                <a16:creationId xmlns:a16="http://schemas.microsoft.com/office/drawing/2014/main" id="{5CE7AAF1-444B-8AC6-A842-623085E27C9B}"/>
              </a:ext>
            </a:extLst>
          </p:cNvPr>
          <p:cNvSpPr/>
          <p:nvPr/>
        </p:nvSpPr>
        <p:spPr bwMode="auto">
          <a:xfrm>
            <a:off x="2474185" y="1868546"/>
            <a:ext cx="2091378" cy="503128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Qualcomm SDK </a:t>
            </a: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기반 </a:t>
            </a:r>
            <a:r>
              <a:rPr kumimoji="0" lang="en-US" altLang="ko-KR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LLM </a:t>
            </a: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모델 변환 </a:t>
            </a:r>
            <a:r>
              <a:rPr kumimoji="0" lang="en-US" altLang="ko-KR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On-device </a:t>
            </a: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포팅 사양 검토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34" name="모서리가 둥근 직사각형 1">
            <a:extLst>
              <a:ext uri="{FF2B5EF4-FFF2-40B4-BE49-F238E27FC236}">
                <a16:creationId xmlns:a16="http://schemas.microsoft.com/office/drawing/2014/main" id="{6806885F-D074-9B85-FB03-2D5746822A6E}"/>
              </a:ext>
            </a:extLst>
          </p:cNvPr>
          <p:cNvSpPr/>
          <p:nvPr/>
        </p:nvSpPr>
        <p:spPr bwMode="auto">
          <a:xfrm>
            <a:off x="2474797" y="3291649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auto" latinLnBrk="0">
              <a:spcBef>
                <a:spcPts val="1000"/>
              </a:spcBef>
              <a:spcAft>
                <a:spcPts val="0"/>
              </a:spcAft>
              <a:defRPr/>
            </a:pP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LLM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파인튜닝 수행 및 사용자 피드백 기반 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RAG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데이터 증분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구조 설계</a:t>
            </a:r>
          </a:p>
        </p:txBody>
      </p:sp>
      <p:sp>
        <p:nvSpPr>
          <p:cNvPr id="8200" name="AutoShape 761">
            <a:extLst>
              <a:ext uri="{FF2B5EF4-FFF2-40B4-BE49-F238E27FC236}">
                <a16:creationId xmlns:a16="http://schemas.microsoft.com/office/drawing/2014/main" id="{ECCD9078-4AC0-7DBD-2131-4AFC36C5F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694267"/>
            <a:ext cx="2196753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 marL="0" marR="0" lvl="0" indent="0" algn="l" defTabSz="91440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AI Agent </a:t>
            </a:r>
            <a:r>
              <a: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개발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9" name="모서리가 둥근 직사각형 1">
            <a:extLst>
              <a:ext uri="{FF2B5EF4-FFF2-40B4-BE49-F238E27FC236}">
                <a16:creationId xmlns:a16="http://schemas.microsoft.com/office/drawing/2014/main" id="{B4009295-BB73-59B8-AA0C-85FE86CC23D5}"/>
              </a:ext>
            </a:extLst>
          </p:cNvPr>
          <p:cNvSpPr/>
          <p:nvPr/>
        </p:nvSpPr>
        <p:spPr bwMode="auto">
          <a:xfrm>
            <a:off x="2474185" y="3942826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Hugging Face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에 학습 완료된</a:t>
            </a: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모델 업로드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19" name="모서리가 둥근 직사각형 1">
            <a:extLst>
              <a:ext uri="{FF2B5EF4-FFF2-40B4-BE49-F238E27FC236}">
                <a16:creationId xmlns:a16="http://schemas.microsoft.com/office/drawing/2014/main" id="{C5982E94-C23C-D689-6CB8-74BE2C07F0F2}"/>
              </a:ext>
            </a:extLst>
          </p:cNvPr>
          <p:cNvSpPr/>
          <p:nvPr/>
        </p:nvSpPr>
        <p:spPr bwMode="auto">
          <a:xfrm>
            <a:off x="4811774" y="1854000"/>
            <a:ext cx="951675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LLM </a:t>
            </a: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모델 온디바이스 포팅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21" name="모서리가 둥근 직사각형 1">
            <a:extLst>
              <a:ext uri="{FF2B5EF4-FFF2-40B4-BE49-F238E27FC236}">
                <a16:creationId xmlns:a16="http://schemas.microsoft.com/office/drawing/2014/main" id="{1F527311-A9C0-3D82-F875-E4734DC125C2}"/>
              </a:ext>
            </a:extLst>
          </p:cNvPr>
          <p:cNvSpPr/>
          <p:nvPr/>
        </p:nvSpPr>
        <p:spPr bwMode="auto">
          <a:xfrm>
            <a:off x="5891763" y="1854000"/>
            <a:ext cx="951675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디바이스 환경에서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기본 동작 확인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03" name="모서리가 둥근 직사각형 1">
            <a:extLst>
              <a:ext uri="{FF2B5EF4-FFF2-40B4-BE49-F238E27FC236}">
                <a16:creationId xmlns:a16="http://schemas.microsoft.com/office/drawing/2014/main" id="{D174568E-EC9A-177E-6720-805FA9B26E27}"/>
              </a:ext>
            </a:extLst>
          </p:cNvPr>
          <p:cNvSpPr/>
          <p:nvPr/>
        </p:nvSpPr>
        <p:spPr bwMode="auto">
          <a:xfrm>
            <a:off x="2474184" y="4592366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타앱 </a:t>
            </a: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이벤트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수신</a:t>
            </a:r>
            <a:r>
              <a:rPr kumimoji="0" lang="en-US" altLang="ko-KR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, Prompt </a:t>
            </a: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구성 로직 개발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04" name="모서리가 둥근 직사각형 1">
            <a:extLst>
              <a:ext uri="{FF2B5EF4-FFF2-40B4-BE49-F238E27FC236}">
                <a16:creationId xmlns:a16="http://schemas.microsoft.com/office/drawing/2014/main" id="{84729824-CCEF-42F4-B3D6-814D7D1F6596}"/>
              </a:ext>
            </a:extLst>
          </p:cNvPr>
          <p:cNvSpPr/>
          <p:nvPr/>
        </p:nvSpPr>
        <p:spPr bwMode="auto">
          <a:xfrm>
            <a:off x="2474797" y="2646676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차량 메뉴얼</a:t>
            </a:r>
            <a:r>
              <a:rPr lang="en-US" altLang="ko-KR" sz="1000" u="none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/DTC </a:t>
            </a:r>
            <a:r>
              <a:rPr lang="ko-KR" altLang="en-US" sz="1000" u="none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코드</a:t>
            </a:r>
            <a:r>
              <a:rPr lang="en-US" altLang="ko-KR" sz="1000" u="none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/</a:t>
            </a:r>
            <a:r>
              <a:rPr lang="ko-KR" altLang="en-US" sz="1000" u="none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자동차 정비 매뉴얼</a:t>
            </a:r>
            <a:r>
              <a:rPr lang="en-US" altLang="ko-KR" sz="1000" u="none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/IVI </a:t>
            </a:r>
            <a:r>
              <a:rPr lang="ko-KR" altLang="en-US" sz="1000" u="none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매뉴얼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기반 질의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-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응답 형태 학습 데이터 구축</a:t>
            </a:r>
            <a:endParaRPr kumimoji="0" lang="ko-KR" altLang="en-US" sz="1000" u="none" kern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8210" name="연결선: 꺾임 8209">
            <a:extLst>
              <a:ext uri="{FF2B5EF4-FFF2-40B4-BE49-F238E27FC236}">
                <a16:creationId xmlns:a16="http://schemas.microsoft.com/office/drawing/2014/main" id="{D59F4B2B-DA6C-BC06-C3C8-FAC690CE23FF}"/>
              </a:ext>
            </a:extLst>
          </p:cNvPr>
          <p:cNvCxnSpPr>
            <a:cxnSpLocks/>
            <a:stCxn id="9" idx="2"/>
            <a:endCxn id="19" idx="1"/>
          </p:cNvCxnSpPr>
          <p:nvPr/>
        </p:nvCxnSpPr>
        <p:spPr>
          <a:xfrm rot="5400000" flipH="1" flipV="1">
            <a:off x="2991992" y="2640719"/>
            <a:ext cx="2347663" cy="1291900"/>
          </a:xfrm>
          <a:prstGeom prst="bentConnector4">
            <a:avLst>
              <a:gd name="adj1" fmla="val -3627"/>
              <a:gd name="adj2" fmla="val 85382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213" name="모서리가 둥근 직사각형 1">
            <a:extLst>
              <a:ext uri="{FF2B5EF4-FFF2-40B4-BE49-F238E27FC236}">
                <a16:creationId xmlns:a16="http://schemas.microsoft.com/office/drawing/2014/main" id="{90E14CB3-29F4-515C-B28B-8935A277D9CF}"/>
              </a:ext>
            </a:extLst>
          </p:cNvPr>
          <p:cNvSpPr/>
          <p:nvPr/>
        </p:nvSpPr>
        <p:spPr bwMode="auto">
          <a:xfrm>
            <a:off x="4802063" y="2646676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온디바이스 </a:t>
            </a:r>
            <a:r>
              <a:rPr kumimoji="0" lang="en-US" altLang="ko-KR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SLM </a:t>
            </a: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모델과 </a:t>
            </a:r>
            <a:r>
              <a:rPr kumimoji="0" lang="en-US" altLang="ko-KR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Vector DB </a:t>
            </a: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기반 </a:t>
            </a:r>
            <a:r>
              <a:rPr kumimoji="0" lang="en-US" altLang="ko-KR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RAG </a:t>
            </a: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파이프라인 연동 구현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20" name="모서리가 둥근 직사각형 1">
            <a:extLst>
              <a:ext uri="{FF2B5EF4-FFF2-40B4-BE49-F238E27FC236}">
                <a16:creationId xmlns:a16="http://schemas.microsoft.com/office/drawing/2014/main" id="{E4CE4A99-4EF3-6FDE-0FB7-CCB41BE30495}"/>
              </a:ext>
            </a:extLst>
          </p:cNvPr>
          <p:cNvSpPr/>
          <p:nvPr/>
        </p:nvSpPr>
        <p:spPr bwMode="auto">
          <a:xfrm>
            <a:off x="2474184" y="5245179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Vector DB </a:t>
            </a: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기반 </a:t>
            </a:r>
            <a:r>
              <a:rPr kumimoji="0" lang="en-US" altLang="ko-KR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On-device RAG </a:t>
            </a: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개발 및 임베딩 추론 최적화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27" name="모서리가 둥근 직사각형 1">
            <a:extLst>
              <a:ext uri="{FF2B5EF4-FFF2-40B4-BE49-F238E27FC236}">
                <a16:creationId xmlns:a16="http://schemas.microsoft.com/office/drawing/2014/main" id="{AE8A221D-E52E-7726-AB2B-CCAE90CBA786}"/>
              </a:ext>
            </a:extLst>
          </p:cNvPr>
          <p:cNvSpPr/>
          <p:nvPr/>
        </p:nvSpPr>
        <p:spPr bwMode="auto">
          <a:xfrm>
            <a:off x="2474184" y="5896355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ContextAgent / LLMAgent / 3D </a:t>
            </a: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아바타 구성 및 통합 구조 설계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28" name="모서리가 둥근 직사각형 1">
            <a:extLst>
              <a:ext uri="{FF2B5EF4-FFF2-40B4-BE49-F238E27FC236}">
                <a16:creationId xmlns:a16="http://schemas.microsoft.com/office/drawing/2014/main" id="{506C6AF7-16A9-A95C-831E-477727508AF4}"/>
              </a:ext>
            </a:extLst>
          </p:cNvPr>
          <p:cNvSpPr/>
          <p:nvPr/>
        </p:nvSpPr>
        <p:spPr bwMode="auto">
          <a:xfrm>
            <a:off x="4802063" y="3291519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각 이벤트와 아바타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애니메이션</a:t>
            </a:r>
            <a:r>
              <a:rPr kumimoji="0" lang="en-US" altLang="ko-KR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</a:t>
            </a: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연동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29" name="모서리가 둥근 직사각형 1">
            <a:extLst>
              <a:ext uri="{FF2B5EF4-FFF2-40B4-BE49-F238E27FC236}">
                <a16:creationId xmlns:a16="http://schemas.microsoft.com/office/drawing/2014/main" id="{9A6585BD-623F-AE03-3FEE-D25752561FB3}"/>
              </a:ext>
            </a:extLst>
          </p:cNvPr>
          <p:cNvSpPr/>
          <p:nvPr/>
        </p:nvSpPr>
        <p:spPr bwMode="auto">
          <a:xfrm>
            <a:off x="4802063" y="4600127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타앱 이벤트 기반 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SLM Prompt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처리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실행 명령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Intent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매핑 등 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SLM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전체 흐름 테스트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30" name="모서리가 둥근 직사각형 1">
            <a:extLst>
              <a:ext uri="{FF2B5EF4-FFF2-40B4-BE49-F238E27FC236}">
                <a16:creationId xmlns:a16="http://schemas.microsoft.com/office/drawing/2014/main" id="{014CC5DC-55B9-ECF4-EBAC-F0FB4537FE65}"/>
              </a:ext>
            </a:extLst>
          </p:cNvPr>
          <p:cNvSpPr/>
          <p:nvPr/>
        </p:nvSpPr>
        <p:spPr bwMode="auto">
          <a:xfrm>
            <a:off x="4811774" y="5244637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Query Routing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기반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클라우드 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LLM API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연동 기능 구현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31" name="모서리가 둥근 직사각형 1">
            <a:extLst>
              <a:ext uri="{FF2B5EF4-FFF2-40B4-BE49-F238E27FC236}">
                <a16:creationId xmlns:a16="http://schemas.microsoft.com/office/drawing/2014/main" id="{9840E961-106D-91A7-DF5C-B000FB9D68A5}"/>
              </a:ext>
            </a:extLst>
          </p:cNvPr>
          <p:cNvSpPr/>
          <p:nvPr/>
        </p:nvSpPr>
        <p:spPr bwMode="auto">
          <a:xfrm>
            <a:off x="4802063" y="5892173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Query Routing </a:t>
            </a: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도메인 포함 사용자 개인화 </a:t>
            </a:r>
            <a:r>
              <a:rPr kumimoji="0" lang="en-US" altLang="ko-KR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RAG</a:t>
            </a: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데이터 증분 구현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32" name="모서리가 둥근 직사각형 1">
            <a:extLst>
              <a:ext uri="{FF2B5EF4-FFF2-40B4-BE49-F238E27FC236}">
                <a16:creationId xmlns:a16="http://schemas.microsoft.com/office/drawing/2014/main" id="{794EBBC6-6BAD-4175-3447-090AECB47C1D}"/>
              </a:ext>
            </a:extLst>
          </p:cNvPr>
          <p:cNvSpPr/>
          <p:nvPr/>
        </p:nvSpPr>
        <p:spPr bwMode="auto">
          <a:xfrm>
            <a:off x="4811161" y="3942826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리소스 사용량 및 추론 속도 측정</a:t>
            </a:r>
            <a:r>
              <a:rPr kumimoji="0" lang="en-US" altLang="ko-KR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, SLM </a:t>
            </a: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모델</a:t>
            </a:r>
            <a:r>
              <a:rPr kumimoji="0" lang="en-US" altLang="ko-KR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/RAG/3D </a:t>
            </a: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아바타 최적화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33" name="모서리가 둥근 직사각형 1">
            <a:extLst>
              <a:ext uri="{FF2B5EF4-FFF2-40B4-BE49-F238E27FC236}">
                <a16:creationId xmlns:a16="http://schemas.microsoft.com/office/drawing/2014/main" id="{16DE4054-E849-734C-FD22-0EB4D03CCCE2}"/>
              </a:ext>
            </a:extLst>
          </p:cNvPr>
          <p:cNvSpPr/>
          <p:nvPr/>
        </p:nvSpPr>
        <p:spPr bwMode="auto">
          <a:xfrm>
            <a:off x="7133593" y="1851324"/>
            <a:ext cx="951675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성능 기준 만족 여부 확인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34" name="모서리가 둥근 직사각형 1">
            <a:extLst>
              <a:ext uri="{FF2B5EF4-FFF2-40B4-BE49-F238E27FC236}">
                <a16:creationId xmlns:a16="http://schemas.microsoft.com/office/drawing/2014/main" id="{61E77630-E05A-DF31-D294-3F24146A76FD}"/>
              </a:ext>
            </a:extLst>
          </p:cNvPr>
          <p:cNvSpPr/>
          <p:nvPr/>
        </p:nvSpPr>
        <p:spPr bwMode="auto">
          <a:xfrm>
            <a:off x="8213582" y="1851324"/>
            <a:ext cx="951675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최종 결과물 수합</a:t>
            </a: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 및 산출물 검토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35" name="모서리가 둥근 직사각형 1">
            <a:extLst>
              <a:ext uri="{FF2B5EF4-FFF2-40B4-BE49-F238E27FC236}">
                <a16:creationId xmlns:a16="http://schemas.microsoft.com/office/drawing/2014/main" id="{784CCDF8-8156-0C0F-12D8-041FDAF3F77C}"/>
              </a:ext>
            </a:extLst>
          </p:cNvPr>
          <p:cNvSpPr/>
          <p:nvPr/>
        </p:nvSpPr>
        <p:spPr bwMode="auto">
          <a:xfrm>
            <a:off x="7085831" y="2646676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rPr>
              <a:t>전체 기능 체크 리스트 기반 최종 통합 테스트 수행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36" name="모서리가 둥근 직사각형 1">
            <a:extLst>
              <a:ext uri="{FF2B5EF4-FFF2-40B4-BE49-F238E27FC236}">
                <a16:creationId xmlns:a16="http://schemas.microsoft.com/office/drawing/2014/main" id="{5BBDC25F-CAED-5DF3-6DC1-13A1B42F8729}"/>
              </a:ext>
            </a:extLst>
          </p:cNvPr>
          <p:cNvSpPr/>
          <p:nvPr/>
        </p:nvSpPr>
        <p:spPr bwMode="auto">
          <a:xfrm>
            <a:off x="7085831" y="3291519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실제 차량 기능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/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타앱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연동에 대한 엔드투엔드 검수 및 디버깅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37" name="모서리가 둥근 직사각형 1">
            <a:extLst>
              <a:ext uri="{FF2B5EF4-FFF2-40B4-BE49-F238E27FC236}">
                <a16:creationId xmlns:a16="http://schemas.microsoft.com/office/drawing/2014/main" id="{05A421E5-AEFB-D4DC-65B4-19FAB1B2EF56}"/>
              </a:ext>
            </a:extLst>
          </p:cNvPr>
          <p:cNvSpPr/>
          <p:nvPr/>
        </p:nvSpPr>
        <p:spPr bwMode="auto">
          <a:xfrm>
            <a:off x="7085831" y="4600127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릴리즈 노트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소스 코드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학습 데이터 등 전체 문서 패키지 작성 및 제출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sp>
        <p:nvSpPr>
          <p:cNvPr id="8238" name="모서리가 둥근 직사각형 1">
            <a:extLst>
              <a:ext uri="{FF2B5EF4-FFF2-40B4-BE49-F238E27FC236}">
                <a16:creationId xmlns:a16="http://schemas.microsoft.com/office/drawing/2014/main" id="{FA36E6A5-2AE9-2F7A-8D0E-33263D6BD0CF}"/>
              </a:ext>
            </a:extLst>
          </p:cNvPr>
          <p:cNvSpPr/>
          <p:nvPr/>
        </p:nvSpPr>
        <p:spPr bwMode="auto">
          <a:xfrm>
            <a:off x="7095542" y="5244637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산출물 전체 패키징 및 납품 완료</a:t>
            </a:r>
            <a:endParaRPr kumimoji="0" lang="ko-KR" altLang="en-US" sz="1000" u="none" kern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8239" name="모서리가 둥근 직사각형 1">
            <a:extLst>
              <a:ext uri="{FF2B5EF4-FFF2-40B4-BE49-F238E27FC236}">
                <a16:creationId xmlns:a16="http://schemas.microsoft.com/office/drawing/2014/main" id="{7950B7F2-3756-2BC5-C9F4-9D41A4952E49}"/>
              </a:ext>
            </a:extLst>
          </p:cNvPr>
          <p:cNvSpPr/>
          <p:nvPr/>
        </p:nvSpPr>
        <p:spPr bwMode="auto">
          <a:xfrm>
            <a:off x="7085831" y="5892173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모비스 검수 피드백 반영 후 최종본 확정 및 이관</a:t>
            </a:r>
            <a:endParaRPr kumimoji="0" lang="ko-KR" altLang="en-US" sz="1000" u="none" kern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8240" name="모서리가 둥근 직사각형 1">
            <a:extLst>
              <a:ext uri="{FF2B5EF4-FFF2-40B4-BE49-F238E27FC236}">
                <a16:creationId xmlns:a16="http://schemas.microsoft.com/office/drawing/2014/main" id="{6EBA85FD-8EB4-D13E-B1D5-99692F59C861}"/>
              </a:ext>
            </a:extLst>
          </p:cNvPr>
          <p:cNvSpPr/>
          <p:nvPr/>
        </p:nvSpPr>
        <p:spPr bwMode="auto">
          <a:xfrm>
            <a:off x="7094929" y="3942826"/>
            <a:ext cx="2091378" cy="517674"/>
          </a:xfrm>
          <a:prstGeom prst="roundRect">
            <a:avLst>
              <a:gd name="adj" fmla="val 10000"/>
            </a:avLst>
          </a:prstGeom>
          <a:solidFill>
            <a:srgbClr val="F8F8F8"/>
          </a:solidFill>
          <a:ln w="3175">
            <a:solidFill>
              <a:srgbClr val="003399"/>
            </a:solidFill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온디바이스 실행 환경에서 성능 튜닝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모델 최적화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kumimoji="0" lang="ko-KR" altLang="en-US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로딩 시간 개선 등</a:t>
            </a:r>
            <a:r>
              <a:rPr kumimoji="0" lang="en-US" altLang="ko-KR" sz="1000" u="none" kern="0">
                <a:ln>
                  <a:solidFill>
                    <a:srgbClr val="FFFFFF">
                      <a:lumMod val="75000"/>
                      <a:alpha val="0"/>
                    </a:srgbClr>
                  </a:solidFill>
                </a:ln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  <a:cs typeface="+mn-cs"/>
            </a:endParaRPr>
          </a:p>
        </p:txBody>
      </p:sp>
      <p:cxnSp>
        <p:nvCxnSpPr>
          <p:cNvPr id="8244" name="연결선: 꺾임 8243">
            <a:extLst>
              <a:ext uri="{FF2B5EF4-FFF2-40B4-BE49-F238E27FC236}">
                <a16:creationId xmlns:a16="http://schemas.microsoft.com/office/drawing/2014/main" id="{3F43ED1E-D4AE-0CF2-A04B-A8D25160155F}"/>
              </a:ext>
            </a:extLst>
          </p:cNvPr>
          <p:cNvCxnSpPr>
            <a:cxnSpLocks/>
            <a:stCxn id="19" idx="2"/>
            <a:endCxn id="8213" idx="0"/>
          </p:cNvCxnSpPr>
          <p:nvPr/>
        </p:nvCxnSpPr>
        <p:spPr>
          <a:xfrm rot="16200000" flipH="1">
            <a:off x="5430181" y="2229105"/>
            <a:ext cx="275002" cy="5601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6838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F615331-AF97-66F4-6E33-5FBC8B6A4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370556"/>
              </p:ext>
            </p:extLst>
          </p:nvPr>
        </p:nvGraphicFramePr>
        <p:xfrm>
          <a:off x="272480" y="726353"/>
          <a:ext cx="9360594" cy="35629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4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77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646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분 류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항 목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제출 </a:t>
                      </a:r>
                      <a:r>
                        <a:rPr lang="ko-KR" altLang="en-US" sz="1600" i="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형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제출 기한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비 고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146"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S/W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현대하모니 M" pitchFamily="18" charset="-127"/>
                          <a:ea typeface="현대하모니 M" pitchFamily="18" charset="-127"/>
                        </a:rPr>
                        <a:t>SADS </a:t>
                      </a:r>
                      <a:r>
                        <a:rPr lang="ko-KR" altLang="en-US" sz="1200" dirty="0">
                          <a:latin typeface="현대하모니 M" pitchFamily="18" charset="-127"/>
                          <a:ea typeface="현대하모니 M" pitchFamily="18" charset="-127"/>
                        </a:rPr>
                        <a:t>문서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dirty="0">
                          <a:latin typeface="현대하모니 M" pitchFamily="18" charset="-127"/>
                          <a:ea typeface="현대하모니 M" pitchFamily="18" charset="-127"/>
                        </a:rPr>
                        <a:t>시스템 아키텍처 설계 문서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15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현대하모니 M" pitchFamily="18" charset="-127"/>
                          <a:ea typeface="현대하모니 M" pitchFamily="18" charset="-127"/>
                        </a:rPr>
                        <a:t>AI </a:t>
                      </a:r>
                      <a:r>
                        <a:rPr lang="ko-KR" altLang="en-US" sz="1200">
                          <a:latin typeface="현대하모니 M" pitchFamily="18" charset="-127"/>
                          <a:ea typeface="현대하모니 M" pitchFamily="18" charset="-127"/>
                        </a:rPr>
                        <a:t>데이터 학습 및 지식관리 모듈 설계 문서</a:t>
                      </a: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en-US" altLang="ko-KR" sz="1200" dirty="0">
                          <a:latin typeface="현대하모니 M" pitchFamily="18" charset="-127"/>
                          <a:ea typeface="현대하모니 M" pitchFamily="18" charset="-127"/>
                        </a:rPr>
                        <a:t>AI</a:t>
                      </a:r>
                      <a:r>
                        <a:rPr lang="ko-KR" altLang="en-US" sz="1200" dirty="0">
                          <a:latin typeface="현대하모니 M" pitchFamily="18" charset="-127"/>
                          <a:ea typeface="현대하모니 M" pitchFamily="18" charset="-127"/>
                        </a:rPr>
                        <a:t> 학습 데이터 및 지식 관리 모듈 설계 문서</a:t>
                      </a: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>
                          <a:latin typeface="현대하모니 M" pitchFamily="18" charset="-127"/>
                          <a:ea typeface="현대하모니 M" pitchFamily="18" charset="-127"/>
                        </a:rPr>
                        <a:t>데이터 저작 도구 제외</a:t>
                      </a:r>
                      <a:endParaRPr lang="en-US" altLang="ko-KR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현대하모니 M" pitchFamily="18" charset="-127"/>
                          <a:ea typeface="현대하모니 M" pitchFamily="18" charset="-127"/>
                        </a:rPr>
                        <a:t>소스 코드 및 바이너리</a:t>
                      </a: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baseline="0">
                          <a:latin typeface="현대하모니 M" pitchFamily="18" charset="-127"/>
                          <a:ea typeface="현대하모니 M" pitchFamily="18" charset="-127"/>
                        </a:rPr>
                        <a:t>전체 기능 소스 코드 및 실행 바이너리</a:t>
                      </a: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현대하모니 M" pitchFamily="18" charset="-127"/>
                          <a:ea typeface="현대하모니 M" pitchFamily="18" charset="-127"/>
                        </a:rPr>
                        <a:t>릴리즈 노트</a:t>
                      </a: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 baseline="0">
                          <a:latin typeface="현대하모니 M" pitchFamily="18" charset="-127"/>
                          <a:ea typeface="현대하모니 M" pitchFamily="18" charset="-127"/>
                        </a:rPr>
                        <a:t>릴리즈 노트 문서</a:t>
                      </a: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36001" marR="36001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현대하모니 M" pitchFamily="18" charset="-127"/>
                          <a:ea typeface="현대하모니 M" pitchFamily="18" charset="-127"/>
                        </a:rPr>
                        <a:t>과제 계획서</a:t>
                      </a: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>
                          <a:latin typeface="현대하모니 M" pitchFamily="18" charset="-127"/>
                          <a:ea typeface="현대하모니 M" pitchFamily="18" charset="-127"/>
                        </a:rPr>
                        <a:t>전체 개발 일정</a:t>
                      </a:r>
                      <a:r>
                        <a:rPr lang="en-US" altLang="ko-KR" sz="1200">
                          <a:latin typeface="현대하모니 M" pitchFamily="18" charset="-127"/>
                          <a:ea typeface="현대하모니 M" pitchFamily="18" charset="-127"/>
                        </a:rPr>
                        <a:t>, </a:t>
                      </a:r>
                      <a:r>
                        <a:rPr lang="ko-KR" altLang="en-US" sz="1200">
                          <a:latin typeface="현대하모니 M" pitchFamily="18" charset="-127"/>
                          <a:ea typeface="현대하모니 M" pitchFamily="18" charset="-127"/>
                        </a:rPr>
                        <a:t>추진 전략 등 과제 계획서</a:t>
                      </a: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4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현대하모니 M" pitchFamily="18" charset="-127"/>
                          <a:ea typeface="현대하모니 M" pitchFamily="18" charset="-127"/>
                        </a:rPr>
                        <a:t>완료 보고서</a:t>
                      </a: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>
                          <a:latin typeface="현대하모니 M" pitchFamily="18" charset="-127"/>
                          <a:ea typeface="현대하모니 M" pitchFamily="18" charset="-127"/>
                        </a:rPr>
                        <a:t>최종 개발 결과 및 검수 내역 포함 보고서</a:t>
                      </a: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6835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현대하모니 M" pitchFamily="18" charset="-127"/>
                          <a:ea typeface="현대하모니 M" pitchFamily="18" charset="-127"/>
                        </a:rPr>
                        <a:t>시나리오 기반 통합 테스트 결과서</a:t>
                      </a: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r>
                        <a:rPr lang="ko-KR" altLang="en-US" sz="1200">
                          <a:latin typeface="현대하모니 M" pitchFamily="18" charset="-127"/>
                          <a:ea typeface="현대하모니 M" pitchFamily="18" charset="-127"/>
                        </a:rPr>
                        <a:t>시나리오 기반 통합 테스트 수행 결과서</a:t>
                      </a: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Wingdings" pitchFamily="2" charset="2"/>
                        <a:buNone/>
                      </a:pPr>
                      <a:endParaRPr lang="ko-KR" altLang="en-US" sz="12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72000" marR="72000" marT="35986" marB="35986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287" name="Rectangle 6"/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3.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용역산출물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BE55453-B88C-A8C1-1AB2-F655FBA7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774" y="5874278"/>
            <a:ext cx="4259747" cy="257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altLang="ko-KR" sz="1200" u="none" dirty="0">
                <a:latin typeface="현대하모니 M" pitchFamily="18" charset="-127"/>
                <a:ea typeface="현대하모니 M" pitchFamily="18" charset="-127"/>
              </a:rPr>
              <a:t>※ </a:t>
            </a:r>
            <a:r>
              <a:rPr lang="ko-KR" altLang="en-US" sz="1200" u="none" dirty="0">
                <a:latin typeface="현대하모니 M" pitchFamily="18" charset="-127"/>
                <a:ea typeface="현대하모니 M" pitchFamily="18" charset="-127"/>
              </a:rPr>
              <a:t>상기 용역산출물은 본 계약에 따라 </a:t>
            </a:r>
            <a:r>
              <a:rPr lang="ko-KR" altLang="en-US" sz="1200" u="none" dirty="0" err="1">
                <a:latin typeface="현대하모니 M" pitchFamily="18" charset="-127"/>
                <a:ea typeface="현대하모니 M" pitchFamily="18" charset="-127"/>
              </a:rPr>
              <a:t>모비스의</a:t>
            </a:r>
            <a:r>
              <a:rPr lang="ko-KR" altLang="en-US" sz="1200" u="none" dirty="0">
                <a:latin typeface="현대하모니 M" pitchFamily="18" charset="-127"/>
                <a:ea typeface="현대하모니 M" pitchFamily="18" charset="-127"/>
              </a:rPr>
              <a:t> 소유로 한다</a:t>
            </a:r>
            <a:r>
              <a:rPr lang="en-US" altLang="ko-KR" sz="1200" u="none" dirty="0">
                <a:latin typeface="현대하모니 M" pitchFamily="18" charset="-127"/>
                <a:ea typeface="현대하모니 M" pitchFamily="18" charset="-127"/>
              </a:rPr>
              <a:t>.</a:t>
            </a:r>
            <a:r>
              <a:rPr lang="ko-KR" altLang="en-US" sz="1200" u="none" dirty="0">
                <a:latin typeface="현대하모니 M" pitchFamily="18" charset="-127"/>
                <a:ea typeface="현대하모니 M" pitchFamily="18" charset="-127"/>
              </a:rPr>
              <a:t> </a:t>
            </a:r>
            <a:endParaRPr lang="en-US" altLang="ko-KR" sz="1200" u="none" dirty="0">
              <a:latin typeface="현대하모니 M" pitchFamily="18" charset="-127"/>
              <a:ea typeface="현대하모니 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390275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6"/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4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수행 이력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721113"/>
              </p:ext>
            </p:extLst>
          </p:nvPr>
        </p:nvGraphicFramePr>
        <p:xfrm>
          <a:off x="488504" y="1157720"/>
          <a:ext cx="8929686" cy="52956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8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2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02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602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602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602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04776">
                <a:tc row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현대하모니 L" pitchFamily="18" charset="-127"/>
                          <a:ea typeface="현대하모니 L" pitchFamily="18" charset="-127"/>
                        </a:rPr>
                        <a:t>‘25</a:t>
                      </a:r>
                      <a:r>
                        <a:rPr lang="ko-KR" altLang="en-US" sz="1400">
                          <a:latin typeface="현대하모니 L" pitchFamily="18" charset="-127"/>
                          <a:ea typeface="현대하모니 L" pitchFamily="18" charset="-127"/>
                        </a:rPr>
                        <a:t>년</a:t>
                      </a:r>
                      <a:endParaRPr lang="ko-KR" altLang="en-US" sz="1400" dirty="0"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L" pitchFamily="18" charset="-127"/>
                          <a:ea typeface="현대하모니 L" pitchFamily="18" charset="-127"/>
                        </a:rPr>
                        <a:t>7</a:t>
                      </a:r>
                      <a:endParaRPr lang="ko-KR" altLang="en-US" sz="1400" dirty="0"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L" pitchFamily="18" charset="-127"/>
                          <a:ea typeface="현대하모니 L" pitchFamily="18" charset="-127"/>
                        </a:rPr>
                        <a:t>8</a:t>
                      </a:r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L" pitchFamily="18" charset="-127"/>
                          <a:ea typeface="현대하모니 L" pitchFamily="18" charset="-127"/>
                        </a:rPr>
                        <a:t>9</a:t>
                      </a:r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L" pitchFamily="18" charset="-127"/>
                          <a:ea typeface="현대하모니 L" pitchFamily="18" charset="-127"/>
                        </a:rPr>
                        <a:t>10</a:t>
                      </a:r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L" pitchFamily="18" charset="-127"/>
                          <a:ea typeface="현대하모니 L" pitchFamily="18" charset="-127"/>
                        </a:rPr>
                        <a:t>11</a:t>
                      </a:r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현대하모니 L" pitchFamily="18" charset="-127"/>
                          <a:ea typeface="현대하모니 L" pitchFamily="18" charset="-127"/>
                        </a:rPr>
                        <a:t>12</a:t>
                      </a:r>
                      <a:endParaRPr lang="ko-KR" altLang="en-US" sz="1400" dirty="0"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19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용역</a:t>
                      </a:r>
                      <a:r>
                        <a:rPr lang="en-US" altLang="ko-KR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 </a:t>
                      </a:r>
                      <a:r>
                        <a:rPr lang="ko-KR" altLang="en-US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일정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19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S/W</a:t>
                      </a:r>
                      <a:r>
                        <a:rPr lang="en-US" altLang="ko-KR" sz="1200" b="1" baseline="0" dirty="0">
                          <a:latin typeface="현대하모니 L" pitchFamily="18" charset="-127"/>
                          <a:ea typeface="현대하모니 L" pitchFamily="18" charset="-127"/>
                        </a:rPr>
                        <a:t> </a:t>
                      </a:r>
                      <a:r>
                        <a:rPr lang="ko-KR" altLang="en-US" sz="1200" b="1" baseline="0" dirty="0">
                          <a:latin typeface="현대하모니 L" pitchFamily="18" charset="-127"/>
                          <a:ea typeface="현대하모니 L" pitchFamily="18" charset="-127"/>
                        </a:rPr>
                        <a:t>개발</a:t>
                      </a:r>
                      <a:endParaRPr lang="ko-KR" altLang="en-US" sz="1200" b="1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21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현대하모니 L" pitchFamily="18" charset="-127"/>
                          <a:ea typeface="현대하모니 L" pitchFamily="18" charset="-127"/>
                        </a:rPr>
                        <a:t>기타</a:t>
                      </a:r>
                    </a:p>
                  </a:txBody>
                  <a:tcPr marL="91447" marR="91447" marT="45708" marB="45708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91447" marR="91447" marT="45708" marB="45708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" name="타원 39"/>
          <p:cNvSpPr/>
          <p:nvPr/>
        </p:nvSpPr>
        <p:spPr bwMode="auto">
          <a:xfrm>
            <a:off x="2371125" y="2345953"/>
            <a:ext cx="179387" cy="180975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u="none"/>
          </a:p>
        </p:txBody>
      </p:sp>
      <p:sp>
        <p:nvSpPr>
          <p:cNvPr id="12368" name="TextBox 5"/>
          <p:cNvSpPr txBox="1">
            <a:spLocks noChangeArrowheads="1"/>
          </p:cNvSpPr>
          <p:nvPr/>
        </p:nvSpPr>
        <p:spPr bwMode="auto">
          <a:xfrm>
            <a:off x="2244918" y="1890505"/>
            <a:ext cx="431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용역</a:t>
            </a:r>
            <a:endParaRPr lang="en-US" altLang="ko-KR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eaLnBrk="1" hangingPunct="1"/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착수</a:t>
            </a:r>
          </a:p>
        </p:txBody>
      </p:sp>
      <p:sp>
        <p:nvSpPr>
          <p:cNvPr id="12370" name="TextBox 11"/>
          <p:cNvSpPr txBox="1">
            <a:spLocks noChangeArrowheads="1"/>
          </p:cNvSpPr>
          <p:nvPr/>
        </p:nvSpPr>
        <p:spPr bwMode="auto">
          <a:xfrm>
            <a:off x="8913440" y="1949078"/>
            <a:ext cx="84350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용역종료 및</a:t>
            </a:r>
            <a:endParaRPr lang="en-US" altLang="ko-KR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완료보고</a:t>
            </a:r>
          </a:p>
        </p:txBody>
      </p:sp>
      <p:sp>
        <p:nvSpPr>
          <p:cNvPr id="12371" name="TextBox 14"/>
          <p:cNvSpPr txBox="1">
            <a:spLocks noChangeArrowheads="1"/>
          </p:cNvSpPr>
          <p:nvPr/>
        </p:nvSpPr>
        <p:spPr bwMode="auto">
          <a:xfrm>
            <a:off x="9057456" y="2532695"/>
            <a:ext cx="54854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en-US" altLang="ko-KR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12/31</a:t>
            </a:r>
            <a:endParaRPr lang="ko-KR" altLang="en-US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2372" name="TextBox 18"/>
          <p:cNvSpPr txBox="1">
            <a:spLocks noChangeArrowheads="1"/>
          </p:cNvSpPr>
          <p:nvPr/>
        </p:nvSpPr>
        <p:spPr bwMode="auto">
          <a:xfrm>
            <a:off x="8297820" y="2546982"/>
            <a:ext cx="47160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en-US" altLang="ko-KR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12/1</a:t>
            </a:r>
            <a:endParaRPr lang="ko-KR" altLang="en-US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2373" name="TextBox 20"/>
          <p:cNvSpPr txBox="1">
            <a:spLocks noChangeArrowheads="1"/>
          </p:cNvSpPr>
          <p:nvPr/>
        </p:nvSpPr>
        <p:spPr bwMode="auto">
          <a:xfrm>
            <a:off x="2263488" y="2572839"/>
            <a:ext cx="47160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en-US" altLang="ko-KR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7/14</a:t>
            </a:r>
            <a:endParaRPr lang="ko-KR" altLang="en-US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2374" name="TextBox 22"/>
          <p:cNvSpPr txBox="1">
            <a:spLocks noChangeArrowheads="1"/>
          </p:cNvSpPr>
          <p:nvPr/>
        </p:nvSpPr>
        <p:spPr bwMode="auto">
          <a:xfrm>
            <a:off x="5097016" y="1917993"/>
            <a:ext cx="46679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합동</a:t>
            </a:r>
            <a:br>
              <a:rPr lang="en-US" altLang="ko-KR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</a:br>
            <a:r>
              <a:rPr lang="ko-KR" altLang="en-US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점검</a:t>
            </a:r>
          </a:p>
        </p:txBody>
      </p:sp>
      <p:sp>
        <p:nvSpPr>
          <p:cNvPr id="12375" name="TextBox 23"/>
          <p:cNvSpPr txBox="1">
            <a:spLocks noChangeArrowheads="1"/>
          </p:cNvSpPr>
          <p:nvPr/>
        </p:nvSpPr>
        <p:spPr bwMode="auto">
          <a:xfrm>
            <a:off x="5097016" y="2561029"/>
            <a:ext cx="47160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en-US" altLang="ko-KR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9/25</a:t>
            </a:r>
            <a:endParaRPr lang="ko-KR" altLang="en-US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81" name="타원 80"/>
          <p:cNvSpPr/>
          <p:nvPr/>
        </p:nvSpPr>
        <p:spPr bwMode="auto">
          <a:xfrm>
            <a:off x="9273729" y="2345953"/>
            <a:ext cx="179387" cy="180975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u="none"/>
          </a:p>
        </p:txBody>
      </p:sp>
      <p:cxnSp>
        <p:nvCxnSpPr>
          <p:cNvPr id="4" name="직선 연결선 3"/>
          <p:cNvCxnSpPr>
            <a:stCxn id="40" idx="6"/>
            <a:endCxn id="81" idx="2"/>
          </p:cNvCxnSpPr>
          <p:nvPr/>
        </p:nvCxnSpPr>
        <p:spPr bwMode="auto">
          <a:xfrm>
            <a:off x="2550512" y="2436441"/>
            <a:ext cx="6723217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타원 87"/>
          <p:cNvSpPr/>
          <p:nvPr/>
        </p:nvSpPr>
        <p:spPr bwMode="auto">
          <a:xfrm>
            <a:off x="8456303" y="2345953"/>
            <a:ext cx="179388" cy="180975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u="none"/>
          </a:p>
        </p:txBody>
      </p:sp>
      <p:sp>
        <p:nvSpPr>
          <p:cNvPr id="12386" name="TextBox 17"/>
          <p:cNvSpPr txBox="1">
            <a:spLocks noChangeArrowheads="1"/>
          </p:cNvSpPr>
          <p:nvPr/>
        </p:nvSpPr>
        <p:spPr bwMode="auto">
          <a:xfrm>
            <a:off x="8337376" y="1952253"/>
            <a:ext cx="4315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기능</a:t>
            </a:r>
            <a:endParaRPr lang="en-US" altLang="ko-KR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통합</a:t>
            </a:r>
          </a:p>
        </p:txBody>
      </p:sp>
      <p:sp>
        <p:nvSpPr>
          <p:cNvPr id="79" name="직사각형 78"/>
          <p:cNvSpPr/>
          <p:nvPr/>
        </p:nvSpPr>
        <p:spPr bwMode="auto">
          <a:xfrm>
            <a:off x="5961112" y="2269753"/>
            <a:ext cx="911225" cy="333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05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최적화</a:t>
            </a:r>
            <a:endParaRPr lang="ko-KR" altLang="en-US" sz="105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80" name="직사각형 79"/>
          <p:cNvSpPr/>
          <p:nvPr/>
        </p:nvSpPr>
        <p:spPr bwMode="auto">
          <a:xfrm>
            <a:off x="7329264" y="2269753"/>
            <a:ext cx="911225" cy="333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05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성능개선</a:t>
            </a:r>
          </a:p>
        </p:txBody>
      </p:sp>
      <p:sp>
        <p:nvSpPr>
          <p:cNvPr id="99" name="타원 98"/>
          <p:cNvSpPr/>
          <p:nvPr/>
        </p:nvSpPr>
        <p:spPr bwMode="auto">
          <a:xfrm>
            <a:off x="5241032" y="2345953"/>
            <a:ext cx="179387" cy="180975"/>
          </a:xfrm>
          <a:prstGeom prst="ellipse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 u="none"/>
          </a:p>
        </p:txBody>
      </p:sp>
      <p:sp>
        <p:nvSpPr>
          <p:cNvPr id="104" name="이등변 삼각형 103"/>
          <p:cNvSpPr/>
          <p:nvPr/>
        </p:nvSpPr>
        <p:spPr bwMode="auto">
          <a:xfrm rot="5400000">
            <a:off x="2474421" y="3290969"/>
            <a:ext cx="144462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5" name="이등변 삼각형 104"/>
          <p:cNvSpPr/>
          <p:nvPr/>
        </p:nvSpPr>
        <p:spPr bwMode="auto">
          <a:xfrm rot="16200000">
            <a:off x="2991322" y="3291763"/>
            <a:ext cx="142875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06" name="직선 연결선 105"/>
          <p:cNvCxnSpPr>
            <a:cxnSpLocks/>
          </p:cNvCxnSpPr>
          <p:nvPr/>
        </p:nvCxnSpPr>
        <p:spPr bwMode="auto">
          <a:xfrm>
            <a:off x="2587203" y="3344944"/>
            <a:ext cx="421581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98" name="TextBox 25"/>
          <p:cNvSpPr txBox="1">
            <a:spLocks noChangeArrowheads="1"/>
          </p:cNvSpPr>
          <p:nvPr/>
        </p:nvSpPr>
        <p:spPr bwMode="auto">
          <a:xfrm>
            <a:off x="2121335" y="3041384"/>
            <a:ext cx="135331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시스템 상세 설계</a:t>
            </a:r>
          </a:p>
        </p:txBody>
      </p:sp>
      <p:sp>
        <p:nvSpPr>
          <p:cNvPr id="62" name="TextBox 9"/>
          <p:cNvSpPr txBox="1">
            <a:spLocks noChangeArrowheads="1"/>
          </p:cNvSpPr>
          <p:nvPr/>
        </p:nvSpPr>
        <p:spPr bwMode="auto">
          <a:xfrm>
            <a:off x="272480" y="764704"/>
            <a:ext cx="438453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용역 기간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: 2025.07.14 ~ 2025.12.31 (</a:t>
            </a:r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총 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5.5</a:t>
            </a:r>
            <a:r>
              <a:rPr lang="ko-KR" altLang="en-US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개월</a:t>
            </a:r>
            <a:r>
              <a:rPr lang="en-US" altLang="ko-KR" u="none" dirty="0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)</a:t>
            </a:r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E6A9733A-B1F0-3A8B-5631-17223FC872EF}"/>
              </a:ext>
            </a:extLst>
          </p:cNvPr>
          <p:cNvSpPr/>
          <p:nvPr/>
        </p:nvSpPr>
        <p:spPr bwMode="auto">
          <a:xfrm rot="5400000">
            <a:off x="2474421" y="3549280"/>
            <a:ext cx="144462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이등변 삼각형 8">
            <a:extLst>
              <a:ext uri="{FF2B5EF4-FFF2-40B4-BE49-F238E27FC236}">
                <a16:creationId xmlns:a16="http://schemas.microsoft.com/office/drawing/2014/main" id="{6CA057C3-5366-93B3-7C2F-B7DD64BB379D}"/>
              </a:ext>
            </a:extLst>
          </p:cNvPr>
          <p:cNvSpPr/>
          <p:nvPr/>
        </p:nvSpPr>
        <p:spPr bwMode="auto">
          <a:xfrm rot="16200000">
            <a:off x="3603451" y="3550104"/>
            <a:ext cx="142875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0556EE5-8876-1DD0-02B4-767725320FA4}"/>
              </a:ext>
            </a:extLst>
          </p:cNvPr>
          <p:cNvCxnSpPr>
            <a:cxnSpLocks/>
            <a:stCxn id="8" idx="0"/>
          </p:cNvCxnSpPr>
          <p:nvPr/>
        </p:nvCxnSpPr>
        <p:spPr bwMode="auto">
          <a:xfrm flipV="1">
            <a:off x="2600627" y="3601894"/>
            <a:ext cx="1020286" cy="1361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25">
            <a:extLst>
              <a:ext uri="{FF2B5EF4-FFF2-40B4-BE49-F238E27FC236}">
                <a16:creationId xmlns:a16="http://schemas.microsoft.com/office/drawing/2014/main" id="{F92EC909-F3FA-8414-3A56-9172ED3C2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4457" y="3328637"/>
            <a:ext cx="178196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차량 데이터 요소 정의</a:t>
            </a:r>
            <a:endParaRPr lang="ko-KR" altLang="en-US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7" name="이등변 삼각형 16">
            <a:extLst>
              <a:ext uri="{FF2B5EF4-FFF2-40B4-BE49-F238E27FC236}">
                <a16:creationId xmlns:a16="http://schemas.microsoft.com/office/drawing/2014/main" id="{D66C12AA-8AC5-8563-55FF-9539CB6C948A}"/>
              </a:ext>
            </a:extLst>
          </p:cNvPr>
          <p:cNvSpPr/>
          <p:nvPr/>
        </p:nvSpPr>
        <p:spPr bwMode="auto">
          <a:xfrm rot="5400000">
            <a:off x="4363462" y="4131179"/>
            <a:ext cx="157163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이등변 삼각형 17">
            <a:extLst>
              <a:ext uri="{FF2B5EF4-FFF2-40B4-BE49-F238E27FC236}">
                <a16:creationId xmlns:a16="http://schemas.microsoft.com/office/drawing/2014/main" id="{83CE4E82-6A97-0208-D69C-416F78B554B7}"/>
              </a:ext>
            </a:extLst>
          </p:cNvPr>
          <p:cNvSpPr/>
          <p:nvPr/>
        </p:nvSpPr>
        <p:spPr bwMode="auto">
          <a:xfrm rot="16200000">
            <a:off x="8023865" y="4131973"/>
            <a:ext cx="158909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00E0E71-8BA9-E00F-42BA-DF1B75630AE3}"/>
              </a:ext>
            </a:extLst>
          </p:cNvPr>
          <p:cNvCxnSpPr>
            <a:stCxn id="17" idx="0"/>
            <a:endCxn id="18" idx="0"/>
          </p:cNvCxnSpPr>
          <p:nvPr/>
        </p:nvCxnSpPr>
        <p:spPr bwMode="auto">
          <a:xfrm>
            <a:off x="4496019" y="4185155"/>
            <a:ext cx="3553326" cy="793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25">
            <a:extLst>
              <a:ext uri="{FF2B5EF4-FFF2-40B4-BE49-F238E27FC236}">
                <a16:creationId xmlns:a16="http://schemas.microsoft.com/office/drawing/2014/main" id="{8BBB1325-E834-07CB-8BF7-C310D3F487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7018" y="3933056"/>
            <a:ext cx="324960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로컬 </a:t>
            </a:r>
            <a:r>
              <a:rPr lang="en-US" altLang="ko-KR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RAG(Embedding Model + Vector DB) </a:t>
            </a:r>
            <a:r>
              <a:rPr lang="ko-KR" altLang="en-US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개발</a:t>
            </a:r>
            <a:endParaRPr lang="ko-KR" altLang="en-US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1" name="이등변 삼각형 20">
            <a:extLst>
              <a:ext uri="{FF2B5EF4-FFF2-40B4-BE49-F238E27FC236}">
                <a16:creationId xmlns:a16="http://schemas.microsoft.com/office/drawing/2014/main" id="{12A65DEB-DD42-7161-DCCA-F90D1769A187}"/>
              </a:ext>
            </a:extLst>
          </p:cNvPr>
          <p:cNvSpPr/>
          <p:nvPr/>
        </p:nvSpPr>
        <p:spPr bwMode="auto">
          <a:xfrm rot="5400000">
            <a:off x="3104847" y="3857940"/>
            <a:ext cx="142875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이등변 삼각형 21">
            <a:extLst>
              <a:ext uri="{FF2B5EF4-FFF2-40B4-BE49-F238E27FC236}">
                <a16:creationId xmlns:a16="http://schemas.microsoft.com/office/drawing/2014/main" id="{71EF39F8-9855-1CFD-BA52-3C2D892F5746}"/>
              </a:ext>
            </a:extLst>
          </p:cNvPr>
          <p:cNvSpPr/>
          <p:nvPr/>
        </p:nvSpPr>
        <p:spPr bwMode="auto">
          <a:xfrm rot="16200000">
            <a:off x="5505401" y="3853840"/>
            <a:ext cx="144463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9F041449-9AFD-D67F-DD11-7F045886A0F8}"/>
              </a:ext>
            </a:extLst>
          </p:cNvPr>
          <p:cNvCxnSpPr>
            <a:cxnSpLocks/>
            <a:stCxn id="21" idx="0"/>
            <a:endCxn id="22" idx="0"/>
          </p:cNvCxnSpPr>
          <p:nvPr/>
        </p:nvCxnSpPr>
        <p:spPr bwMode="auto">
          <a:xfrm flipV="1">
            <a:off x="3230260" y="3907815"/>
            <a:ext cx="2293398" cy="4101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5">
            <a:extLst>
              <a:ext uri="{FF2B5EF4-FFF2-40B4-BE49-F238E27FC236}">
                <a16:creationId xmlns:a16="http://schemas.microsoft.com/office/drawing/2014/main" id="{E3E477E9-FBA2-2A0A-7A4B-D50E0A2A9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027" y="3645024"/>
            <a:ext cx="220186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SLM </a:t>
            </a:r>
            <a:r>
              <a:rPr lang="ko-KR" altLang="en-US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모델 파인튜닝</a:t>
            </a:r>
            <a:endParaRPr lang="ko-KR" altLang="en-US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39" name="이등변 삼각형 38">
            <a:extLst>
              <a:ext uri="{FF2B5EF4-FFF2-40B4-BE49-F238E27FC236}">
                <a16:creationId xmlns:a16="http://schemas.microsoft.com/office/drawing/2014/main" id="{113D86EC-D7F6-7A78-680B-5EA39C6FC601}"/>
              </a:ext>
            </a:extLst>
          </p:cNvPr>
          <p:cNvSpPr/>
          <p:nvPr/>
        </p:nvSpPr>
        <p:spPr bwMode="auto">
          <a:xfrm rot="5400000">
            <a:off x="3107182" y="4815207"/>
            <a:ext cx="142875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1" name="이등변 삼각형 40">
            <a:extLst>
              <a:ext uri="{FF2B5EF4-FFF2-40B4-BE49-F238E27FC236}">
                <a16:creationId xmlns:a16="http://schemas.microsoft.com/office/drawing/2014/main" id="{BF699DCB-3C70-885C-C633-7B5CD2427D06}"/>
              </a:ext>
            </a:extLst>
          </p:cNvPr>
          <p:cNvSpPr/>
          <p:nvPr/>
        </p:nvSpPr>
        <p:spPr bwMode="auto">
          <a:xfrm rot="16200000">
            <a:off x="4934744" y="4816447"/>
            <a:ext cx="144463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0E955415-4882-E0C9-52BD-446259A2468E}"/>
              </a:ext>
            </a:extLst>
          </p:cNvPr>
          <p:cNvCxnSpPr>
            <a:cxnSpLocks/>
            <a:stCxn id="39" idx="0"/>
          </p:cNvCxnSpPr>
          <p:nvPr/>
        </p:nvCxnSpPr>
        <p:spPr bwMode="auto">
          <a:xfrm flipV="1">
            <a:off x="3232595" y="4869180"/>
            <a:ext cx="1717875" cy="3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25">
            <a:extLst>
              <a:ext uri="{FF2B5EF4-FFF2-40B4-BE49-F238E27FC236}">
                <a16:creationId xmlns:a16="http://schemas.microsoft.com/office/drawing/2014/main" id="{CA571087-D114-1F23-3600-6915BBF39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4461" y="4618414"/>
            <a:ext cx="188545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타앱 </a:t>
            </a:r>
            <a:r>
              <a:rPr lang="en-US" altLang="ko-KR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Intent </a:t>
            </a:r>
            <a:r>
              <a:rPr lang="ko-KR" altLang="en-US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수신 모듈 설계</a:t>
            </a:r>
            <a:endParaRPr lang="ko-KR" altLang="en-US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50" name="TextBox 25">
            <a:extLst>
              <a:ext uri="{FF2B5EF4-FFF2-40B4-BE49-F238E27FC236}">
                <a16:creationId xmlns:a16="http://schemas.microsoft.com/office/drawing/2014/main" id="{A267D14F-FDB7-9648-8E40-C5098D243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6136" y="4578128"/>
            <a:ext cx="165141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Prompt </a:t>
            </a:r>
            <a:r>
              <a:rPr lang="ko-KR" altLang="en-US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생성 모듈 개발</a:t>
            </a:r>
            <a:endParaRPr lang="ko-KR" altLang="en-US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51" name="이등변 삼각형 50">
            <a:extLst>
              <a:ext uri="{FF2B5EF4-FFF2-40B4-BE49-F238E27FC236}">
                <a16:creationId xmlns:a16="http://schemas.microsoft.com/office/drawing/2014/main" id="{9C950ACF-AEDF-2867-0248-0B498A82066B}"/>
              </a:ext>
            </a:extLst>
          </p:cNvPr>
          <p:cNvSpPr/>
          <p:nvPr/>
        </p:nvSpPr>
        <p:spPr bwMode="auto">
          <a:xfrm rot="5400000">
            <a:off x="5051214" y="4812408"/>
            <a:ext cx="144462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2" name="이등변 삼각형 51">
            <a:extLst>
              <a:ext uri="{FF2B5EF4-FFF2-40B4-BE49-F238E27FC236}">
                <a16:creationId xmlns:a16="http://schemas.microsoft.com/office/drawing/2014/main" id="{ADCFF165-7B9E-C681-E1C8-430191460E82}"/>
              </a:ext>
            </a:extLst>
          </p:cNvPr>
          <p:cNvSpPr/>
          <p:nvPr/>
        </p:nvSpPr>
        <p:spPr bwMode="auto">
          <a:xfrm rot="16200000">
            <a:off x="6770242" y="4813201"/>
            <a:ext cx="142875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5928DEAE-45F8-EE5F-5F45-1D46E172E2E1}"/>
              </a:ext>
            </a:extLst>
          </p:cNvPr>
          <p:cNvCxnSpPr>
            <a:cxnSpLocks/>
            <a:stCxn id="51" idx="0"/>
            <a:endCxn id="52" idx="0"/>
          </p:cNvCxnSpPr>
          <p:nvPr/>
        </p:nvCxnSpPr>
        <p:spPr bwMode="auto">
          <a:xfrm>
            <a:off x="5177420" y="4866383"/>
            <a:ext cx="1610285" cy="793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이등변 삼각형 54">
            <a:extLst>
              <a:ext uri="{FF2B5EF4-FFF2-40B4-BE49-F238E27FC236}">
                <a16:creationId xmlns:a16="http://schemas.microsoft.com/office/drawing/2014/main" id="{C90BD395-430E-2FF9-5FA4-699EBB3C3D0E}"/>
              </a:ext>
            </a:extLst>
          </p:cNvPr>
          <p:cNvSpPr/>
          <p:nvPr/>
        </p:nvSpPr>
        <p:spPr bwMode="auto">
          <a:xfrm rot="5400000">
            <a:off x="5621917" y="4418330"/>
            <a:ext cx="142875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6" name="이등변 삼각형 55">
            <a:extLst>
              <a:ext uri="{FF2B5EF4-FFF2-40B4-BE49-F238E27FC236}">
                <a16:creationId xmlns:a16="http://schemas.microsoft.com/office/drawing/2014/main" id="{4E71E45B-C556-9E36-E027-59B830ACE38F}"/>
              </a:ext>
            </a:extLst>
          </p:cNvPr>
          <p:cNvSpPr/>
          <p:nvPr/>
        </p:nvSpPr>
        <p:spPr bwMode="auto">
          <a:xfrm rot="16200000">
            <a:off x="7347073" y="4419124"/>
            <a:ext cx="144463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9841497B-0011-0401-2CD4-E8D5276B6AB9}"/>
              </a:ext>
            </a:extLst>
          </p:cNvPr>
          <p:cNvCxnSpPr>
            <a:cxnSpLocks/>
            <a:stCxn id="55" idx="0"/>
          </p:cNvCxnSpPr>
          <p:nvPr/>
        </p:nvCxnSpPr>
        <p:spPr bwMode="auto">
          <a:xfrm flipV="1">
            <a:off x="5747330" y="4471064"/>
            <a:ext cx="1629063" cy="1242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25">
            <a:extLst>
              <a:ext uri="{FF2B5EF4-FFF2-40B4-BE49-F238E27FC236}">
                <a16:creationId xmlns:a16="http://schemas.microsoft.com/office/drawing/2014/main" id="{D072E878-719D-4BA7-5BE5-E0BB6BBA9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1072" y="4221088"/>
            <a:ext cx="177532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Query Routing </a:t>
            </a:r>
            <a:r>
              <a:rPr lang="ko-KR" altLang="en-US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개발</a:t>
            </a:r>
            <a:endParaRPr lang="ko-KR" altLang="en-US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63" name="이등변 삼각형 62">
            <a:extLst>
              <a:ext uri="{FF2B5EF4-FFF2-40B4-BE49-F238E27FC236}">
                <a16:creationId xmlns:a16="http://schemas.microsoft.com/office/drawing/2014/main" id="{8087C315-F0FC-4082-D78E-672B531F3C87}"/>
              </a:ext>
            </a:extLst>
          </p:cNvPr>
          <p:cNvSpPr/>
          <p:nvPr/>
        </p:nvSpPr>
        <p:spPr bwMode="auto">
          <a:xfrm rot="5400000">
            <a:off x="4359474" y="5140314"/>
            <a:ext cx="142875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4" name="이등변 삼각형 63">
            <a:extLst>
              <a:ext uri="{FF2B5EF4-FFF2-40B4-BE49-F238E27FC236}">
                <a16:creationId xmlns:a16="http://schemas.microsoft.com/office/drawing/2014/main" id="{236F5CF6-5AF9-22D0-79FD-44D21ECE8286}"/>
              </a:ext>
            </a:extLst>
          </p:cNvPr>
          <p:cNvSpPr/>
          <p:nvPr/>
        </p:nvSpPr>
        <p:spPr bwMode="auto">
          <a:xfrm rot="16200000">
            <a:off x="8022462" y="5141107"/>
            <a:ext cx="144463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29269988-0F10-C560-2B54-A157F2D4B592}"/>
              </a:ext>
            </a:extLst>
          </p:cNvPr>
          <p:cNvCxnSpPr>
            <a:cxnSpLocks/>
            <a:stCxn id="63" idx="0"/>
            <a:endCxn id="64" idx="0"/>
          </p:cNvCxnSpPr>
          <p:nvPr/>
        </p:nvCxnSpPr>
        <p:spPr bwMode="auto">
          <a:xfrm>
            <a:off x="4484887" y="5194290"/>
            <a:ext cx="3555832" cy="792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25">
            <a:extLst>
              <a:ext uri="{FF2B5EF4-FFF2-40B4-BE49-F238E27FC236}">
                <a16:creationId xmlns:a16="http://schemas.microsoft.com/office/drawing/2014/main" id="{EFB189F6-2FE3-A90B-0788-92C9436C6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7720" y="4941168"/>
            <a:ext cx="258917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Unity </a:t>
            </a:r>
            <a:r>
              <a:rPr lang="ko-KR" altLang="en-US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아바타 기반 </a:t>
            </a:r>
            <a:r>
              <a:rPr lang="en-US" altLang="ko-KR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AI Agent HMI </a:t>
            </a:r>
            <a:r>
              <a:rPr lang="ko-KR" altLang="en-US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개발</a:t>
            </a:r>
            <a:endParaRPr lang="ko-KR" altLang="en-US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67" name="이등변 삼각형 66">
            <a:extLst>
              <a:ext uri="{FF2B5EF4-FFF2-40B4-BE49-F238E27FC236}">
                <a16:creationId xmlns:a16="http://schemas.microsoft.com/office/drawing/2014/main" id="{5BB87017-9A50-0326-1891-185377938058}"/>
              </a:ext>
            </a:extLst>
          </p:cNvPr>
          <p:cNvSpPr/>
          <p:nvPr/>
        </p:nvSpPr>
        <p:spPr bwMode="auto">
          <a:xfrm rot="5400000">
            <a:off x="4372233" y="5654386"/>
            <a:ext cx="142875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8" name="이등변 삼각형 67">
            <a:extLst>
              <a:ext uri="{FF2B5EF4-FFF2-40B4-BE49-F238E27FC236}">
                <a16:creationId xmlns:a16="http://schemas.microsoft.com/office/drawing/2014/main" id="{34AD972E-ED9E-642A-EA55-94D7E34EA007}"/>
              </a:ext>
            </a:extLst>
          </p:cNvPr>
          <p:cNvSpPr/>
          <p:nvPr/>
        </p:nvSpPr>
        <p:spPr bwMode="auto">
          <a:xfrm rot="16200000">
            <a:off x="6199795" y="5655179"/>
            <a:ext cx="144463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D45F4EB5-B653-DF94-FD21-19EAA0B4FE23}"/>
              </a:ext>
            </a:extLst>
          </p:cNvPr>
          <p:cNvCxnSpPr>
            <a:cxnSpLocks/>
            <a:stCxn id="67" idx="0"/>
          </p:cNvCxnSpPr>
          <p:nvPr/>
        </p:nvCxnSpPr>
        <p:spPr bwMode="auto">
          <a:xfrm flipV="1">
            <a:off x="4497646" y="5708359"/>
            <a:ext cx="1717875" cy="3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25">
            <a:extLst>
              <a:ext uri="{FF2B5EF4-FFF2-40B4-BE49-F238E27FC236}">
                <a16:creationId xmlns:a16="http://schemas.microsoft.com/office/drawing/2014/main" id="{FCE752BC-5BA2-79B2-253D-A618B7EC0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3060" y="5457593"/>
            <a:ext cx="151836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STT &amp; TTS </a:t>
            </a:r>
            <a:r>
              <a:rPr lang="ko-KR" altLang="en-US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모듈 연계</a:t>
            </a:r>
            <a:endParaRPr lang="ko-KR" altLang="en-US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71" name="이등변 삼각형 70">
            <a:extLst>
              <a:ext uri="{FF2B5EF4-FFF2-40B4-BE49-F238E27FC236}">
                <a16:creationId xmlns:a16="http://schemas.microsoft.com/office/drawing/2014/main" id="{6F458794-7EC8-CDFF-B4EA-DF0E062A346C}"/>
              </a:ext>
            </a:extLst>
          </p:cNvPr>
          <p:cNvSpPr/>
          <p:nvPr/>
        </p:nvSpPr>
        <p:spPr bwMode="auto">
          <a:xfrm rot="5400000">
            <a:off x="6310153" y="5658382"/>
            <a:ext cx="142875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2" name="이등변 삼각형 71">
            <a:extLst>
              <a:ext uri="{FF2B5EF4-FFF2-40B4-BE49-F238E27FC236}">
                <a16:creationId xmlns:a16="http://schemas.microsoft.com/office/drawing/2014/main" id="{A3E1FF6F-5DF4-126B-984C-E3F635484566}"/>
              </a:ext>
            </a:extLst>
          </p:cNvPr>
          <p:cNvSpPr/>
          <p:nvPr/>
        </p:nvSpPr>
        <p:spPr bwMode="auto">
          <a:xfrm rot="16200000">
            <a:off x="9275041" y="5656922"/>
            <a:ext cx="144463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6F1740AC-5A4E-E960-0B22-A4B51DC97035}"/>
              </a:ext>
            </a:extLst>
          </p:cNvPr>
          <p:cNvCxnSpPr>
            <a:cxnSpLocks/>
            <a:stCxn id="71" idx="0"/>
          </p:cNvCxnSpPr>
          <p:nvPr/>
        </p:nvCxnSpPr>
        <p:spPr bwMode="auto">
          <a:xfrm>
            <a:off x="6435566" y="5712358"/>
            <a:ext cx="2838163" cy="0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25">
            <a:extLst>
              <a:ext uri="{FF2B5EF4-FFF2-40B4-BE49-F238E27FC236}">
                <a16:creationId xmlns:a16="http://schemas.microsoft.com/office/drawing/2014/main" id="{50C122E2-BC77-B2E3-FDEE-08E2F768D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3148" y="5461589"/>
            <a:ext cx="127631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오류 및 </a:t>
            </a:r>
            <a:r>
              <a:rPr lang="en-US" altLang="ko-KR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GUI </a:t>
            </a:r>
            <a:r>
              <a:rPr lang="ko-KR" altLang="en-US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개선</a:t>
            </a:r>
            <a:endParaRPr lang="ko-KR" altLang="en-US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83" name="이등변 삼각형 82">
            <a:extLst>
              <a:ext uri="{FF2B5EF4-FFF2-40B4-BE49-F238E27FC236}">
                <a16:creationId xmlns:a16="http://schemas.microsoft.com/office/drawing/2014/main" id="{BF730206-AF09-9FA3-3B97-38FADD3872F2}"/>
              </a:ext>
            </a:extLst>
          </p:cNvPr>
          <p:cNvSpPr/>
          <p:nvPr/>
        </p:nvSpPr>
        <p:spPr bwMode="auto">
          <a:xfrm rot="5400000">
            <a:off x="7449834" y="6110312"/>
            <a:ext cx="142875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5" name="이등변 삼각형 84">
            <a:extLst>
              <a:ext uri="{FF2B5EF4-FFF2-40B4-BE49-F238E27FC236}">
                <a16:creationId xmlns:a16="http://schemas.microsoft.com/office/drawing/2014/main" id="{BFA711FA-8C83-2D8F-D7CD-36045FA716B4}"/>
              </a:ext>
            </a:extLst>
          </p:cNvPr>
          <p:cNvSpPr/>
          <p:nvPr/>
        </p:nvSpPr>
        <p:spPr bwMode="auto">
          <a:xfrm rot="16200000">
            <a:off x="9277396" y="6111105"/>
            <a:ext cx="144463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805AA757-EF0B-8CB2-2262-4AAE289B6091}"/>
              </a:ext>
            </a:extLst>
          </p:cNvPr>
          <p:cNvCxnSpPr>
            <a:cxnSpLocks/>
            <a:stCxn id="83" idx="0"/>
          </p:cNvCxnSpPr>
          <p:nvPr/>
        </p:nvCxnSpPr>
        <p:spPr bwMode="auto">
          <a:xfrm flipV="1">
            <a:off x="7575247" y="6164285"/>
            <a:ext cx="1717875" cy="3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25">
            <a:extLst>
              <a:ext uri="{FF2B5EF4-FFF2-40B4-BE49-F238E27FC236}">
                <a16:creationId xmlns:a16="http://schemas.microsoft.com/office/drawing/2014/main" id="{73F48AA1-593A-8832-B276-67E622D07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5090" y="5913519"/>
            <a:ext cx="115448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en-US" altLang="ko-KR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Cloud API</a:t>
            </a:r>
            <a:r>
              <a:rPr lang="ko-KR" altLang="en-US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 연동</a:t>
            </a:r>
            <a:endParaRPr lang="ko-KR" altLang="en-US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2" name="이등변 삼각형 11">
            <a:extLst>
              <a:ext uri="{FF2B5EF4-FFF2-40B4-BE49-F238E27FC236}">
                <a16:creationId xmlns:a16="http://schemas.microsoft.com/office/drawing/2014/main" id="{41B11452-9BF1-9B53-0F1E-E0A7ADF26B18}"/>
              </a:ext>
            </a:extLst>
          </p:cNvPr>
          <p:cNvSpPr/>
          <p:nvPr/>
        </p:nvSpPr>
        <p:spPr bwMode="auto">
          <a:xfrm rot="5400000">
            <a:off x="7464444" y="4414769"/>
            <a:ext cx="142875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EBB26F6C-B97D-A589-28B0-B4BF77A496A3}"/>
              </a:ext>
            </a:extLst>
          </p:cNvPr>
          <p:cNvSpPr/>
          <p:nvPr/>
        </p:nvSpPr>
        <p:spPr bwMode="auto">
          <a:xfrm rot="16200000">
            <a:off x="9274037" y="4415563"/>
            <a:ext cx="144463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1172382-4668-AC2C-141F-FDF73443F88B}"/>
              </a:ext>
            </a:extLst>
          </p:cNvPr>
          <p:cNvCxnSpPr>
            <a:cxnSpLocks/>
            <a:stCxn id="12" idx="0"/>
          </p:cNvCxnSpPr>
          <p:nvPr/>
        </p:nvCxnSpPr>
        <p:spPr bwMode="auto">
          <a:xfrm>
            <a:off x="7589857" y="4468745"/>
            <a:ext cx="1716941" cy="10945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25">
            <a:extLst>
              <a:ext uri="{FF2B5EF4-FFF2-40B4-BE49-F238E27FC236}">
                <a16:creationId xmlns:a16="http://schemas.microsoft.com/office/drawing/2014/main" id="{E0F4CF6D-F111-D612-9461-2866BB6D79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094" y="4221088"/>
            <a:ext cx="177532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증분 </a:t>
            </a:r>
            <a:r>
              <a:rPr lang="en-US" altLang="ko-KR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RAG </a:t>
            </a:r>
            <a:r>
              <a:rPr lang="ko-KR" altLang="en-US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개발</a:t>
            </a:r>
            <a:endParaRPr lang="ko-KR" altLang="en-US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B5AC9D-2F85-41E0-9030-5BEA7DA65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9980" y="4569502"/>
            <a:ext cx="146226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algn="ctr" eaLnBrk="1" hangingPunct="1"/>
            <a:r>
              <a:rPr lang="ko-KR" altLang="en-US" sz="1100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타앱 기능 연동 개발</a:t>
            </a:r>
            <a:endParaRPr lang="ko-KR" altLang="en-US" sz="1100" u="none" dirty="0">
              <a:solidFill>
                <a:schemeClr val="tx1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4D0FD1FA-8D10-448C-7496-F88141B0A01B}"/>
              </a:ext>
            </a:extLst>
          </p:cNvPr>
          <p:cNvSpPr/>
          <p:nvPr/>
        </p:nvSpPr>
        <p:spPr bwMode="auto">
          <a:xfrm rot="5400000">
            <a:off x="6890479" y="4803782"/>
            <a:ext cx="144462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4993C5DB-38B8-B532-E373-17CA8C5F5A73}"/>
              </a:ext>
            </a:extLst>
          </p:cNvPr>
          <p:cNvSpPr/>
          <p:nvPr/>
        </p:nvSpPr>
        <p:spPr bwMode="auto">
          <a:xfrm rot="16200000">
            <a:off x="8609507" y="4804575"/>
            <a:ext cx="142875" cy="107950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anchor="ctr">
            <a:spAutoFit/>
          </a:bodyPr>
          <a:lstStyle/>
          <a:p>
            <a:pPr algn="ctr">
              <a:defRPr/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D31328AF-82EE-F8FD-DE50-2BC8003EC3E3}"/>
              </a:ext>
            </a:extLst>
          </p:cNvPr>
          <p:cNvCxnSpPr>
            <a:cxnSpLocks/>
            <a:stCxn id="27" idx="0"/>
            <a:endCxn id="28" idx="0"/>
          </p:cNvCxnSpPr>
          <p:nvPr/>
        </p:nvCxnSpPr>
        <p:spPr bwMode="auto">
          <a:xfrm>
            <a:off x="7016685" y="4857757"/>
            <a:ext cx="1610285" cy="793"/>
          </a:xfrm>
          <a:prstGeom prst="line">
            <a:avLst/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5FCF7-8CA7-D754-CCFF-61F9F9BCA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820CFCD0-D6E6-B2C6-43BC-D9462109B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9.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SW 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구조도 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C7904584-09A4-5AB9-69A1-B0C70F04C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80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스마트 캐빈 기반 </a:t>
            </a:r>
            <a:r>
              <a:rPr lang="en-US" altLang="ko-KR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AI Agent App </a:t>
            </a:r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소프트웨어 구조</a:t>
            </a:r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8D4E8AD-3267-03B4-6A82-56D3D069EF45}"/>
              </a:ext>
            </a:extLst>
          </p:cNvPr>
          <p:cNvSpPr/>
          <p:nvPr/>
        </p:nvSpPr>
        <p:spPr>
          <a:xfrm>
            <a:off x="272480" y="1200514"/>
            <a:ext cx="6478494" cy="5540854"/>
          </a:xfrm>
          <a:prstGeom prst="roundRect">
            <a:avLst>
              <a:gd name="adj" fmla="val 6871"/>
            </a:avLst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u="none">
              <a:ea typeface="현대하모니 M" panose="02020603020101020101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E1E14A-AF47-6C26-F075-52051E63F716}"/>
              </a:ext>
            </a:extLst>
          </p:cNvPr>
          <p:cNvSpPr txBox="1"/>
          <p:nvPr/>
        </p:nvSpPr>
        <p:spPr>
          <a:xfrm>
            <a:off x="2863249" y="989354"/>
            <a:ext cx="124938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u="none">
                <a:ea typeface="현대하모니 M" panose="02020603020101020101"/>
              </a:rPr>
              <a:t>IVI Device</a:t>
            </a:r>
            <a:endParaRPr lang="ko-KR" altLang="en-US" b="1" u="none">
              <a:ea typeface="현대하모니 M" panose="02020603020101020101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B27D06F-2C9A-1EE5-C714-C32DE4FC3D40}"/>
              </a:ext>
            </a:extLst>
          </p:cNvPr>
          <p:cNvSpPr/>
          <p:nvPr/>
        </p:nvSpPr>
        <p:spPr>
          <a:xfrm>
            <a:off x="634120" y="1316595"/>
            <a:ext cx="5716339" cy="11530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u="none">
              <a:ea typeface="현대하모니 M" panose="02020603020101020101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FDEE73E-5435-7696-C9F5-7A2404185BCA}"/>
              </a:ext>
            </a:extLst>
          </p:cNvPr>
          <p:cNvSpPr/>
          <p:nvPr/>
        </p:nvSpPr>
        <p:spPr>
          <a:xfrm>
            <a:off x="629773" y="5936484"/>
            <a:ext cx="5716339" cy="3064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Android OS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7336752-48B4-CFF3-014B-2823DD171B3D}"/>
              </a:ext>
            </a:extLst>
          </p:cNvPr>
          <p:cNvSpPr/>
          <p:nvPr/>
        </p:nvSpPr>
        <p:spPr>
          <a:xfrm>
            <a:off x="629773" y="6299927"/>
            <a:ext cx="5716339" cy="30042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Hardware</a:t>
            </a:r>
          </a:p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(CPU, NPU, RAM, Storage, Sensors, ...)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0DE645-7878-F7B1-3237-9C670DCCCFEF}"/>
              </a:ext>
            </a:extLst>
          </p:cNvPr>
          <p:cNvSpPr txBox="1"/>
          <p:nvPr/>
        </p:nvSpPr>
        <p:spPr>
          <a:xfrm>
            <a:off x="679591" y="1752057"/>
            <a:ext cx="1478918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100" b="1" u="none">
                <a:ea typeface="현대하모니 M" panose="02020603020101020101"/>
              </a:rPr>
              <a:t>Application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2656CBF-C732-39E1-B898-2F98B3F1F479}"/>
              </a:ext>
            </a:extLst>
          </p:cNvPr>
          <p:cNvSpPr/>
          <p:nvPr/>
        </p:nvSpPr>
        <p:spPr>
          <a:xfrm>
            <a:off x="2363827" y="1449989"/>
            <a:ext cx="1858462" cy="26985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Car-Care HMI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383DB82-D299-FEFB-1347-BCF1EB05BCC4}"/>
              </a:ext>
            </a:extLst>
          </p:cNvPr>
          <p:cNvSpPr/>
          <p:nvPr/>
        </p:nvSpPr>
        <p:spPr>
          <a:xfrm>
            <a:off x="2360364" y="1790186"/>
            <a:ext cx="1858462" cy="26985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History Msg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5E5C31C-4D01-BD37-7380-967F18A6C2CC}"/>
              </a:ext>
            </a:extLst>
          </p:cNvPr>
          <p:cNvSpPr/>
          <p:nvPr/>
        </p:nvSpPr>
        <p:spPr>
          <a:xfrm>
            <a:off x="2366558" y="2109778"/>
            <a:ext cx="1858462" cy="26985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Contextual Feedback via TTS &amp; Avatar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A5D0491-2194-2036-978D-A5B2F18C889F}"/>
              </a:ext>
            </a:extLst>
          </p:cNvPr>
          <p:cNvSpPr/>
          <p:nvPr/>
        </p:nvSpPr>
        <p:spPr>
          <a:xfrm>
            <a:off x="4283948" y="1449989"/>
            <a:ext cx="1858462" cy="26985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Voice Cmd Handling / QA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23A4785-8625-3EB6-C895-EF488491BF23}"/>
              </a:ext>
            </a:extLst>
          </p:cNvPr>
          <p:cNvSpPr/>
          <p:nvPr/>
        </p:nvSpPr>
        <p:spPr>
          <a:xfrm>
            <a:off x="4283948" y="1781618"/>
            <a:ext cx="1858462" cy="26985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Vehicle Status Summary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D961BCC-0977-199D-1B38-5398797192BC}"/>
              </a:ext>
            </a:extLst>
          </p:cNvPr>
          <p:cNvSpPr/>
          <p:nvPr/>
        </p:nvSpPr>
        <p:spPr>
          <a:xfrm>
            <a:off x="4290142" y="2107179"/>
            <a:ext cx="1858462" cy="26985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Response Caching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398F084-47F3-291E-C16F-A9D204034EE8}"/>
              </a:ext>
            </a:extLst>
          </p:cNvPr>
          <p:cNvSpPr/>
          <p:nvPr/>
        </p:nvSpPr>
        <p:spPr>
          <a:xfrm>
            <a:off x="634120" y="4441034"/>
            <a:ext cx="5716339" cy="11530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u="none">
              <a:ea typeface="현대하모니 M" panose="02020603020101020101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044D35-C47D-E54D-D85B-B79CD1CDB210}"/>
              </a:ext>
            </a:extLst>
          </p:cNvPr>
          <p:cNvSpPr txBox="1"/>
          <p:nvPr/>
        </p:nvSpPr>
        <p:spPr>
          <a:xfrm>
            <a:off x="679591" y="4794408"/>
            <a:ext cx="1478918" cy="42319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50" b="1" u="none">
                <a:ea typeface="현대하모니 M" panose="02020603020101020101"/>
              </a:rPr>
              <a:t>Interaction </a:t>
            </a:r>
          </a:p>
          <a:p>
            <a:r>
              <a:rPr lang="en-US" altLang="ko-KR" sz="1100" b="1" u="none">
                <a:ea typeface="현대하모니 M" panose="02020603020101020101"/>
              </a:rPr>
              <a:t>I/O Interface</a:t>
            </a:r>
            <a:endParaRPr lang="ko-KR" altLang="en-US" sz="1100" b="1" u="none">
              <a:ea typeface="현대하모니 M" panose="02020603020101020101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93E7141-0D08-8F1A-8544-5C591609E614}"/>
              </a:ext>
            </a:extLst>
          </p:cNvPr>
          <p:cNvSpPr/>
          <p:nvPr/>
        </p:nvSpPr>
        <p:spPr>
          <a:xfrm>
            <a:off x="4375882" y="4537278"/>
            <a:ext cx="1858462" cy="9610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Avatar Animation UI</a:t>
            </a:r>
            <a:b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</a:br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(Floating View)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5348CFE-300D-F74B-BF44-2911041B5437}"/>
              </a:ext>
            </a:extLst>
          </p:cNvPr>
          <p:cNvSpPr/>
          <p:nvPr/>
        </p:nvSpPr>
        <p:spPr>
          <a:xfrm>
            <a:off x="2451250" y="4854577"/>
            <a:ext cx="1858462" cy="26985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Pleos TTS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138FFAB-B6B7-0795-53E4-CC4E671A1F54}"/>
              </a:ext>
            </a:extLst>
          </p:cNvPr>
          <p:cNvSpPr/>
          <p:nvPr/>
        </p:nvSpPr>
        <p:spPr>
          <a:xfrm>
            <a:off x="2451250" y="5224318"/>
            <a:ext cx="1858462" cy="26985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User Input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F0BCF38-E6E5-BF7B-9D40-E5BDADAB6780}"/>
              </a:ext>
            </a:extLst>
          </p:cNvPr>
          <p:cNvSpPr/>
          <p:nvPr/>
        </p:nvSpPr>
        <p:spPr>
          <a:xfrm>
            <a:off x="2451250" y="4490580"/>
            <a:ext cx="1858462" cy="26985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Pleos STT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7511EB7-AD0F-DEC7-6BB5-E8667F17319C}"/>
              </a:ext>
            </a:extLst>
          </p:cNvPr>
          <p:cNvSpPr/>
          <p:nvPr/>
        </p:nvSpPr>
        <p:spPr>
          <a:xfrm>
            <a:off x="634120" y="2764370"/>
            <a:ext cx="5716339" cy="160614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u="none">
              <a:ea typeface="현대하모니 M" panose="02020603020101020101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F4EC99-8CEA-9484-2671-510CA4E7E9FB}"/>
              </a:ext>
            </a:extLst>
          </p:cNvPr>
          <p:cNvSpPr txBox="1"/>
          <p:nvPr/>
        </p:nvSpPr>
        <p:spPr>
          <a:xfrm>
            <a:off x="679591" y="3391286"/>
            <a:ext cx="1478918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50" b="1" u="none">
                <a:ea typeface="현대하모니 M" panose="02020603020101020101"/>
              </a:rPr>
              <a:t>AI Agent</a:t>
            </a:r>
          </a:p>
          <a:p>
            <a:r>
              <a:rPr lang="en-US" altLang="ko-KR" sz="1050" b="1" u="none">
                <a:ea typeface="현대하모니 M" panose="02020603020101020101"/>
              </a:rPr>
              <a:t>Framework</a:t>
            </a:r>
            <a:endParaRPr lang="ko-KR" altLang="en-US" sz="1100" b="1" u="none">
              <a:ea typeface="현대하모니 M" panose="02020603020101020101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89C1D20-7598-FC35-7867-714EB8B580FD}"/>
              </a:ext>
            </a:extLst>
          </p:cNvPr>
          <p:cNvSpPr/>
          <p:nvPr/>
        </p:nvSpPr>
        <p:spPr>
          <a:xfrm>
            <a:off x="4622652" y="2861148"/>
            <a:ext cx="1603102" cy="269857"/>
          </a:xfrm>
          <a:prstGeom prst="roundRect">
            <a:avLst/>
          </a:prstGeom>
          <a:solidFill>
            <a:srgbClr val="FFCCFF"/>
          </a:solidFill>
          <a:ln>
            <a:solidFill>
              <a:srgbClr val="FF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Intent Analysis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0DAC7FA-A378-9A7E-61A9-28616FA490ED}"/>
              </a:ext>
            </a:extLst>
          </p:cNvPr>
          <p:cNvSpPr/>
          <p:nvPr/>
        </p:nvSpPr>
        <p:spPr>
          <a:xfrm>
            <a:off x="1583574" y="2798864"/>
            <a:ext cx="4688596" cy="7444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u="none">
              <a:ea typeface="현대하모니 M" panose="02020603020101020101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AB9F901-8401-998D-BF88-67D1AD662B63}"/>
              </a:ext>
            </a:extLst>
          </p:cNvPr>
          <p:cNvSpPr/>
          <p:nvPr/>
        </p:nvSpPr>
        <p:spPr>
          <a:xfrm>
            <a:off x="2961621" y="2861148"/>
            <a:ext cx="1603102" cy="269857"/>
          </a:xfrm>
          <a:prstGeom prst="roundRect">
            <a:avLst/>
          </a:prstGeom>
          <a:solidFill>
            <a:srgbClr val="FFCCFF"/>
          </a:solidFill>
          <a:ln>
            <a:solidFill>
              <a:srgbClr val="FF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Intent Receiver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4EF6CF-7978-4CFD-2EB2-5B4FB3677D4C}"/>
              </a:ext>
            </a:extLst>
          </p:cNvPr>
          <p:cNvSpPr txBox="1"/>
          <p:nvPr/>
        </p:nvSpPr>
        <p:spPr>
          <a:xfrm>
            <a:off x="1677438" y="3085706"/>
            <a:ext cx="10942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u="none">
                <a:ea typeface="현대하모니 M" panose="02020603020101020101"/>
              </a:rPr>
              <a:t>ContextAgent</a:t>
            </a:r>
            <a:endParaRPr lang="ko-KR" altLang="en-US" sz="900" b="1" u="none">
              <a:ea typeface="현대하모니 M" panose="02020603020101020101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CAF1CDD-203E-DCD1-D43A-DD1151D868D6}"/>
              </a:ext>
            </a:extLst>
          </p:cNvPr>
          <p:cNvSpPr/>
          <p:nvPr/>
        </p:nvSpPr>
        <p:spPr>
          <a:xfrm>
            <a:off x="2970211" y="3204948"/>
            <a:ext cx="3255542" cy="269857"/>
          </a:xfrm>
          <a:prstGeom prst="roundRect">
            <a:avLst/>
          </a:prstGeom>
          <a:solidFill>
            <a:srgbClr val="FFCCFF"/>
          </a:solidFill>
          <a:ln>
            <a:solidFill>
              <a:srgbClr val="FF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Prompt Generator (context + query)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B006535-1E3B-5E35-00BB-EAF8F8A1FB97}"/>
              </a:ext>
            </a:extLst>
          </p:cNvPr>
          <p:cNvSpPr/>
          <p:nvPr/>
        </p:nvSpPr>
        <p:spPr>
          <a:xfrm>
            <a:off x="4631242" y="3630290"/>
            <a:ext cx="1603102" cy="269857"/>
          </a:xfrm>
          <a:prstGeom prst="roundRect">
            <a:avLst/>
          </a:prstGeom>
          <a:solidFill>
            <a:srgbClr val="FFCCFF"/>
          </a:solidFill>
          <a:ln>
            <a:solidFill>
              <a:srgbClr val="FF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RAG(Vector DB)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8EC8E5C-8D3E-0EC2-B32B-9F9DEFE51E49}"/>
              </a:ext>
            </a:extLst>
          </p:cNvPr>
          <p:cNvSpPr/>
          <p:nvPr/>
        </p:nvSpPr>
        <p:spPr>
          <a:xfrm>
            <a:off x="1592164" y="3595439"/>
            <a:ext cx="4688596" cy="33688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u="none">
              <a:ea typeface="현대하모니 M" panose="02020603020101020101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C0237B7-4DF8-728D-8CAE-7F748F0D506D}"/>
              </a:ext>
            </a:extLst>
          </p:cNvPr>
          <p:cNvSpPr/>
          <p:nvPr/>
        </p:nvSpPr>
        <p:spPr>
          <a:xfrm>
            <a:off x="2970211" y="3630290"/>
            <a:ext cx="1603102" cy="269857"/>
          </a:xfrm>
          <a:prstGeom prst="roundRect">
            <a:avLst/>
          </a:prstGeom>
          <a:solidFill>
            <a:srgbClr val="FFCCFF"/>
          </a:solidFill>
          <a:ln>
            <a:solidFill>
              <a:srgbClr val="FF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SLM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286ACB-D7FE-9F01-7013-F62D35783622}"/>
              </a:ext>
            </a:extLst>
          </p:cNvPr>
          <p:cNvSpPr txBox="1"/>
          <p:nvPr/>
        </p:nvSpPr>
        <p:spPr>
          <a:xfrm>
            <a:off x="1675325" y="3643220"/>
            <a:ext cx="10942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u="none">
                <a:ea typeface="현대하모니 M" panose="02020603020101020101"/>
              </a:rPr>
              <a:t>LLMAgent</a:t>
            </a:r>
            <a:endParaRPr lang="ko-KR" altLang="en-US" sz="900" b="1" u="none">
              <a:ea typeface="현대하모니 M" panose="02020603020101020101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DCB62D4-AC83-AEC7-5E5D-D26D6F6DBC99}"/>
              </a:ext>
            </a:extLst>
          </p:cNvPr>
          <p:cNvSpPr/>
          <p:nvPr/>
        </p:nvSpPr>
        <p:spPr>
          <a:xfrm>
            <a:off x="4631242" y="4024134"/>
            <a:ext cx="1603102" cy="269857"/>
          </a:xfrm>
          <a:prstGeom prst="roundRect">
            <a:avLst/>
          </a:prstGeom>
          <a:solidFill>
            <a:srgbClr val="FFCCFF"/>
          </a:solidFill>
          <a:ln>
            <a:solidFill>
              <a:srgbClr val="FF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Personalized Incremental RAG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DEB2194-8F9E-7E82-C4F6-037A2F24715E}"/>
              </a:ext>
            </a:extLst>
          </p:cNvPr>
          <p:cNvSpPr/>
          <p:nvPr/>
        </p:nvSpPr>
        <p:spPr>
          <a:xfrm>
            <a:off x="1592164" y="3989283"/>
            <a:ext cx="4688596" cy="33688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u="none">
              <a:ea typeface="현대하모니 M" panose="02020603020101020101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EF6DEA8-4E14-AD75-E79E-C72B46FEFDE0}"/>
              </a:ext>
            </a:extLst>
          </p:cNvPr>
          <p:cNvSpPr/>
          <p:nvPr/>
        </p:nvSpPr>
        <p:spPr>
          <a:xfrm>
            <a:off x="2970211" y="4024134"/>
            <a:ext cx="1603102" cy="269857"/>
          </a:xfrm>
          <a:prstGeom prst="roundRect">
            <a:avLst/>
          </a:prstGeom>
          <a:solidFill>
            <a:srgbClr val="FFCCFF"/>
          </a:solidFill>
          <a:ln>
            <a:solidFill>
              <a:srgbClr val="FF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u="none">
                <a:solidFill>
                  <a:schemeClr val="tx1"/>
                </a:solidFill>
                <a:ea typeface="현대하모니 M" panose="02020603020101020101"/>
              </a:rPr>
              <a:t>Query Routing</a:t>
            </a:r>
            <a:endParaRPr lang="ko-KR" altLang="en-US" sz="900" b="1" u="none">
              <a:solidFill>
                <a:schemeClr val="tx1"/>
              </a:solidFill>
              <a:ea typeface="현대하모니 M" panose="02020603020101020101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49DD26-E00F-3A12-3CC1-978C0D0D0A90}"/>
              </a:ext>
            </a:extLst>
          </p:cNvPr>
          <p:cNvSpPr txBox="1"/>
          <p:nvPr/>
        </p:nvSpPr>
        <p:spPr>
          <a:xfrm>
            <a:off x="1675325" y="4037064"/>
            <a:ext cx="10942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u="none">
                <a:ea typeface="현대하모니 M" panose="02020603020101020101"/>
              </a:rPr>
              <a:t>ActionAgent</a:t>
            </a:r>
            <a:endParaRPr lang="ko-KR" altLang="en-US" sz="900" b="1" u="none">
              <a:ea typeface="현대하모니 M" panose="02020603020101020101"/>
            </a:endParaRPr>
          </a:p>
        </p:txBody>
      </p:sp>
      <p:sp>
        <p:nvSpPr>
          <p:cNvPr id="36" name="화살표: 위쪽/아래쪽 35">
            <a:extLst>
              <a:ext uri="{FF2B5EF4-FFF2-40B4-BE49-F238E27FC236}">
                <a16:creationId xmlns:a16="http://schemas.microsoft.com/office/drawing/2014/main" id="{51144EE1-D269-8483-4530-F2AA64FE6898}"/>
              </a:ext>
            </a:extLst>
          </p:cNvPr>
          <p:cNvSpPr/>
          <p:nvPr/>
        </p:nvSpPr>
        <p:spPr>
          <a:xfrm>
            <a:off x="3450561" y="2491291"/>
            <a:ext cx="104748" cy="257820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u="none">
              <a:ea typeface="현대하모니 M" panose="02020603020101020101"/>
            </a:endParaRPr>
          </a:p>
        </p:txBody>
      </p:sp>
      <p:sp>
        <p:nvSpPr>
          <p:cNvPr id="37" name="화살표: 위쪽/아래쪽 36">
            <a:extLst>
              <a:ext uri="{FF2B5EF4-FFF2-40B4-BE49-F238E27FC236}">
                <a16:creationId xmlns:a16="http://schemas.microsoft.com/office/drawing/2014/main" id="{1F92DD22-DDF9-7D9A-ECFC-BD07DC05E35E}"/>
              </a:ext>
            </a:extLst>
          </p:cNvPr>
          <p:cNvSpPr/>
          <p:nvPr/>
        </p:nvSpPr>
        <p:spPr>
          <a:xfrm>
            <a:off x="3422976" y="5608055"/>
            <a:ext cx="132333" cy="328428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u="none">
              <a:ea typeface="현대하모니 M" panose="02020603020101020101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66F307-A589-8A21-3909-5C03E43CFABC}"/>
              </a:ext>
            </a:extLst>
          </p:cNvPr>
          <p:cNvSpPr txBox="1"/>
          <p:nvPr/>
        </p:nvSpPr>
        <p:spPr>
          <a:xfrm>
            <a:off x="3487941" y="2493355"/>
            <a:ext cx="7759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i="1" u="none">
                <a:solidFill>
                  <a:schemeClr val="bg2">
                    <a:lumMod val="50000"/>
                  </a:schemeClr>
                </a:solidFill>
                <a:ea typeface="현대하모니 M" panose="02020603020101020101"/>
              </a:rPr>
              <a:t>Offline</a:t>
            </a:r>
            <a:endParaRPr lang="ko-KR" altLang="en-US" sz="900" u="none">
              <a:solidFill>
                <a:schemeClr val="bg2">
                  <a:lumMod val="50000"/>
                </a:schemeClr>
              </a:solidFill>
              <a:ea typeface="현대하모니 M" panose="02020603020101020101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D259D4-CD96-B50B-01AE-99142D15F0CD}"/>
              </a:ext>
            </a:extLst>
          </p:cNvPr>
          <p:cNvSpPr txBox="1"/>
          <p:nvPr/>
        </p:nvSpPr>
        <p:spPr>
          <a:xfrm>
            <a:off x="3459933" y="5649158"/>
            <a:ext cx="7759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i="1" u="none">
                <a:solidFill>
                  <a:schemeClr val="bg2">
                    <a:lumMod val="50000"/>
                  </a:schemeClr>
                </a:solidFill>
                <a:ea typeface="현대하모니 M" panose="02020603020101020101"/>
              </a:rPr>
              <a:t>Offline</a:t>
            </a:r>
            <a:endParaRPr lang="ko-KR" altLang="en-US" sz="900" u="none">
              <a:solidFill>
                <a:schemeClr val="bg2">
                  <a:lumMod val="50000"/>
                </a:schemeClr>
              </a:solidFill>
              <a:ea typeface="현대하모니 M" panose="02020603020101020101"/>
            </a:endParaRPr>
          </a:p>
        </p:txBody>
      </p:sp>
      <p:pic>
        <p:nvPicPr>
          <p:cNvPr id="40" name="Picture 2" descr="클라우드 서버 - 무료 여러 가지 잡다한개 아이콘">
            <a:extLst>
              <a:ext uri="{FF2B5EF4-FFF2-40B4-BE49-F238E27FC236}">
                <a16:creationId xmlns:a16="http://schemas.microsoft.com/office/drawing/2014/main" id="{2A5AE5FD-B4C1-02C7-3FE2-D11472D1A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4274" y="2592456"/>
            <a:ext cx="1883905" cy="1883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화살표: 왼쪽/오른쪽 40">
            <a:extLst>
              <a:ext uri="{FF2B5EF4-FFF2-40B4-BE49-F238E27FC236}">
                <a16:creationId xmlns:a16="http://schemas.microsoft.com/office/drawing/2014/main" id="{73D1EB86-3688-9E5A-1D4A-998A383AB22B}"/>
              </a:ext>
            </a:extLst>
          </p:cNvPr>
          <p:cNvSpPr/>
          <p:nvPr/>
        </p:nvSpPr>
        <p:spPr>
          <a:xfrm>
            <a:off x="6367605" y="3489362"/>
            <a:ext cx="1354232" cy="14930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u="none">
              <a:ea typeface="현대하모니 M" panose="02020603020101020101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395982-D6F8-FF23-C507-6602D1C97474}"/>
              </a:ext>
            </a:extLst>
          </p:cNvPr>
          <p:cNvSpPr txBox="1"/>
          <p:nvPr/>
        </p:nvSpPr>
        <p:spPr>
          <a:xfrm>
            <a:off x="7663924" y="4478461"/>
            <a:ext cx="1537548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u="none">
                <a:ea typeface="현대하모니 M" panose="02020603020101020101"/>
              </a:rPr>
              <a:t>Cloud API</a:t>
            </a:r>
            <a:endParaRPr lang="ko-KR" altLang="en-US" sz="1100" b="1" u="none">
              <a:ea typeface="현대하모니 M" panose="02020603020101020101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E59432-72CF-B76D-FFB4-42C1244D1EB9}"/>
              </a:ext>
            </a:extLst>
          </p:cNvPr>
          <p:cNvSpPr txBox="1"/>
          <p:nvPr/>
        </p:nvSpPr>
        <p:spPr>
          <a:xfrm>
            <a:off x="6758313" y="3288171"/>
            <a:ext cx="7759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i="1" u="none">
                <a:solidFill>
                  <a:schemeClr val="bg2">
                    <a:lumMod val="50000"/>
                  </a:schemeClr>
                </a:solidFill>
                <a:ea typeface="현대하모니 M" panose="02020603020101020101"/>
              </a:rPr>
              <a:t>Online</a:t>
            </a:r>
            <a:endParaRPr lang="ko-KR" altLang="en-US" sz="900" u="none">
              <a:solidFill>
                <a:schemeClr val="bg2">
                  <a:lumMod val="50000"/>
                </a:schemeClr>
              </a:solidFill>
              <a:ea typeface="현대하모니 M" panose="02020603020101020101"/>
            </a:endParaRPr>
          </a:p>
        </p:txBody>
      </p:sp>
    </p:spTree>
    <p:extLst>
      <p:ext uri="{BB962C8B-B14F-4D97-AF65-F5344CB8AC3E}">
        <p14:creationId xmlns:p14="http://schemas.microsoft.com/office/powerpoint/2010/main" val="2050690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980CF-F2F8-3574-63E2-60A4FF3B3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0BF49C4F-FCFA-AECF-6033-924F1C40A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8.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AI 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Agent SW 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흐름도 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C763D9D5-DB5D-4FC0-467C-34BD87815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</a:t>
            </a:r>
            <a:r>
              <a:rPr lang="en-US" altLang="ko-KR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Pre-Retrieval </a:t>
            </a:r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단계</a:t>
            </a:r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E3A66B-02BC-31B8-FF72-62F90E044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520" y="1245494"/>
            <a:ext cx="8676968" cy="4271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0951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5BA0B-7835-5027-82F7-0EF9E1620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FCC61A43-6F70-AB7F-BFF7-20B8966B6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8.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AI 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Agent SW 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흐름도 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DACB4F42-86C9-5177-142B-9279295E7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</a:t>
            </a:r>
            <a:r>
              <a:rPr lang="en-US" altLang="ko-KR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Retrieval </a:t>
            </a:r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단계</a:t>
            </a:r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F0A7034-3F75-F0F7-113F-318D525F6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652" y="1124744"/>
            <a:ext cx="9020844" cy="4177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1537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C57B1-8691-C918-741B-79B751322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AE6401CF-88C4-DE48-7C70-2533C79B7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8.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</a:t>
            </a:r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AI 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Agent SW 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흐름도 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C2B28449-EBEB-CA40-9F80-C9A569421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50405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앱 흐름도</a:t>
            </a:r>
            <a:r>
              <a:rPr lang="en-US" altLang="ko-KR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(</a:t>
            </a:r>
            <a:r>
              <a:rPr lang="en-US" altLang="ko-KR" u="none">
                <a:solidFill>
                  <a:srgbClr val="FF0000"/>
                </a:solidFill>
                <a:latin typeface="현대하모니 L" pitchFamily="18" charset="-127"/>
                <a:ea typeface="현대하모니 L" pitchFamily="18" charset="-127"/>
              </a:rPr>
              <a:t>TO DO</a:t>
            </a:r>
            <a:r>
              <a:rPr lang="en-US" altLang="ko-KR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)</a:t>
            </a:r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sp>
        <p:nvSpPr>
          <p:cNvPr id="2" name="텍스트 상자 5">
            <a:extLst>
              <a:ext uri="{FF2B5EF4-FFF2-40B4-BE49-F238E27FC236}">
                <a16:creationId xmlns:a16="http://schemas.microsoft.com/office/drawing/2014/main" id="{4DDF100A-30E6-CF7E-37E0-1A6BA8CF8268}"/>
              </a:ext>
            </a:extLst>
          </p:cNvPr>
          <p:cNvSpPr txBox="1">
            <a:spLocks/>
          </p:cNvSpPr>
          <p:nvPr/>
        </p:nvSpPr>
        <p:spPr>
          <a:xfrm>
            <a:off x="4757695" y="1822310"/>
            <a:ext cx="5014953" cy="3954161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180000" indent="-180000">
              <a:lnSpc>
                <a:spcPct val="150000"/>
              </a:lnSpc>
              <a:spcBef>
                <a:spcPts val="600"/>
              </a:spcBef>
              <a:buSzPct val="100000"/>
              <a:buFont typeface="Arial" pitchFamily="34" charset="0"/>
              <a:buChar char="•"/>
            </a:pPr>
            <a:r>
              <a:rPr lang="en-US" altLang="ko-KR" sz="1050" b="1" u="none" dirty="0" err="1">
                <a:latin typeface="+mj-ea"/>
                <a:ea typeface="현대하모니 L"/>
              </a:rPr>
              <a:t>AppViewModel</a:t>
            </a:r>
            <a:r>
              <a:rPr lang="en-US" altLang="ko-KR" sz="1050" b="1" u="none" dirty="0">
                <a:latin typeface="+mj-ea"/>
                <a:ea typeface="현대하모니 L"/>
              </a:rPr>
              <a:t> </a:t>
            </a:r>
            <a:r>
              <a:rPr lang="en-US" altLang="ko-KR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: </a:t>
            </a:r>
            <a:r>
              <a:rPr lang="ko-KR" altLang="en-US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모델의 다운로드</a:t>
            </a:r>
            <a:r>
              <a:rPr lang="en-US" altLang="ko-KR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초기화</a:t>
            </a:r>
            <a:r>
              <a:rPr lang="en-US" altLang="ko-KR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삭제 등의 기능과 채팅 기능 등</a:t>
            </a:r>
            <a:br>
              <a:rPr lang="en-US" altLang="ko-KR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</a:br>
            <a:r>
              <a:rPr lang="ko-KR" altLang="en-US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전반적인 상태를 관리합니다</a:t>
            </a:r>
            <a:r>
              <a:rPr lang="en-US" altLang="ko-KR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.</a:t>
            </a:r>
            <a:endParaRPr lang="ko-KR" altLang="en-US" sz="1050" b="1" u="none" dirty="0">
              <a:solidFill>
                <a:srgbClr val="000000"/>
              </a:solidFill>
              <a:latin typeface="+mj-ea"/>
              <a:ea typeface="현대하모니 L"/>
              <a:cs typeface="맑은 고딕 Semilight" panose="020B0502040204020203" pitchFamily="50" charset="-127"/>
            </a:endParaRPr>
          </a:p>
          <a:p>
            <a:pPr marL="180000" indent="-180000">
              <a:lnSpc>
                <a:spcPct val="150000"/>
              </a:lnSpc>
              <a:spcBef>
                <a:spcPts val="600"/>
              </a:spcBef>
              <a:buSzPct val="100000"/>
              <a:buFont typeface="Arial" pitchFamily="34" charset="0"/>
              <a:buChar char="•"/>
            </a:pPr>
            <a:r>
              <a:rPr lang="en-US" altLang="ko-KR" sz="1050" b="1" u="none" dirty="0" err="1">
                <a:latin typeface="+mj-ea"/>
                <a:ea typeface="현대하모니 L"/>
              </a:rPr>
              <a:t>LoadAppConfig</a:t>
            </a:r>
            <a:r>
              <a:rPr lang="en-US" altLang="ko-KR" sz="1050" b="1" u="none" dirty="0">
                <a:latin typeface="+mj-ea"/>
                <a:ea typeface="현대하모니 L"/>
              </a:rPr>
              <a:t> </a:t>
            </a:r>
            <a:r>
              <a:rPr lang="en-US" altLang="ko-KR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: </a:t>
            </a:r>
            <a:r>
              <a:rPr lang="ko-KR" altLang="en-US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애플리케이션 설정을 로드하고 모델 목록을 초기화합니다</a:t>
            </a:r>
            <a:r>
              <a:rPr lang="en-US" altLang="ko-KR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. </a:t>
            </a:r>
          </a:p>
          <a:p>
            <a:pPr marL="180000" indent="-180000">
              <a:lnSpc>
                <a:spcPct val="150000"/>
              </a:lnSpc>
              <a:spcBef>
                <a:spcPts val="600"/>
              </a:spcBef>
              <a:buSzPct val="100000"/>
              <a:buFont typeface="Arial" pitchFamily="34" charset="0"/>
              <a:buChar char="•"/>
            </a:pPr>
            <a:r>
              <a:rPr lang="en-US" altLang="ko-KR" sz="1050" b="1" u="none" dirty="0" err="1">
                <a:latin typeface="+mj-ea"/>
                <a:ea typeface="현대하모니 L"/>
              </a:rPr>
              <a:t>switchToInitializing</a:t>
            </a:r>
            <a:r>
              <a:rPr lang="en-US" altLang="ko-KR" sz="1050" b="1" u="none" dirty="0">
                <a:latin typeface="+mj-ea"/>
                <a:ea typeface="현대하모니 L"/>
              </a:rPr>
              <a:t> </a:t>
            </a:r>
            <a:r>
              <a:rPr lang="en-US" altLang="ko-KR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: </a:t>
            </a:r>
            <a:r>
              <a:rPr lang="ko-KR" altLang="en-US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모델 초기화 상태로 전환합니다</a:t>
            </a:r>
            <a:r>
              <a:rPr lang="en-US" altLang="ko-KR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. </a:t>
            </a:r>
            <a:r>
              <a:rPr lang="ko-KR" altLang="en-US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파라미터 설정 파일을 확인하여</a:t>
            </a:r>
            <a:r>
              <a:rPr lang="en-US" altLang="ko-KR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 </a:t>
            </a:r>
            <a:r>
              <a:rPr lang="ko-KR" altLang="en-US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존재하면 로드하고</a:t>
            </a:r>
            <a:r>
              <a:rPr lang="en-US" altLang="ko-KR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그렇지 않으면 다운로드를 시작합니다</a:t>
            </a:r>
            <a:r>
              <a:rPr lang="en-US" altLang="ko-KR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.</a:t>
            </a:r>
            <a:endParaRPr lang="en-US" altLang="ko-KR" sz="1050" b="1" u="none" dirty="0">
              <a:latin typeface="+mj-ea"/>
              <a:ea typeface="현대하모니 L"/>
            </a:endParaRPr>
          </a:p>
          <a:p>
            <a:pPr marL="180000" indent="-180000">
              <a:lnSpc>
                <a:spcPct val="150000"/>
              </a:lnSpc>
              <a:spcBef>
                <a:spcPts val="600"/>
              </a:spcBef>
              <a:buSzPct val="100000"/>
              <a:buFont typeface="Arial" pitchFamily="34" charset="0"/>
              <a:buChar char="•"/>
            </a:pPr>
            <a:r>
              <a:rPr lang="en-US" altLang="ko-KR" sz="1050" b="1" u="none" dirty="0" err="1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loadParamsConfig</a:t>
            </a:r>
            <a:r>
              <a:rPr lang="en-US" altLang="ko-KR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 : </a:t>
            </a:r>
            <a:r>
              <a:rPr lang="ko-KR" altLang="en-US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모델의 파라미터 설정을 </a:t>
            </a:r>
            <a:r>
              <a:rPr lang="ko-KR" altLang="en-US" sz="1050" b="1" u="none" dirty="0" err="1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로드합니다</a:t>
            </a:r>
            <a:r>
              <a:rPr lang="en-US" altLang="ko-KR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. </a:t>
            </a:r>
          </a:p>
          <a:p>
            <a:pPr marL="180000" indent="-180000">
              <a:lnSpc>
                <a:spcPct val="150000"/>
              </a:lnSpc>
              <a:spcBef>
                <a:spcPts val="600"/>
              </a:spcBef>
              <a:buSzPct val="100000"/>
              <a:buFont typeface="Arial" pitchFamily="34" charset="0"/>
              <a:buChar char="•"/>
            </a:pPr>
            <a:r>
              <a:rPr lang="en-US" altLang="ko-KR" sz="1050" b="1" u="none" dirty="0" err="1">
                <a:latin typeface="+mj-ea"/>
                <a:ea typeface="현대하모니 L"/>
              </a:rPr>
              <a:t>downloadParamsConfig</a:t>
            </a:r>
            <a:r>
              <a:rPr lang="en-US" altLang="ko-KR" sz="1050" b="1" u="none" dirty="0">
                <a:latin typeface="+mj-ea"/>
                <a:ea typeface="현대하모니 L"/>
              </a:rPr>
              <a:t> : </a:t>
            </a:r>
            <a:r>
              <a:rPr lang="ko-KR" altLang="en-US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모델의 파라미터 설정 파일을 다운로드합니다</a:t>
            </a:r>
            <a:r>
              <a:rPr lang="en-US" altLang="ko-KR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spcBef>
                <a:spcPts val="600"/>
              </a:spcBef>
              <a:buSzPct val="100000"/>
              <a:buFont typeface="Arial" pitchFamily="34" charset="0"/>
              <a:buChar char="•"/>
            </a:pPr>
            <a:r>
              <a:rPr lang="en-US" altLang="ko-KR" sz="1050" b="1" u="none" dirty="0" err="1">
                <a:latin typeface="+mj-ea"/>
                <a:ea typeface="현대하모니 L"/>
              </a:rPr>
              <a:t>switchToIndexing</a:t>
            </a:r>
            <a:r>
              <a:rPr lang="en-US" altLang="ko-KR" sz="1050" b="1" u="none" dirty="0">
                <a:latin typeface="+mj-ea"/>
                <a:ea typeface="현대하모니 L"/>
              </a:rPr>
              <a:t> : </a:t>
            </a:r>
            <a:r>
              <a:rPr lang="ko-KR" altLang="en-US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필요한 파일을 인덱싱하고 다운로드 목록을 만듭니다</a:t>
            </a:r>
            <a:r>
              <a:rPr lang="en-US" altLang="ko-KR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. </a:t>
            </a:r>
            <a:r>
              <a:rPr lang="ko-KR" altLang="en-US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진행률을 초기화하고 다운로드 여부에 따라 다음 상태로 전환합니다</a:t>
            </a:r>
            <a:r>
              <a:rPr lang="en-US" altLang="ko-KR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.</a:t>
            </a:r>
            <a:endParaRPr lang="en-US" altLang="ko-KR" sz="1050" b="1" u="none" dirty="0">
              <a:latin typeface="+mj-ea"/>
              <a:ea typeface="현대하모니 L"/>
            </a:endParaRPr>
          </a:p>
          <a:p>
            <a:pPr marL="180000" indent="-180000">
              <a:lnSpc>
                <a:spcPct val="150000"/>
              </a:lnSpc>
              <a:spcBef>
                <a:spcPts val="600"/>
              </a:spcBef>
              <a:buSzPct val="100000"/>
              <a:buFont typeface="Arial" pitchFamily="34" charset="0"/>
              <a:buChar char="•"/>
            </a:pPr>
            <a:r>
              <a:rPr lang="en-US" altLang="ko-KR" sz="1050" b="1" u="none" dirty="0" err="1">
                <a:latin typeface="+mj-ea"/>
                <a:ea typeface="현대하모니 L"/>
              </a:rPr>
              <a:t>startChat</a:t>
            </a:r>
            <a:r>
              <a:rPr lang="en-US" altLang="ko-KR" sz="1050" b="1" u="none" dirty="0">
                <a:latin typeface="+mj-ea"/>
                <a:ea typeface="현대하모니 L"/>
              </a:rPr>
              <a:t> : </a:t>
            </a:r>
            <a:r>
              <a:rPr lang="ko-KR" altLang="en-US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모델과의 채팅을 시작합니다</a:t>
            </a:r>
            <a:r>
              <a:rPr lang="en-US" altLang="ko-KR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.</a:t>
            </a:r>
            <a:endParaRPr lang="en-US" altLang="ko-KR" sz="1050" b="1" u="none" dirty="0">
              <a:latin typeface="+mj-ea"/>
              <a:ea typeface="현대하모니 L"/>
            </a:endParaRPr>
          </a:p>
          <a:p>
            <a:pPr marL="180000" indent="-180000">
              <a:lnSpc>
                <a:spcPct val="150000"/>
              </a:lnSpc>
              <a:spcBef>
                <a:spcPts val="600"/>
              </a:spcBef>
              <a:buSzPct val="100000"/>
              <a:buFont typeface="Arial" pitchFamily="34" charset="0"/>
              <a:buChar char="•"/>
            </a:pPr>
            <a:r>
              <a:rPr lang="en-US" altLang="ko-KR" sz="1050" b="1" u="none" dirty="0" err="1">
                <a:latin typeface="+mj-ea"/>
                <a:ea typeface="현대하모니 L"/>
              </a:rPr>
              <a:t>chatable</a:t>
            </a:r>
            <a:r>
              <a:rPr lang="en-US" altLang="ko-KR" sz="1050" b="1" u="none" dirty="0">
                <a:latin typeface="+mj-ea"/>
                <a:ea typeface="현대하모니 L"/>
              </a:rPr>
              <a:t> : </a:t>
            </a:r>
            <a:r>
              <a:rPr lang="ko-KR" altLang="en-US" sz="1050" b="1" u="none" dirty="0">
                <a:latin typeface="+mj-ea"/>
                <a:ea typeface="현대하모니 L"/>
              </a:rPr>
              <a:t>채팅 가능여부를 파악하여 값을 반환합니다</a:t>
            </a:r>
            <a:r>
              <a:rPr lang="en-US" altLang="ko-KR" sz="1050" b="1" u="none" dirty="0">
                <a:latin typeface="+mj-ea"/>
                <a:ea typeface="현대하모니 L"/>
              </a:rPr>
              <a:t>.</a:t>
            </a:r>
          </a:p>
          <a:p>
            <a:pPr marL="180000" indent="-180000">
              <a:lnSpc>
                <a:spcPct val="150000"/>
              </a:lnSpc>
              <a:spcBef>
                <a:spcPts val="600"/>
              </a:spcBef>
              <a:buSzPct val="100000"/>
              <a:buFont typeface="Arial" pitchFamily="34" charset="0"/>
              <a:buChar char="•"/>
            </a:pPr>
            <a:r>
              <a:rPr lang="en-US" altLang="ko-KR" sz="1050" b="1" u="none" dirty="0" err="1">
                <a:latin typeface="+mj-ea"/>
                <a:ea typeface="현대하모니 L"/>
              </a:rPr>
              <a:t>requestGenerate</a:t>
            </a:r>
            <a:r>
              <a:rPr lang="en-US" altLang="ko-KR" sz="1050" b="1" u="none" dirty="0">
                <a:latin typeface="+mj-ea"/>
                <a:ea typeface="현대하모니 L"/>
              </a:rPr>
              <a:t> : </a:t>
            </a:r>
            <a:r>
              <a:rPr lang="ko-KR" altLang="en-US" sz="1050" b="1" u="none" dirty="0">
                <a:latin typeface="+mj-ea"/>
                <a:ea typeface="현대하모니 L"/>
              </a:rPr>
              <a:t>사용자 메시지를 추가하여 </a:t>
            </a:r>
            <a:r>
              <a:rPr lang="ko-KR" altLang="en-US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사용자 입력에 대한 응답을 생성합니다</a:t>
            </a:r>
            <a:r>
              <a:rPr lang="en-US" altLang="ko-KR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. </a:t>
            </a:r>
            <a:r>
              <a:rPr lang="ko-KR" altLang="en-US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생성된 텍스트를 업데이트하고</a:t>
            </a:r>
            <a:r>
              <a:rPr lang="en-US" altLang="ko-KR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히스토리에 추가합니다</a:t>
            </a:r>
            <a:r>
              <a:rPr lang="en-US" altLang="ko-KR" sz="1050" b="1" u="none" dirty="0">
                <a:solidFill>
                  <a:srgbClr val="000000"/>
                </a:solidFill>
                <a:latin typeface="+mj-ea"/>
                <a:ea typeface="현대하모니 L"/>
                <a:cs typeface="맑은 고딕 Semilight" panose="020B0502040204020203" pitchFamily="50" charset="-127"/>
              </a:rPr>
              <a:t>.</a:t>
            </a:r>
            <a:endParaRPr lang="ko-KR" altLang="en-US" sz="1050" b="1" u="none" dirty="0">
              <a:solidFill>
                <a:srgbClr val="000000"/>
              </a:solidFill>
              <a:latin typeface="+mj-ea"/>
              <a:ea typeface="현대하모니 L"/>
              <a:cs typeface="맑은 고딕 Semilight" panose="020B0502040204020203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CDA3E3FE-359A-770F-CDE7-62C0DF4417EE}"/>
              </a:ext>
            </a:extLst>
          </p:cNvPr>
          <p:cNvSpPr/>
          <p:nvPr/>
        </p:nvSpPr>
        <p:spPr>
          <a:xfrm>
            <a:off x="1344340" y="1249585"/>
            <a:ext cx="165676" cy="16567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u="none">
              <a:ea typeface="현대하모니 L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8F46262-3FDB-8A28-75D5-EAEAB88341BD}"/>
              </a:ext>
            </a:extLst>
          </p:cNvPr>
          <p:cNvSpPr/>
          <p:nvPr/>
        </p:nvSpPr>
        <p:spPr>
          <a:xfrm>
            <a:off x="587405" y="1831836"/>
            <a:ext cx="1679545" cy="40703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b="1" u="none" dirty="0" err="1">
                <a:latin typeface="+mn-ea"/>
                <a:ea typeface="현대하모니 L"/>
              </a:rPr>
              <a:t>AppViewModel</a:t>
            </a:r>
            <a:endParaRPr lang="ko-KR" altLang="en-US" sz="1100" b="1" u="none" dirty="0">
              <a:latin typeface="+mn-ea"/>
              <a:ea typeface="현대하모니 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3675A9-7017-A543-D786-3536BA4069D2}"/>
              </a:ext>
            </a:extLst>
          </p:cNvPr>
          <p:cNvSpPr txBox="1"/>
          <p:nvPr/>
        </p:nvSpPr>
        <p:spPr>
          <a:xfrm>
            <a:off x="1510016" y="1178475"/>
            <a:ext cx="10800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200" b="1" u="none" dirty="0">
                <a:latin typeface="+mn-ea"/>
                <a:ea typeface="현대하모니 L"/>
              </a:rPr>
              <a:t>App</a:t>
            </a:r>
            <a:r>
              <a:rPr lang="ko-KR" altLang="en-US" sz="1200" b="1" u="none" dirty="0">
                <a:latin typeface="+mn-ea"/>
                <a:ea typeface="현대하모니 L"/>
              </a:rPr>
              <a:t> 실행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08ECC615-AA7F-28E2-3378-6508F80C8935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1427178" y="1415261"/>
            <a:ext cx="0" cy="416575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2693D47-6E65-1FD5-6B08-1178C120AD05}"/>
              </a:ext>
            </a:extLst>
          </p:cNvPr>
          <p:cNvSpPr/>
          <p:nvPr/>
        </p:nvSpPr>
        <p:spPr>
          <a:xfrm>
            <a:off x="587405" y="2637634"/>
            <a:ext cx="1679545" cy="40703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b="1" u="none" dirty="0" err="1">
                <a:latin typeface="+mn-ea"/>
                <a:ea typeface="현대하모니 L"/>
              </a:rPr>
              <a:t>LoadAppConfig</a:t>
            </a:r>
            <a:endParaRPr lang="ko-KR" altLang="en-US" sz="1100" b="1" u="none" dirty="0">
              <a:latin typeface="+mn-ea"/>
              <a:ea typeface="현대하모니 L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F4AA524-D062-9BFF-7BFA-F79ED1652B6A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1427178" y="2238871"/>
            <a:ext cx="0" cy="398763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87B824E-6C07-2F82-741F-AD3F63AEE91A}"/>
              </a:ext>
            </a:extLst>
          </p:cNvPr>
          <p:cNvSpPr/>
          <p:nvPr/>
        </p:nvSpPr>
        <p:spPr>
          <a:xfrm>
            <a:off x="587405" y="3443432"/>
            <a:ext cx="1679545" cy="40703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b="1" u="none" dirty="0" err="1">
                <a:latin typeface="+mn-ea"/>
                <a:ea typeface="현대하모니 L"/>
              </a:rPr>
              <a:t>switchToInitializing</a:t>
            </a:r>
            <a:endParaRPr lang="ko-KR" altLang="en-US" sz="1100" b="1" u="none" dirty="0">
              <a:latin typeface="+mn-ea"/>
              <a:ea typeface="현대하모니 L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60884F0-65C1-6324-36BD-A964D6F0F16D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1427178" y="3044669"/>
            <a:ext cx="0" cy="398763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6E7D10E-BB80-5644-67B8-DCDC04BD6263}"/>
              </a:ext>
            </a:extLst>
          </p:cNvPr>
          <p:cNvSpPr/>
          <p:nvPr/>
        </p:nvSpPr>
        <p:spPr>
          <a:xfrm>
            <a:off x="204265" y="4354646"/>
            <a:ext cx="1082116" cy="40703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b="1" u="none" dirty="0" err="1">
                <a:latin typeface="+mn-ea"/>
                <a:ea typeface="현대하모니 L"/>
              </a:rPr>
              <a:t>loadParams</a:t>
            </a:r>
            <a:endParaRPr lang="en-US" altLang="ko-KR" sz="1100" b="1" u="none" dirty="0">
              <a:latin typeface="+mn-ea"/>
              <a:ea typeface="현대하모니 L"/>
            </a:endParaRPr>
          </a:p>
          <a:p>
            <a:pPr algn="ctr"/>
            <a:r>
              <a:rPr lang="en-US" altLang="ko-KR" sz="1100" b="1" u="none" dirty="0">
                <a:latin typeface="+mn-ea"/>
                <a:ea typeface="현대하모니 L"/>
              </a:rPr>
              <a:t>Config</a:t>
            </a:r>
            <a:endParaRPr lang="ko-KR" altLang="en-US" sz="1100" b="1" u="none" dirty="0">
              <a:latin typeface="+mn-ea"/>
              <a:ea typeface="현대하모니 L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B25DCC0-163E-5199-3DB6-7DB170A041FD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745323" y="3850467"/>
            <a:ext cx="681855" cy="504179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E4F6A65-60E4-114F-5A43-53149FEA2B7A}"/>
              </a:ext>
            </a:extLst>
          </p:cNvPr>
          <p:cNvCxnSpPr>
            <a:cxnSpLocks/>
            <a:stCxn id="9" idx="2"/>
            <a:endCxn id="21" idx="0"/>
          </p:cNvCxnSpPr>
          <p:nvPr/>
        </p:nvCxnSpPr>
        <p:spPr>
          <a:xfrm>
            <a:off x="1427178" y="3850467"/>
            <a:ext cx="660875" cy="504179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58C31CB-75B8-0F12-B684-C8826D5A627B}"/>
              </a:ext>
            </a:extLst>
          </p:cNvPr>
          <p:cNvSpPr/>
          <p:nvPr/>
        </p:nvSpPr>
        <p:spPr>
          <a:xfrm>
            <a:off x="587405" y="5201380"/>
            <a:ext cx="1679545" cy="40703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b="1" u="none" dirty="0" err="1">
                <a:latin typeface="+mn-ea"/>
                <a:ea typeface="현대하모니 L"/>
              </a:rPr>
              <a:t>switchToIndexing</a:t>
            </a:r>
            <a:endParaRPr lang="ko-KR" altLang="en-US" sz="1100" b="1" u="none" dirty="0">
              <a:latin typeface="+mn-ea"/>
              <a:ea typeface="현대하모니 L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6AC9F96-E68A-D391-289A-14784D0C3C2B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>
            <a:off x="745323" y="4761681"/>
            <a:ext cx="681855" cy="439699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7D16D6C-5E70-C54B-5AEB-15A666E246B2}"/>
              </a:ext>
            </a:extLst>
          </p:cNvPr>
          <p:cNvCxnSpPr>
            <a:cxnSpLocks/>
            <a:stCxn id="21" idx="2"/>
            <a:endCxn id="14" idx="0"/>
          </p:cNvCxnSpPr>
          <p:nvPr/>
        </p:nvCxnSpPr>
        <p:spPr>
          <a:xfrm flipH="1">
            <a:off x="1427178" y="4761681"/>
            <a:ext cx="660875" cy="439699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DD8A0AF-7279-5000-E7BC-5BC1174D0126}"/>
              </a:ext>
            </a:extLst>
          </p:cNvPr>
          <p:cNvSpPr/>
          <p:nvPr/>
        </p:nvSpPr>
        <p:spPr>
          <a:xfrm>
            <a:off x="3106724" y="2637634"/>
            <a:ext cx="1430702" cy="40703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b="1" u="none" dirty="0" err="1">
                <a:latin typeface="+mn-ea"/>
                <a:ea typeface="현대하모니 L"/>
              </a:rPr>
              <a:t>chatable</a:t>
            </a:r>
            <a:endParaRPr lang="ko-KR" altLang="en-US" sz="1100" b="1" u="none" dirty="0">
              <a:latin typeface="+mn-ea"/>
              <a:ea typeface="현대하모니 L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7ABC172-234D-1B3A-3C4E-01B0EF879282}"/>
              </a:ext>
            </a:extLst>
          </p:cNvPr>
          <p:cNvSpPr/>
          <p:nvPr/>
        </p:nvSpPr>
        <p:spPr>
          <a:xfrm>
            <a:off x="3106723" y="3443432"/>
            <a:ext cx="1430702" cy="40703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b="1" u="none" dirty="0" err="1">
                <a:latin typeface="+mn-ea"/>
                <a:ea typeface="현대하모니 L"/>
              </a:rPr>
              <a:t>requestGenerate</a:t>
            </a:r>
            <a:endParaRPr lang="ko-KR" altLang="en-US" sz="1100" b="1" u="none" dirty="0">
              <a:latin typeface="+mn-ea"/>
              <a:ea typeface="현대하모니 L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8556E4C-C2EE-A883-2003-E6ED45FA3EB4}"/>
              </a:ext>
            </a:extLst>
          </p:cNvPr>
          <p:cNvSpPr/>
          <p:nvPr/>
        </p:nvSpPr>
        <p:spPr>
          <a:xfrm>
            <a:off x="3106725" y="1831835"/>
            <a:ext cx="1430702" cy="40703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b="1" u="none" dirty="0" err="1">
                <a:latin typeface="+mn-ea"/>
                <a:ea typeface="현대하모니 L"/>
              </a:rPr>
              <a:t>startChat</a:t>
            </a:r>
            <a:endParaRPr lang="ko-KR" altLang="en-US" sz="1100" b="1" u="none" dirty="0">
              <a:latin typeface="+mn-ea"/>
              <a:ea typeface="현대하모니 L"/>
            </a:endParaRP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17D0A7C8-13C7-51ED-35F5-61DEB79667D0}"/>
              </a:ext>
            </a:extLst>
          </p:cNvPr>
          <p:cNvCxnSpPr>
            <a:cxnSpLocks/>
            <a:stCxn id="14" idx="2"/>
            <a:endCxn id="19" idx="1"/>
          </p:cNvCxnSpPr>
          <p:nvPr/>
        </p:nvCxnSpPr>
        <p:spPr>
          <a:xfrm rot="5400000" flipH="1" flipV="1">
            <a:off x="480420" y="2982110"/>
            <a:ext cx="3573062" cy="1679547"/>
          </a:xfrm>
          <a:prstGeom prst="bentConnector4">
            <a:avLst>
              <a:gd name="adj1" fmla="val -10130"/>
              <a:gd name="adj2" fmla="val 8747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1C2AB09-3D55-774B-0339-9BE1AF95D521}"/>
              </a:ext>
            </a:extLst>
          </p:cNvPr>
          <p:cNvSpPr/>
          <p:nvPr/>
        </p:nvSpPr>
        <p:spPr>
          <a:xfrm>
            <a:off x="1378173" y="4354646"/>
            <a:ext cx="1419759" cy="40703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b="1" u="none" dirty="0" err="1">
                <a:latin typeface="+mn-ea"/>
                <a:ea typeface="현대하모니 L"/>
              </a:rPr>
              <a:t>downloadParams</a:t>
            </a:r>
            <a:endParaRPr lang="en-US" altLang="ko-KR" sz="1100" b="1" u="none" dirty="0">
              <a:latin typeface="+mn-ea"/>
              <a:ea typeface="현대하모니 L"/>
            </a:endParaRPr>
          </a:p>
          <a:p>
            <a:pPr algn="ctr"/>
            <a:r>
              <a:rPr lang="en-US" altLang="ko-KR" sz="1100" b="1" u="none" dirty="0">
                <a:latin typeface="+mn-ea"/>
                <a:ea typeface="현대하모니 L"/>
              </a:rPr>
              <a:t>Config</a:t>
            </a:r>
            <a:endParaRPr lang="ko-KR" altLang="en-US" sz="1100" b="1" u="none" dirty="0">
              <a:latin typeface="+mn-ea"/>
              <a:ea typeface="현대하모니 L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52A5D47-E8AF-824F-37B1-131B56EF0997}"/>
              </a:ext>
            </a:extLst>
          </p:cNvPr>
          <p:cNvCxnSpPr>
            <a:cxnSpLocks/>
            <a:stCxn id="19" idx="2"/>
            <a:endCxn id="17" idx="0"/>
          </p:cNvCxnSpPr>
          <p:nvPr/>
        </p:nvCxnSpPr>
        <p:spPr>
          <a:xfrm flipH="1">
            <a:off x="3822075" y="2238870"/>
            <a:ext cx="1" cy="398764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0FAA767-09BF-02D3-C8D8-71BAD3A41805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3822074" y="3044669"/>
            <a:ext cx="1" cy="398763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6219554A-A119-3956-ABF5-015243A854A1}"/>
              </a:ext>
            </a:extLst>
          </p:cNvPr>
          <p:cNvCxnSpPr>
            <a:cxnSpLocks/>
            <a:stCxn id="18" idx="2"/>
            <a:endCxn id="25" idx="0"/>
          </p:cNvCxnSpPr>
          <p:nvPr/>
        </p:nvCxnSpPr>
        <p:spPr>
          <a:xfrm>
            <a:off x="3822074" y="3850467"/>
            <a:ext cx="0" cy="504179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76B8D42-CE46-20D7-CB4C-2C170B1AA863}"/>
              </a:ext>
            </a:extLst>
          </p:cNvPr>
          <p:cNvSpPr/>
          <p:nvPr/>
        </p:nvSpPr>
        <p:spPr>
          <a:xfrm>
            <a:off x="3106723" y="4354646"/>
            <a:ext cx="1430702" cy="164205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b="1" u="none" dirty="0">
                <a:latin typeface="+mn-ea"/>
                <a:ea typeface="현대하모니 L"/>
              </a:rPr>
              <a:t>[AI </a:t>
            </a:r>
            <a:r>
              <a:rPr lang="ko-KR" altLang="en-US" sz="1100" b="1" u="none">
                <a:latin typeface="+mn-ea"/>
                <a:ea typeface="현대하모니 L"/>
              </a:rPr>
              <a:t>답변</a:t>
            </a:r>
            <a:r>
              <a:rPr lang="en-US" altLang="ko-KR" sz="1100" b="1" u="none">
                <a:latin typeface="+mn-ea"/>
                <a:ea typeface="현대하모니 L"/>
              </a:rPr>
              <a:t>]</a:t>
            </a:r>
            <a:endParaRPr lang="en-US" altLang="ko-KR" sz="1100" b="1" u="none" dirty="0">
              <a:latin typeface="+mn-ea"/>
              <a:ea typeface="현대하모니 L"/>
            </a:endParaRPr>
          </a:p>
        </p:txBody>
      </p:sp>
    </p:spTree>
    <p:extLst>
      <p:ext uri="{BB962C8B-B14F-4D97-AF65-F5344CB8AC3E}">
        <p14:creationId xmlns:p14="http://schemas.microsoft.com/office/powerpoint/2010/main" val="1533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EA119-FD7C-1C51-FABC-FB37CAD1F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57B350D2-09EB-0112-BCD5-70E9722D8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8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앱 시퀀스 다이어그램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AFF0CD27-EA50-5A42-96A7-1FE277AD9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2" y="692696"/>
            <a:ext cx="61926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 eaLnBrk="0" hangingPunct="0"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u="sng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hangingPunct="1"/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▣ 앱 시퀀스 다이어그램 </a:t>
            </a:r>
            <a:r>
              <a:rPr lang="en-US" altLang="ko-KR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– Function Calling (</a:t>
            </a:r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날씨</a:t>
            </a:r>
            <a:r>
              <a:rPr lang="en-US" altLang="ko-KR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, </a:t>
            </a:r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장소</a:t>
            </a:r>
            <a:r>
              <a:rPr lang="en-US" altLang="ko-KR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) </a:t>
            </a:r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질문</a:t>
            </a:r>
            <a:r>
              <a:rPr lang="en-US" altLang="ko-KR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&amp;</a:t>
            </a:r>
            <a:r>
              <a:rPr lang="ko-KR" altLang="en-US" u="none">
                <a:solidFill>
                  <a:schemeClr val="tx1"/>
                </a:solidFill>
                <a:latin typeface="현대하모니 L" pitchFamily="18" charset="-127"/>
                <a:ea typeface="현대하모니 L" pitchFamily="18" charset="-127"/>
              </a:rPr>
              <a:t>답변</a:t>
            </a:r>
          </a:p>
          <a:p>
            <a:pPr eaLnBrk="1" hangingPunct="1"/>
            <a:endParaRPr kumimoji="0" lang="en-US" altLang="ko-KR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  <a:sym typeface="Wingdings" pitchFamily="2" charset="2"/>
            </a:endParaRPr>
          </a:p>
        </p:txBody>
      </p:sp>
      <p:sp>
        <p:nvSpPr>
          <p:cNvPr id="26" name="텍스트 상자 2">
            <a:extLst>
              <a:ext uri="{FF2B5EF4-FFF2-40B4-BE49-F238E27FC236}">
                <a16:creationId xmlns:a16="http://schemas.microsoft.com/office/drawing/2014/main" id="{D443E297-EB4F-60E9-BA97-F883A11863ED}"/>
              </a:ext>
            </a:extLst>
          </p:cNvPr>
          <p:cNvSpPr txBox="1">
            <a:spLocks/>
          </p:cNvSpPr>
          <p:nvPr/>
        </p:nvSpPr>
        <p:spPr>
          <a:xfrm>
            <a:off x="481631" y="1254738"/>
            <a:ext cx="9002964" cy="1998624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Cloud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환경에서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GPT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날씨나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장소에 대한 답변도 할 수 있습니다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 </a:t>
            </a:r>
            <a:r>
              <a:rPr lang="ko-KR" altLang="en-US" sz="1100" u="none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이는 </a:t>
            </a:r>
            <a:r>
              <a:rPr lang="en-US" altLang="ko-KR" sz="1100" u="none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OnDevice LLM</a:t>
            </a:r>
            <a:r>
              <a:rPr lang="ko-KR" altLang="en-US" sz="1100" u="none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로는 불가능하고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다양한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openAPI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function calling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기능과 연동함으로써 가능해집니다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b="1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질의에 적합한 함수</a:t>
            </a:r>
            <a:r>
              <a:rPr lang="en-US" altLang="ko-KR" sz="1100" b="1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 </a:t>
            </a:r>
            <a:r>
              <a:rPr lang="ko-KR" altLang="en-US" sz="1100" b="1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호출</a:t>
            </a:r>
            <a:r>
              <a:rPr lang="en-US" altLang="ko-KR" sz="1100" b="1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(</a:t>
            </a:r>
            <a:r>
              <a:rPr lang="en-US" altLang="ko-KR" sz="1100" b="1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callFunctionByName</a:t>
            </a:r>
            <a:r>
              <a:rPr lang="en-US" altLang="ko-KR" sz="1100" b="1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()):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날씨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장소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캘린더 일정 질문 등이 들어오면 </a:t>
            </a:r>
            <a:r>
              <a:rPr lang="en-US" altLang="ko-KR" sz="1100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openai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는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function calling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기능을 통해 어떠한 함수가 필요한 질의인지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return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그 결과를 바탕으로 적합한 함수를 호출합니다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b="1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정보 수집</a:t>
            </a:r>
            <a:r>
              <a:rPr lang="en-US" altLang="ko-KR" sz="1100" b="1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(</a:t>
            </a:r>
            <a:r>
              <a:rPr lang="en-US" altLang="ko-KR" sz="1100" b="1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getWeather</a:t>
            </a:r>
            <a:r>
              <a:rPr lang="en-US" altLang="ko-KR" sz="1100" b="1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(), </a:t>
            </a:r>
            <a:r>
              <a:rPr lang="en-US" altLang="ko-KR" sz="1100" b="1" u="none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findLocation</a:t>
            </a:r>
            <a:r>
              <a:rPr lang="en-US" altLang="ko-KR" sz="1100" b="1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()):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외부 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API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를 사용하여 날씨 정보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장소 정보 등 필요한 정보를 가져옵니다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100" b="1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답변 생성</a:t>
            </a:r>
            <a:r>
              <a:rPr lang="en-US" altLang="ko-KR" sz="1100" b="1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(chat()):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수집된 정보를 첨부하여 재요청을 보내서 외부 정보가 필요한 질문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(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날씨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, 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장소 등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)</a:t>
            </a:r>
            <a:r>
              <a:rPr lang="ko-KR" altLang="en-US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에 대해 답변을 생성합니다</a:t>
            </a:r>
            <a:r>
              <a:rPr lang="en-US" altLang="ko-KR" sz="1100" u="none" dirty="0">
                <a:solidFill>
                  <a:srgbClr val="000000"/>
                </a:solidFill>
                <a:latin typeface="맑은 고딕 Semilight" panose="020B0502040204020203" pitchFamily="50" charset="-127"/>
                <a:ea typeface="현대하모니 L"/>
                <a:cs typeface="맑은 고딕 Semilight" panose="020B0502040204020203" pitchFamily="50" charset="-127"/>
              </a:rPr>
              <a:t>.</a:t>
            </a: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1100" u="none" dirty="0">
              <a:solidFill>
                <a:srgbClr val="000000"/>
              </a:solidFill>
              <a:latin typeface="맑은 고딕 Semilight" panose="020B0502040204020203" pitchFamily="50" charset="-127"/>
              <a:ea typeface="현대하모니 L"/>
              <a:cs typeface="맑은 고딕 Semilight" panose="020B0502040204020203" pitchFamily="50" charset="-127"/>
            </a:endParaRPr>
          </a:p>
          <a:p>
            <a:pPr marL="180000" indent="-180000">
              <a:lnSpc>
                <a:spcPct val="150000"/>
              </a:lnSpc>
              <a:buFont typeface="Arial" pitchFamily="34" charset="0"/>
              <a:buChar char="•"/>
            </a:pPr>
            <a:endParaRPr lang="ko-KR" altLang="en-US" sz="1100" u="none" dirty="0">
              <a:solidFill>
                <a:srgbClr val="000000"/>
              </a:solidFill>
              <a:latin typeface="맑은 고딕 Semilight" panose="020B0502040204020203" pitchFamily="50" charset="-127"/>
              <a:ea typeface="현대하모니 L"/>
              <a:cs typeface="맑은 고딕 Semilight" panose="020B0502040204020203" pitchFamily="50" charset="-127"/>
            </a:endParaRPr>
          </a:p>
        </p:txBody>
      </p:sp>
      <p:pic>
        <p:nvPicPr>
          <p:cNvPr id="27" name="Picture 4">
            <a:extLst>
              <a:ext uri="{FF2B5EF4-FFF2-40B4-BE49-F238E27FC236}">
                <a16:creationId xmlns:a16="http://schemas.microsoft.com/office/drawing/2014/main" id="{74743222-09FA-4AE1-1876-D00EEC1C55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574"/>
          <a:stretch/>
        </p:blipFill>
        <p:spPr bwMode="auto">
          <a:xfrm>
            <a:off x="1999502" y="2935946"/>
            <a:ext cx="5906995" cy="3547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308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76305-98BE-8DDC-F866-CF7DA787A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1D2F6EAB-A150-09AB-C933-458713765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1</a:t>
            </a:r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0</a:t>
            </a:r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주요 이슈 처리 내역 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graphicFrame>
        <p:nvGraphicFramePr>
          <p:cNvPr id="44" name="Table 5">
            <a:extLst>
              <a:ext uri="{FF2B5EF4-FFF2-40B4-BE49-F238E27FC236}">
                <a16:creationId xmlns:a16="http://schemas.microsoft.com/office/drawing/2014/main" id="{DBFA6387-542A-C42A-2C9D-699D562F0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628403"/>
              </p:ext>
            </p:extLst>
          </p:nvPr>
        </p:nvGraphicFramePr>
        <p:xfrm>
          <a:off x="225430" y="665523"/>
          <a:ext cx="9528170" cy="585216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60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85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8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3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000" b="1" i="0" strike="noStrike" kern="1200" dirty="0">
                          <a:solidFill>
                            <a:schemeClr val="tx1"/>
                          </a:solidFill>
                          <a:latin typeface="현대하모니 L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000" b="1" i="0" strike="noStrike" kern="1200" dirty="0">
                          <a:solidFill>
                            <a:srgbClr val="000000"/>
                          </a:solidFill>
                          <a:latin typeface="현대하모니 L"/>
                        </a:rPr>
                        <a:t>내 용</a:t>
                      </a:r>
                      <a:endParaRPr lang="ko-KR" altLang="en-US" sz="1000" b="1" i="0" strike="noStrike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000" b="1" i="0" strike="noStrike" kern="1200">
                          <a:solidFill>
                            <a:srgbClr val="000000"/>
                          </a:solidFill>
                          <a:latin typeface="현대하모니 L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000" b="1" i="0" strike="noStrike" kern="1200">
                          <a:solidFill>
                            <a:srgbClr val="000000"/>
                          </a:solidFill>
                          <a:latin typeface="현대하모니 L"/>
                        </a:rPr>
                        <a:t>비 고</a:t>
                      </a:r>
                      <a:endParaRPr lang="ko-KR" altLang="en-US" sz="1000" b="1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000" b="0" i="0" strike="noStrike" kern="1200" dirty="0">
                          <a:solidFill>
                            <a:schemeClr val="tx1"/>
                          </a:solidFill>
                          <a:latin typeface="현대하모니 L"/>
                        </a:rPr>
                        <a:t> </a:t>
                      </a:r>
                      <a:r>
                        <a:rPr lang="ko-KR" altLang="en-US" sz="1000" b="0" i="0" strike="noStrike" kern="1200" dirty="0">
                          <a:solidFill>
                            <a:schemeClr val="tx1"/>
                          </a:solidFill>
                          <a:latin typeface="현대하모니 L"/>
                        </a:rPr>
                        <a:t>사양 변경 건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[1] Query Routing Model 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리소스 이슈로 </a:t>
                      </a: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SLM 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모델 사용</a:t>
                      </a:r>
                      <a:endParaRPr lang="ko-KR" altLang="en-US" sz="1000" b="0" i="0" strike="noStrike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‘</a:t>
                      </a: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2</a:t>
                      </a: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5</a:t>
                      </a: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.</a:t>
                      </a: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11/20</a:t>
                      </a:r>
                      <a:endParaRPr lang="ko-KR" altLang="en-US" sz="1000" b="0" i="0" strike="noStrike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000" b="0" i="0" strike="noStrike" kern="1200" dirty="0">
                          <a:solidFill>
                            <a:schemeClr val="tx1"/>
                          </a:solidFill>
                          <a:latin typeface="현대하모니 L"/>
                        </a:rPr>
                        <a:t>UI </a:t>
                      </a:r>
                      <a:r>
                        <a:rPr lang="ko-KR" altLang="en-US" sz="1000" b="0" i="0" strike="noStrike" kern="1200" dirty="0">
                          <a:solidFill>
                            <a:schemeClr val="tx1"/>
                          </a:solidFill>
                          <a:latin typeface="현대하모니 L"/>
                        </a:rPr>
                        <a:t>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[</a:t>
                      </a: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2</a:t>
                      </a: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] </a:t>
                      </a: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3D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 아바타 </a:t>
                      </a: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Fur Shader 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변경 요청</a:t>
                      </a:r>
                      <a:endParaRPr lang="ko-KR" altLang="en-US" sz="1000" b="0" i="0" strike="noStrike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‘</a:t>
                      </a: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2</a:t>
                      </a: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5</a:t>
                      </a: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.</a:t>
                      </a: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10/02</a:t>
                      </a:r>
                      <a:endParaRPr lang="ko-KR" altLang="en-US" sz="1000" b="0" i="0" strike="noStrike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b="0" i="0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l" latinLnBrk="1">
                        <a:buFontTx/>
                        <a:buNone/>
                      </a:pP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[</a:t>
                      </a: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3</a:t>
                      </a: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] 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라이트 모드 배경으로 아바타 시인성이 떨어짐</a:t>
                      </a:r>
                      <a:endParaRPr lang="ko-KR" altLang="en-US" sz="1000" b="0" i="0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‘</a:t>
                      </a: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2</a:t>
                      </a: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5</a:t>
                      </a: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.</a:t>
                      </a: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10/16</a:t>
                      </a:r>
                      <a:endParaRPr lang="ko-KR" altLang="en-US" sz="1000" b="0" i="0" strike="noStrike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[4] 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아바타 우주복 입도록 변경</a:t>
                      </a:r>
                      <a:endParaRPr lang="ko-KR" altLang="en-US" sz="1000" b="0" i="0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‘25.10/30</a:t>
                      </a:r>
                      <a:endParaRPr lang="en-US" altLang="ko-KR" sz="1000" b="0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712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[5] 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아바타가 흰색 헬멧을 쓰고 있어 일부 영역에서 헬멧 시인성 낮음</a:t>
                      </a:r>
                      <a:endParaRPr lang="ko-KR" altLang="en-US" sz="1000" b="0" i="0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‘25.11/27</a:t>
                      </a:r>
                      <a:endParaRPr lang="en-US" altLang="ko-KR" sz="1000" b="0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899238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marL="0" lvl="1" indent="0" algn="ctr" latinLnBrk="1">
                        <a:buFontTx/>
                        <a:buNone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latin typeface="현대하모니 L"/>
                        </a:rPr>
                        <a:t>로직 개선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latinLnBrk="1">
                        <a:buFontTx/>
                        <a:buNone/>
                      </a:pP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[</a:t>
                      </a: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6</a:t>
                      </a: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] 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아바타가 인식할때 인지하기 어려움</a:t>
                      </a: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, 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툭 소리가 나긴 하나 지연됨</a:t>
                      </a:r>
                      <a:endParaRPr lang="ko-KR" altLang="en-US" sz="1000" b="0" i="0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‘</a:t>
                      </a: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2</a:t>
                      </a: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5</a:t>
                      </a: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.</a:t>
                      </a: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11/08</a:t>
                      </a:r>
                      <a:endParaRPr lang="ko-KR" altLang="en-US" sz="1000" b="0" i="0" strike="noStrike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latinLnBrk="1">
                        <a:buFontTx/>
                        <a:buNone/>
                      </a:pPr>
                      <a:endParaRPr lang="ko-KR" altLang="en-US" sz="1000" b="0" i="0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1" indent="0" algn="l" latinLnBrk="1">
                        <a:buFontTx/>
                        <a:buNone/>
                      </a:pP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[</a:t>
                      </a: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7</a:t>
                      </a: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] </a:t>
                      </a: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All App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을 누르면 아바타가 </a:t>
                      </a: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2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개가 되는 현상</a:t>
                      </a:r>
                      <a:endParaRPr lang="ko-KR" altLang="en-US" sz="1000" b="0" i="0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‘25.11/07</a:t>
                      </a:r>
                      <a:endParaRPr lang="en-US" altLang="ko-KR" sz="1000" b="0" i="0" strike="noStrike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440836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[8] 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아바타가 음성 출력 이후 원래 위치로 이동하지 않음</a:t>
                      </a:r>
                      <a:endParaRPr lang="ko-KR" altLang="en-US" sz="1000" b="0" i="0" strike="noStrike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‘25.10/13</a:t>
                      </a:r>
                      <a:endParaRPr lang="en-US" altLang="ko-KR" sz="1000" b="0" i="0" strike="noStrike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[9] 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좌우</a:t>
                      </a: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/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상하 이동으로 되고 있음</a:t>
                      </a:r>
                      <a:endParaRPr lang="ko-KR" altLang="en-US" sz="1000" b="0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‘25.09/29</a:t>
                      </a:r>
                      <a:endParaRPr lang="en-US" altLang="ko-KR" sz="1000" b="0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70986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[10] AI Agent, AI DJ 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아이콘 실행시 빈화면 표시됨</a:t>
                      </a:r>
                      <a:endParaRPr lang="ko-KR" altLang="en-US" sz="1000" b="0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‘25.11/19</a:t>
                      </a:r>
                      <a:endParaRPr lang="en-US" altLang="ko-KR" sz="1000" b="0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697596"/>
                  </a:ext>
                </a:extLst>
              </a:tr>
              <a:tr h="182880">
                <a:tc rowSpan="3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000" b="0" i="0" strike="noStrike" kern="1200" dirty="0">
                          <a:solidFill>
                            <a:schemeClr val="tx1"/>
                          </a:solidFill>
                          <a:latin typeface="현대하모니 L"/>
                        </a:rPr>
                        <a:t>Function calling</a:t>
                      </a: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[</a:t>
                      </a: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11]</a:t>
                      </a: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 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날씨를 알려줘를 하면 경우 현재 위치를 몰라서 잘못 설명함</a:t>
                      </a:r>
                      <a:endParaRPr lang="ko-KR" altLang="en-US" sz="1000" b="0" kern="1200" dirty="0">
                        <a:solidFill>
                          <a:srgbClr val="000000"/>
                        </a:solidFill>
                        <a:latin typeface="현대하모니 L"/>
                        <a:ea typeface="Droid Sans Mono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‘</a:t>
                      </a: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2</a:t>
                      </a: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5</a:t>
                      </a: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.</a:t>
                      </a: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11/13</a:t>
                      </a:r>
                      <a:endParaRPr lang="ko-KR" altLang="en-US" sz="1000" b="0" i="0" strike="noStrike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802853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[</a:t>
                      </a: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12</a:t>
                      </a: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] 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현위치를 잘못 알고 있음</a:t>
                      </a:r>
                      <a:endParaRPr lang="ko-KR" altLang="en-US" sz="1000" b="0" kern="1200" dirty="0">
                        <a:solidFill>
                          <a:srgbClr val="000000"/>
                        </a:solidFill>
                        <a:latin typeface="현대하모니 L"/>
                        <a:ea typeface="Droid Sans Mono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‘25.11/13</a:t>
                      </a:r>
                      <a:endParaRPr lang="en-US" altLang="ko-KR" sz="1000" b="0" i="0" strike="noStrike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102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[13] 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경로 질문에 대해 잘못 답함</a:t>
                      </a:r>
                      <a:endParaRPr lang="ko-KR" altLang="en-US" sz="1000" b="0" kern="1200" dirty="0">
                        <a:solidFill>
                          <a:srgbClr val="000000"/>
                        </a:solidFill>
                        <a:latin typeface="현대하모니 L"/>
                        <a:ea typeface="Droid Sans Mono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‘</a:t>
                      </a: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2</a:t>
                      </a: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5</a:t>
                      </a: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.</a:t>
                      </a: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11/30</a:t>
                      </a:r>
                      <a:endParaRPr lang="ko-KR" altLang="en-US" sz="1000" b="0" i="0" strike="noStrike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970240"/>
                  </a:ext>
                </a:extLst>
              </a:tr>
              <a:tr h="213360"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i="0" strike="noStrike" kern="1200">
                          <a:solidFill>
                            <a:schemeClr val="tx1"/>
                          </a:solidFill>
                          <a:latin typeface="현대하모니 L"/>
                        </a:rPr>
                        <a:t>버그 개선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[</a:t>
                      </a: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14</a:t>
                      </a: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]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 아바타가 스크린 좌우 경계 범위를 넘어감</a:t>
                      </a:r>
                      <a:endParaRPr lang="ko-KR" altLang="en-US" sz="1000" b="0" i="0" strike="noStrike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‘</a:t>
                      </a: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2</a:t>
                      </a: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5</a:t>
                      </a: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.</a:t>
                      </a: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10/30</a:t>
                      </a:r>
                      <a:endParaRPr lang="ko-KR" altLang="en-US" sz="1000" b="0" i="0" strike="noStrike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740460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[</a:t>
                      </a: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15</a:t>
                      </a: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]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 런처에서 최근 대화 내역 보기 누르고 나오면 아바타가 </a:t>
                      </a: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2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개 표시됨</a:t>
                      </a:r>
                      <a:endParaRPr lang="ko-KR" altLang="en-US" sz="1000" b="0" i="0" strike="noStrike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‘25.11/06</a:t>
                      </a:r>
                      <a:endParaRPr lang="en-US" altLang="ko-KR" sz="1000" b="0" i="0" strike="noStrike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802452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[</a:t>
                      </a: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16</a:t>
                      </a: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]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 아바타의 크롬바와 팝업의 표시</a:t>
                      </a: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/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삭제가 동기화되지 않고 따로 표시되거나 사라짐</a:t>
                      </a:r>
                      <a:endParaRPr lang="ko-KR" altLang="en-US" sz="1000" b="0" i="0" strike="noStrike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‘</a:t>
                      </a: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2</a:t>
                      </a: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5</a:t>
                      </a:r>
                      <a:r>
                        <a:rPr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.</a:t>
                      </a: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11/05</a:t>
                      </a:r>
                      <a:endParaRPr lang="ko-KR" altLang="en-US" sz="1000" b="0" i="0" strike="noStrike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313242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[17]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 </a:t>
                      </a: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IVI 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관련 질의 시 응답 결과가 적절치 않음</a:t>
                      </a:r>
                      <a:endParaRPr lang="ko-KR" altLang="en-US" sz="1000" b="0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‘25.11/05</a:t>
                      </a:r>
                      <a:endParaRPr lang="en-US" altLang="ko-KR" sz="1000" b="0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4252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[18]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 모아이에 대해 모름</a:t>
                      </a:r>
                      <a:endParaRPr lang="ko-KR" altLang="en-US" sz="1000" b="0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‘25.11/27</a:t>
                      </a:r>
                      <a:endParaRPr lang="en-US" altLang="ko-KR" sz="1000" b="0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39423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[19]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 음성인식 </a:t>
                      </a: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Listening 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중 </a:t>
                      </a: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MOAI 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앱 켜면 </a:t>
                      </a: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"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듣고있어요</a:t>
                      </a: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" 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말풍선 남아있음</a:t>
                      </a:r>
                      <a:endParaRPr lang="ko-KR" altLang="en-US" sz="1000" b="0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‘25.11/27</a:t>
                      </a:r>
                      <a:endParaRPr lang="en-US" altLang="ko-KR" sz="1000" b="0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0102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[20]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 아바타 발화시 팝업 위치가 자꾸 변함</a:t>
                      </a:r>
                      <a:endParaRPr lang="ko-KR" altLang="en-US" sz="1000" b="0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‘25.12/01</a:t>
                      </a:r>
                      <a:endParaRPr lang="en-US" altLang="ko-KR" sz="1000" b="0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408566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[21]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 </a:t>
                      </a: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AI GUARD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의 경고 멘트가 지속 동일함</a:t>
                      </a:r>
                      <a:endParaRPr lang="ko-KR" altLang="en-US" sz="1000" b="0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‘25.11/20</a:t>
                      </a:r>
                      <a:endParaRPr lang="en-US" altLang="ko-KR" sz="1000" b="0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188068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[22]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 아바타 롱탭시 퀵 버튼 표시 타이밍 이슈</a:t>
                      </a:r>
                      <a:endParaRPr lang="ko-KR" altLang="en-US" sz="1000" b="0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‘25.12/02</a:t>
                      </a:r>
                      <a:endParaRPr lang="en-US" altLang="ko-KR" sz="1000" b="0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3469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[23]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 </a:t>
                      </a: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AI Agent 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내비 안내 시작시 강제 종료됨</a:t>
                      </a:r>
                      <a:endParaRPr lang="ko-KR" altLang="en-US" sz="1000" b="0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‘25.12/02</a:t>
                      </a:r>
                      <a:endParaRPr lang="en-US" altLang="ko-KR" sz="1000" b="0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000" b="0" i="0" strike="noStrike" kern="1200" dirty="0">
                        <a:solidFill>
                          <a:schemeClr val="tx1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452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4023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2C927-6BB3-7A2B-E0C1-B7A35F699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E919606A-1781-064C-BFFF-876B8D78C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10.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주요 이슈 처리 내역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A8131FEE-B878-D304-E1E3-0ECE69133A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0369616"/>
              </p:ext>
            </p:extLst>
          </p:nvPr>
        </p:nvGraphicFramePr>
        <p:xfrm>
          <a:off x="452500" y="773321"/>
          <a:ext cx="9001000" cy="5664825"/>
        </p:xfrm>
        <a:graphic>
          <a:graphicData uri="http://schemas.openxmlformats.org/drawingml/2006/table">
            <a:tbl>
              <a:tblPr/>
              <a:tblGrid>
                <a:gridCol w="43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6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63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3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strike="noStrike" spc="-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NO</a:t>
                      </a:r>
                      <a:endParaRPr lang="en-US" sz="1000" b="1" strike="noStrike" spc="-1" dirty="0">
                        <a:latin typeface="+mn-ea"/>
                        <a:ea typeface="+mn-ea"/>
                      </a:endParaRPr>
                    </a:p>
                  </a:txBody>
                  <a:tcPr marL="5760" marR="576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000" b="1" strike="noStrike" spc="-1" dirty="0">
                          <a:latin typeface="+mn-ea"/>
                          <a:ea typeface="+mn-ea"/>
                        </a:rPr>
                        <a:t>주요 이슈</a:t>
                      </a:r>
                      <a:endParaRPr lang="en-US" sz="1000" b="1" strike="noStrike" spc="-1" dirty="0">
                        <a:latin typeface="+mn-ea"/>
                        <a:ea typeface="+mn-ea"/>
                      </a:endParaRPr>
                    </a:p>
                  </a:txBody>
                  <a:tcPr marL="5760" marR="576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000" b="1" strike="noStrike" spc="-1">
                          <a:latin typeface="+mn-ea"/>
                          <a:ea typeface="+mn-ea"/>
                        </a:rPr>
                        <a:t>원인 분석</a:t>
                      </a:r>
                      <a:endParaRPr lang="en-US" sz="1000" b="1" strike="noStrike" spc="-1">
                        <a:latin typeface="+mn-ea"/>
                        <a:ea typeface="+mn-ea"/>
                      </a:endParaRPr>
                    </a:p>
                  </a:txBody>
                  <a:tcPr marL="5760" marR="576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000" b="1" strike="noStrike" spc="-1">
                          <a:latin typeface="+mn-ea"/>
                          <a:ea typeface="+mn-ea"/>
                        </a:rPr>
                        <a:t>처리내역</a:t>
                      </a:r>
                      <a:endParaRPr lang="en-US" sz="1000" b="1" strike="noStrike" spc="-1">
                        <a:latin typeface="+mn-ea"/>
                        <a:ea typeface="+mn-ea"/>
                      </a:endParaRPr>
                    </a:p>
                  </a:txBody>
                  <a:tcPr marL="5760" marR="576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8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strike="noStrike" spc="-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US" sz="1000" b="1" strike="noStrike" spc="-1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ko-KR" sz="900" b="0" kern="1200">
                          <a:solidFill>
                            <a:srgbClr val="000000"/>
                          </a:solidFill>
                          <a:latin typeface="+mn-lt"/>
                          <a:ea typeface="Droid Sans Mono" charset="0"/>
                        </a:rPr>
                        <a:t>Query Routing Model </a:t>
                      </a:r>
                      <a:r>
                        <a:rPr lang="ko-KR" altLang="en-US" sz="900" b="0" kern="1200">
                          <a:solidFill>
                            <a:srgbClr val="000000"/>
                          </a:solidFill>
                          <a:latin typeface="+mn-lt"/>
                          <a:ea typeface="Droid Sans Mono" charset="0"/>
                        </a:rPr>
                        <a:t>리소스 이슈로 </a:t>
                      </a:r>
                      <a:r>
                        <a:rPr lang="en-US" altLang="ko-KR" sz="900" b="0" kern="1200">
                          <a:solidFill>
                            <a:srgbClr val="000000"/>
                          </a:solidFill>
                          <a:latin typeface="+mn-lt"/>
                          <a:ea typeface="Droid Sans Mono" charset="0"/>
                        </a:rPr>
                        <a:t>SLM </a:t>
                      </a:r>
                      <a:r>
                        <a:rPr lang="ko-KR" altLang="en-US" sz="900" b="0" kern="1200">
                          <a:solidFill>
                            <a:srgbClr val="000000"/>
                          </a:solidFill>
                          <a:latin typeface="+mn-lt"/>
                          <a:ea typeface="Droid Sans Mono" charset="0"/>
                        </a:rPr>
                        <a:t>모델 사용</a:t>
                      </a:r>
                      <a:endParaRPr lang="en-US" sz="900" b="0" strike="noStrike" spc="-1" dirty="0">
                        <a:latin typeface="+mn-lt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메모리 부족으로 </a:t>
                      </a:r>
                      <a:r>
                        <a:rPr lang="en-US" altLang="ko-KR" sz="900" b="0" strike="noStrike" spc="-1">
                          <a:latin typeface="+mn-ea"/>
                          <a:ea typeface="+mn-ea"/>
                        </a:rPr>
                        <a:t>Query Routing Model </a:t>
                      </a: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별도 사용 불가</a:t>
                      </a:r>
                      <a:endParaRPr lang="en-US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latin typeface="+mn-ea"/>
                          <a:ea typeface="+mn-ea"/>
                        </a:rPr>
                        <a:t>SLM</a:t>
                      </a: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 모델을 활용하여 </a:t>
                      </a:r>
                      <a:r>
                        <a:rPr lang="en-US" altLang="ko-KR" sz="900" b="0" strike="noStrike" spc="-1">
                          <a:latin typeface="+mn-ea"/>
                          <a:ea typeface="+mn-ea"/>
                        </a:rPr>
                        <a:t>Query Routing </a:t>
                      </a: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기능 적용</a:t>
                      </a:r>
                      <a:endParaRPr lang="en-US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52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strike="noStrike" spc="-1"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sz="1000" b="0" kern="1200">
                          <a:solidFill>
                            <a:srgbClr val="000000"/>
                          </a:solidFill>
                          <a:latin typeface="+mn-lt"/>
                          <a:ea typeface="Droid Sans Mono" charset="0"/>
                        </a:rPr>
                        <a:t>3D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+mn-lt"/>
                          <a:ea typeface="Droid Sans Mono" charset="0"/>
                        </a:rPr>
                        <a:t> 아바타 </a:t>
                      </a: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+mn-lt"/>
                          <a:ea typeface="Droid Sans Mono" charset="0"/>
                        </a:rPr>
                        <a:t>Fur Shader 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+mn-lt"/>
                          <a:ea typeface="Droid Sans Mono" charset="0"/>
                        </a:rPr>
                        <a:t>변경 요청</a:t>
                      </a:r>
                      <a:endParaRPr lang="ko-KR" altLang="en-US" sz="1000" b="0" i="0" strike="noStrike" kern="12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ko-KR" sz="900" b="0" strike="noStrike" spc="-1">
                          <a:latin typeface="+mn-ea"/>
                          <a:ea typeface="+mn-ea"/>
                        </a:rPr>
                        <a:t>Fur Material </a:t>
                      </a: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텍스처가 너무 떨어짐</a:t>
                      </a:r>
                      <a:endParaRPr lang="en-US" altLang="ko-KR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오픈소스 </a:t>
                      </a:r>
                      <a:r>
                        <a:rPr lang="en-US" altLang="ko-KR" sz="900" b="0" strike="noStrike" spc="-1">
                          <a:latin typeface="+mn-ea"/>
                          <a:ea typeface="+mn-ea"/>
                        </a:rPr>
                        <a:t>Fur Shader</a:t>
                      </a: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를 적용하여 개선</a:t>
                      </a:r>
                      <a:endParaRPr lang="en-US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8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strike="noStrike" spc="-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en-US" sz="1000" b="1" strike="noStrike" spc="-1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 latinLnBrk="1">
                        <a:buFontTx/>
                        <a:buNone/>
                      </a:pP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라이트 모드 배경으로 아바타 시인성이 떨어짐</a:t>
                      </a:r>
                      <a:endParaRPr lang="ko-KR" altLang="en-US" sz="1000" b="0" i="0" kern="12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latin typeface="+mn-ea"/>
                          <a:ea typeface="+mn-ea"/>
                        </a:rPr>
                        <a:t>Fur Shader</a:t>
                      </a: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가 흰색상이라 라이트 모드 배경에서 아바타 시인성이 떨어짐</a:t>
                      </a:r>
                      <a:endParaRPr lang="en-US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latin typeface="+mn-ea"/>
                          <a:ea typeface="+mn-ea"/>
                        </a:rPr>
                        <a:t>Fur Shader</a:t>
                      </a: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의 색상 및 </a:t>
                      </a:r>
                      <a:r>
                        <a:rPr lang="en-US" altLang="ko-KR" sz="900" b="0" strike="noStrike" spc="-1">
                          <a:latin typeface="+mn-ea"/>
                          <a:ea typeface="+mn-ea"/>
                        </a:rPr>
                        <a:t>Light </a:t>
                      </a: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강도 조절</a:t>
                      </a:r>
                      <a:endParaRPr lang="en-US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8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strike="noStrike" spc="-1"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아바타 우주복 입도록 변경</a:t>
                      </a:r>
                      <a:endParaRPr lang="ko-KR" altLang="en-US" sz="1000" b="0" i="0" kern="120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아바타 우주복 입은 디자인으로 변경 요청</a:t>
                      </a:r>
                      <a:endParaRPr lang="en-US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우주복 입은 아바타 모델 적용</a:t>
                      </a:r>
                      <a:endParaRPr lang="en-US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8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strike="noStrike" spc="-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en-US" sz="1000" b="1" strike="noStrike" spc="-1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아바타가 흰색 헬멧을 쓰고 있어 일부 영역에서 헬멧 시인성 낮음</a:t>
                      </a:r>
                      <a:endParaRPr lang="ko-KR" altLang="en-US" sz="1000" b="0" i="0" kern="120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라이트 모드 배경으로 인하여 흰색</a:t>
                      </a:r>
                      <a:r>
                        <a:rPr lang="en-US" altLang="ko-KR" sz="900" b="0" strike="noStrike" spc="-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투명</a:t>
                      </a:r>
                      <a:r>
                        <a:rPr lang="en-US" altLang="ko-KR" sz="900" b="0" strike="noStrike" spc="-1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헬멧의 시안성이 낮음</a:t>
                      </a:r>
                      <a:endParaRPr lang="en-US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헬멧의 투명도를 낮춰 적용</a:t>
                      </a:r>
                      <a:endParaRPr lang="en-US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52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strike="noStrike" spc="-1"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 latinLnBrk="1">
                        <a:buFontTx/>
                        <a:buNone/>
                      </a:pP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아바타가 인식할때 인지하기 어려움</a:t>
                      </a: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, 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툭 소리가 나긴 하나 지연됨</a:t>
                      </a:r>
                      <a:endParaRPr lang="ko-KR" altLang="en-US" sz="1000" b="0" i="0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기본 시스템 사운드의 시인성이 떨어짐</a:t>
                      </a:r>
                      <a:endParaRPr lang="en-US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아바타 애니메이션 적용</a:t>
                      </a:r>
                      <a:endParaRPr lang="en-US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8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strike="noStrike" spc="-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en-US" sz="1000" b="1" strike="noStrike" spc="-1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1" indent="0" algn="l" latinLnBrk="1">
                        <a:buFontTx/>
                        <a:buNone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All App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을 누르면 아바타가 </a:t>
                      </a: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2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개가 되는 현상</a:t>
                      </a:r>
                      <a:endParaRPr lang="ko-KR" altLang="en-US" sz="1000" b="0" i="0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런처앱에서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아바타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visibility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컨트롤 로직 미흡</a:t>
                      </a:r>
                      <a:endParaRPr lang="ko-KR" sz="900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런처앱에서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아바타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visibility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컨트롤 로직 보안</a:t>
                      </a:r>
                      <a:endParaRPr lang="ko-KR" altLang="ko-KR" sz="900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952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strike="noStrike" spc="-1" dirty="0"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아바타가 음성 출력 이후 원래 위치로 이동하지 않음</a:t>
                      </a:r>
                      <a:endParaRPr lang="ko-KR" altLang="en-US" sz="1000" b="0" i="0" strike="noStrike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사양 구현 미흡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900" b="0" strike="noStrike" spc="-1" dirty="0">
                          <a:latin typeface="+mn-ea"/>
                          <a:ea typeface="+mn-ea"/>
                        </a:rPr>
                        <a:t>사양대로 구현</a:t>
                      </a:r>
                      <a:endParaRPr lang="en-US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6952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strike="noStrike" spc="-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en-US" sz="1000" b="1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좌우</a:t>
                      </a: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/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상하 이동으로 되고 있음</a:t>
                      </a:r>
                      <a:endParaRPr lang="ko-KR" altLang="en-US" sz="1000" b="0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latin typeface="+mn-ea"/>
                          <a:ea typeface="+mn-ea"/>
                        </a:rPr>
                        <a:t>아바타가 상하</a:t>
                      </a:r>
                      <a:r>
                        <a:rPr lang="en-US" altLang="ko-KR" sz="90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>
                          <a:latin typeface="+mn-ea"/>
                          <a:ea typeface="+mn-ea"/>
                        </a:rPr>
                        <a:t>좌우로 드래그 이동되고 있음</a:t>
                      </a:r>
                      <a:endParaRPr lang="ko-KR" sz="900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아바타의 상하 드래그 이동을 막음</a:t>
                      </a:r>
                      <a:endParaRPr lang="en-US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1082771"/>
                  </a:ext>
                </a:extLst>
              </a:tr>
              <a:tr h="56952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strike="noStrike" spc="-1"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AI Agent, AI DJ 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아이콘 실행시 빈화면 표시됨</a:t>
                      </a:r>
                      <a:endParaRPr lang="ko-KR" altLang="en-US" sz="1000" b="0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아이콘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클릭시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화면 대응 로직 부재</a:t>
                      </a:r>
                      <a:endParaRPr lang="ko-KR" sz="900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900" b="0" strike="noStrike" spc="-1" dirty="0">
                          <a:latin typeface="+mn-ea"/>
                          <a:ea typeface="+mn-ea"/>
                        </a:rPr>
                        <a:t>아이콘 </a:t>
                      </a:r>
                      <a:r>
                        <a:rPr lang="ko-KR" altLang="en-US" sz="900" b="0" strike="noStrike" spc="-1" dirty="0" err="1">
                          <a:latin typeface="+mn-ea"/>
                          <a:ea typeface="+mn-ea"/>
                        </a:rPr>
                        <a:t>클릭시</a:t>
                      </a:r>
                      <a:r>
                        <a:rPr lang="ko-KR" altLang="en-US" sz="900" b="0" strike="noStrike" spc="-1" dirty="0">
                          <a:latin typeface="+mn-ea"/>
                          <a:ea typeface="+mn-ea"/>
                        </a:rPr>
                        <a:t> 화면 대응 로직 추가</a:t>
                      </a:r>
                      <a:endParaRPr lang="en-US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991680"/>
                  </a:ext>
                </a:extLst>
              </a:tr>
              <a:tr h="4288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strike="noStrike" spc="-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en-US" sz="1000" b="1" strike="noStrike" spc="-1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날씨를 알려줘를 하면 경우 현재 위치를 몰라서 잘못 설명함</a:t>
                      </a:r>
                      <a:endParaRPr lang="ko-KR" altLang="en-US" sz="1000" b="0" kern="1200" dirty="0">
                        <a:solidFill>
                          <a:srgbClr val="000000"/>
                        </a:solidFill>
                        <a:latin typeface="현대하모니 L"/>
                        <a:ea typeface="Droid Sa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latin typeface="+mn-ea"/>
                          <a:ea typeface="+mn-ea"/>
                        </a:rPr>
                        <a:t>현재 위치 및 날씨 정보를 알고있지 않아 응답이 정확하지 않음</a:t>
                      </a:r>
                      <a:endParaRPr lang="ko-KR" sz="900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900" b="0" strike="noStrike" spc="-1" dirty="0">
                          <a:latin typeface="+mn-ea"/>
                          <a:ea typeface="+mn-ea"/>
                        </a:rPr>
                        <a:t>현재 위치 및 날씨 정보를 내부 </a:t>
                      </a:r>
                      <a:r>
                        <a:rPr lang="en-US" altLang="ko-KR" sz="900" b="0" strike="noStrike" spc="-1" dirty="0">
                          <a:latin typeface="+mn-ea"/>
                          <a:ea typeface="+mn-ea"/>
                        </a:rPr>
                        <a:t>API</a:t>
                      </a:r>
                      <a:r>
                        <a:rPr lang="ko-KR" altLang="en-US" sz="900" b="0" strike="noStrike" spc="-1" dirty="0">
                          <a:latin typeface="+mn-ea"/>
                          <a:ea typeface="+mn-ea"/>
                        </a:rPr>
                        <a:t>를 통해 수신</a:t>
                      </a:r>
                      <a:endParaRPr lang="en-US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817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1832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3B8DD-3E66-05CB-C408-9B6D3016F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3EE6FFAE-280F-60E7-8D19-5532722D2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10.</a:t>
            </a:r>
            <a:r>
              <a:rPr lang="ko-KR" altLang="en-US" sz="2400" u="none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이슈 처리 내역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952FA213-BBBF-6185-5500-41B5C019DD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5897284"/>
              </p:ext>
            </p:extLst>
          </p:nvPr>
        </p:nvGraphicFramePr>
        <p:xfrm>
          <a:off x="452500" y="773321"/>
          <a:ext cx="9001000" cy="5664828"/>
        </p:xfrm>
        <a:graphic>
          <a:graphicData uri="http://schemas.openxmlformats.org/drawingml/2006/table">
            <a:tbl>
              <a:tblPr/>
              <a:tblGrid>
                <a:gridCol w="43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6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63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43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strike="noStrike" spc="-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NO</a:t>
                      </a:r>
                      <a:endParaRPr lang="en-US" sz="1000" b="1" strike="noStrike" spc="-1" dirty="0">
                        <a:latin typeface="+mn-ea"/>
                        <a:ea typeface="+mn-ea"/>
                      </a:endParaRPr>
                    </a:p>
                  </a:txBody>
                  <a:tcPr marL="5760" marR="576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000" b="1" strike="noStrike" spc="-1" dirty="0">
                          <a:latin typeface="+mn-ea"/>
                          <a:ea typeface="+mn-ea"/>
                        </a:rPr>
                        <a:t>주요 이슈</a:t>
                      </a:r>
                      <a:endParaRPr lang="en-US" sz="1000" b="1" strike="noStrike" spc="-1" dirty="0">
                        <a:latin typeface="+mn-ea"/>
                        <a:ea typeface="+mn-ea"/>
                      </a:endParaRPr>
                    </a:p>
                  </a:txBody>
                  <a:tcPr marL="5760" marR="576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000" b="1" strike="noStrike" spc="-1">
                          <a:latin typeface="+mn-ea"/>
                          <a:ea typeface="+mn-ea"/>
                        </a:rPr>
                        <a:t>원인 분석</a:t>
                      </a:r>
                      <a:endParaRPr lang="en-US" sz="1000" b="1" strike="noStrike" spc="-1">
                        <a:latin typeface="+mn-ea"/>
                        <a:ea typeface="+mn-ea"/>
                      </a:endParaRPr>
                    </a:p>
                  </a:txBody>
                  <a:tcPr marL="5760" marR="576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000" b="1" strike="noStrike" spc="-1">
                          <a:latin typeface="+mn-ea"/>
                          <a:ea typeface="+mn-ea"/>
                        </a:rPr>
                        <a:t>처리내역</a:t>
                      </a:r>
                      <a:endParaRPr lang="en-US" sz="1000" b="1" strike="noStrike" spc="-1">
                        <a:latin typeface="+mn-ea"/>
                        <a:ea typeface="+mn-ea"/>
                      </a:endParaRPr>
                    </a:p>
                  </a:txBody>
                  <a:tcPr marL="5760" marR="576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7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strike="noStrike" spc="-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12</a:t>
                      </a:r>
                      <a:endParaRPr lang="en-US" sz="1000" b="1" strike="noStrike" spc="-1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현위치를 잘못 알고 있음</a:t>
                      </a:r>
                      <a:endParaRPr lang="ko-KR" altLang="en-US" sz="1000" b="0" kern="1200" dirty="0">
                        <a:solidFill>
                          <a:srgbClr val="000000"/>
                        </a:solidFill>
                        <a:latin typeface="현대하모니 L"/>
                        <a:ea typeface="Droid Sa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사용자 질의를 정확하게 분석하지 못하여 비슷한 응답을 함</a:t>
                      </a:r>
                      <a:endParaRPr lang="en-US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쿼리 라우팅 기능을 통하여 질의 분류 및 </a:t>
                      </a:r>
                      <a:r>
                        <a:rPr lang="en-US" altLang="ko-KR" sz="900" b="0" strike="noStrike" spc="-1">
                          <a:latin typeface="+mn-ea"/>
                          <a:ea typeface="+mn-ea"/>
                        </a:rPr>
                        <a:t>Function Calling </a:t>
                      </a: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기능을 넣어 현 위치 정보를 가져오도록 함</a:t>
                      </a:r>
                      <a:endParaRPr lang="en-US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7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strike="noStrike" spc="-1">
                          <a:latin typeface="+mn-ea"/>
                          <a:ea typeface="+mn-ea"/>
                        </a:rPr>
                        <a:t>13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경로 질문에 대해 잘못 답함</a:t>
                      </a:r>
                      <a:endParaRPr lang="ko-KR" altLang="en-US" sz="1000" b="0" kern="1200" dirty="0">
                        <a:solidFill>
                          <a:srgbClr val="000000"/>
                        </a:solidFill>
                        <a:latin typeface="현대하모니 L"/>
                        <a:ea typeface="Droid Sans Mon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모델에 학습되지 않은 정보를 물어봐 잘못된 응답을 함</a:t>
                      </a:r>
                      <a:endParaRPr lang="en-US" altLang="ko-KR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쿼리 라우팅 기능을 통하여 </a:t>
                      </a:r>
                      <a:r>
                        <a:rPr lang="en-US" altLang="ko-KR" sz="900" b="0" strike="noStrike" spc="-1">
                          <a:latin typeface="+mn-ea"/>
                          <a:ea typeface="+mn-ea"/>
                        </a:rPr>
                        <a:t>Cloud LLM API </a:t>
                      </a: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호출을 하도록 함</a:t>
                      </a:r>
                      <a:endParaRPr lang="en-US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7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strike="noStrike" spc="-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14</a:t>
                      </a:r>
                      <a:endParaRPr lang="en-US" sz="1000" b="1" strike="noStrike" spc="-1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아바타가 스크린 좌우 경계 범위를 넘어감</a:t>
                      </a:r>
                      <a:endParaRPr lang="ko-KR" altLang="en-US" sz="1000" b="0" i="0" strike="noStrike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아바타가 스크린 좌우 경계 범위를 넘어감</a:t>
                      </a:r>
                      <a:endParaRPr lang="en-US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아바타의 좌우 드래그 이동범위를 지정</a:t>
                      </a:r>
                      <a:endParaRPr lang="en-US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7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strike="noStrike" spc="-1"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런처에서 최근 대화 내역 보기 누르고 나오면 아바타가 </a:t>
                      </a: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2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개 표시됨</a:t>
                      </a:r>
                      <a:endParaRPr lang="ko-KR" altLang="en-US" sz="1000" b="0" i="0" strike="noStrike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900" b="0" strike="noStrike" spc="-1" dirty="0" err="1">
                          <a:latin typeface="+mn-ea"/>
                          <a:ea typeface="+mn-ea"/>
                        </a:rPr>
                        <a:t>런처앱에서</a:t>
                      </a:r>
                      <a:r>
                        <a:rPr lang="ko-KR" altLang="en-US" sz="900" b="0" strike="noStrike" spc="-1" dirty="0">
                          <a:latin typeface="+mn-ea"/>
                          <a:ea typeface="+mn-ea"/>
                        </a:rPr>
                        <a:t> 아바타 </a:t>
                      </a:r>
                      <a:r>
                        <a:rPr lang="en-US" altLang="ko-KR" sz="900" b="0" strike="noStrike" spc="-1" dirty="0">
                          <a:latin typeface="+mn-ea"/>
                          <a:ea typeface="+mn-ea"/>
                        </a:rPr>
                        <a:t>visibility </a:t>
                      </a:r>
                      <a:r>
                        <a:rPr lang="ko-KR" altLang="en-US" sz="900" b="0" strike="noStrike" spc="-1" dirty="0">
                          <a:latin typeface="+mn-ea"/>
                          <a:ea typeface="+mn-ea"/>
                        </a:rPr>
                        <a:t>컨트롤 로직 미흡</a:t>
                      </a:r>
                      <a:endParaRPr lang="en-US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strike="noStrike" spc="-1" dirty="0" err="1">
                          <a:latin typeface="+mn-ea"/>
                          <a:ea typeface="+mn-ea"/>
                        </a:rPr>
                        <a:t>런처앱에서</a:t>
                      </a:r>
                      <a:r>
                        <a:rPr lang="ko-KR" altLang="en-US" sz="900" b="0" strike="noStrike" spc="-1" dirty="0">
                          <a:latin typeface="+mn-ea"/>
                          <a:ea typeface="+mn-ea"/>
                        </a:rPr>
                        <a:t> 아바타 </a:t>
                      </a:r>
                      <a:r>
                        <a:rPr lang="en-US" altLang="ko-KR" sz="900" b="0" strike="noStrike" spc="-1" dirty="0">
                          <a:latin typeface="+mn-ea"/>
                          <a:ea typeface="+mn-ea"/>
                        </a:rPr>
                        <a:t>visibility </a:t>
                      </a:r>
                      <a:r>
                        <a:rPr lang="ko-KR" altLang="en-US" sz="900" b="0" strike="noStrike" spc="-1" dirty="0">
                          <a:latin typeface="+mn-ea"/>
                          <a:ea typeface="+mn-ea"/>
                        </a:rPr>
                        <a:t>컨트롤 로직 보안</a:t>
                      </a:r>
                      <a:endParaRPr lang="en-US" altLang="ko-KR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17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strike="noStrike" spc="-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16</a:t>
                      </a:r>
                      <a:endParaRPr lang="en-US" sz="1000" b="1" strike="noStrike" spc="-1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1" indent="-168910"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아바타의 크롬바와 팝업의 표시</a:t>
                      </a: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/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삭제가 동기화되지 않고 따로 표시되거나 사라짐</a:t>
                      </a:r>
                      <a:endParaRPr lang="ko-KR" altLang="en-US" sz="1000" b="0" i="0" strike="noStrike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900" b="0" strike="noStrike" spc="-1" dirty="0">
                          <a:latin typeface="+mn-ea"/>
                          <a:ea typeface="+mn-ea"/>
                        </a:rPr>
                        <a:t>크롬바와 말풍선 처리 로직 미흡</a:t>
                      </a:r>
                      <a:endParaRPr lang="en-US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strike="noStrike" spc="-1" dirty="0">
                          <a:latin typeface="+mn-ea"/>
                          <a:ea typeface="+mn-ea"/>
                        </a:rPr>
                        <a:t>크롬바와 말풍선 처리 로직 보안</a:t>
                      </a:r>
                      <a:endParaRPr lang="en-US" altLang="ko-KR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17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strike="noStrike" spc="-1">
                          <a:latin typeface="+mn-ea"/>
                          <a:ea typeface="+mn-ea"/>
                        </a:rPr>
                        <a:t>17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IVI 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관련 질의 시 응답 결과가 적절치 않음</a:t>
                      </a:r>
                      <a:endParaRPr lang="ko-KR" altLang="en-US" sz="1000" b="0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학습되지 않은 질문을 하여 잘못된 응답을 함</a:t>
                      </a:r>
                      <a:endParaRPr lang="en-US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latin typeface="+mn-ea"/>
                          <a:ea typeface="+mn-ea"/>
                        </a:rPr>
                        <a:t>IVI </a:t>
                      </a: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관련 질의 데이터를 추가로 수집하여 </a:t>
                      </a:r>
                      <a:r>
                        <a:rPr lang="en-US" altLang="ko-KR" sz="900" b="0" strike="noStrike" spc="-1">
                          <a:latin typeface="+mn-ea"/>
                          <a:ea typeface="+mn-ea"/>
                        </a:rPr>
                        <a:t>RAG</a:t>
                      </a: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에 추가함</a:t>
                      </a:r>
                      <a:endParaRPr lang="en-US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17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strike="noStrike" spc="-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18</a:t>
                      </a:r>
                      <a:endParaRPr lang="en-US" sz="1000" b="1" strike="noStrike" spc="-1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모아이에 대해 모름</a:t>
                      </a:r>
                      <a:endParaRPr lang="ko-KR" altLang="en-US" sz="1000" b="0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학습되지 않은 질문을 하여 잘못된 응답을 함</a:t>
                      </a:r>
                      <a:endParaRPr lang="en-US" altLang="ko-KR" sz="900" b="0" strike="noStrike" spc="-1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모아이 관련 데이터를 </a:t>
                      </a:r>
                      <a:r>
                        <a:rPr lang="en-US" altLang="ko-KR" sz="900" b="0" strike="noStrike" spc="-1">
                          <a:latin typeface="+mn-ea"/>
                          <a:ea typeface="+mn-ea"/>
                        </a:rPr>
                        <a:t>RAG</a:t>
                      </a: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에 추가함</a:t>
                      </a:r>
                      <a:endParaRPr lang="en-US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17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strike="noStrike" spc="-1">
                          <a:latin typeface="+mn-ea"/>
                          <a:ea typeface="+mn-ea"/>
                        </a:rPr>
                        <a:t>19</a:t>
                      </a:r>
                      <a:endParaRPr lang="en-US" sz="1000" b="1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음성인식 </a:t>
                      </a: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Listening 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중 </a:t>
                      </a: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MOAI 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앱 켜면 </a:t>
                      </a: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"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듣고있어요</a:t>
                      </a: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" 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말풍선 남아있음</a:t>
                      </a:r>
                      <a:endParaRPr lang="ko-KR" altLang="en-US" sz="1000" b="0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음성인식 중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런처앱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시작시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로직 미흡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음성인식 중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런처앱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시작시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로직 보안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517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strike="noStrike" spc="-1">
                          <a:latin typeface="+mn-ea"/>
                          <a:ea typeface="+mn-ea"/>
                        </a:rPr>
                        <a:t>20</a:t>
                      </a:r>
                      <a:endParaRPr lang="en-US" sz="1000" b="1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아바타 발화시 팝업 위치가 자꾸 변함</a:t>
                      </a:r>
                      <a:endParaRPr lang="ko-KR" altLang="en-US" sz="1000" b="0" i="0" strike="noStrike" kern="1200" dirty="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무지개 말풍선 이미지 크기가 다른 말풍선과 상이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900" b="0" strike="noStrike" spc="-1" dirty="0">
                          <a:latin typeface="+mn-ea"/>
                          <a:ea typeface="+mn-ea"/>
                        </a:rPr>
                        <a:t>무지개 말풍선 이미지 교체</a:t>
                      </a:r>
                      <a:endParaRPr lang="en-US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664512"/>
                  </a:ext>
                </a:extLst>
              </a:tr>
              <a:tr h="4517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strike="noStrike" spc="-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21</a:t>
                      </a:r>
                      <a:endParaRPr lang="en-US" sz="1000" b="1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AI GUARD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의 경고 멘트가 지속 동일함</a:t>
                      </a:r>
                      <a:endParaRPr lang="ko-KR" altLang="en-US" sz="1000" b="0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latin typeface="+mn-ea"/>
                          <a:ea typeface="+mn-ea"/>
                        </a:rPr>
                        <a:t>AI Guard</a:t>
                      </a:r>
                      <a:r>
                        <a:rPr lang="ko-KR" altLang="en-US" sz="900">
                          <a:latin typeface="+mn-ea"/>
                          <a:ea typeface="+mn-ea"/>
                        </a:rPr>
                        <a:t>의 경고 멘트를 일정 템플릿으로 지정하여 응답을 생성함</a:t>
                      </a:r>
                      <a:endParaRPr lang="ko-KR" sz="900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900" b="0" strike="noStrike" spc="-1">
                          <a:latin typeface="+mn-ea"/>
                          <a:ea typeface="+mn-ea"/>
                        </a:rPr>
                        <a:t>OnDevice LLM</a:t>
                      </a: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을 통하여 경고 멘트의 다양성을 확보</a:t>
                      </a:r>
                      <a:endParaRPr lang="en-US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1082771"/>
                  </a:ext>
                </a:extLst>
              </a:tr>
              <a:tr h="4517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strike="noStrike" spc="-1">
                          <a:latin typeface="+mn-ea"/>
                          <a:ea typeface="+mn-ea"/>
                        </a:rPr>
                        <a:t>22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아바타 롱탭시 퀵 버튼 표시 타이밍 이슈</a:t>
                      </a:r>
                      <a:endParaRPr lang="ko-KR" altLang="en-US" sz="1000" b="0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latin typeface="+mn-ea"/>
                          <a:ea typeface="+mn-ea"/>
                        </a:rPr>
                        <a:t>아바타를 롱탭 후 터치 이벤트가 끝나면 퀵 버튼 표시</a:t>
                      </a:r>
                      <a:endParaRPr lang="ko-KR" sz="900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ko-KR" altLang="en-US" sz="900" b="0" strike="noStrike" spc="-1">
                          <a:latin typeface="+mn-ea"/>
                          <a:ea typeface="+mn-ea"/>
                        </a:rPr>
                        <a:t>아바타를 일정 시간 롱탭 시 퀵 버튼 표시</a:t>
                      </a:r>
                      <a:endParaRPr lang="en-US" sz="900" b="0" strike="noStrike" spc="-1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991680"/>
                  </a:ext>
                </a:extLst>
              </a:tr>
              <a:tr h="4517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1" strike="noStrike" spc="-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23</a:t>
                      </a:r>
                      <a:endParaRPr lang="en-US" sz="1000" b="1" strike="noStrike" spc="-1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AI Agent </a:t>
                      </a:r>
                      <a:r>
                        <a:rPr lang="ko-KR" altLang="en-US" sz="1000" b="0" kern="1200">
                          <a:solidFill>
                            <a:srgbClr val="000000"/>
                          </a:solidFill>
                          <a:latin typeface="현대하모니 L"/>
                          <a:ea typeface="Droid Sans Mono" charset="0"/>
                        </a:rPr>
                        <a:t>내비 안내 시작시 강제 종료됨</a:t>
                      </a:r>
                      <a:endParaRPr lang="ko-KR" altLang="en-US" sz="1000" b="0" i="0" strike="noStrike" kern="1200">
                        <a:solidFill>
                          <a:srgbClr val="000000"/>
                        </a:solidFill>
                        <a:latin typeface="현대하모니 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 dirty="0" err="1">
                          <a:latin typeface="+mn-ea"/>
                          <a:ea typeface="+mn-ea"/>
                        </a:rPr>
                        <a:t>Objectbox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저장소 초기화 오류</a:t>
                      </a:r>
                      <a:endParaRPr lang="ko-KR" sz="900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err="1">
                          <a:latin typeface="+mn-ea"/>
                          <a:ea typeface="+mn-ea"/>
                        </a:rPr>
                        <a:t>Objectbox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저장소 강제 초기화</a:t>
                      </a:r>
                      <a:endParaRPr lang="ko-KR" altLang="ko-KR" sz="900" dirty="0"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817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2285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C928F-B07F-3FC3-3B69-123E3E8D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9F4959F2-D51E-322C-3DE3-A5570B2D8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12. </a:t>
            </a:r>
            <a:r>
              <a:rPr lang="ko-KR" altLang="en-US" sz="2400" u="none" dirty="0" err="1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럭키쿠키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영상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pic>
        <p:nvPicPr>
          <p:cNvPr id="4" name="luckycookie_video">
            <a:hlinkClick r:id="" action="ppaction://media"/>
            <a:extLst>
              <a:ext uri="{FF2B5EF4-FFF2-40B4-BE49-F238E27FC236}">
                <a16:creationId xmlns:a16="http://schemas.microsoft.com/office/drawing/2014/main" id="{11F90350-0EBA-83FA-E195-B26C1FE65F7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72480" y="775829"/>
            <a:ext cx="9433497" cy="530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684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42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C928F-B07F-3FC3-3B69-123E3E8D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9F4959F2-D51E-322C-3DE3-A5570B2D8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13. LLM 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질문 및 답변 영상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pic>
        <p:nvPicPr>
          <p:cNvPr id="3" name="ask_llm_video">
            <a:hlinkClick r:id="" action="ppaction://media"/>
            <a:extLst>
              <a:ext uri="{FF2B5EF4-FFF2-40B4-BE49-F238E27FC236}">
                <a16:creationId xmlns:a16="http://schemas.microsoft.com/office/drawing/2014/main" id="{5925DBE2-CAB2-8A68-FF73-877B325943F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72480" y="836713"/>
            <a:ext cx="9345038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980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94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C928F-B07F-3FC3-3B69-123E3E8D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9F4959F2-D51E-322C-3DE3-A5570B2D8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0638"/>
            <a:ext cx="868521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14. AIDJ</a:t>
            </a:r>
            <a:r>
              <a:rPr lang="ko-KR" altLang="en-US" sz="2400" u="none" dirty="0">
                <a:solidFill>
                  <a:schemeClr val="tx1"/>
                </a:solidFill>
                <a:latin typeface="현대하모니 B" pitchFamily="18" charset="-127"/>
                <a:ea typeface="현대하모니 B" pitchFamily="18" charset="-127"/>
              </a:rPr>
              <a:t> 영상</a:t>
            </a:r>
            <a:endParaRPr lang="ko-KR" altLang="en-US" u="none" dirty="0">
              <a:solidFill>
                <a:schemeClr val="tx1"/>
              </a:solidFill>
              <a:latin typeface="현대하모니 B" pitchFamily="18" charset="-127"/>
              <a:ea typeface="현대하모니 B" pitchFamily="18" charset="-127"/>
            </a:endParaRPr>
          </a:p>
        </p:txBody>
      </p:sp>
      <p:pic>
        <p:nvPicPr>
          <p:cNvPr id="2" name="aidj_video">
            <a:hlinkClick r:id="" action="ppaction://media"/>
            <a:extLst>
              <a:ext uri="{FF2B5EF4-FFF2-40B4-BE49-F238E27FC236}">
                <a16:creationId xmlns:a16="http://schemas.microsoft.com/office/drawing/2014/main" id="{1B98BEF6-972B-E6D2-FB02-03A29C5F67B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6251" y="775829"/>
            <a:ext cx="9433497" cy="530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866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89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spAutoFit/>
      </a:bodyPr>
      <a:lstStyle>
        <a:defPPr>
          <a:defRPr sz="1000" dirty="0">
            <a:solidFill>
              <a:schemeClr val="tx1">
                <a:lumMod val="50000"/>
                <a:lumOff val="50000"/>
              </a:schemeClr>
            </a:solidFill>
          </a:defRPr>
        </a:defPPr>
      </a:lstStyle>
    </a:sp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spAutoFit/>
      </a:bodyPr>
      <a:lstStyle>
        <a:defPPr>
          <a:defRPr sz="1000" dirty="0">
            <a:solidFill>
              <a:schemeClr val="tx1">
                <a:lumMod val="50000"/>
                <a:lumOff val="50000"/>
              </a:schemeClr>
            </a:solidFill>
          </a:defRPr>
        </a:defPPr>
      </a:lstStyle>
    </a:sp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cd0bc021-0c43-4029-a072-964d39f3070b}" enabled="1" method="Privileged" siteId="{7cf932c0-bced-4490-b11f-48d23b1fe0d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194076195</TotalTime>
  <Words>2106</Words>
  <Application>Microsoft Office PowerPoint</Application>
  <PresentationFormat>A4 용지(210x297mm)</PresentationFormat>
  <Paragraphs>398</Paragraphs>
  <Slides>17</Slides>
  <Notes>15</Notes>
  <HiddenSlides>0</HiddenSlides>
  <MMClips>3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17</vt:i4>
      </vt:variant>
    </vt:vector>
  </HeadingPairs>
  <TitlesOfParts>
    <vt:vector size="30" baseType="lpstr">
      <vt:lpstr>Droid Sans Mono</vt:lpstr>
      <vt:lpstr>HY헤드라인M</vt:lpstr>
      <vt:lpstr>굴림</vt:lpstr>
      <vt:lpstr>맑은 고딕</vt:lpstr>
      <vt:lpstr>맑은 고딕 Semilight</vt:lpstr>
      <vt:lpstr>현대하모니 B</vt:lpstr>
      <vt:lpstr>현대하모니 L</vt:lpstr>
      <vt:lpstr>현대하모니 M</vt:lpstr>
      <vt:lpstr>Arial</vt:lpstr>
      <vt:lpstr>Wingdings</vt:lpstr>
      <vt:lpstr>1_기본 디자인</vt:lpstr>
      <vt:lpstr>디자인 사용자 지정</vt:lpstr>
      <vt:lpstr>2_기본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Mobis</dc:creator>
  <cp:lastModifiedBy>부재식 (주)투비원솔루션즈</cp:lastModifiedBy>
  <cp:revision>1323</cp:revision>
  <cp:lastPrinted>2014-02-11T08:53:40Z</cp:lastPrinted>
  <dcterms:created xsi:type="dcterms:W3CDTF">2008-08-28T07:58:34Z</dcterms:created>
  <dcterms:modified xsi:type="dcterms:W3CDTF">2025-12-09T03:07:52Z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000800aa7c0000000000010243100207e6000400038000</vt:lpwstr>
  </property>
  <property fmtid="{D5CDD505-2E9C-101B-9397-08002B2CF9AE}" pid="3" name="MSIP_Label_6c8052f8-6d20-481e-a88c-2a23f34d153f_SiteId">
    <vt:lpwstr>7cf932c0-bced-4490-b11f-48d23b1fe0d9</vt:lpwstr>
  </property>
  <property fmtid="{D5CDD505-2E9C-101B-9397-08002B2CF9AE}" pid="4" name="MSIP_Label_6c8052f8-6d20-481e-a88c-2a23f34d153f_SetDate">
    <vt:lpwstr>2024-05-07T04:44:04Z</vt:lpwstr>
  </property>
  <property fmtid="{D5CDD505-2E9C-101B-9397-08002B2CF9AE}" pid="5" name="MSIP_Label_6c8052f8-6d20-481e-a88c-2a23f34d153f_Name">
    <vt:lpwstr>내부직원 사용</vt:lpwstr>
  </property>
  <property fmtid="{D5CDD505-2E9C-101B-9397-08002B2CF9AE}" pid="6" name="MSIP_Label_6c8052f8-6d20-481e-a88c-2a23f34d153f_Method">
    <vt:lpwstr>Standard</vt:lpwstr>
  </property>
  <property fmtid="{D5CDD505-2E9C-101B-9397-08002B2CF9AE}" pid="7" name="MSIP_Label_6c8052f8-6d20-481e-a88c-2a23f34d153f_Enabled">
    <vt:lpwstr>true</vt:lpwstr>
  </property>
  <property fmtid="{D5CDD505-2E9C-101B-9397-08002B2CF9AE}" pid="8" name="MSIP_Label_6c8052f8-6d20-481e-a88c-2a23f34d153f_ContentBits">
    <vt:lpwstr>8</vt:lpwstr>
  </property>
  <property fmtid="{D5CDD505-2E9C-101B-9397-08002B2CF9AE}" pid="9" name="MSIP_Label_6c8052f8-6d20-481e-a88c-2a23f34d153f_ActionId">
    <vt:lpwstr>94bd5dad-6687-4329-be00-13394449cb7c</vt:lpwstr>
  </property>
</Properties>
</file>