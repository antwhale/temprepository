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1"/>
  </p:notesMasterIdLst>
  <p:sldIdLst>
    <p:sldId id="258" r:id="rId2"/>
    <p:sldId id="266" r:id="rId3"/>
    <p:sldId id="330" r:id="rId4"/>
    <p:sldId id="752" r:id="rId5"/>
    <p:sldId id="753" r:id="rId6"/>
    <p:sldId id="767" r:id="rId7"/>
    <p:sldId id="746" r:id="rId8"/>
    <p:sldId id="749" r:id="rId9"/>
    <p:sldId id="784" r:id="rId10"/>
    <p:sldId id="754" r:id="rId11"/>
    <p:sldId id="756" r:id="rId12"/>
    <p:sldId id="758" r:id="rId13"/>
    <p:sldId id="760" r:id="rId14"/>
    <p:sldId id="781" r:id="rId15"/>
    <p:sldId id="762" r:id="rId16"/>
    <p:sldId id="783" r:id="rId17"/>
    <p:sldId id="763" r:id="rId18"/>
    <p:sldId id="764" r:id="rId19"/>
    <p:sldId id="755" r:id="rId20"/>
    <p:sldId id="782" r:id="rId21"/>
    <p:sldId id="786" r:id="rId22"/>
    <p:sldId id="787" r:id="rId23"/>
    <p:sldId id="751" r:id="rId24"/>
    <p:sldId id="271" r:id="rId25"/>
    <p:sldId id="269" r:id="rId26"/>
    <p:sldId id="785" r:id="rId27"/>
    <p:sldId id="329" r:id="rId28"/>
    <p:sldId id="303" r:id="rId29"/>
    <p:sldId id="769" r:id="rId30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3096" y="114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DAUDIO1_1_KK/repos/platform.packages.apps.music/browse" TargetMode="External"/><Relationship Id="rId2" Type="http://schemas.openxmlformats.org/officeDocument/2006/relationships/hyperlink" Target="https://bitbucket.mobis.co.kr/projects/DAUDIO1_1_KK/repos/mobis.packages.apps.hkmc_musicstreaming/brows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표준형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세대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WIDE_WIDE NH AVN </a:t>
            </a:r>
          </a:p>
          <a:p>
            <a:pPr algn="ctr"/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뮤직 스트리밍 유지보수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2026. 03. 30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표준형 </a:t>
              </a:r>
              <a:r>
                <a:rPr lang="en-US" altLang="ko-KR" sz="1600" dirty="0">
                  <a:solidFill>
                    <a:schemeClr val="tx1"/>
                  </a:solidFill>
                </a:rPr>
                <a:t>5</a:t>
              </a:r>
              <a:r>
                <a:rPr lang="ko-KR" altLang="en-US" sz="1600" dirty="0">
                  <a:solidFill>
                    <a:schemeClr val="tx1"/>
                  </a:solidFill>
                </a:rPr>
                <a:t>세대 </a:t>
              </a:r>
              <a:r>
                <a:rPr lang="en-US" altLang="ko-KR" sz="1600" dirty="0">
                  <a:solidFill>
                    <a:schemeClr val="tx1"/>
                  </a:solidFill>
                </a:rPr>
                <a:t>WIDE_WIDE NH AVN </a:t>
              </a:r>
              <a:r>
                <a:rPr lang="ko-KR" altLang="en-US" sz="1600" dirty="0" err="1">
                  <a:solidFill>
                    <a:schemeClr val="tx1"/>
                  </a:solidFill>
                </a:rPr>
                <a:t>뮤직스트리밍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5.5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(2025.09.15 ~ 2026.03.30)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한국향 스트리밍 서비스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멜론뮤직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와 중국향 스트리밍 서비스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QQ Music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에 대한 유지보수를 수행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서버 및 멜론뮤직 서버와의 연동을 통한 서비스 통신 프로토콜 일원화 및 블루링크 사용자 인증 지원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사운드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음성인식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키 매니저 등의 각종 매니저 및 내장 미디어 서버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/HStreaming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연계 개발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차량 환경에서 해당 스트리밍 서비스의 편리한 사용을 위한 스트리밍 서비스 특화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HMI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967333-F8A1-36D3-6D06-E2F8271E3D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5849924" y="3253839"/>
            <a:ext cx="3456940" cy="292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(Genie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65205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/>
                        <a:t>지니뮤직 재생목록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지니 </a:t>
                      </a:r>
                      <a:r>
                        <a:rPr lang="ko-KR" altLang="en-US" sz="1400" dirty="0" err="1"/>
                        <a:t>챠트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지니 </a:t>
                      </a:r>
                      <a:r>
                        <a:rPr lang="ko-KR" altLang="en-US" sz="1200" dirty="0" err="1"/>
                        <a:t>챠트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드라이빙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추천곡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드라이빙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추천곡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최신 음악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 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지니뮤직</a:t>
                      </a:r>
                      <a:r>
                        <a:rPr lang="ko-KR" altLang="en-US" sz="1200" dirty="0"/>
                        <a:t>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</a:t>
            </a:r>
            <a:r>
              <a:rPr lang="ko-KR" altLang="en-US" sz="1600"/>
              <a:t>및 범위 </a:t>
            </a:r>
            <a:r>
              <a:rPr lang="en-US" altLang="ko-KR" sz="1600"/>
              <a:t>(Melon Music)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5877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멜론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 Hits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</a:t>
                      </a:r>
                      <a:r>
                        <a:rPr lang="en-US" altLang="ko-KR" sz="1200" dirty="0"/>
                        <a:t>24 Hits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좋아요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내 플레이 리스트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최신 곡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멜론 검색기능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69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(QQ Music)</a:t>
            </a:r>
            <a:endParaRPr lang="ko-KR" altLang="en-US" sz="16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7E0E49-A3B0-78D1-2F20-5299F5BD3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400508"/>
              </p:ext>
            </p:extLst>
          </p:nvPr>
        </p:nvGraphicFramePr>
        <p:xfrm>
          <a:off x="811481" y="1007613"/>
          <a:ext cx="8221392" cy="54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QQ Music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재생목록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재생된 음원 재생목록 리스트에 추가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재생목록 리스트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라디오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텐센트 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라디오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라디오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좋아요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좋아요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 플레이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내 플레이 리스트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최신 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최신 곡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리스트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곡</a:t>
                      </a:r>
                      <a:r>
                        <a:rPr lang="en-US" altLang="ko-KR" sz="1400"/>
                        <a:t> </a:t>
                      </a:r>
                      <a:r>
                        <a:rPr lang="ko-KR" altLang="en-US" sz="1400"/>
                        <a:t>검색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QQ Music</a:t>
                      </a:r>
                      <a:r>
                        <a:rPr lang="ko-KR" altLang="en-US" sz="1200" dirty="0"/>
                        <a:t> 검색기능 텐센트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서버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93838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앨범 검색결과 목록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8161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음원 선택 및 재생목록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5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0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D8A71-8DD5-88BA-1F7F-AF18058B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96D81-AC5D-E1FF-183E-ECFE3DD9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2CB527-25BD-15B2-B00C-9B4D46D5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DF538-1670-8AF6-15FF-0ADD607A3C6E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 </a:t>
            </a:r>
            <a:r>
              <a:rPr lang="en-US" altLang="ko-KR" sz="1600" dirty="0"/>
              <a:t>(</a:t>
            </a:r>
            <a:r>
              <a:rPr lang="ko-KR" altLang="en-US" sz="1600" dirty="0"/>
              <a:t>공통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E3B5862-A131-1434-8334-52F321C99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672773"/>
              </p:ext>
            </p:extLst>
          </p:nvPr>
        </p:nvGraphicFramePr>
        <p:xfrm>
          <a:off x="811481" y="1007613"/>
          <a:ext cx="8221392" cy="473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스트리밍 </a:t>
                      </a:r>
                      <a:endParaRPr lang="en-US" altLang="ko-KR" sz="140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플레이어 개발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재생 관련 </a:t>
                      </a:r>
                      <a:r>
                        <a:rPr lang="en-US" altLang="ko-KR" sz="1200" dirty="0"/>
                        <a:t>CCS </a:t>
                      </a:r>
                      <a:r>
                        <a:rPr lang="ko-KR" altLang="en-US" sz="1200" dirty="0"/>
                        <a:t>서버 연동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/>
                        <a:t>스트리밍 플레이어 연동하여 음원 재생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스트리밍 뮤직 데이터 캐싱 처리 로직 구현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곡 정보 표출 관련 </a:t>
                      </a:r>
                      <a:r>
                        <a:rPr lang="en-US" altLang="ko-KR" sz="1200" dirty="0"/>
                        <a:t>GUI </a:t>
                      </a:r>
                      <a:r>
                        <a:rPr lang="ko-KR" altLang="en-US" sz="1200" dirty="0"/>
                        <a:t>구현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음원 가사 출력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좋아요 기능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/>
                        <a:t>운전자 프로필 연동</a:t>
                      </a:r>
                      <a:endParaRPr lang="ko-KR" altLang="en-US" sz="14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재생목록 별도 관리</a:t>
                      </a:r>
                      <a:endParaRPr lang="en-US" altLang="ko-KR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운전자 프로필 별 플레이어 설정 정보 관리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분할화면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분할화면에 재생정보 전달하여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모드 매니저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IVI </a:t>
                      </a:r>
                      <a:r>
                        <a:rPr lang="ko-KR" altLang="en-US" sz="1200" dirty="0"/>
                        <a:t>기능 변경 시 지니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멜론 모드변경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인디케이터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재생중인 음원 정보 인디케이터로 전달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단말기 </a:t>
                      </a:r>
                      <a:r>
                        <a:rPr lang="ko-KR" altLang="en-US" sz="1400" dirty="0" err="1"/>
                        <a:t>하드키</a:t>
                      </a:r>
                      <a:r>
                        <a:rPr lang="ko-KR" altLang="en-US" sz="1400" dirty="0"/>
                        <a:t>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볼륨노브</a:t>
                      </a:r>
                      <a:r>
                        <a:rPr lang="en-US" altLang="ko-KR" sz="1200" dirty="0"/>
                        <a:t>, Seek </a:t>
                      </a:r>
                      <a:r>
                        <a:rPr lang="ko-KR" altLang="en-US" sz="1200" dirty="0"/>
                        <a:t>버튼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음성인식 연동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음성인식을 이용한 음원 검색 및 명령어 처리</a:t>
                      </a:r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T="72000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61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2163BAD-3CF6-A74A-A8AA-0C443751E725}"/>
              </a:ext>
            </a:extLst>
          </p:cNvPr>
          <p:cNvSpPr/>
          <p:nvPr/>
        </p:nvSpPr>
        <p:spPr>
          <a:xfrm>
            <a:off x="796802" y="908049"/>
            <a:ext cx="8157410" cy="5247328"/>
          </a:xfrm>
          <a:prstGeom prst="roundRect">
            <a:avLst>
              <a:gd name="adj" fmla="val 167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8EBCD3E-5E4F-69FA-E2DA-1C674FA0038B}"/>
              </a:ext>
            </a:extLst>
          </p:cNvPr>
          <p:cNvCxnSpPr>
            <a:cxnSpLocks/>
            <a:stCxn id="34" idx="2"/>
            <a:endCxn id="5" idx="0"/>
          </p:cNvCxnSpPr>
          <p:nvPr/>
        </p:nvCxnSpPr>
        <p:spPr>
          <a:xfrm>
            <a:off x="5838038" y="1900809"/>
            <a:ext cx="28214" cy="31752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F7095EB-8C02-DB01-2971-DBC1182C84A8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387935" y="1589363"/>
            <a:ext cx="757475" cy="0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540DC8-4A50-4D1A-E96E-A3E2BAF56C0C}"/>
              </a:ext>
            </a:extLst>
          </p:cNvPr>
          <p:cNvSpPr txBox="1"/>
          <p:nvPr/>
        </p:nvSpPr>
        <p:spPr>
          <a:xfrm>
            <a:off x="2484543" y="1310487"/>
            <a:ext cx="564258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C00000"/>
                </a:solidFill>
              </a:rPr>
              <a:t>사양협의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92826E4-3417-1D01-FF09-54523FCDADE1}"/>
              </a:ext>
            </a:extLst>
          </p:cNvPr>
          <p:cNvCxnSpPr>
            <a:cxnSpLocks/>
            <a:stCxn id="39" idx="2"/>
            <a:endCxn id="13" idx="0"/>
          </p:cNvCxnSpPr>
          <p:nvPr/>
        </p:nvCxnSpPr>
        <p:spPr>
          <a:xfrm>
            <a:off x="3768302" y="1881560"/>
            <a:ext cx="1" cy="807623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BBC4E-CA2E-C9D9-2821-B63C6554580E}"/>
              </a:ext>
            </a:extLst>
          </p:cNvPr>
          <p:cNvSpPr txBox="1"/>
          <p:nvPr/>
        </p:nvSpPr>
        <p:spPr>
          <a:xfrm>
            <a:off x="3064060" y="2074934"/>
            <a:ext cx="140102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요구사항</a:t>
            </a:r>
            <a:r>
              <a:rPr lang="en-US" altLang="ko-KR" sz="1100" b="1" dirty="0">
                <a:solidFill>
                  <a:srgbClr val="C00000"/>
                </a:solidFill>
              </a:rPr>
              <a:t>(New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ko-KR" sz="1100" b="1" dirty="0">
                <a:solidFill>
                  <a:srgbClr val="C00000"/>
                </a:solidFill>
              </a:rPr>
              <a:t>Feature)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상황 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0D8F0A-1DDF-19F2-D430-A0D175780B95}"/>
              </a:ext>
            </a:extLst>
          </p:cNvPr>
          <p:cNvSpPr/>
          <p:nvPr/>
        </p:nvSpPr>
        <p:spPr>
          <a:xfrm>
            <a:off x="3145411" y="2689183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설계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관리집단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(PM &amp; PL)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6D2EAC-248B-E888-6BC1-1CB89CE97F59}"/>
              </a:ext>
            </a:extLst>
          </p:cNvPr>
          <p:cNvSpPr/>
          <p:nvPr/>
        </p:nvSpPr>
        <p:spPr>
          <a:xfrm>
            <a:off x="5215147" y="3937667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지니뮤직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427A0F-85EC-660E-EA69-905CE57A7944}"/>
              </a:ext>
            </a:extLst>
          </p:cNvPr>
          <p:cNvSpPr/>
          <p:nvPr/>
        </p:nvSpPr>
        <p:spPr>
          <a:xfrm>
            <a:off x="5215147" y="2748456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멜론뮤직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03C8429-86C6-ED14-DC03-3D818598CCD8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V="1">
            <a:off x="4391194" y="3000456"/>
            <a:ext cx="823953" cy="173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45AD3F4-0C52-608A-DDCC-88558829A4C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406253" y="3000629"/>
            <a:ext cx="739158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092677B-2709-16E0-AF57-F790A28A1FF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391194" y="3000629"/>
            <a:ext cx="823953" cy="1189038"/>
          </a:xfrm>
          <a:prstGeom prst="bentConnector3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41F8FC0-3013-44AF-537F-CD6DE70275B8}"/>
              </a:ext>
            </a:extLst>
          </p:cNvPr>
          <p:cNvSpPr/>
          <p:nvPr/>
        </p:nvSpPr>
        <p:spPr>
          <a:xfrm>
            <a:off x="7288612" y="3776959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사내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QC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팀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480D65F-F1A6-79DE-F2A1-46830FF9E6D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6460930" y="3000456"/>
            <a:ext cx="827682" cy="1087949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3ED8B2D-78DA-380A-60C3-EDFFB010672D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 flipV="1">
            <a:off x="6460930" y="4088405"/>
            <a:ext cx="827682" cy="101262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1AED313-BE06-2B43-B9A1-75FD0C04186F}"/>
              </a:ext>
            </a:extLst>
          </p:cNvPr>
          <p:cNvCxnSpPr>
            <a:cxnSpLocks/>
            <a:stCxn id="23" idx="2"/>
            <a:endCxn id="13" idx="2"/>
          </p:cNvCxnSpPr>
          <p:nvPr/>
        </p:nvCxnSpPr>
        <p:spPr>
          <a:xfrm rot="5400000" flipH="1">
            <a:off x="5296016" y="1784363"/>
            <a:ext cx="1087776" cy="4143201"/>
          </a:xfrm>
          <a:prstGeom prst="bentConnector3">
            <a:avLst>
              <a:gd name="adj1" fmla="val -135846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93D8CE5-AD3E-0365-0A84-8BDE6E5FA1BB}"/>
              </a:ext>
            </a:extLst>
          </p:cNvPr>
          <p:cNvSpPr/>
          <p:nvPr/>
        </p:nvSpPr>
        <p:spPr>
          <a:xfrm>
            <a:off x="7288612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모비스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QA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FEA843-DEB0-EB51-E677-2E71AABDF3B2}"/>
              </a:ext>
            </a:extLst>
          </p:cNvPr>
          <p:cNvCxnSpPr>
            <a:cxnSpLocks/>
            <a:stCxn id="23" idx="0"/>
            <a:endCxn id="29" idx="2"/>
          </p:cNvCxnSpPr>
          <p:nvPr/>
        </p:nvCxnSpPr>
        <p:spPr>
          <a:xfrm flipV="1">
            <a:off x="7911504" y="1900809"/>
            <a:ext cx="0" cy="1876150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708F059-04EC-FACA-C3DB-8B581CC1E9F7}"/>
              </a:ext>
            </a:extLst>
          </p:cNvPr>
          <p:cNvSpPr txBox="1"/>
          <p:nvPr/>
        </p:nvSpPr>
        <p:spPr>
          <a:xfrm>
            <a:off x="7456252" y="2785291"/>
            <a:ext cx="91050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배포 버전 전달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1FA64-AB41-2531-F18B-F2671351C8DC}"/>
              </a:ext>
            </a:extLst>
          </p:cNvPr>
          <p:cNvSpPr txBox="1"/>
          <p:nvPr/>
        </p:nvSpPr>
        <p:spPr>
          <a:xfrm>
            <a:off x="3400694" y="3720893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분석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업무 등록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C2FF6-5118-25F6-4692-A3E871A28F62}"/>
              </a:ext>
            </a:extLst>
          </p:cNvPr>
          <p:cNvSpPr txBox="1"/>
          <p:nvPr/>
        </p:nvSpPr>
        <p:spPr>
          <a:xfrm>
            <a:off x="7247525" y="4771902"/>
            <a:ext cx="1340110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보고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(Defect, Improvement)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C51562-CDEE-48E4-2793-9035351D4F17}"/>
              </a:ext>
            </a:extLst>
          </p:cNvPr>
          <p:cNvSpPr/>
          <p:nvPr/>
        </p:nvSpPr>
        <p:spPr>
          <a:xfrm>
            <a:off x="5215146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인포방송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미디어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APP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팀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BF39448-B73F-44FE-1516-ACE0C7277C52}"/>
              </a:ext>
            </a:extLst>
          </p:cNvPr>
          <p:cNvCxnSpPr>
            <a:cxnSpLocks/>
            <a:stCxn id="39" idx="3"/>
            <a:endCxn id="34" idx="1"/>
          </p:cNvCxnSpPr>
          <p:nvPr/>
        </p:nvCxnSpPr>
        <p:spPr>
          <a:xfrm>
            <a:off x="4391194" y="1589363"/>
            <a:ext cx="823952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34FCE54-6411-2C41-C6ED-49EF8162197B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460929" y="1589363"/>
            <a:ext cx="827683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011349-A33E-E007-642C-BA5A76D19DA6}"/>
              </a:ext>
            </a:extLst>
          </p:cNvPr>
          <p:cNvSpPr txBox="1"/>
          <p:nvPr/>
        </p:nvSpPr>
        <p:spPr>
          <a:xfrm>
            <a:off x="5559956" y="2127454"/>
            <a:ext cx="56425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chemeClr val="tx1">
                    <a:lumMod val="65000"/>
                    <a:lumOff val="35000"/>
                  </a:schemeClr>
                </a:solidFill>
              </a:rPr>
              <a:t>업무보고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8" name="Picture 2" descr="회장님차 납시오... 미국의 현대기아 그리고 제네시스 - 카가이">
            <a:extLst>
              <a:ext uri="{FF2B5EF4-FFF2-40B4-BE49-F238E27FC236}">
                <a16:creationId xmlns:a16="http://schemas.microsoft.com/office/drawing/2014/main" id="{4D71039E-2572-2EB9-7E1F-2C8CA029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71" y="1195176"/>
            <a:ext cx="1094964" cy="78837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현대모비스 로고">
            <a:extLst>
              <a:ext uri="{FF2B5EF4-FFF2-40B4-BE49-F238E27FC236}">
                <a16:creationId xmlns:a16="http://schemas.microsoft.com/office/drawing/2014/main" id="{41958764-FFC1-2262-668D-BCEFA022A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10" y="1297166"/>
            <a:ext cx="1245784" cy="58439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그림 39" descr="텍스트, 식탁용기구, 플레이트, 접시이(가) 표시된 사진&#10;&#10;자동 생성된 설명">
            <a:extLst>
              <a:ext uri="{FF2B5EF4-FFF2-40B4-BE49-F238E27FC236}">
                <a16:creationId xmlns:a16="http://schemas.microsoft.com/office/drawing/2014/main" id="{AAD44CA3-98B4-739A-C3A8-1FD4F9ADC5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4"/>
          <a:stretch/>
        </p:blipFill>
        <p:spPr>
          <a:xfrm>
            <a:off x="1071946" y="2727389"/>
            <a:ext cx="1443790" cy="406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C92D6B7-A251-25C9-2E36-86400266DFBF}"/>
              </a:ext>
            </a:extLst>
          </p:cNvPr>
          <p:cNvSpPr txBox="1"/>
          <p:nvPr/>
        </p:nvSpPr>
        <p:spPr>
          <a:xfrm>
            <a:off x="6717677" y="3930070"/>
            <a:ext cx="314189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공유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1B1BE5-AF2E-F6C6-6D92-DE78B62F4698}"/>
              </a:ext>
            </a:extLst>
          </p:cNvPr>
          <p:cNvSpPr txBox="1"/>
          <p:nvPr/>
        </p:nvSpPr>
        <p:spPr>
          <a:xfrm>
            <a:off x="4383172" y="4022564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업무</a:t>
            </a:r>
            <a:r>
              <a:rPr lang="en-US" altLang="ko-KR" sz="1100" b="1" dirty="0">
                <a:solidFill>
                  <a:srgbClr val="C00000"/>
                </a:solidFill>
              </a:rPr>
              <a:t>(Task)</a:t>
            </a: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분석 </a:t>
            </a:r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분배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1B403C6-683A-B4BE-5783-8E9B5C8DD39F}"/>
              </a:ext>
            </a:extLst>
          </p:cNvPr>
          <p:cNvSpPr/>
          <p:nvPr/>
        </p:nvSpPr>
        <p:spPr>
          <a:xfrm>
            <a:off x="5243360" y="5076065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QQ Music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E6E2E47-CF5F-E4ED-20FB-53A0855EC5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4287" y="4709635"/>
            <a:ext cx="860217" cy="442451"/>
          </a:xfrm>
          <a:prstGeom prst="bentConnector3">
            <a:avLst>
              <a:gd name="adj1" fmla="val 100619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265F625-0F83-7845-D1AB-C663608D56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12639" y="4698697"/>
            <a:ext cx="938634" cy="385627"/>
          </a:xfrm>
          <a:prstGeom prst="bentConnector3">
            <a:avLst>
              <a:gd name="adj1" fmla="val -101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286919"/>
              </p:ext>
            </p:extLst>
          </p:nvPr>
        </p:nvGraphicFramePr>
        <p:xfrm>
          <a:off x="379563" y="1122392"/>
          <a:ext cx="8911085" cy="299123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123678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07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675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190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939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23357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  <a:gridCol w="1112806">
                  <a:extLst>
                    <a:ext uri="{9D8B030D-6E8A-4147-A177-3AD203B41FA5}">
                      <a16:colId xmlns:a16="http://schemas.microsoft.com/office/drawing/2014/main" val="876780081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투입 개월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25.09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25.10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25.11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25.12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26.01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26.02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26.03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7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10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21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9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1</a:t>
                      </a:r>
                      <a:r>
                        <a:rPr lang="ko-KR" altLang="en-US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12</a:t>
                      </a:r>
                      <a:r>
                        <a:rPr lang="ko-KR" altLang="en-US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10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11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25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8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11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1DB3B90-B3F7-8E0C-03F3-ABD95C242F93}"/>
              </a:ext>
            </a:extLst>
          </p:cNvPr>
          <p:cNvGraphicFramePr>
            <a:graphicFrameLocks noGrp="1"/>
          </p:cNvGraphicFramePr>
          <p:nvPr/>
        </p:nvGraphicFramePr>
        <p:xfrm>
          <a:off x="681038" y="639313"/>
          <a:ext cx="8656953" cy="563838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(51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)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AVNG5WIDE-430164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다른 기기에서 같은 아이디로 스트리밍 사용 중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헤드유닛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날씨 브리핑 중단됨</a:t>
                      </a:r>
                    </a:p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25-09-16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AVNG5WIDE-466095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 화면에서 스크롤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핸들러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 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Tune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노브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회전시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스크롤핸들러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소거되지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25-09-22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AVNG5WIDE-466315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홈 화면에서 임의의 음악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SWRC[MODE]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시 간헐적으로 지니 뮤직 재생 화면으로 천이함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25-09-24 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AVNG5WIDE-466266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언어 변경 화면에서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 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표출 후 언어 변경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 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검은 화면으로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25-09-22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AVNG5WIDE-465837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요금제 팝업 표출 후 테마 변경 시 팝업 소거 됨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25-09-19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AVNG5WIDE-466089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미연동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체험 상태에서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 미리 듣기 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표츌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줄 간격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오표시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25-09-19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57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C9506D5A-2364-509C-9753-42AA691AC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084621"/>
              </p:ext>
            </p:extLst>
          </p:nvPr>
        </p:nvGraphicFramePr>
        <p:xfrm>
          <a:off x="575310" y="713375"/>
          <a:ext cx="8769985" cy="47805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effectLst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AVNG5WIDE-466338</a:t>
                      </a:r>
                      <a:r>
                        <a:rPr lang="en-US" altLang="ko-KR" sz="1200" dirty="0">
                          <a:effectLst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지도 화면에서 뮤직 스트리밍 곡 변경 동작 중 테마 변경 시 간헐적으로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빈화면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표시되며 뮤직 스트리밍 타이틀 미표시됨</a:t>
                      </a:r>
                      <a:endParaRPr lang="en-US" altLang="ko-KR" sz="1200" dirty="0">
                        <a:effectLst/>
                      </a:endParaRPr>
                    </a:p>
                  </a:txBody>
                  <a:tcPr marL="28575" marR="28575" marT="28575" marB="28575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25-09-22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AVNG5WIDE-467001]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화이트 테마에서 뮤직 스트리밍 재생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 /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분할화면 블랙 테마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25-09-30</a:t>
                      </a:r>
                      <a:endParaRPr lang="en-US" altLang="ko-KR" sz="12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AVNG5WIDE-467841]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노래 검색 화면에서 상단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버튼 입력 후 버튼 외 영역으로 이동 후 입력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해제시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버튼 동작함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25-10-14 </a:t>
                      </a:r>
                      <a:endParaRPr lang="en-US" altLang="ko-KR" sz="12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[AVNG5WIDE-467847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인치 차종 스트리밍 재생 중 사용자 버튼 입력하여 화면 끄기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켜기 시 타 미디어와 동작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25-10-14</a:t>
                      </a:r>
                      <a:endParaRPr lang="en-US" altLang="ko-KR" sz="11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[AVNG5WIDE-467871]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인치 차종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SWRC[PWR]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롱키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버튼 입력 시 타 미디어와 동작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25-10-15</a:t>
                      </a:r>
                      <a:endParaRPr lang="en-US" altLang="ko-KR" sz="11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AVNG5WIDE-465292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 EV AVN STD GEN5 WIDE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내수향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내장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AMP_TMU) #19 KNR 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이스라엘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아랍 음악 표시 상이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25-09-15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en-US" altLang="ko-KR" sz="1200" b="0" kern="1200" dirty="0">
                        <a:solidFill>
                          <a:srgbClr val="000000"/>
                        </a:solidFill>
                        <a:latin typeface="Droid Sans Mono" charset="0"/>
                        <a:ea typeface="Droid Sans Mono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AVNG5WIDE-470005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G5W </a:t>
                      </a:r>
                      <a:r>
                        <a:rPr lang="ko-KR" altLang="en-US" sz="1200" b="0" kern="1200" dirty="0" err="1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뮤직스트리밍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libflacJNI.so 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파일 메모리 보호기법 적용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25-11-17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200" b="0" i="0" kern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0C2-5DD7-6974-6D50-F9CDA1D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FAFB-7E34-15A4-EA27-EB04ACF5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ko-KR" altLang="en-US" sz="2400" b="0" dirty="0" err="1">
                <a:latin typeface="+mn-ea"/>
                <a:ea typeface="+mn-ea"/>
              </a:rPr>
              <a:t>뮤직스트리밍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AF863B-5768-9AF5-0BFD-EC9CC493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08EA6A4-244B-503D-91D7-C6A396268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07635"/>
              </p:ext>
            </p:extLst>
          </p:nvPr>
        </p:nvGraphicFramePr>
        <p:xfrm>
          <a:off x="575310" y="680720"/>
          <a:ext cx="8769985" cy="53635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AVNG5WIDE-467414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출력 후 동의함 화면 진입 시 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즉시 소거됨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25-10-15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AVNG5WIDE-466576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OFF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PWR OFF &gt;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미디어 게이트 표출 시 타 미디어와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25-10-13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AVNG5WIDE-466577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TUNE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버튼 입력으로 스트리밍 상단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 후 언어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 전 언어로 표시됨</a:t>
                      </a:r>
                      <a:br>
                        <a:rPr lang="ko-KR" altLang="en-US" sz="1200" dirty="0"/>
                      </a:b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25-10-15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AVNG5WIDE-461580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지니뮤직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멜론에서 재생 불가 곡 존재 시 재생 목록 삭제 페이지 또는 라디오 음악 검색 기록에서 재생 불가 곡에 하이라이트 표시 및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마퀴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동작함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25-09-29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AVNG5WIDE-466415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 목록에 한 곡만 있을 때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TUNE KNOB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회전 시 포커스 생성되지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25-11-25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[AVNG5WIDE-468083]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프로필 변경 후 뮤직 스트리밍 진입 시 노래 자동 재생되지 않으며 전체 메뉴 화면 천이 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 목록이 비어 있습니다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재생할 음악을 선택하십시오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.' SS OSD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25-10-16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AVNG5WIDE-464582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25-09-22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24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79920"/>
              </p:ext>
            </p:extLst>
          </p:nvPr>
        </p:nvGraphicFramePr>
        <p:xfrm>
          <a:off x="575310" y="966470"/>
          <a:ext cx="8769985" cy="45405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[AVNG5WIDE-471908]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인치 차종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SWRC[PWR]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롱키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버튼 입력 시 타 미디어와 동작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AVNG5WIDE-473068</a:t>
                      </a: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251222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뮤직스트리밍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커버리티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검출항목 대응</a:t>
                      </a:r>
                      <a:br>
                        <a:rPr lang="ko-KR" altLang="en-US" sz="1200" dirty="0"/>
                      </a:b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AVNG5WIDE-473739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OFF &gt; SWRC [VR]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후 볼륨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노브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짧게 입력 시 뮤직 스트리밍 바로 재생되지 않고 일시 정지 상태로 변경됨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AVNG5WIDE-473215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화면에서 노래 일시 정지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노래 틀어줘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발화 시 노래 추가되나 자동 재생되지 않고 재생 버튼 비활성화 상태로 변경됨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[AVNG5WIDE-473215]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화면에서 노래 일시 정지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노래 틀어줘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발화 시 노래 추가되나 자동 재생되지 않고 재생 버튼 비활성화 상태로 변경됨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[AVNG5WIDE-473100]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오디오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재생중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SLEEP MODE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IGN/ALT/ACC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S/T Wheel [MODE]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 입력 시 멜론 재생되지 않음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4B3D-E93A-6F27-6144-2020C174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7952F-41C1-C220-A677-D74BE06E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6B2874-53CE-43F2-B133-3109DDE8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C23323F-B90B-9722-E1E5-65C788A19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126574"/>
              </p:ext>
            </p:extLst>
          </p:nvPr>
        </p:nvGraphicFramePr>
        <p:xfrm>
          <a:off x="575310" y="775970"/>
          <a:ext cx="8769985" cy="50403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9755112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92">
                <a:tc rowSpan="7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AVNG5WIDE-474593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CLONE - [26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뮤직 스트리밍 화면에서 후방 카메라 화면 진입 후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TUNE KNOB 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짧게 입력 시 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TOP OSD 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</a:rPr>
                        <a:t>표시 중 재생 시간이 변동되지 않음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[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AVNG5WIDE-474473</a:t>
                      </a: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CLONE - [26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뮤직 스트리밍 화면에서 후방 카메라 화면 진입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TUNE KNOB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회전 후 뮤직 스트리밍 화면 복귀 직후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TUNE KNOB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시 노래 변경됨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[AVNG5WIDE-471964]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게스트 계정에서 무료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플러스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 상태에서 게스트 계정에서 사용 불가능한 메뉴 진입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시도시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 다시설정 팝업 표출함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[AVNG5WIDE-472035]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 플러스 요금제 계정 음질 설정 팝업 내 라디오 버튼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Push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효과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상이함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[AVNG5WIDE-471341]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곡 삭제 화면 내 임의의 곡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on+focus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상이함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[AVNG5WIDE-472151]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재생중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안내음량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진입후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 off/on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뒤로가기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3346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[AVNG5WIDE-473535]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표시중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 끄기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켜기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즉시 소거됨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407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B7FF-B754-16EB-0B79-F1B16A4F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F9FC2-85FB-E4DE-463F-EB224BF7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DA3BC8-9ACF-A54B-922C-F5A75ED3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F49443EA-E86B-8007-52C8-80641BBF0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78745"/>
              </p:ext>
            </p:extLst>
          </p:nvPr>
        </p:nvGraphicFramePr>
        <p:xfrm>
          <a:off x="575310" y="775970"/>
          <a:ext cx="8769985" cy="455211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9755112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92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[AVNG5WIDE-447526] [24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표출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미디어 재생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 됨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25-10-01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[AVNG5WIDE-474144] [26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][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스트리밍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뮤직 스트리밍 화면에서 후방 카메라 화면 진입 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TUNE KNOB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짧게 입력 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TOP OSD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표시 중 재생 시간이 변동되지 않음</a:t>
                      </a:r>
                    </a:p>
                  </a:txBody>
                  <a:tcPr marL="72000" marR="72000" marT="72000" marB="7200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26-01-13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192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[AVNG5WIDE-473178]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 스트리밍 화면에서 노래 일시 정지 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노래 틀어줘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발화 시 노래 추가되나 자동 재생되지 않고 재생 버튼 비활성화 상태로 변경됨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25-12-23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[AVNG5WIDE-466594]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CP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 중 뮤직 스트리밍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표출 후 전화 수신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천이되면서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뮤직 스트리밍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유지됨</a:t>
                      </a:r>
                    </a:p>
                  </a:txBody>
                  <a:tcPr marL="72000" marR="72000" marT="72000" marB="72000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25-10-10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8h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[AVNG5WIDE-467532]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프로필 변경 후 뮤직 스트리밍 진입 시 노래 자동 재생되지 않으며 전체 메뉴 화면 천이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 목록이 비어 있습니다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재생할 음악을 선택하십시오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.' 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25-12-04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10h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3346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[AVNG5WIDE-460681]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멜론에서 재생 불가 곡 존재 시 재생 목록 삭제 페이지 또는 라디오 음악 검색 기록에서 재생 불가 곡에 하이라이트 표시 및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동작함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25-10-10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57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D17D4-B85C-7E56-2FC5-0F6CF4EF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7B4CC-B77C-0EB8-DA46-439634C3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9211A8-72F1-1B41-297E-3189FF94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534A49-D25D-10CF-7454-0DC37235B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798419"/>
              </p:ext>
            </p:extLst>
          </p:nvPr>
        </p:nvGraphicFramePr>
        <p:xfrm>
          <a:off x="568007" y="784672"/>
          <a:ext cx="8769985" cy="5677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8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[AVNG5WIDE-472773]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한국어 설정 상태에서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고음질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가입 유도 팝업 출력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SWRC[VR]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시 팝업 소거되지 않음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26-01-06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[AVNG5WIDE-474757] NE EV AVN STD GEN5 WIDE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내수향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AMP_TMU) #03 KNR 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라디오 검색 기록 내 노래 재생 중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재생중이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아닌곡도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마퀴동작함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불가 곡에도 하이라이트 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8839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[AVNG5WIDE-475263]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HU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재부팅 상태에서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 라디오 검색 기록 이용 재생 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다음곡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재생 시 가사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표시되고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입력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919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[AVNG5WIDE-475209]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리스트 진입 후 임의의 리스트로 변경 후 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리스트 재진입 시 선택 한 리스트 유지 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2228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[AVNG5WIDE-475507]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 재생 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PWR OFF &gt; [MEDIA]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하드키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길게 입력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할때마다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3392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[AVNG5WIDE-473451]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재생 중 음성 메모 화면 진입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 [MODE]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자연의 소리 재생 시 간헐적으로 음성 메모 화면 유지 및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26-01-08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9502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[AVNG5WIDE-474119]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재생 중 음성 메모 화면 진입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 [MODE]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자연의 소리 재생 시 간헐적으로 음성 메모 화면 유지 및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8h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6006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[AVNG5WIDE-472272]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인치 차종 스트리밍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PWR OFF &gt;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미디어게이트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표출 시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9h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363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814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A954-C9A4-0FDB-E859-76A9A600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370DD-BD98-72FB-D77A-16D3CA386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A2F428-6580-7762-868E-C1C98046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7E7B2F9B-D357-44C5-EC13-9E7F9B1E7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762320"/>
              </p:ext>
            </p:extLst>
          </p:nvPr>
        </p:nvGraphicFramePr>
        <p:xfrm>
          <a:off x="568007" y="784672"/>
          <a:ext cx="8769985" cy="35689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5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[AVNG5WIDE-467797] CV EV AVN STD GEN5 WIDE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내수향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AMP_TMU) #15 KNR 11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재생목록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곡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일때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SWRC VR KEY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인기 곡  틀어줘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발화 후 라디오 검색 기록 탭에서 임의 곡 선택 재생 시 선택한 임의 곡 재생 하지 않음 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25-10-15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[AVNG5WIDE-476677] CLONE -  JA PE AVN STD GEN5 WIDE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내수향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AMP_TMU) #4 KNR 10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게스트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카카오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검색기록 확인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운전자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후 지니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멜론에서 라디오 검색 기록 상이함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8839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[AVNG5WIDE-472280] CLONE -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인치 차종 스트리밍 재생 중 안내 음량 화면에서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PWR OFF &gt; ON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타 화면 이동 시 상단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표시됨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919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[AVNG5WIDE-465319] [SWUPDATE][25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5W][NE]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 스트리밍 재생 중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음소거하고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음성 메모 재생 후 음성 인식으로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노래 틀어줘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발화 시 재생 버튼 비활성화 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26-02-11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2228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[AVNG5WIDE-477740]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분 미리 듣기 팝업 내 표시되는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CCI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원앱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명칭 문구 다름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26-03-06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33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597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EDBE-A0EE-2485-15E3-349D6332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8E62C-0C74-8F13-5995-BB801030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E5BB92-E980-F135-E4D8-A5C2CDC5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53819DF-68AB-FD59-12F6-D8DACECE5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912584"/>
              </p:ext>
            </p:extLst>
          </p:nvPr>
        </p:nvGraphicFramePr>
        <p:xfrm>
          <a:off x="575310" y="966470"/>
          <a:ext cx="8769985" cy="44802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921311493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14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[AVNG5WIDE-470152] 251117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25-11-17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8h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[AVNG5WIDE-470348]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[AVNG5WIDE-471204] 251127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큐큐뮤직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25-11-27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[AVNG5WIDE-470847] G5W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제어기 일반 보안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[AVNG5WIDE-470700] G5W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암호알고리즘파악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25-11-24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[AVNG5WIDE-472896] 251209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검출항목 처리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25-12-09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[AVNG5WIDE-472224]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후석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대화 실행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VR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음성인식 실행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SWRC[MODE]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 미디어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표출 중 소거 후 재표시됨</a:t>
                      </a:r>
                    </a:p>
                  </a:txBody>
                  <a:tcPr marL="72000" marR="72000" marT="72000" marB="7200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25-12-23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[AVNG5WIDE-472224] PIO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플랫폼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팅반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윤팅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원인 분석</a:t>
                      </a:r>
                    </a:p>
                  </a:txBody>
                  <a:tcPr marL="72000" marR="72000" marT="72000" marB="7200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25-12-18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83379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[AVNG5WIDE-466575] [25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품확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정차평가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5W][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인포품질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][AX1] 31.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멜론 계정연동 팝업 닫기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할때마다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재생중인 곡이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돌아감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25-09-24</a:t>
                      </a:r>
                      <a:endParaRPr lang="ko-KR" altLang="en-US" sz="11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427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022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05CAE-BDFB-4E5C-DB44-667FC9A7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81F9C-BD5D-7E5C-5215-9A2D3FEB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4280D-49F6-B5B4-DE2C-15FB19B3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E05D2AA-EE42-3383-EE6E-2896C12C2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569363"/>
              </p:ext>
            </p:extLst>
          </p:nvPr>
        </p:nvGraphicFramePr>
        <p:xfrm>
          <a:off x="575310" y="672556"/>
          <a:ext cx="8769985" cy="48154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[AVNG5WIDE-473725]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블랙테마 설정 상태에서 화이트 테마 변경 후 멜론 진입 시 재생 버튼 블랙 테마로 잠깐 표시 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[AVNG5WIDE-473775] 260105 Coverity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[AVNG5WIDE-475978] 260129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26-01-29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[AVNG5WIDE-476171] [HOA]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시동시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이용 팝업 표출 문의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(QX) / 260130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25-01-16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[AVNG5WIDE-476857] 260212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뮤직스트리밍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커버리티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검출항목 점검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26-02-10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[AVNG5WIDE-478002]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음악검색 내 임의의 검색어 입력 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VR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 시 검색어 비활성화 표시되지 않음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[AVNG5WIDE-477973]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스트리밍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음악검색 내 아티스트 앨범 탭에서 앨범 명 긴 포커스 후 해제 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말줄임표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표시되지 않음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[AVNG5WIDE-478100]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뮤직 스트리밍 계정 연동 팝업 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연동 후 계속하기’ 버튼 선택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'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체험 이용’ 버튼도 로딩 아이콘 표시됨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[AVNG5WIDE-477548] [26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국내 업데이트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멜론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TOP OSD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소거 시간 타 미디어와 상이함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Noto Sans CJK KR" charset="0"/>
                        </a:rPr>
                        <a:t>26-03-13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243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37A5-C2BD-CE75-BB9E-12C1845C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E4387-BAA0-7621-F171-62B4804F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뮤직스트리밍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827247-59B6-B7FF-1651-D1D62DBB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C96B3543-96C6-1B88-9717-D1C5FE588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312036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AVNG5WIDE-464582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  <a:p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9B80AC-A00C-00F6-80AF-AAF9601CFA2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A9A0DB5-BAF9-7000-C300-BD10CEC8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5" y="2486373"/>
            <a:ext cx="3865279" cy="18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1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608B-CF2B-C3E0-6F7E-50084F34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879BD-141F-FCAB-8AD7-61EFC459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(QQ Music)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29CEFA-3B22-8D34-02A3-2E788B04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88CF735-6F99-6D21-3140-534F7A877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214295"/>
              </p:ext>
            </p:extLst>
          </p:nvPr>
        </p:nvGraphicFramePr>
        <p:xfrm>
          <a:off x="575310" y="966470"/>
          <a:ext cx="8769985" cy="394747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2837793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  <a:endParaRPr lang="en-US" altLang="ko-KR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12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[MMTE-3462]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251117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커버리티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25-11-17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[MMTE-3611] 251127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큐큐뮤직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커버리티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38921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[MMTE-3630] 251128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92795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[MMTE-3959] 251231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25-12-31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98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[MMTE-4266]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V2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테스트 환경설정 문서화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15478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[MMTE-4268]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en-US" altLang="ko-KR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api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호출방식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6734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[MMTE-4267]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검색과정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4902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[MMTE-4266] 260130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26-01-30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4589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[MMTE-4473]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VR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관련 시퀀스 다이어그램 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54274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[MMTE-4472] 260223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검출항목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26-02-23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40779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[MMTE-4427]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로컬 </a:t>
                      </a: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DB 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16h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9632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[MMTE-4426] 260212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큐큐뮤직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</a:t>
                      </a:r>
                      <a:r>
                        <a:rPr lang="ko-KR" altLang="en-US" sz="1200" b="0" i="0" strike="noStrike" kern="1200" dirty="0" err="1">
                          <a:solidFill>
                            <a:srgbClr val="000000"/>
                          </a:solidFill>
                          <a:latin typeface="Droid Sans Mono"/>
                        </a:rPr>
                        <a:t>커버리티</a:t>
                      </a:r>
                      <a:r>
                        <a:rPr lang="ko-KR" altLang="en-US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 점검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Droid Sans Mono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Droid Sans Mono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08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71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032849"/>
              </p:ext>
            </p:extLst>
          </p:nvPr>
        </p:nvGraphicFramePr>
        <p:xfrm>
          <a:off x="436389" y="776689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[REQ_01]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04196"/>
              </p:ext>
            </p:extLst>
          </p:nvPr>
        </p:nvGraphicFramePr>
        <p:xfrm>
          <a:off x="436388" y="4082809"/>
          <a:ext cx="8769985" cy="1858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https://confluence.mobis.co.kr/pages/viewpage.action?pageId=603374613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06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173330"/>
              </p:ext>
            </p:extLst>
          </p:nvPr>
        </p:nvGraphicFramePr>
        <p:xfrm>
          <a:off x="436389" y="916915"/>
          <a:ext cx="8769985" cy="9591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페이지에 첨부완료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AVNG5WIDE-464582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935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471336"/>
              </p:ext>
            </p:extLst>
          </p:nvPr>
        </p:nvGraphicFramePr>
        <p:xfrm>
          <a:off x="457629" y="1022625"/>
          <a:ext cx="8925359" cy="5463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30240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109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639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2038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/>
                        <a:t>국내향</a:t>
                      </a:r>
                      <a:endParaRPr lang="en-US" altLang="ko-KR" sz="1400" spc="-50" baseline="0" dirty="0"/>
                    </a:p>
                    <a:p>
                      <a:pPr algn="ctr" latinLnBrk="1"/>
                      <a:r>
                        <a:rPr lang="ko-KR" altLang="en-US" sz="1400" spc="-50" baseline="0" dirty="0"/>
                        <a:t>유지보수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2038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 err="1"/>
                        <a:t>중국향</a:t>
                      </a:r>
                      <a:endParaRPr lang="en-US" altLang="ko-KR" sz="1400" spc="-50" baseline="0" dirty="0"/>
                    </a:p>
                    <a:p>
                      <a:pPr algn="ctr" latinLnBrk="1"/>
                      <a:r>
                        <a:rPr lang="ko-KR" altLang="en-US" sz="1400" spc="-50" baseline="0" dirty="0"/>
                        <a:t>유지보수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68538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853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>
                <a:latin typeface="+mn-ea"/>
              </a:rPr>
              <a:t>총 </a:t>
            </a:r>
            <a:r>
              <a:rPr lang="en-US" altLang="ko-KR" sz="1600">
                <a:latin typeface="+mn-ea"/>
              </a:rPr>
              <a:t>5.5</a:t>
            </a:r>
            <a:r>
              <a:rPr lang="ko-KR" altLang="en-US" sz="1600">
                <a:latin typeface="+mn-ea"/>
              </a:rPr>
              <a:t>개월</a:t>
            </a:r>
            <a:endParaRPr lang="ko-KR" altLang="en-US" sz="1600" dirty="0">
              <a:latin typeface="+mn-ea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9A3C3C24-7A5A-4B4D-A9DA-80019F70FCF7}"/>
              </a:ext>
            </a:extLst>
          </p:cNvPr>
          <p:cNvCxnSpPr>
            <a:cxnSpLocks/>
          </p:cNvCxnSpPr>
          <p:nvPr/>
        </p:nvCxnSpPr>
        <p:spPr>
          <a:xfrm flipH="1">
            <a:off x="1501032" y="2110502"/>
            <a:ext cx="1973797" cy="12072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3452812" y="1868658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6895940" y="2173981"/>
            <a:ext cx="43017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M+5.5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6773914" y="1872285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6032873" y="2768631"/>
            <a:ext cx="3225006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지니뮤직 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48D5A5F-8E70-D110-87EB-3726C4519C28}"/>
              </a:ext>
            </a:extLst>
          </p:cNvPr>
          <p:cNvGrpSpPr/>
          <p:nvPr/>
        </p:nvGrpSpPr>
        <p:grpSpPr>
          <a:xfrm>
            <a:off x="3434033" y="3785224"/>
            <a:ext cx="5948953" cy="415437"/>
            <a:chOff x="685036" y="3054038"/>
            <a:chExt cx="11800874" cy="415437"/>
          </a:xfrm>
          <a:solidFill>
            <a:schemeClr val="accent6">
              <a:lumMod val="50000"/>
            </a:schemeClr>
          </a:solidFill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872152C-43EA-4395-5F87-200EF80758CE}"/>
                </a:ext>
              </a:extLst>
            </p:cNvPr>
            <p:cNvGrpSpPr/>
            <p:nvPr/>
          </p:nvGrpSpPr>
          <p:grpSpPr>
            <a:xfrm>
              <a:off x="685036" y="3362063"/>
              <a:ext cx="11800874" cy="107412"/>
              <a:chOff x="874276" y="2930975"/>
              <a:chExt cx="16874813" cy="107412"/>
            </a:xfrm>
            <a:grpFill/>
          </p:grpSpPr>
          <p:sp>
            <p:nvSpPr>
              <p:cNvPr id="10" name="이등변 삼각형 9">
                <a:extLst>
                  <a:ext uri="{FF2B5EF4-FFF2-40B4-BE49-F238E27FC236}">
                    <a16:creationId xmlns:a16="http://schemas.microsoft.com/office/drawing/2014/main" id="{353A46E2-212D-F5A1-9A49-B70D4CF3FF87}"/>
                  </a:ext>
                </a:extLst>
              </p:cNvPr>
              <p:cNvSpPr/>
              <p:nvPr/>
            </p:nvSpPr>
            <p:spPr>
              <a:xfrm rot="5400000">
                <a:off x="11177195" y="2931855"/>
                <a:ext cx="106532" cy="106531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" name="이등변 삼각형 10">
                <a:extLst>
                  <a:ext uri="{FF2B5EF4-FFF2-40B4-BE49-F238E27FC236}">
                    <a16:creationId xmlns:a16="http://schemas.microsoft.com/office/drawing/2014/main" id="{8CB5333E-19D5-DAB8-341F-AFFE345AE3EB}"/>
                  </a:ext>
                </a:extLst>
              </p:cNvPr>
              <p:cNvSpPr/>
              <p:nvPr/>
            </p:nvSpPr>
            <p:spPr>
              <a:xfrm rot="16200000" flipH="1">
                <a:off x="874277" y="2930974"/>
                <a:ext cx="106532" cy="106534"/>
              </a:xfrm>
              <a:prstGeom prst="triangl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C5643490-0B24-123F-13E6-E7A4D78226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182102" y="2985121"/>
                <a:ext cx="6566987" cy="0"/>
              </a:xfrm>
              <a:prstGeom prst="line">
                <a:avLst/>
              </a:prstGeom>
              <a:grpFill/>
              <a:ln w="28575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3855A1-306A-4900-DE27-5E48BE24756A}"/>
                </a:ext>
              </a:extLst>
            </p:cNvPr>
            <p:cNvSpPr txBox="1"/>
            <p:nvPr/>
          </p:nvSpPr>
          <p:spPr>
            <a:xfrm>
              <a:off x="7503567" y="3054038"/>
              <a:ext cx="30709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멜론뮤직 유지보수 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(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기능변경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수정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예외상황 예방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/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처리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, </a:t>
              </a:r>
              <a:r>
                <a:rPr lang="ko-KR" altLang="en-US" sz="900" b="1" dirty="0">
                  <a:solidFill>
                    <a:schemeClr val="accent6">
                      <a:lumMod val="50000"/>
                    </a:schemeClr>
                  </a:solidFill>
                </a:rPr>
                <a:t>성능육성</a:t>
              </a:r>
              <a:r>
                <a:rPr lang="en-US" altLang="ko-KR" sz="900" b="1" dirty="0">
                  <a:solidFill>
                    <a:schemeClr val="accent6">
                      <a:lumMod val="50000"/>
                    </a:schemeClr>
                  </a:solidFill>
                </a:rPr>
                <a:t>) </a:t>
              </a:r>
              <a:endParaRPr lang="ko-KR" altLang="en-US" sz="9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085D6BF-0FB2-117D-197D-D63D566D59C9}"/>
              </a:ext>
            </a:extLst>
          </p:cNvPr>
          <p:cNvGrpSpPr/>
          <p:nvPr/>
        </p:nvGrpSpPr>
        <p:grpSpPr>
          <a:xfrm>
            <a:off x="3478619" y="5089559"/>
            <a:ext cx="5945766" cy="447734"/>
            <a:chOff x="481837" y="3024291"/>
            <a:chExt cx="11807652" cy="447734"/>
          </a:xfrm>
          <a:solidFill>
            <a:schemeClr val="accent6">
              <a:lumMod val="50000"/>
            </a:schemeClr>
          </a:solidFill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E119EA8-79F4-7E8E-6F04-6FD756B64526}"/>
                </a:ext>
              </a:extLst>
            </p:cNvPr>
            <p:cNvGrpSpPr/>
            <p:nvPr/>
          </p:nvGrpSpPr>
          <p:grpSpPr>
            <a:xfrm>
              <a:off x="481837" y="3365493"/>
              <a:ext cx="11807652" cy="106532"/>
              <a:chOff x="583708" y="2934405"/>
              <a:chExt cx="16884511" cy="106532"/>
            </a:xfrm>
            <a:grpFill/>
          </p:grpSpPr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8EE3B6B9-6DEE-0FC8-29C8-DF604239C3F3}"/>
                  </a:ext>
                </a:extLst>
              </p:cNvPr>
              <p:cNvSpPr/>
              <p:nvPr/>
            </p:nvSpPr>
            <p:spPr>
              <a:xfrm rot="5400000">
                <a:off x="10825469" y="2934405"/>
                <a:ext cx="106532" cy="106531"/>
              </a:xfrm>
              <a:prstGeom prst="triangle">
                <a:avLst/>
              </a:prstGeom>
              <a:solidFill>
                <a:srgbClr val="0066FF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65DA59E0-A0E4-F66F-7275-7F351478C1CE}"/>
                  </a:ext>
                </a:extLst>
              </p:cNvPr>
              <p:cNvSpPr/>
              <p:nvPr/>
            </p:nvSpPr>
            <p:spPr>
              <a:xfrm rot="16200000" flipH="1">
                <a:off x="583709" y="2934404"/>
                <a:ext cx="106532" cy="106533"/>
              </a:xfrm>
              <a:prstGeom prst="triangle">
                <a:avLst/>
              </a:prstGeom>
              <a:solidFill>
                <a:srgbClr val="0066FF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88855033-5AC8-8130-1207-B030A6378D39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0932001" y="2987670"/>
                <a:ext cx="6536218" cy="0"/>
              </a:xfrm>
              <a:prstGeom prst="line">
                <a:avLst/>
              </a:prstGeom>
              <a:grp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047D48-0D45-FBF7-996A-A0ACF032E08E}"/>
                </a:ext>
              </a:extLst>
            </p:cNvPr>
            <p:cNvSpPr txBox="1"/>
            <p:nvPr/>
          </p:nvSpPr>
          <p:spPr>
            <a:xfrm>
              <a:off x="7352580" y="3024291"/>
              <a:ext cx="307820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0070C0"/>
                  </a:solidFill>
                </a:rPr>
                <a:t>QQ Music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 유지보수 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(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기능변경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/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수정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, 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예외상황 예방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/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처리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, </a:t>
              </a:r>
              <a:r>
                <a:rPr lang="ko-KR" altLang="en-US" sz="900" b="1" dirty="0">
                  <a:solidFill>
                    <a:srgbClr val="0070C0"/>
                  </a:solidFill>
                </a:rPr>
                <a:t>성능육성</a:t>
              </a:r>
              <a:r>
                <a:rPr lang="en-US" altLang="ko-KR" sz="900" b="1" dirty="0">
                  <a:solidFill>
                    <a:srgbClr val="0070C0"/>
                  </a:solidFill>
                </a:rPr>
                <a:t>) </a:t>
              </a:r>
              <a:endParaRPr lang="ko-KR" altLang="en-US" sz="900" b="1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2D9EFE0-E693-C784-5740-D1E41667A490}"/>
              </a:ext>
            </a:extLst>
          </p:cNvPr>
          <p:cNvCxnSpPr>
            <a:cxnSpLocks/>
          </p:cNvCxnSpPr>
          <p:nvPr/>
        </p:nvCxnSpPr>
        <p:spPr>
          <a:xfrm flipH="1">
            <a:off x="7088132" y="2149552"/>
            <a:ext cx="229485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타원 149">
            <a:extLst>
              <a:ext uri="{FF2B5EF4-FFF2-40B4-BE49-F238E27FC236}">
                <a16:creationId xmlns:a16="http://schemas.microsoft.com/office/drawing/2014/main" id="{88AB993D-8034-44C5-BEA1-58D4594B1B01}"/>
              </a:ext>
            </a:extLst>
          </p:cNvPr>
          <p:cNvSpPr/>
          <p:nvPr/>
        </p:nvSpPr>
        <p:spPr>
          <a:xfrm>
            <a:off x="7022914" y="2083571"/>
            <a:ext cx="130437" cy="1269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8766CF70-23F5-4742-BB07-DC16D9A05EF9}"/>
              </a:ext>
            </a:extLst>
          </p:cNvPr>
          <p:cNvSpPr/>
          <p:nvPr/>
        </p:nvSpPr>
        <p:spPr>
          <a:xfrm>
            <a:off x="3409611" y="2047023"/>
            <a:ext cx="130437" cy="12695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489B5A7-1266-71AF-AC6C-55B1EBF67115}"/>
              </a:ext>
            </a:extLst>
          </p:cNvPr>
          <p:cNvCxnSpPr>
            <a:cxnSpLocks/>
          </p:cNvCxnSpPr>
          <p:nvPr/>
        </p:nvCxnSpPr>
        <p:spPr>
          <a:xfrm flipH="1">
            <a:off x="1498638" y="4154452"/>
            <a:ext cx="1976191" cy="0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F47885D-0AE7-14C7-A64C-82A2A87DC295}"/>
              </a:ext>
            </a:extLst>
          </p:cNvPr>
          <p:cNvCxnSpPr>
            <a:cxnSpLocks/>
          </p:cNvCxnSpPr>
          <p:nvPr/>
        </p:nvCxnSpPr>
        <p:spPr>
          <a:xfrm flipH="1">
            <a:off x="1504025" y="3070826"/>
            <a:ext cx="1976191" cy="0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</p:cNvCxnSpPr>
          <p:nvPr/>
        </p:nvCxnSpPr>
        <p:spPr>
          <a:xfrm flipH="1">
            <a:off x="7066167" y="3070826"/>
            <a:ext cx="2315089" cy="0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7029418" y="3052048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3416138" y="304840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3718200-758B-B357-7AF6-69423CF4FA78}"/>
              </a:ext>
            </a:extLst>
          </p:cNvPr>
          <p:cNvCxnSpPr>
            <a:cxnSpLocks/>
          </p:cNvCxnSpPr>
          <p:nvPr/>
        </p:nvCxnSpPr>
        <p:spPr>
          <a:xfrm flipH="1">
            <a:off x="1498638" y="5484026"/>
            <a:ext cx="1958515" cy="0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3929385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836089"/>
              </p:ext>
            </p:extLst>
          </p:nvPr>
        </p:nvGraphicFramePr>
        <p:xfrm>
          <a:off x="452436" y="1062338"/>
          <a:ext cx="9001127" cy="5387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45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45348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23151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6594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0522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1365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86818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보고서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M+5.5</a:t>
                      </a:r>
                      <a:br>
                        <a:rPr lang="en-US" altLang="ko-KR" sz="1400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03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5.5 M/M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16198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바이너리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소스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뮤직스트리밍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strike="noStrike" spc="-1" dirty="0">
                          <a:latin typeface="Noto Serif CJK KR"/>
                          <a:hlinkClick r:id="rId2"/>
                        </a:rPr>
                        <a:t>https://bitbucket.mobis.co.kr/projects/DAUDIO1_1_KK/repos/mobis.packages.apps.hkmc_musicstreaming/browse</a:t>
                      </a: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큐큐뮤직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strike="noStrike" spc="-1" dirty="0">
                          <a:latin typeface="Noto Serif CJK KR"/>
                          <a:hlinkClick r:id="rId3"/>
                        </a:rPr>
                        <a:t>https://bitbucket.mobis.co.kr/projects/DAUDIO1_1_KK/repos/platform.packages.apps.music/browse</a:t>
                      </a:r>
                      <a:endParaRPr lang="en-US" altLang="ko-KR" sz="1200" b="0" strike="noStrike" spc="-1" dirty="0">
                        <a:latin typeface="Noto Serif CJK KR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5.5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(2025.09.15 ~ 2026.03.30)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93AF95-B89E-F76A-0D76-EFBBC3B1E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968434"/>
              </p:ext>
            </p:extLst>
          </p:nvPr>
        </p:nvGraphicFramePr>
        <p:xfrm>
          <a:off x="681037" y="1013009"/>
          <a:ext cx="8239431" cy="5440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709">
                  <a:extLst>
                    <a:ext uri="{9D8B030D-6E8A-4147-A177-3AD203B41FA5}">
                      <a16:colId xmlns:a16="http://schemas.microsoft.com/office/drawing/2014/main" val="2635576205"/>
                    </a:ext>
                  </a:extLst>
                </a:gridCol>
                <a:gridCol w="797078">
                  <a:extLst>
                    <a:ext uri="{9D8B030D-6E8A-4147-A177-3AD203B41FA5}">
                      <a16:colId xmlns:a16="http://schemas.microsoft.com/office/drawing/2014/main" val="2477363262"/>
                    </a:ext>
                  </a:extLst>
                </a:gridCol>
                <a:gridCol w="275666">
                  <a:extLst>
                    <a:ext uri="{9D8B030D-6E8A-4147-A177-3AD203B41FA5}">
                      <a16:colId xmlns:a16="http://schemas.microsoft.com/office/drawing/2014/main" val="1859385112"/>
                    </a:ext>
                  </a:extLst>
                </a:gridCol>
                <a:gridCol w="795467">
                  <a:extLst>
                    <a:ext uri="{9D8B030D-6E8A-4147-A177-3AD203B41FA5}">
                      <a16:colId xmlns:a16="http://schemas.microsoft.com/office/drawing/2014/main" val="2774247434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347027067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940699234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3781884129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666352977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1234470632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62396544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26793783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281966021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47302799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3689243993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015741455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4259271809"/>
                    </a:ext>
                  </a:extLst>
                </a:gridCol>
                <a:gridCol w="513887">
                  <a:extLst>
                    <a:ext uri="{9D8B030D-6E8A-4147-A177-3AD203B41FA5}">
                      <a16:colId xmlns:a16="http://schemas.microsoft.com/office/drawing/2014/main" val="2608325764"/>
                    </a:ext>
                  </a:extLst>
                </a:gridCol>
              </a:tblGrid>
              <a:tr h="200687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212"/>
                  </a:ext>
                </a:extLst>
              </a:tr>
              <a:tr h="200687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11666"/>
                  </a:ext>
                </a:extLst>
              </a:tr>
              <a:tr h="232883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뮤직</a:t>
                      </a:r>
                      <a:endParaRPr lang="en-US" altLang="ko-KR" sz="9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스트리밍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유지보수</a:t>
                      </a:r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649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5722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88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6630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09335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(UI</a:t>
                      </a:r>
                      <a:r>
                        <a:rPr lang="ko-KR" altLang="en-US" sz="800" dirty="0"/>
                        <a:t>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662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1123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1.2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97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5336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86869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QQ</a:t>
                      </a:r>
                      <a:r>
                        <a:rPr lang="ko-KR" altLang="en-US" sz="800" dirty="0"/>
                        <a:t>뮤직 유지보수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26573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261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8618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04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5696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인건비 소계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0.5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3.0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7213"/>
                  </a:ext>
                </a:extLst>
              </a:tr>
              <a:tr h="262537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유지보수 등급별 투입인력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     -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0436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952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3.0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27608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   </a:t>
                      </a:r>
                      <a:r>
                        <a:rPr lang="en-US" altLang="ko-KR" sz="800" b="1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86095"/>
                  </a:ext>
                </a:extLst>
              </a:tr>
              <a:tr h="2625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8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3.0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4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5.5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(2025.09.15 ~ 2026.03.30)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1BD2FC6-918A-9CD0-79E4-972A191CE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349947"/>
              </p:ext>
            </p:extLst>
          </p:nvPr>
        </p:nvGraphicFramePr>
        <p:xfrm>
          <a:off x="681037" y="1013009"/>
          <a:ext cx="8239431" cy="5440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709">
                  <a:extLst>
                    <a:ext uri="{9D8B030D-6E8A-4147-A177-3AD203B41FA5}">
                      <a16:colId xmlns:a16="http://schemas.microsoft.com/office/drawing/2014/main" val="2635576205"/>
                    </a:ext>
                  </a:extLst>
                </a:gridCol>
                <a:gridCol w="797078">
                  <a:extLst>
                    <a:ext uri="{9D8B030D-6E8A-4147-A177-3AD203B41FA5}">
                      <a16:colId xmlns:a16="http://schemas.microsoft.com/office/drawing/2014/main" val="2477363262"/>
                    </a:ext>
                  </a:extLst>
                </a:gridCol>
                <a:gridCol w="275666">
                  <a:extLst>
                    <a:ext uri="{9D8B030D-6E8A-4147-A177-3AD203B41FA5}">
                      <a16:colId xmlns:a16="http://schemas.microsoft.com/office/drawing/2014/main" val="1859385112"/>
                    </a:ext>
                  </a:extLst>
                </a:gridCol>
                <a:gridCol w="795467">
                  <a:extLst>
                    <a:ext uri="{9D8B030D-6E8A-4147-A177-3AD203B41FA5}">
                      <a16:colId xmlns:a16="http://schemas.microsoft.com/office/drawing/2014/main" val="2774247434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347027067"/>
                    </a:ext>
                  </a:extLst>
                </a:gridCol>
                <a:gridCol w="440863">
                  <a:extLst>
                    <a:ext uri="{9D8B030D-6E8A-4147-A177-3AD203B41FA5}">
                      <a16:colId xmlns:a16="http://schemas.microsoft.com/office/drawing/2014/main" val="2940699234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3781884129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666352977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1234470632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62396544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26793783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2819660210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547302799"/>
                    </a:ext>
                  </a:extLst>
                </a:gridCol>
                <a:gridCol w="426575">
                  <a:extLst>
                    <a:ext uri="{9D8B030D-6E8A-4147-A177-3AD203B41FA5}">
                      <a16:colId xmlns:a16="http://schemas.microsoft.com/office/drawing/2014/main" val="3689243993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2015741455"/>
                    </a:ext>
                  </a:extLst>
                </a:gridCol>
                <a:gridCol w="440862">
                  <a:extLst>
                    <a:ext uri="{9D8B030D-6E8A-4147-A177-3AD203B41FA5}">
                      <a16:colId xmlns:a16="http://schemas.microsoft.com/office/drawing/2014/main" val="4259271809"/>
                    </a:ext>
                  </a:extLst>
                </a:gridCol>
                <a:gridCol w="513887">
                  <a:extLst>
                    <a:ext uri="{9D8B030D-6E8A-4147-A177-3AD203B41FA5}">
                      <a16:colId xmlns:a16="http://schemas.microsoft.com/office/drawing/2014/main" val="2608325764"/>
                    </a:ext>
                  </a:extLst>
                </a:gridCol>
              </a:tblGrid>
              <a:tr h="200687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212"/>
                  </a:ext>
                </a:extLst>
              </a:tr>
              <a:tr h="200687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11666"/>
                  </a:ext>
                </a:extLst>
              </a:tr>
              <a:tr h="232883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뮤직</a:t>
                      </a:r>
                      <a:endParaRPr lang="en-US" altLang="ko-KR" sz="9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스트리밍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유지보수</a:t>
                      </a:r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649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57220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88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6630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09335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지니</a:t>
                      </a:r>
                      <a:r>
                        <a:rPr lang="en-US" altLang="ko-KR" sz="800" u="none" strike="noStrike" dirty="0">
                          <a:effectLst/>
                        </a:rPr>
                        <a:t>&amp;</a:t>
                      </a:r>
                      <a:r>
                        <a:rPr lang="ko-KR" altLang="en-US" sz="800" u="none" strike="noStrike" dirty="0">
                          <a:effectLst/>
                        </a:rPr>
                        <a:t>멜론 뮤직 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dirty="0"/>
                        <a:t>(UI</a:t>
                      </a:r>
                      <a:r>
                        <a:rPr lang="ko-KR" altLang="en-US" sz="800" dirty="0"/>
                        <a:t>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66222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1123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97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5336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868699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QQ</a:t>
                      </a:r>
                      <a:r>
                        <a:rPr lang="ko-KR" altLang="en-US" sz="800" dirty="0"/>
                        <a:t>뮤직 유지보수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로직 변경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26573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261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86186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0408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569654"/>
                  </a:ext>
                </a:extLst>
              </a:tr>
              <a:tr h="232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인건비 소계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7213"/>
                  </a:ext>
                </a:extLst>
              </a:tr>
              <a:tr h="262537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유지보수 등급별 투입인력</a:t>
                      </a:r>
                      <a:endParaRPr lang="ko-KR" altLang="en-US" sz="800" b="1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     -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0436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9523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27608"/>
                  </a:ext>
                </a:extLst>
              </a:tr>
              <a:tr h="2625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   </a:t>
                      </a:r>
                      <a:r>
                        <a:rPr lang="en-US" altLang="ko-KR" sz="800" b="1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86095"/>
                  </a:ext>
                </a:extLst>
              </a:tr>
              <a:tr h="2625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8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4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1) SW</a:t>
            </a:r>
            <a:r>
              <a:rPr lang="ko-KR" altLang="en-US" dirty="0"/>
              <a:t> 구조도</a:t>
            </a:r>
          </a:p>
        </p:txBody>
      </p:sp>
      <p:sp>
        <p:nvSpPr>
          <p:cNvPr id="14" name="바닥글 개체 틀 13">
            <a:extLst>
              <a:ext uri="{FF2B5EF4-FFF2-40B4-BE49-F238E27FC236}">
                <a16:creationId xmlns:a16="http://schemas.microsoft.com/office/drawing/2014/main" id="{264E986F-127E-87BD-120D-35F328B7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09CFC6-1645-8DB0-6E84-7BE5DFF57B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21"/>
          <a:stretch/>
        </p:blipFill>
        <p:spPr>
          <a:xfrm>
            <a:off x="966619" y="981075"/>
            <a:ext cx="7972762" cy="525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72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2) </a:t>
            </a:r>
            <a:r>
              <a:rPr lang="ko-KR" altLang="en-US" dirty="0"/>
              <a:t>스트리밍 뮤직 서비스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0824E2-7484-4CF0-BE13-05F03E167876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A933A-AC13-491C-8ADC-22B30B283672}"/>
              </a:ext>
            </a:extLst>
          </p:cNvPr>
          <p:cNvSpPr txBox="1"/>
          <p:nvPr/>
        </p:nvSpPr>
        <p:spPr>
          <a:xfrm>
            <a:off x="408373" y="612552"/>
            <a:ext cx="3437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600" dirty="0"/>
              <a:t>Streaming Music</a:t>
            </a:r>
            <a:r>
              <a:rPr lang="ko-KR" altLang="en-US" sz="1600" dirty="0"/>
              <a:t> 주요 화면 흐름도</a:t>
            </a:r>
            <a:endParaRPr lang="en-US" altLang="ko-KR" sz="1600" dirty="0"/>
          </a:p>
        </p:txBody>
      </p:sp>
      <p:cxnSp>
        <p:nvCxnSpPr>
          <p:cNvPr id="8" name="꺾인 연결선 7">
            <a:extLst>
              <a:ext uri="{FF2B5EF4-FFF2-40B4-BE49-F238E27FC236}">
                <a16:creationId xmlns:a16="http://schemas.microsoft.com/office/drawing/2014/main" id="{A7952E9B-8C60-4948-AC0C-DE790DD8411B}"/>
              </a:ext>
            </a:extLst>
          </p:cNvPr>
          <p:cNvCxnSpPr>
            <a:cxnSpLocks/>
            <a:endCxn id="30" idx="1"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" name="꺾인 연결선 282">
            <a:extLst>
              <a:ext uri="{FF2B5EF4-FFF2-40B4-BE49-F238E27FC236}">
                <a16:creationId xmlns:a16="http://schemas.microsoft.com/office/drawing/2014/main" id="{5C446FB4-584D-40E8-AAD3-40576C79839E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" name="꺾인 연결선 283">
            <a:extLst>
              <a:ext uri="{FF2B5EF4-FFF2-40B4-BE49-F238E27FC236}">
                <a16:creationId xmlns:a16="http://schemas.microsoft.com/office/drawing/2014/main" id="{EC11BBF7-9D15-45B0-8931-975C1B361DC5}"/>
              </a:ext>
            </a:extLst>
          </p:cNvPr>
          <p:cNvCxnSpPr>
            <a:stCxn id="39" idx="3"/>
            <a:endCxn id="40" idx="1"/>
          </p:cNvCxnSpPr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43EF0C-1218-491E-8957-1B42695D4B03}"/>
              </a:ext>
            </a:extLst>
          </p:cNvPr>
          <p:cNvSpPr txBox="1"/>
          <p:nvPr/>
        </p:nvSpPr>
        <p:spPr bwMode="auto">
          <a:xfrm>
            <a:off x="2289155" y="1258076"/>
            <a:ext cx="7502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[Recommend]]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9A9C2-C4D3-4BDF-8495-0917A004E256}"/>
              </a:ext>
            </a:extLst>
          </p:cNvPr>
          <p:cNvSpPr txBox="1"/>
          <p:nvPr/>
        </p:nvSpPr>
        <p:spPr bwMode="auto">
          <a:xfrm>
            <a:off x="2295567" y="2179180"/>
            <a:ext cx="74379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[Classification]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E74DD5-FE89-4281-9863-4ECBEEDAEDD3}"/>
              </a:ext>
            </a:extLst>
          </p:cNvPr>
          <p:cNvSpPr txBox="1"/>
          <p:nvPr/>
        </p:nvSpPr>
        <p:spPr bwMode="auto">
          <a:xfrm>
            <a:off x="2520207" y="3092809"/>
            <a:ext cx="53860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[Favorites]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4" name="꺾인 연결선 290">
            <a:extLst>
              <a:ext uri="{FF2B5EF4-FFF2-40B4-BE49-F238E27FC236}">
                <a16:creationId xmlns:a16="http://schemas.microsoft.com/office/drawing/2014/main" id="{5B50F2A5-2D55-4D5F-B35B-3169D21FAC3B}"/>
              </a:ext>
            </a:extLst>
          </p:cNvPr>
          <p:cNvCxnSpPr>
            <a:stCxn id="39" idx="3"/>
            <a:endCxn id="44" idx="1"/>
          </p:cNvCxnSpPr>
          <p:nvPr/>
        </p:nvCxnSpPr>
        <p:spPr bwMode="auto">
          <a:xfrm>
            <a:off x="1925921" y="1457973"/>
            <a:ext cx="1166249" cy="269358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26861A-F743-4049-A5C2-8D2DC25AD82A}"/>
              </a:ext>
            </a:extLst>
          </p:cNvPr>
          <p:cNvSpPr txBox="1"/>
          <p:nvPr/>
        </p:nvSpPr>
        <p:spPr bwMode="auto">
          <a:xfrm>
            <a:off x="2686699" y="3983202"/>
            <a:ext cx="3526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[Menu]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꺾인 연결선 313">
            <a:extLst>
              <a:ext uri="{FF2B5EF4-FFF2-40B4-BE49-F238E27FC236}">
                <a16:creationId xmlns:a16="http://schemas.microsoft.com/office/drawing/2014/main" id="{71A304EF-7F59-4A94-A0F9-F9B37BBCAF1E}"/>
              </a:ext>
            </a:extLst>
          </p:cNvPr>
          <p:cNvCxnSpPr>
            <a:stCxn id="39" idx="3"/>
            <a:endCxn id="32" idx="1"/>
          </p:cNvCxnSpPr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C97890-D0F1-46D4-BD24-68B80CE18FF5}"/>
              </a:ext>
            </a:extLst>
          </p:cNvPr>
          <p:cNvSpPr txBox="1"/>
          <p:nvPr/>
        </p:nvSpPr>
        <p:spPr bwMode="auto">
          <a:xfrm>
            <a:off x="4820039" y="1255423"/>
            <a:ext cx="7053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Album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B2FC6-B0F6-4531-8121-D352AA161083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6ECFF8-0694-4C94-A54D-F250FE04211D}"/>
              </a:ext>
            </a:extLst>
          </p:cNvPr>
          <p:cNvSpPr txBox="1"/>
          <p:nvPr/>
        </p:nvSpPr>
        <p:spPr bwMode="auto">
          <a:xfrm>
            <a:off x="8687912" y="1788670"/>
            <a:ext cx="71144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3CCA7-225F-44A5-80BA-6132E7190F9D}"/>
              </a:ext>
            </a:extLst>
          </p:cNvPr>
          <p:cNvSpPr txBox="1"/>
          <p:nvPr/>
        </p:nvSpPr>
        <p:spPr bwMode="auto">
          <a:xfrm>
            <a:off x="4826451" y="2172400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2779A3-D106-4051-AE08-4A8949B44B7B}"/>
              </a:ext>
            </a:extLst>
          </p:cNvPr>
          <p:cNvSpPr txBox="1"/>
          <p:nvPr/>
        </p:nvSpPr>
        <p:spPr bwMode="auto">
          <a:xfrm>
            <a:off x="6596582" y="2719064"/>
            <a:ext cx="74922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B1E516-6E25-4326-A4D8-CEA27568859D}"/>
              </a:ext>
            </a:extLst>
          </p:cNvPr>
          <p:cNvSpPr txBox="1"/>
          <p:nvPr/>
        </p:nvSpPr>
        <p:spPr bwMode="auto">
          <a:xfrm>
            <a:off x="4826451" y="307196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A2FC57-6F0E-490D-8762-560F55B97CBB}"/>
              </a:ext>
            </a:extLst>
          </p:cNvPr>
          <p:cNvSpPr txBox="1"/>
          <p:nvPr/>
        </p:nvSpPr>
        <p:spPr bwMode="auto">
          <a:xfrm>
            <a:off x="4773048" y="5791616"/>
            <a:ext cx="86241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8A7FFC-8708-407B-9A7A-DB8D6E87456B}"/>
              </a:ext>
            </a:extLst>
          </p:cNvPr>
          <p:cNvSpPr txBox="1"/>
          <p:nvPr/>
        </p:nvSpPr>
        <p:spPr bwMode="auto">
          <a:xfrm>
            <a:off x="8689201" y="5472469"/>
            <a:ext cx="70886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43182-4F2A-4FA4-8083-E75F537C0DC3}"/>
              </a:ext>
            </a:extLst>
          </p:cNvPr>
          <p:cNvSpPr txBox="1"/>
          <p:nvPr/>
        </p:nvSpPr>
        <p:spPr bwMode="auto">
          <a:xfrm>
            <a:off x="7309946" y="127984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C62BFEC-6861-4F6B-B645-E12BA413B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1" y="2367081"/>
            <a:ext cx="1657030" cy="6170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70CEE3-0ECC-4356-A63A-F910251529AD}"/>
              </a:ext>
            </a:extLst>
          </p:cNvPr>
          <p:cNvSpPr txBox="1"/>
          <p:nvPr/>
        </p:nvSpPr>
        <p:spPr bwMode="auto">
          <a:xfrm>
            <a:off x="268891" y="2988812"/>
            <a:ext cx="204629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 : If there is no play list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6853A91-1BAF-4F29-811E-0D7377110F10}"/>
              </a:ext>
            </a:extLst>
          </p:cNvPr>
          <p:cNvSpPr/>
          <p:nvPr/>
        </p:nvSpPr>
        <p:spPr>
          <a:xfrm>
            <a:off x="198049" y="1050587"/>
            <a:ext cx="1807922" cy="2111472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FF46C8-8347-4C1B-898F-A2219E1C4B3A}"/>
              </a:ext>
            </a:extLst>
          </p:cNvPr>
          <p:cNvSpPr txBox="1"/>
          <p:nvPr/>
        </p:nvSpPr>
        <p:spPr bwMode="auto">
          <a:xfrm>
            <a:off x="7338195" y="5785551"/>
            <a:ext cx="4937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list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6DD743DE-A9A6-4471-9A48-66406A75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1138953"/>
            <a:ext cx="1665468" cy="6217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13C89D23-ECC6-4940-9915-BB0C76802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85" y="1133104"/>
            <a:ext cx="1679745" cy="6358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6888A478-9327-40AE-B7AC-39F67E1DB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5647681"/>
            <a:ext cx="1665468" cy="6229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DAE795CF-13CE-4D5C-91C3-E4817A8ED729}"/>
              </a:ext>
            </a:extLst>
          </p:cNvPr>
          <p:cNvGrpSpPr/>
          <p:nvPr/>
        </p:nvGrpSpPr>
        <p:grpSpPr>
          <a:xfrm>
            <a:off x="5618123" y="5647680"/>
            <a:ext cx="1665468" cy="622933"/>
            <a:chOff x="5642823" y="5375306"/>
            <a:chExt cx="1665468" cy="622933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3D7C579C-726A-4067-83EC-0A5F192772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2823" y="5375306"/>
              <a:ext cx="1665468" cy="622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96169955-B0FB-43DB-AEC0-5DAC9B87E7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147"/>
            <a:stretch/>
          </p:blipFill>
          <p:spPr bwMode="auto">
            <a:xfrm>
              <a:off x="5642823" y="5630861"/>
              <a:ext cx="1659159" cy="36737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8" name="Picture 2">
            <a:extLst>
              <a:ext uri="{FF2B5EF4-FFF2-40B4-BE49-F238E27FC236}">
                <a16:creationId xmlns:a16="http://schemas.microsoft.com/office/drawing/2014/main" id="{A815D706-DEC4-4252-A94E-0E8042A8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747" y="5644575"/>
            <a:ext cx="1687564" cy="6357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>
            <a:extLst>
              <a:ext uri="{FF2B5EF4-FFF2-40B4-BE49-F238E27FC236}">
                <a16:creationId xmlns:a16="http://schemas.microsoft.com/office/drawing/2014/main" id="{270E5123-CD1D-48BA-ABA9-B0D499336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9" y="1144134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260D4AE8-864C-4757-AC63-5DC0E4D5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2932214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>
            <a:extLst>
              <a:ext uri="{FF2B5EF4-FFF2-40B4-BE49-F238E27FC236}">
                <a16:creationId xmlns:a16="http://schemas.microsoft.com/office/drawing/2014/main" id="{2664B9B0-7B61-44A3-866C-E2828C23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033651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B6240904-47BB-4BF0-BDC2-634852A17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51" y="2935725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FE458E68-1EFD-4FD7-8F58-CEC6229E8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723" y="1134406"/>
            <a:ext cx="1667612" cy="6276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3">
            <a:extLst>
              <a:ext uri="{FF2B5EF4-FFF2-40B4-BE49-F238E27FC236}">
                <a16:creationId xmlns:a16="http://schemas.microsoft.com/office/drawing/2014/main" id="{4F47C28B-D797-449F-B7AF-EAAF58A6C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3839470"/>
            <a:ext cx="1665468" cy="6241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5" name="꺾인 연결선 84">
            <a:extLst>
              <a:ext uri="{FF2B5EF4-FFF2-40B4-BE49-F238E27FC236}">
                <a16:creationId xmlns:a16="http://schemas.microsoft.com/office/drawing/2014/main" id="{E9770173-DA60-48E0-81FC-342C94061DE5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 bwMode="auto">
          <a:xfrm>
            <a:off x="4757638" y="4151557"/>
            <a:ext cx="865407" cy="9086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DD439B8-8919-424B-8B3F-5915C36762EE}"/>
              </a:ext>
            </a:extLst>
          </p:cNvPr>
          <p:cNvSpPr txBox="1"/>
          <p:nvPr/>
        </p:nvSpPr>
        <p:spPr bwMode="auto">
          <a:xfrm>
            <a:off x="2836026" y="4524029"/>
            <a:ext cx="104593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[Option Settings]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829BE3-AC81-4E91-9F94-69DA00C4B4C7}"/>
              </a:ext>
            </a:extLst>
          </p:cNvPr>
          <p:cNvSpPr txBox="1"/>
          <p:nvPr/>
        </p:nvSpPr>
        <p:spPr bwMode="auto">
          <a:xfrm>
            <a:off x="5015495" y="3985579"/>
            <a:ext cx="51296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[Recently]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48" name="Picture 3">
            <a:extLst>
              <a:ext uri="{FF2B5EF4-FFF2-40B4-BE49-F238E27FC236}">
                <a16:creationId xmlns:a16="http://schemas.microsoft.com/office/drawing/2014/main" id="{9506377F-D50F-4EE3-9CDF-ED870F58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09" y="3837799"/>
            <a:ext cx="1651497" cy="625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>
            <a:extLst>
              <a:ext uri="{FF2B5EF4-FFF2-40B4-BE49-F238E27FC236}">
                <a16:creationId xmlns:a16="http://schemas.microsoft.com/office/drawing/2014/main" id="{BDCEC76A-8A10-41FF-BE76-8E506A13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170" y="4740425"/>
            <a:ext cx="1665468" cy="6304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6DB3A42-71F4-454F-BC42-8638A7C54306}"/>
              </a:ext>
            </a:extLst>
          </p:cNvPr>
          <p:cNvSpPr txBox="1"/>
          <p:nvPr/>
        </p:nvSpPr>
        <p:spPr bwMode="auto">
          <a:xfrm>
            <a:off x="5225337" y="4538354"/>
            <a:ext cx="4296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[My List]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E911FC30-0C91-4297-ABD6-1D957BBB3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045" y="4747108"/>
            <a:ext cx="1655625" cy="6261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C5257979-B0EE-4142-A12D-3132F0808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76" y="2037489"/>
            <a:ext cx="1655257" cy="617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E381A5E8-B289-43B7-9078-6042643FF5F2}"/>
              </a:ext>
            </a:extLst>
          </p:cNvPr>
          <p:cNvGrpSpPr/>
          <p:nvPr/>
        </p:nvGrpSpPr>
        <p:grpSpPr>
          <a:xfrm>
            <a:off x="2527279" y="5764486"/>
            <a:ext cx="589905" cy="165629"/>
            <a:chOff x="1207220" y="5572580"/>
            <a:chExt cx="589905" cy="16562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CF7C141-E806-4B7F-93C5-6CEBBF0999C0}"/>
                </a:ext>
              </a:extLst>
            </p:cNvPr>
            <p:cNvSpPr txBox="1"/>
            <p:nvPr/>
          </p:nvSpPr>
          <p:spPr bwMode="auto">
            <a:xfrm>
              <a:off x="1207220" y="5576418"/>
              <a:ext cx="58990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dirty="0">
                  <a:solidFill>
                    <a:prstClr val="black"/>
                  </a:solidFill>
                  <a:latin typeface="Arial" pitchFamily="34" charset="0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pic>
          <p:nvPicPr>
            <p:cNvPr id="55" name="Picture 3" descr="U:\Temp\다운로드.png">
              <a:extLst>
                <a:ext uri="{FF2B5EF4-FFF2-40B4-BE49-F238E27FC236}">
                  <a16:creationId xmlns:a16="http://schemas.microsoft.com/office/drawing/2014/main" id="{6673D9A7-4040-47BB-9356-92172A663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80C15B1-3CDB-4DEC-8055-24E9961BF235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3924904" y="4463643"/>
            <a:ext cx="0" cy="27678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54DACBF-32D7-4051-AD0B-0A1090D47853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18FC426-EDC3-4EC8-9565-A7EF894006C1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DBBF40E-F098-4AD4-BDD7-AC4A53036E59}"/>
              </a:ext>
            </a:extLst>
          </p:cNvPr>
          <p:cNvCxnSpPr>
            <a:cxnSpLocks/>
            <a:stCxn id="31" idx="3"/>
            <a:endCxn id="43" idx="1"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68BB2DE-7639-4AE2-8DCA-EE40F9DF0A3F}"/>
              </a:ext>
            </a:extLst>
          </p:cNvPr>
          <p:cNvCxnSpPr>
            <a:cxnSpLocks/>
            <a:stCxn id="52" idx="3"/>
            <a:endCxn id="41" idx="1"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834AB93-1B06-42D7-9E8D-28A9EFC84725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00711DA-59DD-4802-9EC4-91C9FCB05807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 flipV="1">
            <a:off x="4757638" y="4150392"/>
            <a:ext cx="867471" cy="116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C00DF05-AAF5-4786-AB0C-1D4816FCB738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A3CCE-AA9B-13AC-9367-596A9268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</p:spTree>
    <p:extLst>
      <p:ext uri="{BB962C8B-B14F-4D97-AF65-F5344CB8AC3E}">
        <p14:creationId xmlns:p14="http://schemas.microsoft.com/office/powerpoint/2010/main" val="3618260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855D-E66F-6CEE-4FEA-9ADE961D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A2EB-6DA1-7090-1110-E371ACD0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2) QQ Music</a:t>
            </a:r>
            <a:r>
              <a:rPr lang="ko-KR" altLang="en-US" dirty="0"/>
              <a:t> 서비스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D7D2AA-B0D8-4A01-5798-B1E8E612B18D}"/>
              </a:ext>
            </a:extLst>
          </p:cNvPr>
          <p:cNvSpPr/>
          <p:nvPr/>
        </p:nvSpPr>
        <p:spPr>
          <a:xfrm>
            <a:off x="128071" y="951106"/>
            <a:ext cx="9550696" cy="558588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BCD6D-42EE-CC47-DA43-B0AAF41BCB8F}"/>
              </a:ext>
            </a:extLst>
          </p:cNvPr>
          <p:cNvSpPr txBox="1"/>
          <p:nvPr/>
        </p:nvSpPr>
        <p:spPr>
          <a:xfrm>
            <a:off x="408373" y="612552"/>
            <a:ext cx="28696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600" dirty="0"/>
              <a:t>QQ Music</a:t>
            </a:r>
            <a:r>
              <a:rPr lang="ko-KR" altLang="en-US" sz="1600" dirty="0"/>
              <a:t> 주요 화면 흐름도</a:t>
            </a:r>
            <a:endParaRPr lang="en-US" altLang="ko-KR" sz="1600" dirty="0"/>
          </a:p>
        </p:txBody>
      </p:sp>
      <p:cxnSp>
        <p:nvCxnSpPr>
          <p:cNvPr id="8" name="꺾인 연결선 7">
            <a:extLst>
              <a:ext uri="{FF2B5EF4-FFF2-40B4-BE49-F238E27FC236}">
                <a16:creationId xmlns:a16="http://schemas.microsoft.com/office/drawing/2014/main" id="{F54F7275-0A76-23E0-FA7F-CBFFDCED82FC}"/>
              </a:ext>
            </a:extLst>
          </p:cNvPr>
          <p:cNvCxnSpPr>
            <a:cxnSpLocks/>
          </p:cNvCxnSpPr>
          <p:nvPr/>
        </p:nvCxnSpPr>
        <p:spPr bwMode="auto">
          <a:xfrm flipV="1">
            <a:off x="1925921" y="1449830"/>
            <a:ext cx="1166249" cy="4140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" name="꺾인 연결선 282">
            <a:extLst>
              <a:ext uri="{FF2B5EF4-FFF2-40B4-BE49-F238E27FC236}">
                <a16:creationId xmlns:a16="http://schemas.microsoft.com/office/drawing/2014/main" id="{35A8F90C-2317-A52F-3D65-28E9C97581F2}"/>
              </a:ext>
            </a:extLst>
          </p:cNvPr>
          <p:cNvCxnSpPr>
            <a:cxnSpLocks/>
          </p:cNvCxnSpPr>
          <p:nvPr/>
        </p:nvCxnSpPr>
        <p:spPr bwMode="auto">
          <a:xfrm>
            <a:off x="1925921" y="1457973"/>
            <a:ext cx="1171355" cy="88848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" name="꺾인 연결선 283">
            <a:extLst>
              <a:ext uri="{FF2B5EF4-FFF2-40B4-BE49-F238E27FC236}">
                <a16:creationId xmlns:a16="http://schemas.microsoft.com/office/drawing/2014/main" id="{68E0DC16-CB57-A028-DE75-2FE01F5A6137}"/>
              </a:ext>
            </a:extLst>
          </p:cNvPr>
          <p:cNvCxnSpPr/>
          <p:nvPr/>
        </p:nvCxnSpPr>
        <p:spPr bwMode="auto">
          <a:xfrm>
            <a:off x="1925921" y="1457973"/>
            <a:ext cx="1166249" cy="178947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7B723F-16A6-FFBD-F985-AFC3C2AD8465}"/>
              </a:ext>
            </a:extLst>
          </p:cNvPr>
          <p:cNvSpPr txBox="1"/>
          <p:nvPr/>
        </p:nvSpPr>
        <p:spPr bwMode="auto">
          <a:xfrm>
            <a:off x="2289155" y="1258076"/>
            <a:ext cx="75020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[Recommend]]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8798D-C46B-756E-C64D-1C613E553ECA}"/>
              </a:ext>
            </a:extLst>
          </p:cNvPr>
          <p:cNvSpPr txBox="1"/>
          <p:nvPr/>
        </p:nvSpPr>
        <p:spPr bwMode="auto">
          <a:xfrm>
            <a:off x="2633054" y="2179180"/>
            <a:ext cx="36548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</a:t>
            </a:r>
            <a:r>
              <a:rPr lang="en-US" altLang="ko-KR" sz="9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Radio</a:t>
            </a: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47CCA4-2E13-E288-C4B5-AF238E3E2DC1}"/>
              </a:ext>
            </a:extLst>
          </p:cNvPr>
          <p:cNvSpPr txBox="1"/>
          <p:nvPr/>
        </p:nvSpPr>
        <p:spPr bwMode="auto">
          <a:xfrm>
            <a:off x="2520207" y="3092809"/>
            <a:ext cx="53860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[Favorites]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4" name="꺾인 연결선 290">
            <a:extLst>
              <a:ext uri="{FF2B5EF4-FFF2-40B4-BE49-F238E27FC236}">
                <a16:creationId xmlns:a16="http://schemas.microsoft.com/office/drawing/2014/main" id="{DF6B5519-CE23-084A-5A79-C973DCF2D126}"/>
              </a:ext>
            </a:extLst>
          </p:cNvPr>
          <p:cNvCxnSpPr>
            <a:cxnSpLocks/>
            <a:endCxn id="5" idx="1"/>
          </p:cNvCxnSpPr>
          <p:nvPr/>
        </p:nvCxnSpPr>
        <p:spPr bwMode="auto">
          <a:xfrm rot="16200000" flipH="1">
            <a:off x="1271249" y="2812472"/>
            <a:ext cx="3062619" cy="579224"/>
          </a:xfrm>
          <a:prstGeom prst="bentConnector2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32C53A-3547-4D85-1595-86E99D1265A8}"/>
              </a:ext>
            </a:extLst>
          </p:cNvPr>
          <p:cNvSpPr txBox="1"/>
          <p:nvPr/>
        </p:nvSpPr>
        <p:spPr bwMode="auto">
          <a:xfrm>
            <a:off x="2606410" y="4380192"/>
            <a:ext cx="3462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r"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[Login]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6" name="꺾인 연결선 313">
            <a:extLst>
              <a:ext uri="{FF2B5EF4-FFF2-40B4-BE49-F238E27FC236}">
                <a16:creationId xmlns:a16="http://schemas.microsoft.com/office/drawing/2014/main" id="{9B107EA8-CAA3-E739-B97B-9BDDA020E76A}"/>
              </a:ext>
            </a:extLst>
          </p:cNvPr>
          <p:cNvCxnSpPr/>
          <p:nvPr/>
        </p:nvCxnSpPr>
        <p:spPr bwMode="auto">
          <a:xfrm>
            <a:off x="1925921" y="1457973"/>
            <a:ext cx="1166249" cy="4501174"/>
          </a:xfrm>
          <a:prstGeom prst="bentConnector3">
            <a:avLst>
              <a:gd name="adj1" fmla="val 50700"/>
            </a:avLst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E6AF92-4C09-AE43-F042-30DD9A6FC9E7}"/>
              </a:ext>
            </a:extLst>
          </p:cNvPr>
          <p:cNvSpPr txBox="1"/>
          <p:nvPr/>
        </p:nvSpPr>
        <p:spPr bwMode="auto">
          <a:xfrm>
            <a:off x="4820039" y="1255423"/>
            <a:ext cx="7053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Album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6D239-C364-67F5-AEFB-A6DC507BC29B}"/>
              </a:ext>
            </a:extLst>
          </p:cNvPr>
          <p:cNvSpPr txBox="1"/>
          <p:nvPr/>
        </p:nvSpPr>
        <p:spPr bwMode="auto">
          <a:xfrm>
            <a:off x="268891" y="1815227"/>
            <a:ext cx="976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1000" b="0" dirty="0">
                <a:latin typeface="Arial" pitchFamily="34" charset="0"/>
                <a:ea typeface="+mn-ea"/>
                <a:cs typeface="Arial" pitchFamily="34" charset="0"/>
              </a:rPr>
              <a:t>Main screen</a:t>
            </a:r>
            <a:endParaRPr kumimoji="0" lang="ko-KR" altLang="en-US" sz="1000" b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070F7F-83A5-13FF-D7B9-105075D718CD}"/>
              </a:ext>
            </a:extLst>
          </p:cNvPr>
          <p:cNvSpPr txBox="1"/>
          <p:nvPr/>
        </p:nvSpPr>
        <p:spPr bwMode="auto">
          <a:xfrm>
            <a:off x="4826451" y="2172400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D6FF7C-4528-02A8-7543-CD9866229C3C}"/>
              </a:ext>
            </a:extLst>
          </p:cNvPr>
          <p:cNvSpPr txBox="1"/>
          <p:nvPr/>
        </p:nvSpPr>
        <p:spPr bwMode="auto">
          <a:xfrm>
            <a:off x="4826451" y="307196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33CFBE-A1BC-B481-89AB-1F68F809B401}"/>
              </a:ext>
            </a:extLst>
          </p:cNvPr>
          <p:cNvSpPr txBox="1"/>
          <p:nvPr/>
        </p:nvSpPr>
        <p:spPr bwMode="auto">
          <a:xfrm>
            <a:off x="4773048" y="5791616"/>
            <a:ext cx="86241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Input Text &gt; ‘OK’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68007F-C895-F205-208F-CA0A551C7473}"/>
              </a:ext>
            </a:extLst>
          </p:cNvPr>
          <p:cNvSpPr txBox="1"/>
          <p:nvPr/>
        </p:nvSpPr>
        <p:spPr bwMode="auto">
          <a:xfrm>
            <a:off x="7269126" y="1279845"/>
            <a:ext cx="73738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Section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26E096-8293-859C-9BEB-45954B8EDB00}"/>
              </a:ext>
            </a:extLst>
          </p:cNvPr>
          <p:cNvSpPr/>
          <p:nvPr/>
        </p:nvSpPr>
        <p:spPr>
          <a:xfrm>
            <a:off x="198049" y="1050587"/>
            <a:ext cx="1807922" cy="1015253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0" b="0" dirty="0">
              <a:solidFill>
                <a:schemeClr val="tx1"/>
              </a:solidFill>
              <a:latin typeface="Arial" pitchFamily="34" charset="0"/>
              <a:ea typeface="현대하모니 M" pitchFamily="18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7FA6ED-B8DC-9913-9907-D5620B996B4D}"/>
              </a:ext>
            </a:extLst>
          </p:cNvPr>
          <p:cNvSpPr txBox="1"/>
          <p:nvPr/>
        </p:nvSpPr>
        <p:spPr bwMode="auto">
          <a:xfrm>
            <a:off x="7338195" y="5785551"/>
            <a:ext cx="49372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fontAlgn="ctr">
              <a:spcBef>
                <a:spcPct val="5000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Select list</a:t>
            </a:r>
            <a:endParaRPr kumimoji="0" lang="ko-KR" altLang="en-US" sz="900" b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3EE4739-FCB5-E1D7-5A13-57EF051E56FC}"/>
              </a:ext>
            </a:extLst>
          </p:cNvPr>
          <p:cNvGrpSpPr/>
          <p:nvPr/>
        </p:nvGrpSpPr>
        <p:grpSpPr>
          <a:xfrm>
            <a:off x="2527279" y="5764486"/>
            <a:ext cx="589905" cy="165629"/>
            <a:chOff x="1207220" y="5572580"/>
            <a:chExt cx="589905" cy="16562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E826CD-A284-2F97-9E20-E5EF34F771F9}"/>
                </a:ext>
              </a:extLst>
            </p:cNvPr>
            <p:cNvSpPr txBox="1"/>
            <p:nvPr/>
          </p:nvSpPr>
          <p:spPr bwMode="auto">
            <a:xfrm>
              <a:off x="1207220" y="5576418"/>
              <a:ext cx="58990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r" fontAlgn="ctr">
                <a:spcBef>
                  <a:spcPct val="50000"/>
                </a:spcBef>
                <a:spcAft>
                  <a:spcPts val="0"/>
                </a:spcAft>
              </a:pPr>
              <a:r>
                <a:rPr kumimoji="0" lang="en-US" altLang="ko-KR" sz="900" b="0" dirty="0">
                  <a:solidFill>
                    <a:prstClr val="black"/>
                  </a:solidFill>
                  <a:latin typeface="Arial" pitchFamily="34" charset="0"/>
                  <a:ea typeface="+mn-ea"/>
                  <a:cs typeface="Arial" pitchFamily="34" charset="0"/>
                </a:rPr>
                <a:t>Search[     ]</a:t>
              </a:r>
              <a:endParaRPr kumimoji="0" lang="ko-KR" altLang="en-US" sz="900" b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pic>
          <p:nvPicPr>
            <p:cNvPr id="55" name="Picture 3" descr="U:\Temp\다운로드.png">
              <a:extLst>
                <a:ext uri="{FF2B5EF4-FFF2-40B4-BE49-F238E27FC236}">
                  <a16:creationId xmlns:a16="http://schemas.microsoft.com/office/drawing/2014/main" id="{46D210A6-C59F-F080-6CC9-A5A9CA19C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778" y="5572580"/>
              <a:ext cx="165629" cy="165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EE42926-D096-7B92-2B65-AC6AF8CC6762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7283591" y="5959146"/>
            <a:ext cx="618156" cy="331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E41B816-ED6C-4E7F-CF29-8B26039DA8EC}"/>
              </a:ext>
            </a:extLst>
          </p:cNvPr>
          <p:cNvCxnSpPr>
            <a:cxnSpLocks/>
          </p:cNvCxnSpPr>
          <p:nvPr/>
        </p:nvCxnSpPr>
        <p:spPr>
          <a:xfrm>
            <a:off x="4757638" y="1449830"/>
            <a:ext cx="853347" cy="121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DC557C0-AD9D-FC1D-F30C-4C6752DF2975}"/>
              </a:ext>
            </a:extLst>
          </p:cNvPr>
          <p:cNvCxnSpPr>
            <a:cxnSpLocks/>
          </p:cNvCxnSpPr>
          <p:nvPr/>
        </p:nvCxnSpPr>
        <p:spPr>
          <a:xfrm flipV="1">
            <a:off x="7290730" y="1448245"/>
            <a:ext cx="620993" cy="279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807B3AF-7B96-EE11-9A90-3B5116AD3FE9}"/>
              </a:ext>
            </a:extLst>
          </p:cNvPr>
          <p:cNvCxnSpPr>
            <a:cxnSpLocks/>
          </p:cNvCxnSpPr>
          <p:nvPr/>
        </p:nvCxnSpPr>
        <p:spPr>
          <a:xfrm>
            <a:off x="4752533" y="2346461"/>
            <a:ext cx="864518" cy="1029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8B46372-EC98-AC1D-9174-812C540DCBA9}"/>
              </a:ext>
            </a:extLst>
          </p:cNvPr>
          <p:cNvCxnSpPr>
            <a:cxnSpLocks/>
          </p:cNvCxnSpPr>
          <p:nvPr/>
        </p:nvCxnSpPr>
        <p:spPr>
          <a:xfrm>
            <a:off x="4757638" y="3247451"/>
            <a:ext cx="859413" cy="211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0EC41D9-2C92-412D-BBE9-4BA27C0BCB15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4757638" y="5959146"/>
            <a:ext cx="860485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EA9E10-4A9C-65DD-F109-4AA007CD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26</a:t>
            </a:r>
            <a:r>
              <a:rPr lang="ko-KR" altLang="en-US" dirty="0"/>
              <a:t>년도 표준형 </a:t>
            </a:r>
            <a:r>
              <a:rPr lang="en-US" altLang="ko-KR" dirty="0"/>
              <a:t>5</a:t>
            </a:r>
            <a:r>
              <a:rPr lang="ko-KR" altLang="en-US" dirty="0"/>
              <a:t>세대 </a:t>
            </a:r>
            <a:r>
              <a:rPr lang="en-US" altLang="ko-KR" dirty="0"/>
              <a:t>WIDE_WIDE NH AVN </a:t>
            </a:r>
            <a:r>
              <a:rPr lang="ko-KR" altLang="en-US" dirty="0" err="1"/>
              <a:t>뮤직스트리밍</a:t>
            </a:r>
            <a:r>
              <a:rPr lang="ko-KR" altLang="en-US" dirty="0"/>
              <a:t> 유지보수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0AC8C-6D31-F859-AC84-0BD22E01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70" y="1104712"/>
            <a:ext cx="1666995" cy="6251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A61690-BFCE-36F0-16C4-220012997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170" y="4318156"/>
            <a:ext cx="1681267" cy="630475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693979AE-5385-00D4-612C-DF4AA085A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774" y="2950775"/>
            <a:ext cx="1681264" cy="630474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E7BC2EFC-9803-8462-E4EE-05070AE9F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651" y="2041807"/>
            <a:ext cx="1681264" cy="630474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AB7571D-743E-C519-263F-6EDC9C9D9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723" y="5647680"/>
            <a:ext cx="1681264" cy="630474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7ED10A51-5EF4-F85B-3475-ED4E899A99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2427" y="1139575"/>
            <a:ext cx="1511997" cy="566999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968E5CBA-9A64-4421-FAE6-37FC8CF8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9400" y="2069980"/>
            <a:ext cx="1531008" cy="57412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A081E7C6-7DC8-5940-95CE-4207FB6241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3081" y="2971383"/>
            <a:ext cx="1585910" cy="594716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6C5003B1-6288-83CB-2160-19BCF5D174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3267" y="5640540"/>
            <a:ext cx="1575205" cy="59070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E7E5D45B-B8FD-6301-15BF-BCE16E932E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6706" y="5699052"/>
            <a:ext cx="1498530" cy="561949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0E36CF7F-31CD-CFF1-81DC-B60B5EC519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4182" y="1085518"/>
            <a:ext cx="1625984" cy="609744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46399BB7-BCB2-61DB-AF09-3D4D35FD6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970" y="1071946"/>
            <a:ext cx="1664188" cy="62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22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20078</TotalTime>
  <Words>4861</Words>
  <Application>Microsoft Office PowerPoint</Application>
  <PresentationFormat>A4 용지(210x297mm)</PresentationFormat>
  <Paragraphs>1079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Droid Sans Mono</vt:lpstr>
      <vt:lpstr>Noto Sans CJK KR</vt:lpstr>
      <vt:lpstr>Noto Serif CJK KR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2. 용역 내용 및 범위</vt:lpstr>
      <vt:lpstr>2. 용역 내용 및 범위</vt:lpstr>
      <vt:lpstr>2. 용역 내용 및 범위</vt:lpstr>
      <vt:lpstr>3. 유지보수 업무 절차</vt:lpstr>
      <vt:lpstr>4. 월별 유지 보수 현황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내역(뮤직스트리밍)</vt:lpstr>
      <vt:lpstr>5. 유지보수 내역(QQ Music)</vt:lpstr>
      <vt:lpstr>6. 유지보수 요청사항 처리</vt:lpstr>
      <vt:lpstr>6. 유지보수 요청사항 처리</vt:lpstr>
      <vt:lpstr>7. 용역 일정</vt:lpstr>
      <vt:lpstr>8. 최종개발 산출물</vt:lpstr>
      <vt:lpstr>9-1. 인력 투입(계약공수)</vt:lpstr>
      <vt:lpstr>9-2. 인력 투입(실제투입공수)</vt:lpstr>
      <vt:lpstr>첨부 1) SW 구조도</vt:lpstr>
      <vt:lpstr>첨부 2) 스트리밍 뮤직 서비스 흐름도</vt:lpstr>
      <vt:lpstr>첨부 2) QQ Music 서비스 흐름도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460</cp:revision>
  <cp:lastPrinted>2018-07-16T02:44:16Z</cp:lastPrinted>
  <dcterms:created xsi:type="dcterms:W3CDTF">2017-09-07T02:36:35Z</dcterms:created>
  <dcterms:modified xsi:type="dcterms:W3CDTF">2026-03-13T01:51:00Z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