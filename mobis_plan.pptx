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60" r:id="rId1"/>
  </p:sldMasterIdLst>
  <p:notesMasterIdLst>
    <p:notesMasterId r:id="rId19"/>
  </p:notesMasterIdLst>
  <p:sldIdLst>
    <p:sldId id="258" r:id="rId2"/>
    <p:sldId id="266" r:id="rId3"/>
    <p:sldId id="330" r:id="rId4"/>
    <p:sldId id="752" r:id="rId5"/>
    <p:sldId id="754" r:id="rId6"/>
    <p:sldId id="753" r:id="rId7"/>
    <p:sldId id="746" r:id="rId8"/>
    <p:sldId id="747" r:id="rId9"/>
    <p:sldId id="749" r:id="rId10"/>
    <p:sldId id="750" r:id="rId11"/>
    <p:sldId id="751" r:id="rId12"/>
    <p:sldId id="269" r:id="rId13"/>
    <p:sldId id="271" r:id="rId14"/>
    <p:sldId id="272" r:id="rId15"/>
    <p:sldId id="329" r:id="rId16"/>
    <p:sldId id="303" r:id="rId17"/>
    <p:sldId id="274" r:id="rId18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orient="horz" pos="1388">
          <p15:clr>
            <a:srgbClr val="A4A3A4"/>
          </p15:clr>
        </p15:guide>
        <p15:guide id="3" orient="horz" pos="617">
          <p15:clr>
            <a:srgbClr val="A4A3A4"/>
          </p15:clr>
        </p15:guide>
        <p15:guide id="4" pos="5954">
          <p15:clr>
            <a:srgbClr val="A4A3A4"/>
          </p15:clr>
        </p15:guide>
        <p15:guide id="5" pos="110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74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728" y="144"/>
      </p:cViewPr>
      <p:guideLst>
        <p:guide orient="horz" pos="3974"/>
        <p:guide orient="horz" pos="1388"/>
        <p:guide orient="horz" pos="617"/>
        <p:guide pos="5954"/>
        <p:guide pos="110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pPr lvl="0"/>
            <a:fld id="{E3FD1BB9-5AFF-4149-8A32-8E0459EA3C9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pPr lvl="0"/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/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  <a:latin typeface="+mn-ea"/>
              </a:rPr>
              <a:t>용역수행 계획서</a:t>
            </a:r>
          </a:p>
          <a:p>
            <a:pPr lvl="0" algn="ctr">
              <a:defRPr/>
            </a:pPr>
            <a:endParaRPr lang="en-US" altLang="ko-KR">
              <a:solidFill>
                <a:schemeClr val="tx1"/>
              </a:solidFill>
              <a:latin typeface="+mn-ea"/>
            </a:endParaRPr>
          </a:p>
          <a:p>
            <a:pPr lvl="0" algn="ctr">
              <a:defRPr/>
            </a:pPr>
            <a:r>
              <a:rPr lang="en-US" altLang="ko-KR" sz="2400" b="1">
                <a:solidFill>
                  <a:schemeClr val="bg1">
                    <a:lumMod val="50000"/>
                  </a:schemeClr>
                </a:solidFill>
                <a:latin typeface="+mn-ea"/>
              </a:rPr>
              <a:t>– 2025년도 표준형 5세대 와이드 AVN 제품 뮤직스트리밍 유지보수 개발</a:t>
            </a:r>
            <a:r>
              <a:rPr lang="ko-KR" altLang="en-US" sz="2400" b="1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2400" b="1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6737" y="4740442"/>
            <a:ext cx="2675478" cy="10488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400"/>
              <a:t>2025. 08. 27.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2600"/>
              <a:t>㈜</a:t>
            </a:r>
            <a:r>
              <a:rPr lang="ko-KR" altLang="en-US" sz="2400"/>
              <a:t>투비원솔루션즈</a:t>
            </a:r>
            <a:endParaRPr lang="ko-KR" altLang="en-US" sz="260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/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400" b="1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08000" lvl="0" indent="-108000">
                <a:buFont typeface="Arial"/>
                <a:buChar char="•"/>
                <a:defRPr/>
              </a:pPr>
              <a:r>
                <a:rPr lang="en-US" altLang="ko-KR" sz="1600">
                  <a:solidFill>
                    <a:schemeClr val="tx1"/>
                  </a:solidFill>
                </a:rPr>
                <a:t>2025년도 표준형 5세대 와이드 AVN 제품 뮤직스트리밍 유지보수 개발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/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08000" lvl="0" indent="-108000">
                <a:buFont typeface="Arial"/>
                <a:buChar char="•"/>
                <a:defRPr/>
              </a:pPr>
              <a:r>
                <a:rPr lang="ko-KR" altLang="en-US" sz="1600">
                  <a:solidFill>
                    <a:schemeClr val="tx1"/>
                  </a:solidFill>
                </a:rPr>
                <a:t>총 </a:t>
              </a:r>
              <a:r>
                <a:rPr lang="en-US" altLang="ko-KR" sz="1600">
                  <a:solidFill>
                    <a:schemeClr val="tx1"/>
                  </a:solidFill>
                </a:rPr>
                <a:t>6</a:t>
              </a:r>
              <a:r>
                <a:rPr lang="ko-KR" altLang="en-US" sz="1600">
                  <a:solidFill>
                    <a:schemeClr val="tx1"/>
                  </a:solidFill>
                </a:rPr>
                <a:t>개월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/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anchor="t"/>
            <a:lstStyle/>
            <a:p>
              <a:pPr marL="108000" lvl="0" indent="-10800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400">
                  <a:solidFill>
                    <a:schemeClr val="tx1"/>
                  </a:solidFill>
                  <a:latin typeface="+mn-ea"/>
                </a:rPr>
                <a:t>기술 개요</a:t>
              </a:r>
            </a:p>
            <a:p>
              <a:pPr marL="360000" lvl="1" indent="-180000">
                <a:lnSpc>
                  <a:spcPts val="2000"/>
                </a:lnSpc>
                <a:buFont typeface="Wingdings"/>
                <a:buChar char="§"/>
                <a:defRPr/>
              </a:pP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한국향 스트리밍 서비스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멜론뮤직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QQ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뮤직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앱에 대한 유지보수를 수행</a:t>
              </a:r>
            </a:p>
            <a:p>
              <a:pPr marL="360000" lvl="1" indent="-180000">
                <a:lnSpc>
                  <a:spcPts val="2000"/>
                </a:lnSpc>
                <a:buFont typeface="Wingdings"/>
                <a:buChar char="§"/>
                <a:defRPr/>
              </a:pP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지니뮤직 서버 및 멜론뮤직 서버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QQ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뮤직 서버와의 연동을 통한 서비스 통신 프로토콜 일원화 및 블루링크 사용자 인증 지원</a:t>
              </a:r>
            </a:p>
            <a:p>
              <a:pPr marL="360000" lvl="1" indent="-180000">
                <a:lnSpc>
                  <a:spcPts val="2000"/>
                </a:lnSpc>
                <a:buFont typeface="Wingdings"/>
                <a:buChar char="§"/>
                <a:defRPr/>
              </a:pP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사운드 매니저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 음성인식 매니저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키 매니저 등의 각종 매니저 및 내장 미디어 서버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/HStreaming 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연계 개발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marL="360000" lvl="1" indent="-180000">
                <a:lnSpc>
                  <a:spcPts val="2000"/>
                </a:lnSpc>
                <a:buFont typeface="Wingdings"/>
                <a:buChar char="§"/>
                <a:defRPr/>
              </a:pP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차량 환경에서 해당 스트리밍 서비스의 편리한 사용을 위한 스트리밍 서비스 특화 </a:t>
              </a:r>
              <a:r>
                <a:rPr lang="en-US" altLang="ko-KR" sz="1200">
                  <a:solidFill>
                    <a:schemeClr val="tx1"/>
                  </a:solidFill>
                  <a:latin typeface="+mn-ea"/>
                </a:rPr>
                <a:t>HMI </a:t>
              </a:r>
              <a:r>
                <a:rPr lang="ko-KR" altLang="en-US" sz="1200">
                  <a:solidFill>
                    <a:schemeClr val="tx1"/>
                  </a:solidFill>
                  <a:latin typeface="+mn-ea"/>
                </a:rPr>
                <a:t>개발</a:t>
              </a:r>
            </a:p>
            <a:p>
              <a:pPr marL="360000" lvl="1" indent="-180000">
                <a:lnSpc>
                  <a:spcPct val="150000"/>
                </a:lnSpc>
                <a:buFont typeface="Wingdings"/>
                <a:buChar char="§"/>
                <a:defRPr/>
              </a:pPr>
              <a:endParaRPr lang="en-US" altLang="ko-KR" sz="12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anchor="t"/>
            <a:lstStyle/>
            <a:p>
              <a:pPr marL="108000" lvl="0" indent="-108000">
                <a:buFont typeface="Arial"/>
                <a:buChar char="•"/>
                <a:defRPr/>
              </a:pPr>
              <a:r>
                <a:rPr lang="ko-KR" altLang="en-US" sz="1400">
                  <a:solidFill>
                    <a:schemeClr val="tx1"/>
                  </a:solidFill>
                </a:rPr>
                <a:t>시스템 구성</a:t>
              </a:r>
            </a:p>
            <a:p>
              <a:pPr lvl="0">
                <a:defRPr/>
              </a:pP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967333-F8A1-36D3-6D06-E2F8271E3D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5849924" y="3253839"/>
            <a:ext cx="3456940" cy="292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(Genie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474874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/>
                        <a:t>지니뮤직 재생목록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지니 차트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지니 차트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드라이빙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추천곡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드라이빙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추천곡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최신 음악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 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(Melon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5877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멜론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 Hits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</a:t>
                      </a:r>
                      <a:r>
                        <a:rPr lang="en-US" altLang="ko-KR" sz="1200" dirty="0"/>
                        <a:t>24 Hits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좋아요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최신 곡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69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TextBox 5"/>
          <p:cNvSpPr txBox="1"/>
          <p:nvPr/>
        </p:nvSpPr>
        <p:spPr>
          <a:xfrm>
            <a:off x="408372" y="669059"/>
            <a:ext cx="3918205" cy="33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u"/>
              <a:defRPr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(QQ Music)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126352"/>
              </p:ext>
            </p:extLst>
          </p:nvPr>
        </p:nvGraphicFramePr>
        <p:xfrm>
          <a:off x="811481" y="1007613"/>
          <a:ext cx="8221392" cy="51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00000"/>
                        </a:lnSpc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dirty="0"/>
                        <a:t>앨범 및 라디오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altLang="ko-KR" sz="1200" dirty="0" err="1"/>
                        <a:t>Tancent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00000"/>
                        </a:lnSpc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앨범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라디오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 err="1"/>
                        <a:t>탄센트</a:t>
                      </a:r>
                      <a:r>
                        <a:rPr lang="ko-KR" altLang="en-US" sz="1200" dirty="0"/>
                        <a:t> 좋아요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앨범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 err="1"/>
                        <a:t>탄센트</a:t>
                      </a:r>
                      <a:r>
                        <a:rPr lang="ko-KR" altLang="en-US" sz="1200" dirty="0"/>
                        <a:t> 플레이 리스트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dirty="0"/>
                        <a:t>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 err="1"/>
                        <a:t>탄센트</a:t>
                      </a:r>
                      <a:r>
                        <a:rPr lang="ko-KR" altLang="en-US" sz="1200" dirty="0"/>
                        <a:t> 로그인 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 err="1"/>
                        <a:t>위챗</a:t>
                      </a:r>
                      <a:r>
                        <a:rPr lang="ko-KR" altLang="en-US" sz="1200" dirty="0"/>
                        <a:t> 로그인 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 err="1"/>
                        <a:t>탄센트</a:t>
                      </a:r>
                      <a:r>
                        <a:rPr lang="ko-KR" altLang="en-US" sz="1200" dirty="0"/>
                        <a:t> 검색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200" dirty="0"/>
                        <a:t>앨범 및 라디오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20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11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</a:t>
            </a:r>
            <a:r>
              <a:rPr lang="ko-KR" altLang="en-US" sz="1600"/>
              <a:t>공통</a:t>
            </a:r>
            <a:r>
              <a:rPr lang="en-US" altLang="ko-KR" sz="1600"/>
              <a:t>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565899"/>
              </p:ext>
            </p:extLst>
          </p:nvPr>
        </p:nvGraphicFramePr>
        <p:xfrm>
          <a:off x="811481" y="1007613"/>
          <a:ext cx="8221392" cy="4275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스트리밍 </a:t>
                      </a:r>
                      <a:endParaRPr lang="en-US" altLang="ko-KR" sz="140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플레이어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재생 관련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스트리밍 플레이어 연동하여 음원 재생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스트리밍 뮤직 데이터 캐싱 처리 로직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 정보 표출 관련 </a:t>
                      </a:r>
                      <a:r>
                        <a:rPr lang="en-US" altLang="ko-KR" sz="1200" dirty="0"/>
                        <a:t>GUI </a:t>
                      </a:r>
                      <a:r>
                        <a:rPr lang="ko-KR" altLang="en-US" sz="1200" dirty="0"/>
                        <a:t>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가사 출력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좋아요 기능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/>
                        <a:t>운전자 프로필 연동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재생목록 별도 관리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플레이어 설정 정보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분할화면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분할화면에 재생정보 전달하여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 err="1"/>
                        <a:t>모드매니져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기능 변경 시 지니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멜론 모드변경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인디케이터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재생중인 음원 정보 인디케이터로 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단말기 </a:t>
                      </a:r>
                      <a:r>
                        <a:rPr lang="ko-KR" altLang="en-US" sz="1400" dirty="0" err="1"/>
                        <a:t>하드키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볼륨노브</a:t>
                      </a:r>
                      <a:r>
                        <a:rPr lang="en-US" altLang="ko-KR" sz="1200" dirty="0"/>
                        <a:t>, Seek </a:t>
                      </a:r>
                      <a:r>
                        <a:rPr lang="ko-KR" altLang="en-US" sz="1200" dirty="0"/>
                        <a:t>버튼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음성인식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음성인식을 이용한 음원 검색 및 명령어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0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2163BAD-3CF6-A74A-A8AA-0C443751E725}"/>
              </a:ext>
            </a:extLst>
          </p:cNvPr>
          <p:cNvSpPr/>
          <p:nvPr/>
        </p:nvSpPr>
        <p:spPr>
          <a:xfrm>
            <a:off x="796802" y="908049"/>
            <a:ext cx="8157410" cy="5247328"/>
          </a:xfrm>
          <a:prstGeom prst="roundRect">
            <a:avLst>
              <a:gd name="adj" fmla="val 167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8EBCD3E-5E4F-69FA-E2DA-1C674FA0038B}"/>
              </a:ext>
            </a:extLst>
          </p:cNvPr>
          <p:cNvCxnSpPr>
            <a:cxnSpLocks/>
            <a:stCxn id="34" idx="2"/>
            <a:endCxn id="14" idx="0"/>
          </p:cNvCxnSpPr>
          <p:nvPr/>
        </p:nvCxnSpPr>
        <p:spPr>
          <a:xfrm>
            <a:off x="5838038" y="1900809"/>
            <a:ext cx="1" cy="326477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F7095EB-8C02-DB01-2971-DBC1182C84A8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387935" y="1589363"/>
            <a:ext cx="757475" cy="0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540DC8-4A50-4D1A-E96E-A3E2BAF56C0C}"/>
              </a:ext>
            </a:extLst>
          </p:cNvPr>
          <p:cNvSpPr txBox="1"/>
          <p:nvPr/>
        </p:nvSpPr>
        <p:spPr>
          <a:xfrm>
            <a:off x="2484543" y="1310487"/>
            <a:ext cx="564258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C00000"/>
                </a:solidFill>
              </a:rPr>
              <a:t>사양협의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92826E4-3417-1D01-FF09-54523FCDADE1}"/>
              </a:ext>
            </a:extLst>
          </p:cNvPr>
          <p:cNvCxnSpPr>
            <a:cxnSpLocks/>
            <a:stCxn id="39" idx="2"/>
            <a:endCxn id="13" idx="0"/>
          </p:cNvCxnSpPr>
          <p:nvPr/>
        </p:nvCxnSpPr>
        <p:spPr>
          <a:xfrm>
            <a:off x="3768302" y="1881560"/>
            <a:ext cx="1" cy="807623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BBC4E-CA2E-C9D9-2821-B63C6554580E}"/>
              </a:ext>
            </a:extLst>
          </p:cNvPr>
          <p:cNvSpPr txBox="1"/>
          <p:nvPr/>
        </p:nvSpPr>
        <p:spPr>
          <a:xfrm>
            <a:off x="3064060" y="2074934"/>
            <a:ext cx="140102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요구사항</a:t>
            </a:r>
            <a:r>
              <a:rPr lang="en-US" altLang="ko-KR" sz="1100" b="1" dirty="0">
                <a:solidFill>
                  <a:srgbClr val="C00000"/>
                </a:solidFill>
              </a:rPr>
              <a:t>(New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ko-KR" sz="1100" b="1" dirty="0">
                <a:solidFill>
                  <a:srgbClr val="C00000"/>
                </a:solidFill>
              </a:rPr>
              <a:t>Feature)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상황 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0D8F0A-1DDF-19F2-D430-A0D175780B95}"/>
              </a:ext>
            </a:extLst>
          </p:cNvPr>
          <p:cNvSpPr/>
          <p:nvPr/>
        </p:nvSpPr>
        <p:spPr>
          <a:xfrm>
            <a:off x="3145411" y="2689183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설계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관리집단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(PM &amp; PL)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6D2EAC-248B-E888-6BC1-1CB89CE97F59}"/>
              </a:ext>
            </a:extLst>
          </p:cNvPr>
          <p:cNvSpPr/>
          <p:nvPr/>
        </p:nvSpPr>
        <p:spPr>
          <a:xfrm>
            <a:off x="5215147" y="5165579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지니뮤직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427A0F-85EC-660E-EA69-905CE57A7944}"/>
              </a:ext>
            </a:extLst>
          </p:cNvPr>
          <p:cNvSpPr/>
          <p:nvPr/>
        </p:nvSpPr>
        <p:spPr>
          <a:xfrm>
            <a:off x="5215147" y="2748456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멜론뮤직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03C8429-86C6-ED14-DC03-3D818598CCD8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V="1">
            <a:off x="4391194" y="3000456"/>
            <a:ext cx="823953" cy="173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45AD3F4-0C52-608A-DDCC-88558829A4C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406253" y="3000629"/>
            <a:ext cx="739158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092677B-2709-16E0-AF57-F790A28A1FF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391194" y="3000629"/>
            <a:ext cx="823953" cy="2416950"/>
          </a:xfrm>
          <a:prstGeom prst="bentConnector3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41F8FC0-3013-44AF-537F-CD6DE70275B8}"/>
              </a:ext>
            </a:extLst>
          </p:cNvPr>
          <p:cNvSpPr/>
          <p:nvPr/>
        </p:nvSpPr>
        <p:spPr>
          <a:xfrm>
            <a:off x="7288612" y="3776959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사내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QC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팀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480D65F-F1A6-79DE-F2A1-46830FF9E6D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6460930" y="3000456"/>
            <a:ext cx="827682" cy="1087949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3ED8B2D-78DA-380A-60C3-EDFFB010672D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 flipV="1">
            <a:off x="6460930" y="4088405"/>
            <a:ext cx="827682" cy="1329174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1AED313-BE06-2B43-B9A1-75FD0C04186F}"/>
              </a:ext>
            </a:extLst>
          </p:cNvPr>
          <p:cNvCxnSpPr>
            <a:cxnSpLocks/>
            <a:stCxn id="23" idx="2"/>
            <a:endCxn id="13" idx="2"/>
          </p:cNvCxnSpPr>
          <p:nvPr/>
        </p:nvCxnSpPr>
        <p:spPr>
          <a:xfrm rot="5400000" flipH="1">
            <a:off x="5296016" y="1784363"/>
            <a:ext cx="1087776" cy="4143201"/>
          </a:xfrm>
          <a:prstGeom prst="bentConnector3">
            <a:avLst>
              <a:gd name="adj1" fmla="val -135846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93D8CE5-AD3E-0365-0A84-8BDE6E5FA1BB}"/>
              </a:ext>
            </a:extLst>
          </p:cNvPr>
          <p:cNvSpPr/>
          <p:nvPr/>
        </p:nvSpPr>
        <p:spPr>
          <a:xfrm>
            <a:off x="7288612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모비스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QA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FEA843-DEB0-EB51-E677-2E71AABDF3B2}"/>
              </a:ext>
            </a:extLst>
          </p:cNvPr>
          <p:cNvCxnSpPr>
            <a:cxnSpLocks/>
            <a:stCxn id="23" idx="0"/>
            <a:endCxn id="29" idx="2"/>
          </p:cNvCxnSpPr>
          <p:nvPr/>
        </p:nvCxnSpPr>
        <p:spPr>
          <a:xfrm flipV="1">
            <a:off x="7911504" y="1900809"/>
            <a:ext cx="0" cy="1876150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708F059-04EC-FACA-C3DB-8B581CC1E9F7}"/>
              </a:ext>
            </a:extLst>
          </p:cNvPr>
          <p:cNvSpPr txBox="1"/>
          <p:nvPr/>
        </p:nvSpPr>
        <p:spPr>
          <a:xfrm>
            <a:off x="7456252" y="2785291"/>
            <a:ext cx="91050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배포 버전 전달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1FA64-AB41-2531-F18B-F2671351C8DC}"/>
              </a:ext>
            </a:extLst>
          </p:cNvPr>
          <p:cNvSpPr txBox="1"/>
          <p:nvPr/>
        </p:nvSpPr>
        <p:spPr>
          <a:xfrm>
            <a:off x="3400694" y="3720893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분석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업무 등록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C2FF6-5118-25F6-4692-A3E871A28F62}"/>
              </a:ext>
            </a:extLst>
          </p:cNvPr>
          <p:cNvSpPr txBox="1"/>
          <p:nvPr/>
        </p:nvSpPr>
        <p:spPr>
          <a:xfrm>
            <a:off x="7247525" y="4771902"/>
            <a:ext cx="1340110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보고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(Defect, Improvement)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C51562-CDEE-48E4-2793-9035351D4F17}"/>
              </a:ext>
            </a:extLst>
          </p:cNvPr>
          <p:cNvSpPr/>
          <p:nvPr/>
        </p:nvSpPr>
        <p:spPr>
          <a:xfrm>
            <a:off x="5215146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+mn-ea"/>
              </a:rPr>
              <a:t>IVI</a:t>
            </a:r>
            <a:r>
              <a:rPr lang="ko-KR" altLang="en-US" sz="1200" b="1">
                <a:solidFill>
                  <a:schemeClr val="tx1"/>
                </a:solidFill>
                <a:latin typeface="+mn-ea"/>
              </a:rPr>
              <a:t>방송</a:t>
            </a:r>
            <a:r>
              <a:rPr lang="en-US" altLang="ko-KR" sz="1200" b="1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>
                <a:solidFill>
                  <a:schemeClr val="tx1"/>
                </a:solidFill>
                <a:latin typeface="+mn-ea"/>
              </a:rPr>
              <a:t>미디어</a:t>
            </a:r>
            <a:br>
              <a:rPr lang="en-US" altLang="ko-KR" sz="1200" b="1">
                <a:solidFill>
                  <a:schemeClr val="tx1"/>
                </a:solidFill>
                <a:latin typeface="+mn-ea"/>
              </a:rPr>
            </a:br>
            <a:r>
              <a:rPr lang="en-US" altLang="ko-KR" sz="1200" b="1">
                <a:solidFill>
                  <a:schemeClr val="tx1"/>
                </a:solidFill>
                <a:latin typeface="+mn-ea"/>
              </a:rPr>
              <a:t>APP</a:t>
            </a:r>
            <a:r>
              <a:rPr lang="ko-KR" altLang="en-US" sz="1200" b="1">
                <a:solidFill>
                  <a:schemeClr val="tx1"/>
                </a:solidFill>
                <a:latin typeface="+mn-ea"/>
              </a:rPr>
              <a:t>개발셀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BF39448-B73F-44FE-1516-ACE0C7277C52}"/>
              </a:ext>
            </a:extLst>
          </p:cNvPr>
          <p:cNvCxnSpPr>
            <a:cxnSpLocks/>
            <a:stCxn id="39" idx="3"/>
            <a:endCxn id="34" idx="1"/>
          </p:cNvCxnSpPr>
          <p:nvPr/>
        </p:nvCxnSpPr>
        <p:spPr>
          <a:xfrm>
            <a:off x="4391194" y="1589363"/>
            <a:ext cx="823952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34FCE54-6411-2C41-C6ED-49EF8162197B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460929" y="1589363"/>
            <a:ext cx="827683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011349-A33E-E007-642C-BA5A76D19DA6}"/>
              </a:ext>
            </a:extLst>
          </p:cNvPr>
          <p:cNvSpPr txBox="1"/>
          <p:nvPr/>
        </p:nvSpPr>
        <p:spPr>
          <a:xfrm>
            <a:off x="5559956" y="2127454"/>
            <a:ext cx="56425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chemeClr val="tx1">
                    <a:lumMod val="65000"/>
                    <a:lumOff val="35000"/>
                  </a:schemeClr>
                </a:solidFill>
              </a:rPr>
              <a:t>업무보고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8" name="Picture 2" descr="회장님차 납시오... 미국의 현대기아 그리고 제네시스 - 카가이">
            <a:extLst>
              <a:ext uri="{FF2B5EF4-FFF2-40B4-BE49-F238E27FC236}">
                <a16:creationId xmlns:a16="http://schemas.microsoft.com/office/drawing/2014/main" id="{4D71039E-2572-2EB9-7E1F-2C8CA029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71" y="1195176"/>
            <a:ext cx="1094964" cy="78837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현대모비스 로고">
            <a:extLst>
              <a:ext uri="{FF2B5EF4-FFF2-40B4-BE49-F238E27FC236}">
                <a16:creationId xmlns:a16="http://schemas.microsoft.com/office/drawing/2014/main" id="{41958764-FFC1-2262-668D-BCEFA022A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10" y="1297166"/>
            <a:ext cx="1245784" cy="58439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그림 39" descr="텍스트, 식탁용기구, 플레이트, 접시이(가) 표시된 사진&#10;&#10;자동 생성된 설명">
            <a:extLst>
              <a:ext uri="{FF2B5EF4-FFF2-40B4-BE49-F238E27FC236}">
                <a16:creationId xmlns:a16="http://schemas.microsoft.com/office/drawing/2014/main" id="{AAD44CA3-98B4-739A-C3A8-1FD4F9ADC5C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4"/>
          <a:stretch/>
        </p:blipFill>
        <p:spPr>
          <a:xfrm>
            <a:off x="1071946" y="2727389"/>
            <a:ext cx="1443790" cy="406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C92D6B7-A251-25C9-2E36-86400266DFBF}"/>
              </a:ext>
            </a:extLst>
          </p:cNvPr>
          <p:cNvSpPr txBox="1"/>
          <p:nvPr/>
        </p:nvSpPr>
        <p:spPr>
          <a:xfrm>
            <a:off x="6717677" y="3886525"/>
            <a:ext cx="314189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공유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1B1BE5-AF2E-F6C6-6D92-DE78B62F4698}"/>
              </a:ext>
            </a:extLst>
          </p:cNvPr>
          <p:cNvSpPr txBox="1"/>
          <p:nvPr/>
        </p:nvSpPr>
        <p:spPr>
          <a:xfrm>
            <a:off x="4383172" y="4022564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업무</a:t>
            </a:r>
            <a:r>
              <a:rPr lang="en-US" altLang="ko-KR" sz="1100" b="1" dirty="0">
                <a:solidFill>
                  <a:srgbClr val="C00000"/>
                </a:solidFill>
              </a:rPr>
              <a:t>(Task)</a:t>
            </a: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분석 </a:t>
            </a:r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분배</a:t>
            </a:r>
          </a:p>
        </p:txBody>
      </p: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dirty="0"/>
              <a:t>프로젝트 관리 </a:t>
            </a:r>
            <a:r>
              <a:rPr lang="en-US" altLang="ko-KR" dirty="0"/>
              <a:t>(</a:t>
            </a:r>
            <a:r>
              <a:rPr lang="ko-KR" altLang="en-US" dirty="0"/>
              <a:t>환경 구축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61DF4C2-12F1-02D5-4C1D-483CD6BD9B66}"/>
              </a:ext>
            </a:extLst>
          </p:cNvPr>
          <p:cNvSpPr/>
          <p:nvPr/>
        </p:nvSpPr>
        <p:spPr>
          <a:xfrm>
            <a:off x="864558" y="1943093"/>
            <a:ext cx="3719188" cy="4329369"/>
          </a:xfrm>
          <a:prstGeom prst="roundRect">
            <a:avLst>
              <a:gd name="adj" fmla="val 2405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216000" rIns="36000" rtlCol="0" anchor="t"/>
          <a:lstStyle/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스프린트 단위로 업무 계획 및 관리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스프린트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개인업무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할당 및 관리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(WBS) &amp;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진척현황 캘린더 운영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각종 보고서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주간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월간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통합관리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 타입 별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집계현황 공유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진행관련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회의록 공유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사양서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요구분석서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MMI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정의서 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문서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설계서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API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규격서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Confluence</a:t>
            </a:r>
            <a:r>
              <a:rPr lang="en-US" altLang="ko-KR" sz="1400" baseline="40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기반 수행관리 환경 구축</a:t>
            </a:r>
          </a:p>
        </p:txBody>
      </p:sp>
      <p:grpSp>
        <p:nvGrpSpPr>
          <p:cNvPr id="8" name="그룹 59">
            <a:extLst>
              <a:ext uri="{FF2B5EF4-FFF2-40B4-BE49-F238E27FC236}">
                <a16:creationId xmlns:a16="http://schemas.microsoft.com/office/drawing/2014/main" id="{8C99AC3F-2D23-64FB-1930-DA4600F25B19}"/>
              </a:ext>
            </a:extLst>
          </p:cNvPr>
          <p:cNvGrpSpPr/>
          <p:nvPr/>
        </p:nvGrpSpPr>
        <p:grpSpPr>
          <a:xfrm>
            <a:off x="755021" y="1460409"/>
            <a:ext cx="3937274" cy="769945"/>
            <a:chOff x="505959" y="4766044"/>
            <a:chExt cx="4188511" cy="521513"/>
          </a:xfrm>
        </p:grpSpPr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7E0601AA-0400-961C-90B6-0D12BC248023}"/>
                </a:ext>
              </a:extLst>
            </p:cNvPr>
            <p:cNvSpPr/>
            <p:nvPr/>
          </p:nvSpPr>
          <p:spPr>
            <a:xfrm rot="16200000" flipV="1">
              <a:off x="4548250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  <a:sym typeface="HY견고딕" pitchFamily="18" charset="-127"/>
              </a:endParaRPr>
            </a:p>
          </p:txBody>
        </p:sp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8B5DC04C-FCB8-5155-6078-288328DF4987}"/>
                </a:ext>
              </a:extLst>
            </p:cNvPr>
            <p:cNvSpPr/>
            <p:nvPr/>
          </p:nvSpPr>
          <p:spPr>
            <a:xfrm rot="5400000" flipH="1" flipV="1">
              <a:off x="481474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  <a:sym typeface="HY견고딕" pitchFamily="18" charset="-127"/>
              </a:endParaRPr>
            </a:p>
          </p:txBody>
        </p:sp>
        <p:sp>
          <p:nvSpPr>
            <p:cNvPr id="48" name="텍스트 개체 틀 1">
              <a:extLst>
                <a:ext uri="{FF2B5EF4-FFF2-40B4-BE49-F238E27FC236}">
                  <a16:creationId xmlns:a16="http://schemas.microsoft.com/office/drawing/2014/main" id="{F6C93CC1-39A9-F981-1FC6-A816C8601AD6}"/>
                </a:ext>
              </a:extLst>
            </p:cNvPr>
            <p:cNvSpPr txBox="1">
              <a:spLocks/>
            </p:cNvSpPr>
            <p:nvPr/>
          </p:nvSpPr>
          <p:spPr>
            <a:xfrm>
              <a:off x="505959" y="4766044"/>
              <a:ext cx="4188511" cy="360000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rgbClr val="0033A1"/>
              </a:bgClr>
            </a:patt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관리 </a:t>
              </a:r>
              <a:r>
                <a:rPr lang="en-US" altLang="ko-KR" sz="1600" b="1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 </a:t>
              </a:r>
              <a:r>
                <a:rPr lang="ko-KR" altLang="en-US" sz="1600" b="1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 공유</a:t>
              </a:r>
            </a:p>
          </p:txBody>
        </p:sp>
      </p:grp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BE96BC4F-7213-E5D1-0A5D-A182581618B4}"/>
              </a:ext>
            </a:extLst>
          </p:cNvPr>
          <p:cNvSpPr/>
          <p:nvPr/>
        </p:nvSpPr>
        <p:spPr>
          <a:xfrm>
            <a:off x="5318924" y="1943094"/>
            <a:ext cx="3719188" cy="4329368"/>
          </a:xfrm>
          <a:prstGeom prst="roundRect">
            <a:avLst>
              <a:gd name="adj" fmla="val 2405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216000" rIns="36000" rtlCol="0" anchor="t"/>
          <a:lstStyle/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워크플로우 관리 및 모니터링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스프린트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릴리즈를 위한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타임라인 관리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개발범위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타임라인을 위한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 관리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버그 관련 모든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요소 추적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스크럼 기반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개발 워크플로우 관리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릴리즈 기반의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생산성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 형태의 개발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진척상황 모니터링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</a:t>
            </a:r>
            <a:r>
              <a:rPr lang="en-US" altLang="ko-KR" sz="1400" baseline="40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활용 이슈 관리 환경 구축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Bitbucket</a:t>
            </a:r>
            <a:r>
              <a:rPr lang="en-US" altLang="ko-KR" sz="1400" baseline="40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 소스코드 형상관리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21600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0" name="그룹 59">
            <a:extLst>
              <a:ext uri="{FF2B5EF4-FFF2-40B4-BE49-F238E27FC236}">
                <a16:creationId xmlns:a16="http://schemas.microsoft.com/office/drawing/2014/main" id="{D55F2B7D-3C39-A31D-0229-A61B399BAA28}"/>
              </a:ext>
            </a:extLst>
          </p:cNvPr>
          <p:cNvGrpSpPr/>
          <p:nvPr/>
        </p:nvGrpSpPr>
        <p:grpSpPr>
          <a:xfrm>
            <a:off x="5209387" y="1460409"/>
            <a:ext cx="3937274" cy="769945"/>
            <a:chOff x="505959" y="4766044"/>
            <a:chExt cx="4188511" cy="521513"/>
          </a:xfrm>
        </p:grpSpPr>
        <p:sp>
          <p:nvSpPr>
            <p:cNvPr id="51" name="이등변 삼각형 50">
              <a:extLst>
                <a:ext uri="{FF2B5EF4-FFF2-40B4-BE49-F238E27FC236}">
                  <a16:creationId xmlns:a16="http://schemas.microsoft.com/office/drawing/2014/main" id="{4FFE9543-4A6A-9406-38D7-4126DED7DCB3}"/>
                </a:ext>
              </a:extLst>
            </p:cNvPr>
            <p:cNvSpPr/>
            <p:nvPr/>
          </p:nvSpPr>
          <p:spPr>
            <a:xfrm rot="16200000" flipV="1">
              <a:off x="4548250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  <a:sym typeface="HY견고딕" pitchFamily="18" charset="-127"/>
              </a:endParaRP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3440E452-9822-DCBF-1A1E-A25093DCBCBC}"/>
                </a:ext>
              </a:extLst>
            </p:cNvPr>
            <p:cNvSpPr/>
            <p:nvPr/>
          </p:nvSpPr>
          <p:spPr>
            <a:xfrm rot="5400000" flipH="1" flipV="1">
              <a:off x="481474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  <a:sym typeface="HY견고딕" pitchFamily="18" charset="-127"/>
              </a:endParaRPr>
            </a:p>
          </p:txBody>
        </p:sp>
        <p:sp>
          <p:nvSpPr>
            <p:cNvPr id="53" name="텍스트 개체 틀 1">
              <a:extLst>
                <a:ext uri="{FF2B5EF4-FFF2-40B4-BE49-F238E27FC236}">
                  <a16:creationId xmlns:a16="http://schemas.microsoft.com/office/drawing/2014/main" id="{90E352F3-A756-9A2C-800D-7A02AB9AC39A}"/>
                </a:ext>
              </a:extLst>
            </p:cNvPr>
            <p:cNvSpPr txBox="1">
              <a:spLocks/>
            </p:cNvSpPr>
            <p:nvPr/>
          </p:nvSpPr>
          <p:spPr>
            <a:xfrm>
              <a:off x="505959" y="4766044"/>
              <a:ext cx="4188511" cy="360000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rgbClr val="0033A1"/>
              </a:bgClr>
            </a:patt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개발진척 </a:t>
              </a:r>
              <a:r>
                <a:rPr lang="en-US" altLang="ko-KR" sz="1600" b="1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 </a:t>
              </a:r>
              <a:r>
                <a:rPr lang="ko-KR" altLang="en-US" sz="1600" b="1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 관리</a:t>
              </a:r>
            </a:p>
          </p:txBody>
        </p:sp>
      </p:grpSp>
      <p:pic>
        <p:nvPicPr>
          <p:cNvPr id="54" name="그림 53" descr="Untitled-4.png">
            <a:extLst>
              <a:ext uri="{FF2B5EF4-FFF2-40B4-BE49-F238E27FC236}">
                <a16:creationId xmlns:a16="http://schemas.microsoft.com/office/drawing/2014/main" id="{201C8109-342F-146C-F452-7FC73B73BB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303"/>
                    </a14:imgEffect>
                    <a14:imgEffect>
                      <a14:saturation sat="25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5652" y="974023"/>
            <a:ext cx="275399" cy="14739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6DB1B37-24B6-602D-C988-31E6F278BEA9}"/>
              </a:ext>
            </a:extLst>
          </p:cNvPr>
          <p:cNvSpPr txBox="1"/>
          <p:nvPr/>
        </p:nvSpPr>
        <p:spPr>
          <a:xfrm>
            <a:off x="1271051" y="884657"/>
            <a:ext cx="6922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ea typeface="맑은 고딕" panose="020B0503020000020004" pitchFamily="50" charset="-127"/>
              </a:rPr>
              <a:t>투명한 프로젝트 관리 환경</a:t>
            </a:r>
            <a:r>
              <a:rPr lang="ko-KR" altLang="en-US" sz="1600" dirty="0">
                <a:ea typeface="맑은 고딕" panose="020B0503020000020004" pitchFamily="50" charset="-127"/>
              </a:rPr>
              <a:t>을 구축하여 신뢰성과 안정성을 확보하겠습니다</a:t>
            </a:r>
            <a:r>
              <a:rPr lang="en-US" altLang="ko-KR" sz="1600" dirty="0">
                <a:ea typeface="맑은 고딕" panose="020B0503020000020004" pitchFamily="50" charset="-127"/>
              </a:rPr>
              <a:t>.</a:t>
            </a:r>
            <a:endParaRPr lang="ko-KR" altLang="en-US" sz="16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3326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dirty="0"/>
              <a:t>프로젝트 관리 </a:t>
            </a:r>
            <a:r>
              <a:rPr lang="en-US" altLang="ko-KR" dirty="0"/>
              <a:t>(</a:t>
            </a:r>
            <a:r>
              <a:rPr lang="ko-KR" altLang="en-US" dirty="0"/>
              <a:t>수행 관리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81B3B1D-0A52-645E-FF4E-A8C6ACCFDF3C}"/>
              </a:ext>
            </a:extLst>
          </p:cNvPr>
          <p:cNvSpPr/>
          <p:nvPr/>
        </p:nvSpPr>
        <p:spPr>
          <a:xfrm>
            <a:off x="753435" y="756563"/>
            <a:ext cx="8258199" cy="3665621"/>
          </a:xfrm>
          <a:prstGeom prst="roundRect">
            <a:avLst>
              <a:gd name="adj" fmla="val 167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5EEBD8-6CA6-CD77-ED99-3DDFEDB3A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233" b="11233"/>
          <a:stretch/>
        </p:blipFill>
        <p:spPr>
          <a:xfrm>
            <a:off x="1182104" y="714523"/>
            <a:ext cx="7257819" cy="316537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E87183-3346-CCCC-4552-22980E3FB4D3}"/>
              </a:ext>
            </a:extLst>
          </p:cNvPr>
          <p:cNvSpPr txBox="1"/>
          <p:nvPr/>
        </p:nvSpPr>
        <p:spPr>
          <a:xfrm>
            <a:off x="1267299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1) </a:t>
            </a:r>
            <a:r>
              <a:rPr lang="ko-KR" altLang="en-US" sz="1200" b="1" dirty="0">
                <a:latin typeface="+mn-ea"/>
              </a:rPr>
              <a:t>요구사항</a:t>
            </a:r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목록 작성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C8D65-BE5E-0383-0EFE-4C3641BE8EDE}"/>
              </a:ext>
            </a:extLst>
          </p:cNvPr>
          <p:cNvSpPr txBox="1"/>
          <p:nvPr/>
        </p:nvSpPr>
        <p:spPr>
          <a:xfrm>
            <a:off x="2273737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2) </a:t>
            </a:r>
            <a:r>
              <a:rPr lang="ko-KR" altLang="en-US" sz="1200" b="1" dirty="0">
                <a:latin typeface="+mn-ea"/>
              </a:rPr>
              <a:t>스프린트</a:t>
            </a:r>
            <a:br>
              <a:rPr lang="en-US" altLang="ko-KR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계획 회의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CA51D4-1DC1-2B77-0D42-FF522557E3AD}"/>
              </a:ext>
            </a:extLst>
          </p:cNvPr>
          <p:cNvSpPr txBox="1"/>
          <p:nvPr/>
        </p:nvSpPr>
        <p:spPr>
          <a:xfrm>
            <a:off x="3263559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3) </a:t>
            </a:r>
            <a:r>
              <a:rPr lang="ko-KR" altLang="en-US" sz="1200" b="1" dirty="0">
                <a:latin typeface="+mn-ea"/>
              </a:rPr>
              <a:t>스프린트</a:t>
            </a:r>
            <a:br>
              <a:rPr lang="en-US" altLang="ko-KR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백로그 작성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89CA6-2E07-C5A7-3525-CA242F55FFBE}"/>
              </a:ext>
            </a:extLst>
          </p:cNvPr>
          <p:cNvSpPr txBox="1"/>
          <p:nvPr/>
        </p:nvSpPr>
        <p:spPr>
          <a:xfrm>
            <a:off x="4811014" y="2167698"/>
            <a:ext cx="1034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i="1" dirty="0">
                <a:latin typeface="+mn-ea"/>
              </a:rPr>
              <a:t>SPRINT</a:t>
            </a:r>
          </a:p>
          <a:p>
            <a:pPr algn="ctr"/>
            <a:r>
              <a:rPr lang="en-US" altLang="ko-KR" sz="1400" i="1" dirty="0">
                <a:latin typeface="+mn-ea"/>
              </a:rPr>
              <a:t>1~2 WEEK</a:t>
            </a:r>
            <a:endParaRPr lang="ko-KR" altLang="en-US" sz="1400" i="1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B82810-3F56-3C55-594D-4F507DD1E60E}"/>
              </a:ext>
            </a:extLst>
          </p:cNvPr>
          <p:cNvSpPr txBox="1"/>
          <p:nvPr/>
        </p:nvSpPr>
        <p:spPr>
          <a:xfrm>
            <a:off x="6063270" y="1677786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i="1" dirty="0">
                <a:latin typeface="+mn-ea"/>
              </a:rPr>
              <a:t>24 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E7B32-71B9-1060-7401-B164080D074B}"/>
              </a:ext>
            </a:extLst>
          </p:cNvPr>
          <p:cNvSpPr txBox="1"/>
          <p:nvPr/>
        </p:nvSpPr>
        <p:spPr>
          <a:xfrm>
            <a:off x="6740977" y="1446954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4) </a:t>
            </a:r>
            <a:r>
              <a:rPr lang="ko-KR" altLang="en-US" sz="1200" b="1" dirty="0">
                <a:latin typeface="+mn-ea"/>
              </a:rPr>
              <a:t>데일리 </a:t>
            </a:r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미팅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7C0AAC-BE40-BE1C-4C3A-185D4DBA2C24}"/>
              </a:ext>
            </a:extLst>
          </p:cNvPr>
          <p:cNvSpPr txBox="1"/>
          <p:nvPr/>
        </p:nvSpPr>
        <p:spPr>
          <a:xfrm>
            <a:off x="6792202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5) </a:t>
            </a:r>
            <a:r>
              <a:rPr lang="ko-KR" altLang="en-US" sz="1200" b="1" dirty="0">
                <a:latin typeface="+mn-ea"/>
              </a:rPr>
              <a:t>스프린트</a:t>
            </a:r>
            <a:br>
              <a:rPr lang="en-US" altLang="ko-KR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완료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BD99F3-4675-02B4-4066-4F010818D491}"/>
              </a:ext>
            </a:extLst>
          </p:cNvPr>
          <p:cNvSpPr txBox="1"/>
          <p:nvPr/>
        </p:nvSpPr>
        <p:spPr>
          <a:xfrm>
            <a:off x="7603069" y="2909211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6) </a:t>
            </a:r>
            <a:r>
              <a:rPr lang="ko-KR" altLang="en-US" sz="1200" b="1" dirty="0">
                <a:latin typeface="+mn-ea"/>
              </a:rPr>
              <a:t>스프린트</a:t>
            </a:r>
            <a:br>
              <a:rPr lang="en-US" altLang="ko-KR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리뷰 </a:t>
            </a:r>
            <a:r>
              <a:rPr lang="en-US" altLang="ko-KR" sz="1200" b="1" dirty="0">
                <a:latin typeface="+mn-ea"/>
              </a:rPr>
              <a:t>&amp; </a:t>
            </a:r>
            <a:r>
              <a:rPr lang="ko-KR" altLang="en-US" sz="1200" b="1" dirty="0">
                <a:latin typeface="+mn-ea"/>
              </a:rPr>
              <a:t>회고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770B6E-7385-C798-6805-5D32BB50FC9C}"/>
              </a:ext>
            </a:extLst>
          </p:cNvPr>
          <p:cNvSpPr txBox="1"/>
          <p:nvPr/>
        </p:nvSpPr>
        <p:spPr>
          <a:xfrm>
            <a:off x="1420420" y="2630531"/>
            <a:ext cx="788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PM&amp;PL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1F8359-620D-5312-257C-C72A4D1907CA}"/>
              </a:ext>
            </a:extLst>
          </p:cNvPr>
          <p:cNvSpPr txBox="1"/>
          <p:nvPr/>
        </p:nvSpPr>
        <p:spPr>
          <a:xfrm>
            <a:off x="2968381" y="2641106"/>
            <a:ext cx="608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Team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819C16-1352-2DF7-48CD-970A7949C91A}"/>
              </a:ext>
            </a:extLst>
          </p:cNvPr>
          <p:cNvSpPr txBox="1"/>
          <p:nvPr/>
        </p:nvSpPr>
        <p:spPr>
          <a:xfrm>
            <a:off x="5080793" y="126865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PL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FC65D-CA3C-A2E6-BBD6-042ED03270A2}"/>
              </a:ext>
            </a:extLst>
          </p:cNvPr>
          <p:cNvSpPr txBox="1"/>
          <p:nvPr/>
        </p:nvSpPr>
        <p:spPr>
          <a:xfrm>
            <a:off x="753435" y="4560700"/>
            <a:ext cx="8516377" cy="171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b="0" i="0" dirty="0">
                <a:effectLst/>
                <a:latin typeface="+mn-ea"/>
              </a:rPr>
              <a:t>개발할 제품에 대한 요구사항을 분석하여 정기적으로 </a:t>
            </a:r>
            <a:r>
              <a:rPr lang="ko-KR" altLang="en-US" sz="1200" b="1" i="0" dirty="0">
                <a:effectLst/>
                <a:latin typeface="+mn-ea"/>
              </a:rPr>
              <a:t>요구사항 목록을 작성</a:t>
            </a:r>
            <a:endParaRPr lang="en-US" altLang="ko-KR" sz="1200" b="1" i="0" dirty="0">
              <a:effectLst/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+mn-ea"/>
              </a:rPr>
              <a:t>프로젝트 관리자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팀 프로젝트 리더가 참여하여 </a:t>
            </a:r>
            <a:r>
              <a:rPr lang="ko-KR" altLang="en-US" sz="1200" b="1" dirty="0">
                <a:latin typeface="+mn-ea"/>
              </a:rPr>
              <a:t>스프린트 목표와 요구사항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처리 계획 수립</a:t>
            </a:r>
            <a:endParaRPr lang="en-US" altLang="ko-KR" sz="1200" b="1" dirty="0"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+mn-ea"/>
              </a:rPr>
              <a:t>각 요구사항을 </a:t>
            </a:r>
            <a:r>
              <a:rPr lang="en-US" altLang="ko-KR" sz="1200" dirty="0">
                <a:latin typeface="+mn-ea"/>
              </a:rPr>
              <a:t>Task </a:t>
            </a:r>
            <a:r>
              <a:rPr lang="ko-KR" altLang="en-US" sz="1200" dirty="0">
                <a:latin typeface="+mn-ea"/>
              </a:rPr>
              <a:t>단위로 나누어 개발자들이 작업할 수 있는 </a:t>
            </a:r>
            <a:r>
              <a:rPr lang="ko-KR" altLang="en-US" sz="1200" b="1" dirty="0">
                <a:latin typeface="+mn-ea"/>
              </a:rPr>
              <a:t>스프린트 백로그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세부요구사양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작성</a:t>
            </a:r>
            <a:endParaRPr lang="en-US" altLang="ko-KR" sz="1200" b="1" dirty="0"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+mn-ea"/>
              </a:rPr>
              <a:t>스프린트 수행 중에 문제점이나 장애요인 등을 공유하며 문제가 있는 경우 </a:t>
            </a:r>
            <a:r>
              <a:rPr lang="ko-KR" altLang="en-US" sz="1200" b="1" dirty="0">
                <a:latin typeface="+mn-ea"/>
              </a:rPr>
              <a:t>해결방안을 수립</a:t>
            </a:r>
            <a:endParaRPr lang="en-US" altLang="ko-KR" sz="1200" b="1" dirty="0"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+mn-ea"/>
              </a:rPr>
              <a:t>각 </a:t>
            </a:r>
            <a:r>
              <a:rPr lang="ko-KR" altLang="en-US" sz="1200" b="1" dirty="0">
                <a:latin typeface="+mn-ea"/>
              </a:rPr>
              <a:t>스프린트마다 목표를 달성</a:t>
            </a:r>
            <a:r>
              <a:rPr lang="ko-KR" altLang="en-US" sz="1200" dirty="0">
                <a:latin typeface="+mn-ea"/>
              </a:rPr>
              <a:t>하여 실행 가능한 모듈을 만들어서 공유</a:t>
            </a:r>
            <a:endParaRPr lang="en-US" altLang="ko-KR" sz="1200" dirty="0"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+mn-ea"/>
              </a:rPr>
              <a:t>스프린트 종료 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수행 결과가 충분이 </a:t>
            </a:r>
            <a:r>
              <a:rPr lang="ko-KR" altLang="en-US" sz="1200" b="1" dirty="0">
                <a:latin typeface="+mn-ea"/>
              </a:rPr>
              <a:t>만족되는지를 피드백</a:t>
            </a:r>
            <a:r>
              <a:rPr lang="ko-KR" altLang="en-US" sz="1200" dirty="0">
                <a:latin typeface="+mn-ea"/>
              </a:rPr>
              <a:t> 받고 미진한 점을 도출함으로써 다음 스프린트를 개선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D31649-5D49-BBC6-C67E-000DF6CCF1C3}"/>
              </a:ext>
            </a:extLst>
          </p:cNvPr>
          <p:cNvSpPr txBox="1"/>
          <p:nvPr/>
        </p:nvSpPr>
        <p:spPr>
          <a:xfrm>
            <a:off x="978288" y="1070354"/>
            <a:ext cx="2823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latin typeface="+mn-ea"/>
              </a:rPr>
              <a:t>&lt;</a:t>
            </a:r>
            <a:r>
              <a:rPr lang="ko-KR" altLang="en-US" sz="1400" i="1" dirty="0">
                <a:latin typeface="+mn-ea"/>
              </a:rPr>
              <a:t>애자일</a:t>
            </a:r>
            <a:r>
              <a:rPr lang="en-US" altLang="ko-KR" sz="1400" i="1" dirty="0">
                <a:latin typeface="+mn-ea"/>
              </a:rPr>
              <a:t>(</a:t>
            </a:r>
            <a:r>
              <a:rPr lang="ko-KR" altLang="en-US" sz="1400" i="1" dirty="0">
                <a:latin typeface="+mn-ea"/>
              </a:rPr>
              <a:t>스크럼</a:t>
            </a:r>
            <a:r>
              <a:rPr lang="en-US" altLang="ko-KR" sz="1400" i="1" dirty="0">
                <a:latin typeface="+mn-ea"/>
              </a:rPr>
              <a:t>)</a:t>
            </a:r>
            <a:r>
              <a:rPr lang="ko-KR" altLang="en-US" sz="1400" i="1" dirty="0">
                <a:latin typeface="+mn-ea"/>
              </a:rPr>
              <a:t> 개발방식 기반</a:t>
            </a:r>
            <a:r>
              <a:rPr lang="en-US" altLang="ko-KR" sz="1400" i="1" dirty="0">
                <a:latin typeface="+mn-ea"/>
              </a:rPr>
              <a:t>&gt;</a:t>
            </a:r>
            <a:endParaRPr lang="ko-KR" altLang="en-US" sz="1400" i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dirty="0"/>
              <a:t>프로젝트 관리 </a:t>
            </a:r>
            <a:r>
              <a:rPr lang="en-US" altLang="ko-KR" dirty="0"/>
              <a:t>(</a:t>
            </a:r>
            <a:r>
              <a:rPr lang="ko-KR" altLang="en-US" dirty="0"/>
              <a:t>위험</a:t>
            </a:r>
            <a:r>
              <a:rPr lang="en-US" altLang="ko-KR" dirty="0"/>
              <a:t>/</a:t>
            </a:r>
            <a:r>
              <a:rPr lang="ko-KR" altLang="en-US" dirty="0"/>
              <a:t>이슈관리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AF2BC0F-88E0-F839-832B-358711C522C7}"/>
              </a:ext>
            </a:extLst>
          </p:cNvPr>
          <p:cNvSpPr/>
          <p:nvPr/>
        </p:nvSpPr>
        <p:spPr>
          <a:xfrm>
            <a:off x="452438" y="1907149"/>
            <a:ext cx="8815794" cy="4156242"/>
          </a:xfrm>
          <a:prstGeom prst="roundRect">
            <a:avLst>
              <a:gd name="adj" fmla="val 167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2A94AA-7CEC-E5BD-EF3B-DB6D5EAAF0BF}"/>
              </a:ext>
            </a:extLst>
          </p:cNvPr>
          <p:cNvSpPr/>
          <p:nvPr/>
        </p:nvSpPr>
        <p:spPr>
          <a:xfrm>
            <a:off x="683032" y="2153853"/>
            <a:ext cx="8353425" cy="1081216"/>
          </a:xfrm>
          <a:prstGeom prst="roundRect">
            <a:avLst>
              <a:gd name="adj" fmla="val 11969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6CDF374-7929-EFB0-BBEA-DC1108EBCC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1837808" y="2694461"/>
            <a:ext cx="3958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43BAAE1-569D-77E6-B45E-C3CC79B79D96}"/>
              </a:ext>
            </a:extLst>
          </p:cNvPr>
          <p:cNvSpPr/>
          <p:nvPr/>
        </p:nvSpPr>
        <p:spPr>
          <a:xfrm>
            <a:off x="83279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이슈 식별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E255129-3968-F1E3-7395-2BD0FD60617D}"/>
              </a:ext>
            </a:extLst>
          </p:cNvPr>
          <p:cNvSpPr/>
          <p:nvPr/>
        </p:nvSpPr>
        <p:spPr>
          <a:xfrm>
            <a:off x="223361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위험발생 가능성 분석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D22C9F6-B2F7-BBEB-B24F-E4556D9B9A01}"/>
              </a:ext>
            </a:extLst>
          </p:cNvPr>
          <p:cNvSpPr/>
          <p:nvPr/>
        </p:nvSpPr>
        <p:spPr>
          <a:xfrm>
            <a:off x="363443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영향도 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분석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30973C3-22B2-8494-71A7-93AF7C2EBB88}"/>
              </a:ext>
            </a:extLst>
          </p:cNvPr>
          <p:cNvSpPr/>
          <p:nvPr/>
        </p:nvSpPr>
        <p:spPr>
          <a:xfrm>
            <a:off x="503525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영향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평가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17B7701-6AFF-F09C-D706-673808C1DB95}"/>
              </a:ext>
            </a:extLst>
          </p:cNvPr>
          <p:cNvSpPr/>
          <p:nvPr/>
        </p:nvSpPr>
        <p:spPr>
          <a:xfrm>
            <a:off x="643607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완화계획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수립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B25ED0A-EFBB-29F9-5790-F92DF5AD78E4}"/>
              </a:ext>
            </a:extLst>
          </p:cNvPr>
          <p:cNvSpPr/>
          <p:nvPr/>
        </p:nvSpPr>
        <p:spPr>
          <a:xfrm>
            <a:off x="7836890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위험추적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및 통제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B650F33-8A11-F13D-7685-2E1F8D8AC9E4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238628" y="2694461"/>
            <a:ext cx="3958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C87F1E1-A07F-F44A-9DA9-51E426247FD7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4639448" y="2694461"/>
            <a:ext cx="3958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CEE755D-F3DF-E024-03B9-137C615C9AB3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6040268" y="2694461"/>
            <a:ext cx="3958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4A6BB3-2AA4-2FB7-5BC5-43F5A54646AC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7441088" y="2694461"/>
            <a:ext cx="395802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50ED4C-8B4D-4DF1-9058-F89FC485879E}"/>
              </a:ext>
            </a:extLst>
          </p:cNvPr>
          <p:cNvSpPr/>
          <p:nvPr/>
        </p:nvSpPr>
        <p:spPr>
          <a:xfrm>
            <a:off x="832792" y="3937675"/>
            <a:ext cx="2160000" cy="17632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발생 가능한 위험요소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기획의 변경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비현실적인 일정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잘못된 요구사항 분석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지속적인 요구사항 변경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기술적 취약점 발생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B30BBC1-F18F-F33D-31D7-F6B6DBF120F6}"/>
              </a:ext>
            </a:extLst>
          </p:cNvPr>
          <p:cNvSpPr/>
          <p:nvPr/>
        </p:nvSpPr>
        <p:spPr>
          <a:xfrm>
            <a:off x="3757349" y="3937675"/>
            <a:ext cx="2227498" cy="17632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위험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이슈관리 대장 작성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위험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이슈 구분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발생일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발의자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상세 내용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정량적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정성적 영향도 분석 결과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6652BEC-B895-D624-3270-50034A9CD85F}"/>
              </a:ext>
            </a:extLst>
          </p:cNvPr>
          <p:cNvSpPr/>
          <p:nvPr/>
        </p:nvSpPr>
        <p:spPr>
          <a:xfrm>
            <a:off x="6681905" y="3937675"/>
            <a:ext cx="2264147" cy="17632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대응 방안 도출 </a:t>
            </a:r>
            <a:r>
              <a:rPr lang="en-US" altLang="ko-KR" sz="1200" b="1" dirty="0">
                <a:solidFill>
                  <a:schemeClr val="tx1"/>
                </a:solidFill>
              </a:rPr>
              <a:t>&amp; </a:t>
            </a:r>
            <a:r>
              <a:rPr lang="ko-KR" altLang="en-US" sz="1200" b="1" dirty="0">
                <a:solidFill>
                  <a:schemeClr val="tx1"/>
                </a:solidFill>
              </a:rPr>
              <a:t>실행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해당 위험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이슈 항목이 발생하지 않도록 초기 제거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최대 변경 범위 상한선 합의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이슈 추적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AC936304-BAE5-BE00-6B32-592033EC1918}"/>
              </a:ext>
            </a:extLst>
          </p:cNvPr>
          <p:cNvCxnSpPr>
            <a:cxnSpLocks/>
            <a:stCxn id="27" idx="2"/>
            <a:endCxn id="34" idx="0"/>
          </p:cNvCxnSpPr>
          <p:nvPr/>
        </p:nvCxnSpPr>
        <p:spPr>
          <a:xfrm rot="5400000">
            <a:off x="5427394" y="2426489"/>
            <a:ext cx="954890" cy="206748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1EE9542-F554-7438-2811-C5D23567E21D}"/>
              </a:ext>
            </a:extLst>
          </p:cNvPr>
          <p:cNvCxnSpPr>
            <a:cxnSpLocks/>
            <a:stCxn id="28" idx="2"/>
            <a:endCxn id="35" idx="0"/>
          </p:cNvCxnSpPr>
          <p:nvPr/>
        </p:nvCxnSpPr>
        <p:spPr>
          <a:xfrm rot="5400000">
            <a:off x="7599244" y="3197521"/>
            <a:ext cx="954890" cy="5254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8D89ECA-05C4-C0EE-F298-43627FDC351B}"/>
              </a:ext>
            </a:extLst>
          </p:cNvPr>
          <p:cNvCxnSpPr>
            <a:cxnSpLocks/>
            <a:stCxn id="23" idx="2"/>
            <a:endCxn id="33" idx="0"/>
          </p:cNvCxnSpPr>
          <p:nvPr/>
        </p:nvCxnSpPr>
        <p:spPr>
          <a:xfrm rot="16200000" flipH="1">
            <a:off x="1146601" y="3171484"/>
            <a:ext cx="954890" cy="5774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BD2C9B8-4E92-7895-EE6D-EF67067DC6C2}"/>
              </a:ext>
            </a:extLst>
          </p:cNvPr>
          <p:cNvSpPr txBox="1"/>
          <p:nvPr/>
        </p:nvSpPr>
        <p:spPr>
          <a:xfrm>
            <a:off x="1145612" y="837311"/>
            <a:ext cx="8106746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kern="900" dirty="0">
                <a:ln w="18415" cmpd="sng">
                  <a:noFill/>
                  <a:prstDash val="solid"/>
                </a:ln>
                <a:latin typeface="+mn-ea"/>
              </a:rPr>
              <a:t>프로젝트 수행 도중 발생되는 </a:t>
            </a:r>
            <a:r>
              <a:rPr lang="ko-KR" altLang="en-US" sz="1400" b="1" kern="900" dirty="0">
                <a:ln w="18415" cmpd="sng">
                  <a:noFill/>
                  <a:prstDash val="solid"/>
                </a:ln>
                <a:latin typeface="+mn-ea"/>
              </a:rPr>
              <a:t>위험</a:t>
            </a:r>
            <a:r>
              <a:rPr lang="en-US" altLang="ko-KR" sz="1400" b="1" kern="900" dirty="0">
                <a:ln w="18415" cmpd="sng">
                  <a:noFill/>
                  <a:prstDash val="solid"/>
                </a:ln>
                <a:latin typeface="+mn-ea"/>
              </a:rPr>
              <a:t>/</a:t>
            </a:r>
            <a:r>
              <a:rPr lang="ko-KR" altLang="en-US" sz="1400" b="1" kern="900" dirty="0">
                <a:ln w="18415" cmpd="sng">
                  <a:noFill/>
                  <a:prstDash val="solid"/>
                </a:ln>
                <a:latin typeface="+mn-ea"/>
              </a:rPr>
              <a:t>이슈를 식별하</a:t>
            </a:r>
            <a:r>
              <a:rPr lang="ko-KR" altLang="en-US" sz="1400" kern="900" dirty="0">
                <a:ln w="18415" cmpd="sng">
                  <a:noFill/>
                  <a:prstDash val="solid"/>
                </a:ln>
                <a:latin typeface="+mn-ea"/>
              </a:rPr>
              <a:t>고 각 위험</a:t>
            </a:r>
            <a:r>
              <a:rPr lang="en-US" altLang="ko-KR" sz="1400" kern="900" dirty="0">
                <a:ln w="18415" cmpd="sng">
                  <a:noFill/>
                  <a:prstDash val="solid"/>
                </a:ln>
                <a:latin typeface="+mn-ea"/>
              </a:rPr>
              <a:t>/</a:t>
            </a:r>
            <a:r>
              <a:rPr lang="ko-KR" altLang="en-US" sz="1400" kern="900" dirty="0">
                <a:ln w="18415" cmpd="sng">
                  <a:noFill/>
                  <a:prstDash val="solid"/>
                </a:ln>
                <a:latin typeface="+mn-ea"/>
              </a:rPr>
              <a:t>이슈 별 </a:t>
            </a:r>
            <a:r>
              <a:rPr lang="ko-KR" altLang="en-US" sz="1400" b="1" kern="900" dirty="0">
                <a:ln w="18415" cmpd="sng">
                  <a:noFill/>
                  <a:prstDash val="solid"/>
                </a:ln>
                <a:latin typeface="+mn-ea"/>
              </a:rPr>
              <a:t>대응 방안을 수립 </a:t>
            </a:r>
            <a:r>
              <a:rPr lang="ko-KR" altLang="en-US" sz="1400" kern="900" dirty="0">
                <a:ln w="18415" cmpd="sng">
                  <a:noFill/>
                  <a:prstDash val="solid"/>
                </a:ln>
                <a:latin typeface="+mn-ea"/>
              </a:rPr>
              <a:t>후 실행</a:t>
            </a:r>
            <a:r>
              <a:rPr lang="en-US" altLang="ko-KR" sz="1400" kern="900" dirty="0">
                <a:ln w="18415" cmpd="sng">
                  <a:noFill/>
                  <a:prstDash val="solid"/>
                </a:ln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kern="900" dirty="0">
                <a:ln w="18415" cmpd="sng">
                  <a:noFill/>
                  <a:prstDash val="solid"/>
                </a:ln>
                <a:latin typeface="+mn-ea"/>
              </a:rPr>
              <a:t>식별된 위험</a:t>
            </a:r>
            <a:r>
              <a:rPr lang="en-US" altLang="ko-KR" sz="1400" kern="900" dirty="0">
                <a:ln w="18415" cmpd="sng">
                  <a:noFill/>
                  <a:prstDash val="solid"/>
                </a:ln>
                <a:latin typeface="+mn-ea"/>
              </a:rPr>
              <a:t>/</a:t>
            </a:r>
            <a:r>
              <a:rPr lang="ko-KR" altLang="en-US" sz="1400" kern="900" dirty="0">
                <a:ln w="18415" cmpd="sng">
                  <a:noFill/>
                  <a:prstDash val="solid"/>
                </a:ln>
                <a:latin typeface="+mn-ea"/>
              </a:rPr>
              <a:t>이슈의 각 항목들에 대해서는 </a:t>
            </a:r>
            <a:r>
              <a:rPr lang="ko-KR" altLang="en-US" sz="1400" b="1" kern="900" dirty="0">
                <a:ln w="18415" cmpd="sng">
                  <a:noFill/>
                  <a:prstDash val="solid"/>
                </a:ln>
                <a:latin typeface="+mn-ea"/>
              </a:rPr>
              <a:t>문서화</a:t>
            </a:r>
            <a:r>
              <a:rPr lang="ko-KR" altLang="en-US" sz="1400" kern="900" dirty="0">
                <a:ln w="18415" cmpd="sng">
                  <a:noFill/>
                  <a:prstDash val="solid"/>
                </a:ln>
                <a:latin typeface="+mn-ea"/>
              </a:rPr>
              <a:t>하여 주기적으로 </a:t>
            </a:r>
            <a:r>
              <a:rPr lang="ko-KR" altLang="en-US" sz="1400" b="1" kern="900" dirty="0">
                <a:ln w="18415" cmpd="sng">
                  <a:noFill/>
                  <a:prstDash val="solid"/>
                </a:ln>
                <a:latin typeface="+mn-ea"/>
              </a:rPr>
              <a:t>상태를 모니터링</a:t>
            </a:r>
            <a:r>
              <a:rPr lang="en-US" altLang="ko-KR" sz="1400" b="1" kern="900" dirty="0">
                <a:ln w="18415" cmpd="sng">
                  <a:noFill/>
                  <a:prstDash val="solid"/>
                </a:ln>
                <a:latin typeface="+mn-ea"/>
              </a:rPr>
              <a:t>.</a:t>
            </a:r>
          </a:p>
        </p:txBody>
      </p:sp>
      <p:pic>
        <p:nvPicPr>
          <p:cNvPr id="40" name="그림 39" descr="Untitled-4.png">
            <a:extLst>
              <a:ext uri="{FF2B5EF4-FFF2-40B4-BE49-F238E27FC236}">
                <a16:creationId xmlns:a16="http://schemas.microsoft.com/office/drawing/2014/main" id="{78CAA677-FDCE-3F83-F9EB-A25B031EF8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303"/>
                    </a14:imgEffect>
                    <a14:imgEffect>
                      <a14:saturation sat="25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212" y="1007227"/>
            <a:ext cx="275399" cy="147397"/>
          </a:xfrm>
          <a:prstGeom prst="rect">
            <a:avLst/>
          </a:prstGeom>
        </p:spPr>
      </p:pic>
      <p:pic>
        <p:nvPicPr>
          <p:cNvPr id="41" name="그림 40" descr="Untitled-4.png">
            <a:extLst>
              <a:ext uri="{FF2B5EF4-FFF2-40B4-BE49-F238E27FC236}">
                <a16:creationId xmlns:a16="http://schemas.microsoft.com/office/drawing/2014/main" id="{90567A1F-BF3E-415F-6D44-28B093A4D7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303"/>
                    </a14:imgEffect>
                    <a14:imgEffect>
                      <a14:saturation sat="25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212" y="1305861"/>
            <a:ext cx="275399" cy="14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4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527479"/>
              </p:ext>
            </p:extLst>
          </p:nvPr>
        </p:nvGraphicFramePr>
        <p:xfrm>
          <a:off x="457629" y="1022625"/>
          <a:ext cx="8925359" cy="376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32162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5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708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260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/>
                        <a:t>국내향</a:t>
                      </a:r>
                      <a:endParaRPr lang="en-US" altLang="ko-KR" sz="1400" spc="-50" baseline="0" dirty="0"/>
                    </a:p>
                    <a:p>
                      <a:pPr algn="ctr" latinLnBrk="1"/>
                      <a:r>
                        <a:rPr lang="ko-KR" altLang="en-US" sz="1400" spc="-50" baseline="0" dirty="0"/>
                        <a:t>유지보수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5.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TextBox 5"/>
          <p:cNvSpPr txBox="1"/>
          <p:nvPr/>
        </p:nvSpPr>
        <p:spPr>
          <a:xfrm>
            <a:off x="408373" y="653292"/>
            <a:ext cx="27024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Wingdings"/>
              <a:buChar char="u"/>
              <a:defRPr/>
            </a:pPr>
            <a:r>
              <a:rPr lang="ko-KR" altLang="en-US" sz="1600">
                <a:latin typeface="+mn-ea"/>
              </a:rPr>
              <a:t>유지보수 일정</a:t>
            </a:r>
            <a:r>
              <a:rPr lang="en-US" altLang="ko-KR" sz="1600">
                <a:latin typeface="+mn-ea"/>
              </a:rPr>
              <a:t>: </a:t>
            </a:r>
            <a:r>
              <a:rPr lang="ko-KR" altLang="en-US" sz="1600">
                <a:latin typeface="+mn-ea"/>
              </a:rPr>
              <a:t>총 </a:t>
            </a:r>
            <a:r>
              <a:rPr lang="en-US" altLang="ko-KR" sz="1600">
                <a:latin typeface="+mn-ea"/>
              </a:rPr>
              <a:t>6</a:t>
            </a:r>
            <a:r>
              <a:rPr lang="ko-KR" altLang="en-US" sz="1600">
                <a:latin typeface="+mn-ea"/>
              </a:rPr>
              <a:t>개월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8766CF70-23F5-4742-BB07-DC16D9A05EF9}"/>
              </a:ext>
            </a:extLst>
          </p:cNvPr>
          <p:cNvSpPr/>
          <p:nvPr/>
        </p:nvSpPr>
        <p:spPr>
          <a:xfrm>
            <a:off x="1527946" y="2143119"/>
            <a:ext cx="130437" cy="1269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7" name="직선 연결선 146"/>
          <p:cNvCxnSpPr>
            <a:stCxn id="150" idx="2"/>
            <a:endCxn id="146" idx="6"/>
          </p:cNvCxnSpPr>
          <p:nvPr/>
        </p:nvCxnSpPr>
        <p:spPr>
          <a:xfrm rot="10800000" flipV="1">
            <a:off x="1658383" y="2206259"/>
            <a:ext cx="3653826" cy="339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500827" y="1904783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50" name="타원 149"/>
          <p:cNvSpPr/>
          <p:nvPr/>
        </p:nvSpPr>
        <p:spPr>
          <a:xfrm>
            <a:off x="5312209" y="2142780"/>
            <a:ext cx="130437" cy="1269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2" name="TextBox 121"/>
          <p:cNvSpPr txBox="1"/>
          <p:nvPr/>
        </p:nvSpPr>
        <p:spPr>
          <a:xfrm>
            <a:off x="5221800" y="2233687"/>
            <a:ext cx="357750" cy="253916"/>
          </a:xfrm>
          <a:prstGeom prst="rect">
            <a:avLst/>
          </a:prstGeom>
          <a:noFill/>
        </p:spPr>
        <p:txBody>
          <a:bodyPr wrap="none" lIns="36000" rIns="36000">
            <a:spAutoFit/>
          </a:bodyPr>
          <a:lstStyle/>
          <a:p>
            <a:pPr lvl="0" algn="ctr">
              <a:defRPr/>
            </a:pPr>
            <a:r>
              <a:rPr lang="en-US" altLang="ko-KR" sz="1050" b="1"/>
              <a:t>M+6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79576" y="1904783"/>
            <a:ext cx="611313" cy="253916"/>
          </a:xfrm>
          <a:prstGeom prst="rect">
            <a:avLst/>
          </a:prstGeom>
          <a:noFill/>
        </p:spPr>
        <p:txBody>
          <a:bodyPr wrap="none" lIns="36000" rIns="36000">
            <a:spAutoFit/>
          </a:bodyPr>
          <a:lstStyle/>
          <a:p>
            <a:pPr lvl="0" algn="ctr">
              <a:defRPr/>
            </a:pPr>
            <a:r>
              <a:rPr lang="ko-KR" altLang="en-US" sz="1050" b="1"/>
              <a:t>완료보고</a:t>
            </a: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02AD66EE-F2CF-4B7D-8A72-8DEA2B72252A}"/>
              </a:ext>
            </a:extLst>
          </p:cNvPr>
          <p:cNvGrpSpPr/>
          <p:nvPr/>
        </p:nvGrpSpPr>
        <p:grpSpPr>
          <a:xfrm>
            <a:off x="1527945" y="2863076"/>
            <a:ext cx="7832825" cy="310781"/>
            <a:chOff x="788555" y="3158696"/>
            <a:chExt cx="7104941" cy="310781"/>
          </a:xfrm>
          <a:solidFill>
            <a:schemeClr val="accent6">
              <a:lumMod val="50000"/>
            </a:schemeClr>
          </a:solidFill>
        </p:grpSpPr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5CD789FE-2FFB-4BB5-95F8-DC44E8DCE119}"/>
                </a:ext>
              </a:extLst>
            </p:cNvPr>
            <p:cNvGrpSpPr/>
            <p:nvPr/>
          </p:nvGrpSpPr>
          <p:grpSpPr>
            <a:xfrm>
              <a:off x="788555" y="3362943"/>
              <a:ext cx="7104941" cy="106534"/>
              <a:chOff x="1022302" y="2931855"/>
              <a:chExt cx="10159800" cy="106534"/>
            </a:xfrm>
            <a:grpFill/>
          </p:grpSpPr>
          <p:sp>
            <p:nvSpPr>
              <p:cNvPr id="168" name="이등변 삼각형 167">
                <a:extLst>
                  <a:ext uri="{FF2B5EF4-FFF2-40B4-BE49-F238E27FC236}">
                    <a16:creationId xmlns:a16="http://schemas.microsoft.com/office/drawing/2014/main" id="{4BA07B53-274D-4343-B9B4-CDA11ED5AED0}"/>
                  </a:ext>
                </a:extLst>
              </p:cNvPr>
              <p:cNvSpPr/>
              <p:nvPr/>
            </p:nvSpPr>
            <p:spPr>
              <a:xfrm rot="5400000">
                <a:off x="1022302" y="2931855"/>
                <a:ext cx="106532" cy="106531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9" name="이등변 삼각형 168">
                <a:extLst>
                  <a:ext uri="{FF2B5EF4-FFF2-40B4-BE49-F238E27FC236}">
                    <a16:creationId xmlns:a16="http://schemas.microsoft.com/office/drawing/2014/main" id="{E298445D-ACD8-4FBB-9383-884D6F16F0AF}"/>
                  </a:ext>
                </a:extLst>
              </p:cNvPr>
              <p:cNvSpPr/>
              <p:nvPr/>
            </p:nvSpPr>
            <p:spPr>
              <a:xfrm rot="16200000" flipH="1">
                <a:off x="11075570" y="2931856"/>
                <a:ext cx="106532" cy="106533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AD78EF18-B658-428C-B291-F44280DBDE83}"/>
                  </a:ext>
                </a:extLst>
              </p:cNvPr>
              <p:cNvCxnSpPr>
                <a:cxnSpLocks/>
                <a:stCxn id="169" idx="0"/>
                <a:endCxn id="168" idx="0"/>
              </p:cNvCxnSpPr>
              <p:nvPr/>
            </p:nvCxnSpPr>
            <p:spPr>
              <a:xfrm flipH="1" flipV="1">
                <a:off x="1128834" y="2985121"/>
                <a:ext cx="9946737" cy="2"/>
              </a:xfrm>
              <a:prstGeom prst="line">
                <a:avLst/>
              </a:prstGeom>
              <a:grpFill/>
              <a:ln w="28575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C3B4EE9-A406-4EC5-BF11-D2E34AFDA1F2}"/>
                </a:ext>
              </a:extLst>
            </p:cNvPr>
            <p:cNvSpPr txBox="1"/>
            <p:nvPr/>
          </p:nvSpPr>
          <p:spPr>
            <a:xfrm>
              <a:off x="2549277" y="3158696"/>
              <a:ext cx="35856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chemeClr val="accent6">
                      <a:lumMod val="50000"/>
                    </a:schemeClr>
                  </a:solidFill>
                </a:rPr>
                <a:t>지니뮤직 유지보수 </a:t>
              </a:r>
              <a:r>
                <a:rPr lang="en-US" altLang="ko-KR" sz="1050" b="1" dirty="0">
                  <a:solidFill>
                    <a:schemeClr val="accent6">
                      <a:lumMod val="50000"/>
                    </a:schemeClr>
                  </a:solidFill>
                </a:rPr>
                <a:t>(</a:t>
              </a:r>
              <a:r>
                <a:rPr lang="ko-KR" altLang="en-US" sz="1050" b="1" dirty="0">
                  <a:solidFill>
                    <a:schemeClr val="accent6">
                      <a:lumMod val="50000"/>
                    </a:schemeClr>
                  </a:solidFill>
                </a:rPr>
                <a:t>기능변경</a:t>
              </a:r>
              <a:r>
                <a:rPr lang="en-US" altLang="ko-KR" sz="105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1050" b="1" dirty="0">
                  <a:solidFill>
                    <a:schemeClr val="accent6">
                      <a:lumMod val="50000"/>
                    </a:schemeClr>
                  </a:solidFill>
                </a:rPr>
                <a:t>수정</a:t>
              </a:r>
              <a:r>
                <a:rPr lang="en-US" altLang="ko-KR" sz="105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1050" b="1" dirty="0">
                  <a:solidFill>
                    <a:schemeClr val="accent6">
                      <a:lumMod val="50000"/>
                    </a:schemeClr>
                  </a:solidFill>
                </a:rPr>
                <a:t>예외상황 예방</a:t>
              </a:r>
              <a:r>
                <a:rPr lang="en-US" altLang="ko-KR" sz="105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1050" b="1" dirty="0">
                  <a:solidFill>
                    <a:schemeClr val="accent6">
                      <a:lumMod val="50000"/>
                    </a:schemeClr>
                  </a:solidFill>
                </a:rPr>
                <a:t>처리</a:t>
              </a:r>
              <a:r>
                <a:rPr lang="en-US" altLang="ko-KR" sz="105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1050" b="1" dirty="0">
                  <a:solidFill>
                    <a:schemeClr val="accent6">
                      <a:lumMod val="50000"/>
                    </a:schemeClr>
                  </a:solidFill>
                </a:rPr>
                <a:t>성능육성</a:t>
              </a:r>
              <a:r>
                <a:rPr lang="en-US" altLang="ko-KR" sz="1050" b="1" dirty="0">
                  <a:solidFill>
                    <a:schemeClr val="accent6">
                      <a:lumMod val="50000"/>
                    </a:schemeClr>
                  </a:solidFill>
                </a:rPr>
                <a:t>) </a:t>
              </a:r>
              <a:endParaRPr lang="ko-KR" altLang="en-US" sz="105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527943" y="3889882"/>
            <a:ext cx="7832826" cy="310781"/>
            <a:chOff x="788555" y="3158696"/>
            <a:chExt cx="7104942" cy="310781"/>
          </a:xfrm>
          <a:solidFill>
            <a:schemeClr val="accent6">
              <a:lumMod val="50000"/>
            </a:schemeClr>
          </a:solidFill>
        </p:grpSpPr>
        <p:grpSp>
          <p:nvGrpSpPr>
            <p:cNvPr id="8" name="그룹 7"/>
            <p:cNvGrpSpPr/>
            <p:nvPr/>
          </p:nvGrpSpPr>
          <p:grpSpPr>
            <a:xfrm>
              <a:off x="788555" y="3362943"/>
              <a:ext cx="7104941" cy="106534"/>
              <a:chOff x="1022302" y="2931854"/>
              <a:chExt cx="10159800" cy="106534"/>
            </a:xfrm>
            <a:grpFill/>
          </p:grpSpPr>
          <p:sp>
            <p:nvSpPr>
              <p:cNvPr id="10" name="이등변 삼각형 9"/>
              <p:cNvSpPr/>
              <p:nvPr/>
            </p:nvSpPr>
            <p:spPr>
              <a:xfrm rot="5400000">
                <a:off x="1022302" y="2931855"/>
                <a:ext cx="106532" cy="106531"/>
              </a:xfrm>
              <a:prstGeom prst="triangle">
                <a:avLst>
                  <a:gd name="adj" fmla="val 50000"/>
                </a:avLst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" name="이등변 삼각형 10"/>
              <p:cNvSpPr/>
              <p:nvPr/>
            </p:nvSpPr>
            <p:spPr>
              <a:xfrm rot="16200000" flipH="1">
                <a:off x="11075570" y="2931856"/>
                <a:ext cx="106532" cy="106533"/>
              </a:xfrm>
              <a:prstGeom prst="triangle">
                <a:avLst>
                  <a:gd name="adj" fmla="val 50000"/>
                </a:avLst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2" name="직선 연결선 11"/>
              <p:cNvCxnSpPr>
                <a:stCxn id="11" idx="0"/>
                <a:endCxn id="10" idx="0"/>
              </p:cNvCxnSpPr>
              <p:nvPr/>
            </p:nvCxnSpPr>
            <p:spPr>
              <a:xfrm flipH="1" flipV="1">
                <a:off x="1128834" y="2985121"/>
                <a:ext cx="9946737" cy="2"/>
              </a:xfrm>
              <a:prstGeom prst="line">
                <a:avLst/>
              </a:prstGeom>
              <a:grpFill/>
              <a:ln w="28575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/>
            <p:cNvSpPr txBox="1"/>
            <p:nvPr/>
          </p:nvSpPr>
          <p:spPr>
            <a:xfrm>
              <a:off x="2599349" y="3158696"/>
              <a:ext cx="35077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>
              <a:spAutoFit/>
            </a:bodyPr>
            <a:lstStyle/>
            <a:p>
              <a:pPr lvl="0" algn="ctr">
                <a:defRPr/>
              </a:pP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QQ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뮤직 유지보수 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(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기능변경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수정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예외상황 예방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처리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성능육성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) </a:t>
              </a:r>
            </a:p>
          </p:txBody>
        </p:sp>
      </p:grpSp>
      <p:grpSp>
        <p:nvGrpSpPr>
          <p:cNvPr id="171" name="그룹 170"/>
          <p:cNvGrpSpPr/>
          <p:nvPr/>
        </p:nvGrpSpPr>
        <p:grpSpPr>
          <a:xfrm>
            <a:off x="1527944" y="3390900"/>
            <a:ext cx="7832825" cy="310781"/>
            <a:chOff x="788555" y="3158696"/>
            <a:chExt cx="7104941" cy="310781"/>
          </a:xfrm>
          <a:solidFill>
            <a:schemeClr val="accent6">
              <a:lumMod val="50000"/>
            </a:schemeClr>
          </a:solidFill>
        </p:grpSpPr>
        <p:grpSp>
          <p:nvGrpSpPr>
            <p:cNvPr id="172" name="그룹 7"/>
            <p:cNvGrpSpPr/>
            <p:nvPr/>
          </p:nvGrpSpPr>
          <p:grpSpPr>
            <a:xfrm>
              <a:off x="788555" y="3362943"/>
              <a:ext cx="7104941" cy="106534"/>
              <a:chOff x="1022302" y="2931855"/>
              <a:chExt cx="10159800" cy="106534"/>
            </a:xfrm>
            <a:grpFill/>
          </p:grpSpPr>
          <p:sp>
            <p:nvSpPr>
              <p:cNvPr id="173" name="이등변 삼각형 9"/>
              <p:cNvSpPr/>
              <p:nvPr/>
            </p:nvSpPr>
            <p:spPr>
              <a:xfrm rot="5400000">
                <a:off x="1022302" y="2931855"/>
                <a:ext cx="106532" cy="106531"/>
              </a:xfrm>
              <a:prstGeom prst="triangle">
                <a:avLst>
                  <a:gd name="adj" fmla="val 50000"/>
                </a:avLst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4" name="이등변 삼각형 10"/>
              <p:cNvSpPr/>
              <p:nvPr/>
            </p:nvSpPr>
            <p:spPr>
              <a:xfrm rot="16200000" flipH="1">
                <a:off x="11075570" y="2931856"/>
                <a:ext cx="106532" cy="106533"/>
              </a:xfrm>
              <a:prstGeom prst="triangle">
                <a:avLst>
                  <a:gd name="adj" fmla="val 50000"/>
                </a:avLst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5" name="직선 연결선 11"/>
              <p:cNvCxnSpPr>
                <a:stCxn id="174" idx="0"/>
                <a:endCxn id="173" idx="0"/>
              </p:cNvCxnSpPr>
              <p:nvPr/>
            </p:nvCxnSpPr>
            <p:spPr>
              <a:xfrm flipH="1" flipV="1">
                <a:off x="1128834" y="2985121"/>
                <a:ext cx="9946737" cy="2"/>
              </a:xfrm>
              <a:prstGeom prst="line">
                <a:avLst/>
              </a:prstGeom>
              <a:grpFill/>
              <a:ln w="28575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8"/>
            <p:cNvSpPr txBox="1"/>
            <p:nvPr/>
          </p:nvSpPr>
          <p:spPr>
            <a:xfrm>
              <a:off x="2549277" y="3158696"/>
              <a:ext cx="35856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>
              <a:spAutoFit/>
            </a:bodyPr>
            <a:lstStyle/>
            <a:p>
              <a:pPr lvl="0" algn="ctr">
                <a:defRPr/>
              </a:pP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멜론뮤직 유지보수 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(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기능변경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수정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예외상황 예방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처리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1050" b="1">
                  <a:solidFill>
                    <a:schemeClr val="accent6">
                      <a:lumMod val="50000"/>
                    </a:schemeClr>
                  </a:solidFill>
                </a:rPr>
                <a:t>성능육성</a:t>
              </a:r>
              <a:r>
                <a:rPr lang="en-US" altLang="ko-KR" sz="1050" b="1">
                  <a:solidFill>
                    <a:schemeClr val="accent6">
                      <a:lumMod val="50000"/>
                    </a:schemeClr>
                  </a:solidFill>
                </a:rPr>
                <a:t>) </a:t>
              </a:r>
              <a:endParaRPr lang="ko-KR" altLang="en-US" sz="105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>
                <a:latin typeface="+mn-ea"/>
                <a:ea typeface="+mn-ea"/>
              </a:rPr>
              <a:t>7. </a:t>
            </a:r>
            <a:r>
              <a:rPr lang="ko-KR" altLang="en-US">
                <a:latin typeface="+mn-ea"/>
                <a:ea typeface="+mn-ea"/>
              </a:rPr>
              <a:t>인력</a:t>
            </a:r>
            <a:r>
              <a:rPr lang="en-US" altLang="ko-KR">
                <a:latin typeface="+mn-ea"/>
                <a:ea typeface="+mn-ea"/>
              </a:rPr>
              <a:t> </a:t>
            </a:r>
            <a:r>
              <a:rPr lang="ko-KR" altLang="en-US">
                <a:latin typeface="+mn-ea"/>
                <a:ea typeface="+mn-ea"/>
              </a:rPr>
              <a:t>투입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8" name="TextBox 7"/>
          <p:cNvSpPr txBox="1"/>
          <p:nvPr/>
        </p:nvSpPr>
        <p:spPr>
          <a:xfrm>
            <a:off x="390160" y="651908"/>
            <a:ext cx="22920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Wingdings"/>
              <a:buChar char="u"/>
              <a:defRPr/>
            </a:pPr>
            <a:r>
              <a:rPr lang="ko-KR" altLang="en-US" sz="1600">
                <a:latin typeface="+mn-ea"/>
              </a:rPr>
              <a:t>용역 기간</a:t>
            </a:r>
            <a:r>
              <a:rPr lang="en-US" altLang="ko-KR" sz="1600">
                <a:latin typeface="+mn-ea"/>
              </a:rPr>
              <a:t>: </a:t>
            </a:r>
            <a:r>
              <a:rPr lang="ko-KR" altLang="en-US" sz="1600">
                <a:latin typeface="+mn-ea"/>
              </a:rPr>
              <a:t>총 </a:t>
            </a:r>
            <a:r>
              <a:rPr lang="en-US" altLang="ko-KR" sz="1600">
                <a:latin typeface="+mn-ea"/>
              </a:rPr>
              <a:t>6</a:t>
            </a:r>
            <a:r>
              <a:rPr lang="ko-KR" altLang="en-US" sz="1600">
                <a:latin typeface="+mn-ea"/>
              </a:rPr>
              <a:t>개월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81038" y="1082926"/>
          <a:ext cx="8219482" cy="5329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726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3013">
                <a:tc rowSpan="2"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013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ko-KR" sz="1000" b="1" i="0" u="none" strike="noStrike"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ko-KR" sz="1000" b="1" i="0" u="none" strike="noStrike"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altLang="ko-KR" sz="1000" b="1" i="0" u="none" strike="noStrike"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000" b="1" i="0" u="none" strike="noStrike"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1" i="0" u="none" strike="noStrike"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000" b="1" i="0" u="none" strike="noStrike"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652">
                <a:tc rowSpan="16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뮤직스트리밍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ko-KR" altLang="en-US" sz="900" u="none" strike="noStrike">
                          <a:effectLst/>
                        </a:rPr>
                        <a:t>유지보수</a:t>
                      </a:r>
                      <a:endParaRPr lang="ko-KR" altLang="en-US" sz="9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800" u="none" strike="noStrike">
                          <a:effectLst/>
                        </a:rPr>
                        <a:t>지니 뮤직 유지보수</a:t>
                      </a:r>
                      <a:endParaRPr lang="ko-KR" altLang="en-US" sz="8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800" u="none" strike="noStrike">
                          <a:effectLst/>
                        </a:rPr>
                        <a:t>멜론 뮤직 유지보수</a:t>
                      </a:r>
                      <a:endParaRPr lang="ko-KR" altLang="en-US" sz="8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800" i="0" u="none" strike="noStrike">
                          <a:effectLst/>
                          <a:latin typeface="맑은 고딕"/>
                          <a:ea typeface="맑은 고딕"/>
                        </a:rPr>
                        <a:t>QQ</a:t>
                      </a:r>
                      <a:r>
                        <a:rPr lang="ko-KR" altLang="en-US" sz="800" i="0" u="none" strike="noStrike">
                          <a:effectLst/>
                          <a:latin typeface="맑은 고딕"/>
                          <a:ea typeface="맑은 고딕"/>
                        </a:rPr>
                        <a:t>뮤직</a:t>
                      </a:r>
                    </a:p>
                    <a:p>
                      <a:pPr lvl="0" algn="ctr">
                        <a:defRPr/>
                      </a:pPr>
                      <a:r>
                        <a:rPr lang="ko-KR" altLang="en-US" sz="800" i="0" u="none" strike="noStrike">
                          <a:effectLst/>
                          <a:latin typeface="맑은 고딕"/>
                          <a:ea typeface="맑은 고딕"/>
                        </a:rPr>
                        <a:t>유지보수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합계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0.6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1021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인건비 소계</a:t>
                      </a:r>
                      <a:endParaRPr lang="ko-KR" altLang="en-US" sz="9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3.0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1021">
                <a:tc rowSpan="4"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유지보수 등급별 투입인력</a:t>
                      </a:r>
                      <a:endParaRPr lang="ko-KR" altLang="en-US" sz="9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특급 개발자 </a:t>
                      </a:r>
                      <a:endParaRPr lang="ko-KR" altLang="en-US" sz="9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     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1021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고급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878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중급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3.0</a:t>
                      </a:r>
                      <a:endParaRPr lang="en-US" altLang="ko-KR" sz="1000" b="1" u="none" strike="noStrike">
                        <a:effectLst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878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</a:rPr>
                        <a:t> 초급 개발자 </a:t>
                      </a:r>
                      <a:endParaRPr lang="ko-KR" altLang="en-US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82103">
                <a:tc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 합계 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맑은 고딕"/>
                        </a:rPr>
                        <a:t>3.0</a:t>
                      </a:r>
                      <a:endParaRPr lang="en-US" altLang="ko-KR" sz="1000" b="1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용역 산출물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368040" cy="244608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615970"/>
              </p:ext>
            </p:extLst>
          </p:nvPr>
        </p:nvGraphicFramePr>
        <p:xfrm>
          <a:off x="452436" y="1062336"/>
          <a:ext cx="9001127" cy="3692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45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45348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272590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716505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0522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98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2279903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보고서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40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개발 내역 및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산출물 보고서</a:t>
                      </a:r>
                      <a:endParaRPr lang="en-US" altLang="ko-KR" sz="140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소스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코드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40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40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>
                          <a:latin typeface="+mn-ea"/>
                          <a:ea typeface="+mn-ea"/>
                        </a:rPr>
                        <a:t>QAC / CodeSonar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M+5.5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(2024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>
                          <a:latin typeface="+mn-ea"/>
                          <a:ea typeface="+mn-ea"/>
                        </a:rPr>
                        <a:t>5.5 M/M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40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014201">
                <a:tc vMerge="1">
                  <a:txBody>
                    <a:bodyPr/>
                    <a:lstStyle/>
                    <a:p>
                      <a:pPr algn="ctr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월간 보고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월간 수행 내역서 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매월 말일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매월 월간 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16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8373" y="733513"/>
            <a:ext cx="22357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Wingdings"/>
              <a:buChar char="u"/>
              <a:defRPr/>
            </a:pPr>
            <a:r>
              <a:rPr lang="ko-KR" altLang="en-US" sz="1600">
                <a:latin typeface="+mn-ea"/>
              </a:rPr>
              <a:t>용역 비용</a:t>
            </a:r>
            <a:r>
              <a:rPr lang="en-US" altLang="ko-KR" sz="1600">
                <a:latin typeface="+mn-ea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+mn-ea"/>
              </a:rPr>
              <a:t>원</a:t>
            </a:r>
            <a:r>
              <a:rPr lang="en-US" altLang="ko-KR" sz="160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600">
                <a:solidFill>
                  <a:schemeClr val="tx1"/>
                </a:solidFill>
                <a:latin typeface="+mn-ea"/>
              </a:rPr>
              <a:t>만원</a:t>
            </a:r>
            <a:r>
              <a:rPr lang="en-US" altLang="ko-KR" sz="160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60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52437" y="1102844"/>
          <a:ext cx="9001127" cy="490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8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645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비용 </a:t>
                      </a:r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천원</a:t>
                      </a:r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091">
                <a:tc rowSpan="5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200" b="1">
                          <a:solidFill>
                            <a:schemeClr val="dk1"/>
                          </a:solidFill>
                          <a:latin typeface="+mn-ea"/>
                        </a:rPr>
                        <a:t>2025년도</a:t>
                      </a:r>
                    </a:p>
                    <a:p>
                      <a:pPr lvl="0" algn="ctr">
                        <a:defRPr/>
                      </a:pPr>
                      <a:r>
                        <a:rPr lang="en-US" altLang="ko-KR" sz="1200" b="1">
                          <a:solidFill>
                            <a:schemeClr val="dk1"/>
                          </a:solidFill>
                          <a:latin typeface="+mn-ea"/>
                        </a:rPr>
                        <a:t>표준형 5세대</a:t>
                      </a:r>
                    </a:p>
                    <a:p>
                      <a:pPr lvl="0" algn="ctr">
                        <a:defRPr/>
                      </a:pPr>
                      <a:r>
                        <a:rPr lang="en-US" altLang="ko-KR" sz="1200" b="1">
                          <a:solidFill>
                            <a:schemeClr val="dk1"/>
                          </a:solidFill>
                          <a:latin typeface="+mn-ea"/>
                        </a:rPr>
                        <a:t>와이드 AVN 제품</a:t>
                      </a:r>
                    </a:p>
                    <a:p>
                      <a:pPr lvl="0" algn="ctr">
                        <a:defRPr/>
                      </a:pPr>
                      <a:r>
                        <a:rPr lang="en-US" altLang="ko-KR" sz="1200" b="1">
                          <a:solidFill>
                            <a:schemeClr val="dk1"/>
                          </a:solidFill>
                          <a:latin typeface="+mn-ea"/>
                        </a:rPr>
                        <a:t>뮤직스트리밍</a:t>
                      </a:r>
                    </a:p>
                    <a:p>
                      <a:pPr lvl="0" algn="ctr">
                        <a:defRPr/>
                      </a:pPr>
                      <a:r>
                        <a:rPr lang="en-US" altLang="ko-KR" sz="1200" b="1">
                          <a:solidFill>
                            <a:schemeClr val="dk1"/>
                          </a:solidFill>
                          <a:latin typeface="+mn-ea"/>
                        </a:rPr>
                        <a:t>유지보수 개발</a:t>
                      </a:r>
                      <a:endParaRPr lang="en-US" altLang="ko-KR" sz="1200" b="1">
                        <a:solidFill>
                          <a:schemeClr val="dk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개발 인건비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defRPr/>
                      </a:pPr>
                      <a:endParaRPr lang="en-US" altLang="ko-KR" sz="1400" b="0" i="0" u="none" strike="noStrike">
                        <a:latin typeface="맑은 고딕"/>
                        <a:ea typeface="맑은 고딕"/>
                      </a:endParaRPr>
                    </a:p>
                  </a:txBody>
                  <a:tcPr marL="6350" marR="72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M/M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인건비 비율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091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직접경비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defRPr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" marR="72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QT License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091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간접경비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defRPr/>
                      </a:pPr>
                      <a:endParaRPr lang="en-US" altLang="ko-KR" sz="1400" b="0" i="0" u="none" strike="noStrike">
                        <a:latin typeface="맑은 고딕"/>
                        <a:ea typeface="맑은 고딕"/>
                      </a:endParaRPr>
                    </a:p>
                  </a:txBody>
                  <a:tcPr marL="6350" marR="72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인건비의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30%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퇴직 충당금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4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대 보험료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식대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교통비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파견비 등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091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이윤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defRPr/>
                      </a:pPr>
                      <a:endParaRPr lang="en-US" altLang="ko-KR" sz="1400" b="0" i="0" u="none" strike="noStrike">
                        <a:latin typeface="맑은 고딕"/>
                        <a:ea typeface="맑은 고딕"/>
                      </a:endParaRPr>
                    </a:p>
                  </a:txBody>
                  <a:tcPr marL="6350" marR="72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인건비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+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간접비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Tx/>
                        <a:buNone/>
                        <a:defRPr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091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견적가 조정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defRPr/>
                      </a:pPr>
                      <a:r>
                        <a:rPr lang="en-US" altLang="ko-KR" sz="1400" b="0" i="0" u="none" strike="noStrike"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endParaRPr lang="en-US" altLang="ko-KR" sz="1400" b="0" i="0" u="none" strike="noStrike">
                        <a:latin typeface="맑은 고딕"/>
                        <a:ea typeface="맑은 고딕"/>
                      </a:endParaRPr>
                    </a:p>
                  </a:txBody>
                  <a:tcPr marL="6350" marR="72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defRPr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Tx/>
                        <a:buNone/>
                        <a:defRPr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6091">
                <a:tc gridSpan="2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총 액</a:t>
                      </a:r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defRPr/>
                      </a:pPr>
                      <a:endParaRPr lang="en-US" altLang="ko-KR" sz="14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" marR="72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latinLnBrk="1">
                        <a:buFontTx/>
                        <a:buNone/>
                        <a:defRPr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latinLnBrk="1">
                        <a:buFontTx/>
                        <a:buNone/>
                        <a:defRPr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D75A016B-BF8D-2815-5B39-6D0E7801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 fontScale="90000"/>
          </a:bodyPr>
          <a:lstStyle/>
          <a:p>
            <a:r>
              <a:rPr lang="en-US" altLang="ko-KR">
                <a:latin typeface="+mn-ea"/>
                <a:ea typeface="+mn-ea"/>
              </a:rPr>
              <a:t>9. </a:t>
            </a:r>
            <a:r>
              <a:rPr lang="ko-KR" altLang="en-US">
                <a:latin typeface="+mn-ea"/>
                <a:ea typeface="+mn-ea"/>
              </a:rPr>
              <a:t>용역 비용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1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866" cy="244608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653017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1) SW</a:t>
            </a:r>
            <a:r>
              <a:rPr lang="ko-KR" altLang="en-US" dirty="0"/>
              <a:t> 구조도</a:t>
            </a:r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09CFC6-1645-8DB0-6E84-7BE5DFF57B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966619" y="981075"/>
            <a:ext cx="7972762" cy="525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72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2) </a:t>
            </a:r>
            <a:r>
              <a:rPr lang="ko-KR" altLang="en-US" dirty="0"/>
              <a:t>스트리밍 뮤직 서비스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0824E2-7484-4CF0-BE13-05F03E167876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A933A-AC13-491C-8ADC-22B30B283672}"/>
              </a:ext>
            </a:extLst>
          </p:cNvPr>
          <p:cNvSpPr txBox="1"/>
          <p:nvPr/>
        </p:nvSpPr>
        <p:spPr>
          <a:xfrm>
            <a:off x="408373" y="612552"/>
            <a:ext cx="3437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600" dirty="0"/>
              <a:t>Streaming Music</a:t>
            </a:r>
            <a:r>
              <a:rPr lang="ko-KR" altLang="en-US" sz="1600" dirty="0"/>
              <a:t> 주요 화면 흐름도</a:t>
            </a:r>
            <a:endParaRPr lang="en-US" altLang="ko-KR" sz="1600" dirty="0"/>
          </a:p>
        </p:txBody>
      </p:sp>
      <p:cxnSp>
        <p:nvCxnSpPr>
          <p:cNvPr id="8" name="꺾인 연결선 7">
            <a:extLst>
              <a:ext uri="{FF2B5EF4-FFF2-40B4-BE49-F238E27FC236}">
                <a16:creationId xmlns:a16="http://schemas.microsoft.com/office/drawing/2014/main" id="{A7952E9B-8C60-4948-AC0C-DE790DD8411B}"/>
              </a:ext>
            </a:extLst>
          </p:cNvPr>
          <p:cNvCxnSpPr>
            <a:cxnSpLocks/>
            <a:endCxn id="30" idx="1"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" name="꺾인 연결선 282">
            <a:extLst>
              <a:ext uri="{FF2B5EF4-FFF2-40B4-BE49-F238E27FC236}">
                <a16:creationId xmlns:a16="http://schemas.microsoft.com/office/drawing/2014/main" id="{5C446FB4-584D-40E8-AAD3-40576C79839E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" name="꺾인 연결선 283">
            <a:extLst>
              <a:ext uri="{FF2B5EF4-FFF2-40B4-BE49-F238E27FC236}">
                <a16:creationId xmlns:a16="http://schemas.microsoft.com/office/drawing/2014/main" id="{EC11BBF7-9D15-45B0-8931-975C1B361DC5}"/>
              </a:ext>
            </a:extLst>
          </p:cNvPr>
          <p:cNvCxnSpPr>
            <a:stCxn id="39" idx="3"/>
            <a:endCxn id="40" idx="1"/>
          </p:cNvCxnSpPr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43EF0C-1218-491E-8957-1B42695D4B03}"/>
              </a:ext>
            </a:extLst>
          </p:cNvPr>
          <p:cNvSpPr txBox="1"/>
          <p:nvPr/>
        </p:nvSpPr>
        <p:spPr bwMode="auto">
          <a:xfrm>
            <a:off x="2289155" y="1258076"/>
            <a:ext cx="7502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[Recommend]]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9A9C2-C4D3-4BDF-8495-0917A004E256}"/>
              </a:ext>
            </a:extLst>
          </p:cNvPr>
          <p:cNvSpPr txBox="1"/>
          <p:nvPr/>
        </p:nvSpPr>
        <p:spPr bwMode="auto">
          <a:xfrm>
            <a:off x="2295567" y="2179180"/>
            <a:ext cx="74379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[Classification]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E74DD5-FE89-4281-9863-4ECBEEDAEDD3}"/>
              </a:ext>
            </a:extLst>
          </p:cNvPr>
          <p:cNvSpPr txBox="1"/>
          <p:nvPr/>
        </p:nvSpPr>
        <p:spPr bwMode="auto">
          <a:xfrm>
            <a:off x="2520207" y="3092809"/>
            <a:ext cx="53860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[Favorites]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4" name="꺾인 연결선 290">
            <a:extLst>
              <a:ext uri="{FF2B5EF4-FFF2-40B4-BE49-F238E27FC236}">
                <a16:creationId xmlns:a16="http://schemas.microsoft.com/office/drawing/2014/main" id="{5B50F2A5-2D55-4D5F-B35B-3169D21FAC3B}"/>
              </a:ext>
            </a:extLst>
          </p:cNvPr>
          <p:cNvCxnSpPr>
            <a:stCxn id="39" idx="3"/>
            <a:endCxn id="44" idx="1"/>
          </p:cNvCxnSpPr>
          <p:nvPr/>
        </p:nvCxnSpPr>
        <p:spPr bwMode="auto">
          <a:xfrm>
            <a:off x="1925921" y="1457973"/>
            <a:ext cx="1166249" cy="269358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26861A-F743-4049-A5C2-8D2DC25AD82A}"/>
              </a:ext>
            </a:extLst>
          </p:cNvPr>
          <p:cNvSpPr txBox="1"/>
          <p:nvPr/>
        </p:nvSpPr>
        <p:spPr bwMode="auto">
          <a:xfrm>
            <a:off x="2686699" y="3983202"/>
            <a:ext cx="3526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[Menu]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꺾인 연결선 313">
            <a:extLst>
              <a:ext uri="{FF2B5EF4-FFF2-40B4-BE49-F238E27FC236}">
                <a16:creationId xmlns:a16="http://schemas.microsoft.com/office/drawing/2014/main" id="{71A304EF-7F59-4A94-A0F9-F9B37BBCAF1E}"/>
              </a:ext>
            </a:extLst>
          </p:cNvPr>
          <p:cNvCxnSpPr>
            <a:stCxn id="39" idx="3"/>
            <a:endCxn id="32" idx="1"/>
          </p:cNvCxnSpPr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C97890-D0F1-46D4-BD24-68B80CE18FF5}"/>
              </a:ext>
            </a:extLst>
          </p:cNvPr>
          <p:cNvSpPr txBox="1"/>
          <p:nvPr/>
        </p:nvSpPr>
        <p:spPr bwMode="auto">
          <a:xfrm>
            <a:off x="4820039" y="1255423"/>
            <a:ext cx="7053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Album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B2FC6-B0F6-4531-8121-D352AA161083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6ECFF8-0694-4C94-A54D-F250FE04211D}"/>
              </a:ext>
            </a:extLst>
          </p:cNvPr>
          <p:cNvSpPr txBox="1"/>
          <p:nvPr/>
        </p:nvSpPr>
        <p:spPr bwMode="auto">
          <a:xfrm>
            <a:off x="8687912" y="1788670"/>
            <a:ext cx="71144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3CCA7-225F-44A5-80BA-6132E7190F9D}"/>
              </a:ext>
            </a:extLst>
          </p:cNvPr>
          <p:cNvSpPr txBox="1"/>
          <p:nvPr/>
        </p:nvSpPr>
        <p:spPr bwMode="auto">
          <a:xfrm>
            <a:off x="4826451" y="2172400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2779A3-D106-4051-AE08-4A8949B44B7B}"/>
              </a:ext>
            </a:extLst>
          </p:cNvPr>
          <p:cNvSpPr txBox="1"/>
          <p:nvPr/>
        </p:nvSpPr>
        <p:spPr bwMode="auto">
          <a:xfrm>
            <a:off x="6596582" y="2719064"/>
            <a:ext cx="74922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B1E516-6E25-4326-A4D8-CEA27568859D}"/>
              </a:ext>
            </a:extLst>
          </p:cNvPr>
          <p:cNvSpPr txBox="1"/>
          <p:nvPr/>
        </p:nvSpPr>
        <p:spPr bwMode="auto">
          <a:xfrm>
            <a:off x="4826451" y="307196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A2FC57-6F0E-490D-8762-560F55B97CBB}"/>
              </a:ext>
            </a:extLst>
          </p:cNvPr>
          <p:cNvSpPr txBox="1"/>
          <p:nvPr/>
        </p:nvSpPr>
        <p:spPr bwMode="auto">
          <a:xfrm>
            <a:off x="4773048" y="5791616"/>
            <a:ext cx="86241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8A7FFC-8708-407B-9A7A-DB8D6E87456B}"/>
              </a:ext>
            </a:extLst>
          </p:cNvPr>
          <p:cNvSpPr txBox="1"/>
          <p:nvPr/>
        </p:nvSpPr>
        <p:spPr bwMode="auto">
          <a:xfrm>
            <a:off x="8689201" y="5472469"/>
            <a:ext cx="70886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43182-4F2A-4FA4-8083-E75F537C0DC3}"/>
              </a:ext>
            </a:extLst>
          </p:cNvPr>
          <p:cNvSpPr txBox="1"/>
          <p:nvPr/>
        </p:nvSpPr>
        <p:spPr bwMode="auto">
          <a:xfrm>
            <a:off x="7309946" y="127984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C62BFEC-6861-4F6B-B645-E12BA413B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1" y="2367081"/>
            <a:ext cx="1657030" cy="6170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70CEE3-0ECC-4356-A63A-F910251529AD}"/>
              </a:ext>
            </a:extLst>
          </p:cNvPr>
          <p:cNvSpPr txBox="1"/>
          <p:nvPr/>
        </p:nvSpPr>
        <p:spPr bwMode="auto">
          <a:xfrm>
            <a:off x="268891" y="2988812"/>
            <a:ext cx="204629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 : If there is no play list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6853A91-1BAF-4F29-811E-0D7377110F10}"/>
              </a:ext>
            </a:extLst>
          </p:cNvPr>
          <p:cNvSpPr/>
          <p:nvPr/>
        </p:nvSpPr>
        <p:spPr>
          <a:xfrm>
            <a:off x="198049" y="1050587"/>
            <a:ext cx="1807922" cy="2111472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FF46C8-8347-4C1B-898F-A2219E1C4B3A}"/>
              </a:ext>
            </a:extLst>
          </p:cNvPr>
          <p:cNvSpPr txBox="1"/>
          <p:nvPr/>
        </p:nvSpPr>
        <p:spPr bwMode="auto">
          <a:xfrm>
            <a:off x="7338195" y="5785551"/>
            <a:ext cx="4937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list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6DD743DE-A9A6-4471-9A48-66406A75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1138953"/>
            <a:ext cx="1665468" cy="6217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13C89D23-ECC6-4940-9915-BB0C76802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85" y="1133104"/>
            <a:ext cx="1679745" cy="6358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6888A478-9327-40AE-B7AC-39F67E1DB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5647681"/>
            <a:ext cx="1665468" cy="6229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DAE795CF-13CE-4D5C-91C3-E4817A8ED729}"/>
              </a:ext>
            </a:extLst>
          </p:cNvPr>
          <p:cNvGrpSpPr/>
          <p:nvPr/>
        </p:nvGrpSpPr>
        <p:grpSpPr>
          <a:xfrm>
            <a:off x="5618123" y="5647680"/>
            <a:ext cx="1665468" cy="622933"/>
            <a:chOff x="5642823" y="5375306"/>
            <a:chExt cx="1665468" cy="622933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3D7C579C-726A-4067-83EC-0A5F192772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2823" y="5375306"/>
              <a:ext cx="1665468" cy="622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96169955-B0FB-43DB-AEC0-5DAC9B87E7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147"/>
            <a:stretch/>
          </p:blipFill>
          <p:spPr bwMode="auto">
            <a:xfrm>
              <a:off x="5642823" y="5630861"/>
              <a:ext cx="1659159" cy="36737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8" name="Picture 2">
            <a:extLst>
              <a:ext uri="{FF2B5EF4-FFF2-40B4-BE49-F238E27FC236}">
                <a16:creationId xmlns:a16="http://schemas.microsoft.com/office/drawing/2014/main" id="{A815D706-DEC4-4252-A94E-0E8042A8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747" y="5644575"/>
            <a:ext cx="1687564" cy="6357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>
            <a:extLst>
              <a:ext uri="{FF2B5EF4-FFF2-40B4-BE49-F238E27FC236}">
                <a16:creationId xmlns:a16="http://schemas.microsoft.com/office/drawing/2014/main" id="{270E5123-CD1D-48BA-ABA9-B0D499336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9" y="1144134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260D4AE8-864C-4757-AC63-5DC0E4D5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2932214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>
            <a:extLst>
              <a:ext uri="{FF2B5EF4-FFF2-40B4-BE49-F238E27FC236}">
                <a16:creationId xmlns:a16="http://schemas.microsoft.com/office/drawing/2014/main" id="{2664B9B0-7B61-44A3-866C-E2828C23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033651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B6240904-47BB-4BF0-BDC2-634852A17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935725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FE458E68-1EFD-4FD7-8F58-CEC6229E8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723" y="1134406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3">
            <a:extLst>
              <a:ext uri="{FF2B5EF4-FFF2-40B4-BE49-F238E27FC236}">
                <a16:creationId xmlns:a16="http://schemas.microsoft.com/office/drawing/2014/main" id="{4F47C28B-D797-449F-B7AF-EAAF58A6C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3839470"/>
            <a:ext cx="1665468" cy="6241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5" name="꺾인 연결선 84">
            <a:extLst>
              <a:ext uri="{FF2B5EF4-FFF2-40B4-BE49-F238E27FC236}">
                <a16:creationId xmlns:a16="http://schemas.microsoft.com/office/drawing/2014/main" id="{E9770173-DA60-48E0-81FC-342C94061DE5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 bwMode="auto">
          <a:xfrm>
            <a:off x="4757638" y="4151557"/>
            <a:ext cx="865407" cy="9086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DD439B8-8919-424B-8B3F-5915C36762EE}"/>
              </a:ext>
            </a:extLst>
          </p:cNvPr>
          <p:cNvSpPr txBox="1"/>
          <p:nvPr/>
        </p:nvSpPr>
        <p:spPr bwMode="auto">
          <a:xfrm>
            <a:off x="2836026" y="4524029"/>
            <a:ext cx="104593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[Option Settings]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829BE3-AC81-4E91-9F94-69DA00C4B4C7}"/>
              </a:ext>
            </a:extLst>
          </p:cNvPr>
          <p:cNvSpPr txBox="1"/>
          <p:nvPr/>
        </p:nvSpPr>
        <p:spPr bwMode="auto">
          <a:xfrm>
            <a:off x="5015495" y="3985579"/>
            <a:ext cx="5129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[Recently]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48" name="Picture 3">
            <a:extLst>
              <a:ext uri="{FF2B5EF4-FFF2-40B4-BE49-F238E27FC236}">
                <a16:creationId xmlns:a16="http://schemas.microsoft.com/office/drawing/2014/main" id="{9506377F-D50F-4EE3-9CDF-ED870F58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09" y="3837799"/>
            <a:ext cx="1651497" cy="625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>
            <a:extLst>
              <a:ext uri="{FF2B5EF4-FFF2-40B4-BE49-F238E27FC236}">
                <a16:creationId xmlns:a16="http://schemas.microsoft.com/office/drawing/2014/main" id="{BDCEC76A-8A10-41FF-BE76-8E506A13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4740425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6DB3A42-71F4-454F-BC42-8638A7C54306}"/>
              </a:ext>
            </a:extLst>
          </p:cNvPr>
          <p:cNvSpPr txBox="1"/>
          <p:nvPr/>
        </p:nvSpPr>
        <p:spPr bwMode="auto">
          <a:xfrm>
            <a:off x="5225337" y="4538354"/>
            <a:ext cx="4296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[My List]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E911FC30-0C91-4297-ABD6-1D957BBB3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045" y="4747108"/>
            <a:ext cx="1655625" cy="6261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C5257979-B0EE-4142-A12D-3132F0808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76" y="2037489"/>
            <a:ext cx="1655257" cy="617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E381A5E8-B289-43B7-9078-6042643FF5F2}"/>
              </a:ext>
            </a:extLst>
          </p:cNvPr>
          <p:cNvGrpSpPr/>
          <p:nvPr/>
        </p:nvGrpSpPr>
        <p:grpSpPr>
          <a:xfrm>
            <a:off x="2527279" y="5764486"/>
            <a:ext cx="589905" cy="165629"/>
            <a:chOff x="1207220" y="5572580"/>
            <a:chExt cx="589905" cy="16562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CF7C141-E806-4B7F-93C5-6CEBBF0999C0}"/>
                </a:ext>
              </a:extLst>
            </p:cNvPr>
            <p:cNvSpPr txBox="1"/>
            <p:nvPr/>
          </p:nvSpPr>
          <p:spPr bwMode="auto">
            <a:xfrm>
              <a:off x="1207220" y="5576418"/>
              <a:ext cx="58990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dirty="0">
                  <a:solidFill>
                    <a:prstClr val="black"/>
                  </a:solidFill>
                  <a:latin typeface="Arial" pitchFamily="34" charset="0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pic>
          <p:nvPicPr>
            <p:cNvPr id="55" name="Picture 3" descr="U:\Temp\다운로드.png">
              <a:extLst>
                <a:ext uri="{FF2B5EF4-FFF2-40B4-BE49-F238E27FC236}">
                  <a16:creationId xmlns:a16="http://schemas.microsoft.com/office/drawing/2014/main" id="{6673D9A7-4040-47BB-9356-92172A663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80C15B1-3CDB-4DEC-8055-24E9961BF235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3924904" y="4463643"/>
            <a:ext cx="0" cy="27678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54DACBF-32D7-4051-AD0B-0A1090D4785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18FC426-EDC3-4EC8-9565-A7EF894006C1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DBBF40E-F098-4AD4-BDD7-AC4A53036E59}"/>
              </a:ext>
            </a:extLst>
          </p:cNvPr>
          <p:cNvCxnSpPr>
            <a:cxnSpLocks/>
            <a:stCxn id="31" idx="3"/>
            <a:endCxn id="43" idx="1"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68BB2DE-7639-4AE2-8DCA-EE40F9DF0A3F}"/>
              </a:ext>
            </a:extLst>
          </p:cNvPr>
          <p:cNvCxnSpPr>
            <a:cxnSpLocks/>
            <a:stCxn id="52" idx="3"/>
            <a:endCxn id="41" idx="1"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834AB93-1B06-42D7-9E8D-28A9EFC84725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00711DA-59DD-4802-9EC4-91C9FCB05807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 flipV="1">
            <a:off x="4757638" y="4150392"/>
            <a:ext cx="867471" cy="116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C00DF05-AAF5-4786-AB0C-1D4816FCB738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61826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3) </a:t>
            </a:r>
            <a:r>
              <a:rPr lang="ko-KR" altLang="en-US" dirty="0"/>
              <a:t>소요기술 리스트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387919" cy="244608"/>
          </a:xfrm>
        </p:spPr>
        <p:txBody>
          <a:bodyPr/>
          <a:lstStyle/>
          <a:p>
            <a:pPr lvl="0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25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세대 와이드 </a:t>
            </a: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+mn-ea"/>
              </a:rPr>
              <a:t>AVN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+mn-ea"/>
              </a:rPr>
              <a:t>제품 뮤직스트리밍 유지보수 개발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EED074-E31F-454A-B45C-018D3BDDEE15}"/>
              </a:ext>
            </a:extLst>
          </p:cNvPr>
          <p:cNvSpPr/>
          <p:nvPr/>
        </p:nvSpPr>
        <p:spPr>
          <a:xfrm>
            <a:off x="681037" y="697585"/>
            <a:ext cx="8772525" cy="5792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20000"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차량용 스트리밍 서비스 상용 버전 개발 경험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세대 표준형 지니뮤직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멜론뮤직 서비스 개발 경험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중국향 스트리밍 서비스 개발 경험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(QQ music, KaolaFM, Ximalaya)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차량용 인터넷 라디오 서비스 개발 경험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(Gracenote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社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R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社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차량용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팟케스트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서비스 개발 경험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국내 팟빵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iTunes)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인터넷 스트리밍 데이터 처리 기술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고속 주행 및 인터넷 통신 음영 지역을 고려한 스트리밍 기술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데이터 통신 비용 절감을 위한 스트리밍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캐싱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기술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인터넷 콘텐츠 통신 프로토콜 처리 기술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콘텐츠 제공자들의 사설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통신 프로토콜 분석 및 구현 기술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스트리밍 콘텐츠 별로 공통으로 사용되는 단말기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SW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모듈 정규화 기술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IVI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소프트웨어 개발 경험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IVI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S/W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관련한 국가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GS(Good Soft)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인증서 취득 및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OEM IVI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S/W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개발 다수 경험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tx1"/>
                </a:solidFill>
                <a:latin typeface="+mn-ea"/>
              </a:rPr>
              <a:t>안드로이드</a:t>
            </a:r>
            <a:r>
              <a:rPr lang="en-US" altLang="ko-KR" sz="160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플랫폼 상에서의 개발 경험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/>
                </a:solidFill>
                <a:latin typeface="+mn-ea"/>
              </a:rPr>
              <a:t>안드로이드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기반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IVI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플랫폼 상에서의 개발 경험 풍부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234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2039</Words>
  <Application>Microsoft Office PowerPoint</Application>
  <PresentationFormat>A4 용지(210x297mm)</PresentationFormat>
  <Paragraphs>654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2. 용역 내용 및 범위</vt:lpstr>
      <vt:lpstr>2. 용역 내용 및 범위</vt:lpstr>
      <vt:lpstr>2. 용역 내용 및 범위</vt:lpstr>
      <vt:lpstr>3. 유지보수 업무 절차</vt:lpstr>
      <vt:lpstr>4. 프로젝트 관리 (환경 구축)</vt:lpstr>
      <vt:lpstr>4. 프로젝트 관리 (수행 관리)</vt:lpstr>
      <vt:lpstr>4. 프로젝트 관리 (위험/이슈관리)</vt:lpstr>
      <vt:lpstr>5. 용역 일정</vt:lpstr>
      <vt:lpstr>7. 인력 투입</vt:lpstr>
      <vt:lpstr>8. 용역 산출물</vt:lpstr>
      <vt:lpstr>9. 용역 비용</vt:lpstr>
      <vt:lpstr>첨부 1) SW 구조도</vt:lpstr>
      <vt:lpstr>첨부 2) 스트리밍 뮤직 서비스 흐름도</vt:lpstr>
      <vt:lpstr>첨부 3) 소요기술 리스트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352</cp:revision>
  <dcterms:created xsi:type="dcterms:W3CDTF">2017-09-07T02:36:35Z</dcterms:created>
  <dcterms:modified xsi:type="dcterms:W3CDTF">2025-08-27T08:38:01Z</dcterms:modified>
  <cp:version/>
</cp:coreProperties>
</file>