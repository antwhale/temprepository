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26"/>
  </p:notesMasterIdLst>
  <p:sldIdLst>
    <p:sldId id="258" r:id="rId2"/>
    <p:sldId id="266" r:id="rId3"/>
    <p:sldId id="330" r:id="rId4"/>
    <p:sldId id="746" r:id="rId5"/>
    <p:sldId id="749" r:id="rId6"/>
    <p:sldId id="787" r:id="rId7"/>
    <p:sldId id="786" r:id="rId8"/>
    <p:sldId id="806" r:id="rId9"/>
    <p:sldId id="807" r:id="rId10"/>
    <p:sldId id="808" r:id="rId11"/>
    <p:sldId id="809" r:id="rId12"/>
    <p:sldId id="754" r:id="rId13"/>
    <p:sldId id="791" r:id="rId14"/>
    <p:sldId id="798" r:id="rId15"/>
    <p:sldId id="805" r:id="rId16"/>
    <p:sldId id="792" r:id="rId17"/>
    <p:sldId id="802" r:id="rId18"/>
    <p:sldId id="758" r:id="rId19"/>
    <p:sldId id="804" r:id="rId20"/>
    <p:sldId id="751" r:id="rId21"/>
    <p:sldId id="271" r:id="rId22"/>
    <p:sldId id="269" r:id="rId23"/>
    <p:sldId id="785" r:id="rId24"/>
    <p:sldId id="568" r:id="rId25"/>
  </p:sldIdLst>
  <p:sldSz cx="9906000" cy="6858000" type="A4"/>
  <p:notesSz cx="6865938" cy="99980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65" userDrawn="1">
          <p15:clr>
            <a:srgbClr val="A4A3A4"/>
          </p15:clr>
        </p15:guide>
        <p15:guide id="6" orient="horz" pos="822" userDrawn="1">
          <p15:clr>
            <a:srgbClr val="A4A3A4"/>
          </p15:clr>
        </p15:guide>
        <p15:guide id="7" orient="horz" pos="618" userDrawn="1">
          <p15:clr>
            <a:srgbClr val="A4A3A4"/>
          </p15:clr>
        </p15:guide>
        <p15:guide id="10" pos="5955" userDrawn="1">
          <p15:clr>
            <a:srgbClr val="A4A3A4"/>
          </p15:clr>
        </p15:guide>
        <p15:guide id="11" pos="11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197EC6"/>
    <a:srgbClr val="D4233F"/>
    <a:srgbClr val="CDACE6"/>
    <a:srgbClr val="B381D9"/>
    <a:srgbClr val="FF5D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03" autoAdjust="0"/>
    <p:restoredTop sz="94660"/>
  </p:normalViewPr>
  <p:slideViewPr>
    <p:cSldViewPr snapToGrid="0" showGuides="1">
      <p:cViewPr varScale="1">
        <p:scale>
          <a:sx n="165" d="100"/>
          <a:sy n="165" d="100"/>
        </p:scale>
        <p:origin x="1164" y="138"/>
      </p:cViewPr>
      <p:guideLst>
        <p:guide orient="horz" pos="4065"/>
        <p:guide orient="horz" pos="822"/>
        <p:guide orient="horz" pos="618"/>
        <p:guide pos="5955"/>
        <p:guide pos="11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5240" cy="501640"/>
          </a:xfrm>
          <a:prstGeom prst="rect">
            <a:avLst/>
          </a:prstGeom>
        </p:spPr>
        <p:txBody>
          <a:bodyPr vert="horz" lIns="96359" tIns="48180" rIns="96359" bIns="48180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9109" y="0"/>
            <a:ext cx="2975240" cy="501640"/>
          </a:xfrm>
          <a:prstGeom prst="rect">
            <a:avLst/>
          </a:prstGeom>
        </p:spPr>
        <p:txBody>
          <a:bodyPr vert="horz" lIns="96359" tIns="48180" rIns="96359" bIns="48180" rtlCol="0"/>
          <a:lstStyle>
            <a:lvl1pPr algn="r">
              <a:defRPr sz="1300"/>
            </a:lvl1pPr>
          </a:lstStyle>
          <a:p>
            <a:fld id="{E3FD1BB9-5AFF-4149-8A32-8E0459EA3C9E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96950" y="1249363"/>
            <a:ext cx="4872038" cy="3375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359" tIns="48180" rIns="96359" bIns="4818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6594" y="4811574"/>
            <a:ext cx="5492750" cy="3936742"/>
          </a:xfrm>
          <a:prstGeom prst="rect">
            <a:avLst/>
          </a:prstGeom>
        </p:spPr>
        <p:txBody>
          <a:bodyPr vert="horz" lIns="96359" tIns="48180" rIns="96359" bIns="4818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96437"/>
            <a:ext cx="2975240" cy="501639"/>
          </a:xfrm>
          <a:prstGeom prst="rect">
            <a:avLst/>
          </a:prstGeom>
        </p:spPr>
        <p:txBody>
          <a:bodyPr vert="horz" lIns="96359" tIns="48180" rIns="96359" bIns="48180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9109" y="9496437"/>
            <a:ext cx="2975240" cy="501639"/>
          </a:xfrm>
          <a:prstGeom prst="rect">
            <a:avLst/>
          </a:prstGeom>
        </p:spPr>
        <p:txBody>
          <a:bodyPr vert="horz" lIns="96359" tIns="48180" rIns="96359" bIns="48180" rtlCol="0" anchor="b"/>
          <a:lstStyle>
            <a:lvl1pPr algn="r">
              <a:defRPr sz="1300"/>
            </a:lvl1pPr>
          </a:lstStyle>
          <a:p>
            <a:fld id="{65019F86-69AA-418A-A76F-9CD404E523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7502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1600" dirty="0"/>
              <a:t>진심으로 부탁드립니다</a:t>
            </a:r>
            <a:r>
              <a:rPr lang="en-US" altLang="ko-KR" sz="1600" dirty="0"/>
              <a:t>.</a:t>
            </a:r>
          </a:p>
          <a:p>
            <a:r>
              <a:rPr lang="ko-KR" altLang="en-US" sz="1600" dirty="0"/>
              <a:t>여러분들이 도와 주신다면 수출기업으로 확실히 우뚝 서겠습니다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r>
              <a:rPr lang="ko-KR" altLang="en-US" sz="1600" dirty="0"/>
              <a:t>감사합니다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467360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720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255" y="55679"/>
            <a:ext cx="8543925" cy="408844"/>
          </a:xfrm>
        </p:spPr>
        <p:txBody>
          <a:bodyPr>
            <a:normAutofit/>
          </a:bodyPr>
          <a:lstStyle>
            <a:lvl1pPr>
              <a:defRPr sz="2400" b="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772" y="674703"/>
            <a:ext cx="9074458" cy="574385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pic>
        <p:nvPicPr>
          <p:cNvPr id="9" name="Picture 2" descr="현대모비스에 대한 이미지 검색결과">
            <a:extLst>
              <a:ext uri="{FF2B5EF4-FFF2-40B4-BE49-F238E27FC236}">
                <a16:creationId xmlns:a16="http://schemas.microsoft.com/office/drawing/2014/main" id="{62B38A06-4786-4AD1-8B66-F093F0DAA3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2" y="6642329"/>
            <a:ext cx="522727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25BB533-3888-49BB-9B22-C069045E287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3473" y="6611105"/>
            <a:ext cx="692707" cy="242448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45356C21-E82F-4766-BF9E-E5C304B3262F}"/>
              </a:ext>
            </a:extLst>
          </p:cNvPr>
          <p:cNvSpPr/>
          <p:nvPr userDrawn="1"/>
        </p:nvSpPr>
        <p:spPr>
          <a:xfrm>
            <a:off x="0" y="470508"/>
            <a:ext cx="9900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589E92D6-3EA9-46F2-8917-A1950E2B7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10423" y="6613392"/>
            <a:ext cx="685154" cy="237875"/>
          </a:xfrm>
        </p:spPr>
        <p:txBody>
          <a:bodyPr/>
          <a:lstStyle>
            <a:lvl1pPr algn="ctr">
              <a:defRPr/>
            </a:lvl1pPr>
          </a:lstStyle>
          <a:p>
            <a:fld id="{DC80BF6F-0142-4830-87E7-2F6C4BE8B07D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4" name="바닥글 개체 틀 1">
            <a:extLst>
              <a:ext uri="{FF2B5EF4-FFF2-40B4-BE49-F238E27FC236}">
                <a16:creationId xmlns:a16="http://schemas.microsoft.com/office/drawing/2014/main" id="{625B9CFD-C91D-F800-2122-D8E475A04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140344" cy="237874"/>
          </a:xfrm>
        </p:spPr>
        <p:txBody>
          <a:bodyPr/>
          <a:lstStyle>
            <a:lvl1pPr algn="l">
              <a:defRPr sz="1000"/>
            </a:lvl1pPr>
          </a:lstStyle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55776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2045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0681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2995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6296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744649" y="6574361"/>
            <a:ext cx="3343275" cy="27799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380134" y="6568714"/>
            <a:ext cx="2228850" cy="289286"/>
          </a:xfrm>
        </p:spPr>
        <p:txBody>
          <a:bodyPr/>
          <a:lstStyle>
            <a:lvl1pPr algn="ctr">
              <a:defRPr/>
            </a:lvl1pPr>
          </a:lstStyle>
          <a:p>
            <a:fld id="{DC80BF6F-0142-4830-87E7-2F6C4BE8B07D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1026" name="Picture 2" descr="현대모비스에 대한 이미지 검색결과">
            <a:extLst>
              <a:ext uri="{FF2B5EF4-FFF2-40B4-BE49-F238E27FC236}">
                <a16:creationId xmlns:a16="http://schemas.microsoft.com/office/drawing/2014/main" id="{ECD54C1E-7642-4FA1-88DD-B4E665F72B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2" y="6623357"/>
            <a:ext cx="522727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A4C1A52-0237-44F5-9A61-4395B0136CD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3473" y="6592133"/>
            <a:ext cx="692707" cy="242448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4A304D04-D1F9-4B96-B6AA-3D7EC97B9D44}"/>
              </a:ext>
            </a:extLst>
          </p:cNvPr>
          <p:cNvSpPr/>
          <p:nvPr userDrawn="1"/>
        </p:nvSpPr>
        <p:spPr>
          <a:xfrm>
            <a:off x="0" y="710214"/>
            <a:ext cx="9906000" cy="4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D98E841-BF8E-42AC-A16B-9A49C2388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532" y="183198"/>
            <a:ext cx="8543925" cy="550416"/>
          </a:xfrm>
        </p:spPr>
        <p:txBody>
          <a:bodyPr anchor="ctr">
            <a:noAutofit/>
          </a:bodyPr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692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6001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8899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9371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513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624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809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onfluence.mobis.co.kr/pages/viewpage.action?pageId=1107927830" TargetMode="External"/><Relationship Id="rId2" Type="http://schemas.openxmlformats.org/officeDocument/2006/relationships/hyperlink" Target="https://confluence.mobis.co.kr/pages/viewpage.action?pageId=1107927822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nfluence.mobis.co.kr/pages/viewpage.action?pageId=1098019176" TargetMode="External"/><Relationship Id="rId4" Type="http://schemas.openxmlformats.org/officeDocument/2006/relationships/hyperlink" Target="https://confluence.mobis.co.kr/pages/viewpage.action?pageId=1098018970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jira.mobis.co.kr/browse/TCIEXTORG-7776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bitbucket.mobis.co.kr/projects/M_HMI/repos/platform.vendor.mobis.packages.apps.dmb/browse" TargetMode="External"/><Relationship Id="rId2" Type="http://schemas.openxmlformats.org/officeDocument/2006/relationships/hyperlink" Target="https://bitbucket.mobis.co.kr/projects/M_HMI/repos/platform.vendor.mobis.packages.apps.radio/browse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bitbucket.mobis.co.kr/projects/M_HMI/repos/platform.vendor.mobis.packages.apps.rearcaremode/browse" TargetMode="External"/><Relationship Id="rId4" Type="http://schemas.openxmlformats.org/officeDocument/2006/relationships/hyperlink" Target="https://bitbucket.mobis.co.kr/projects/M_HMI/repos/platform.vendor.mobis.packages.apps.miniplayer/browse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://www.gsdot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A053658-2D01-D137-1913-CD36559E011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3" t="577"/>
          <a:stretch/>
        </p:blipFill>
        <p:spPr>
          <a:xfrm>
            <a:off x="307975" y="1"/>
            <a:ext cx="9598026" cy="4777739"/>
          </a:xfrm>
          <a:prstGeom prst="rect">
            <a:avLst/>
          </a:prstGeom>
        </p:spPr>
      </p:pic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F4638D2-83EE-436E-B2E1-9FB01937BC08}"/>
              </a:ext>
            </a:extLst>
          </p:cNvPr>
          <p:cNvSpPr/>
          <p:nvPr/>
        </p:nvSpPr>
        <p:spPr>
          <a:xfrm>
            <a:off x="507166" y="1403684"/>
            <a:ext cx="8891668" cy="2279316"/>
          </a:xfrm>
          <a:prstGeom prst="roundRect">
            <a:avLst>
              <a:gd name="adj" fmla="val 7720"/>
            </a:avLst>
          </a:prstGeom>
          <a:solidFill>
            <a:schemeClr val="bg1">
              <a:alpha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>
                <a:solidFill>
                  <a:schemeClr val="tx1"/>
                </a:solidFill>
                <a:latin typeface="+mn-ea"/>
              </a:rPr>
              <a:t>완료보고서</a:t>
            </a:r>
            <a:endParaRPr lang="en-US" altLang="ko-KR" sz="2800" b="1" dirty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– 26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 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–</a:t>
            </a:r>
            <a:b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</a:b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내수 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Radio, 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유럽 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Radio, DMB, </a:t>
            </a:r>
            <a:r>
              <a:rPr lang="en-US" altLang="ko-KR" sz="2000" b="1" dirty="0" err="1">
                <a:solidFill>
                  <a:schemeClr val="bg1">
                    <a:lumMod val="50000"/>
                  </a:schemeClr>
                </a:solidFill>
                <a:latin typeface="+mn-ea"/>
              </a:rPr>
              <a:t>MiniPlayer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, </a:t>
            </a:r>
            <a:r>
              <a:rPr lang="en-US" altLang="ko-KR" sz="2000" b="1" dirty="0" err="1">
                <a:solidFill>
                  <a:schemeClr val="bg1">
                    <a:lumMod val="50000"/>
                  </a:schemeClr>
                </a:solidFill>
                <a:latin typeface="+mn-ea"/>
              </a:rPr>
              <a:t>RearCareMode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D76EC9-AFEB-4064-B908-975D3696E9B3}"/>
              </a:ext>
            </a:extLst>
          </p:cNvPr>
          <p:cNvSpPr txBox="1"/>
          <p:nvPr/>
        </p:nvSpPr>
        <p:spPr>
          <a:xfrm>
            <a:off x="3616737" y="4740442"/>
            <a:ext cx="2672526" cy="9913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dirty="0"/>
              <a:t>2026. 06. 03</a:t>
            </a:r>
          </a:p>
          <a:p>
            <a:pPr algn="ctr">
              <a:lnSpc>
                <a:spcPct val="150000"/>
              </a:lnSpc>
            </a:pPr>
            <a:r>
              <a:rPr lang="ko-KR" altLang="en-US" sz="2600" dirty="0"/>
              <a:t>㈜</a:t>
            </a:r>
            <a:r>
              <a:rPr lang="ko-KR" altLang="en-US" sz="2400" dirty="0"/>
              <a:t>투비원솔루션즈</a:t>
            </a:r>
            <a:endParaRPr lang="ko-KR" altLang="en-US" sz="2600" dirty="0"/>
          </a:p>
        </p:txBody>
      </p:sp>
    </p:spTree>
    <p:extLst>
      <p:ext uri="{BB962C8B-B14F-4D97-AF65-F5344CB8AC3E}">
        <p14:creationId xmlns:p14="http://schemas.microsoft.com/office/powerpoint/2010/main" val="3158778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D703D92B-D50B-4B52-99AF-73CF257EB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2000" b="0" dirty="0">
                <a:latin typeface="+mn-ea"/>
                <a:ea typeface="+mn-ea"/>
              </a:rPr>
              <a:t>1. </a:t>
            </a:r>
            <a:r>
              <a:rPr lang="ko-KR" altLang="en-US" sz="2000" b="0" dirty="0">
                <a:latin typeface="+mn-ea"/>
                <a:ea typeface="+mn-ea"/>
              </a:rPr>
              <a:t>용역 개요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503FB9-76B8-44EA-9F63-BFAF943FC40E}"/>
              </a:ext>
            </a:extLst>
          </p:cNvPr>
          <p:cNvSpPr txBox="1"/>
          <p:nvPr/>
        </p:nvSpPr>
        <p:spPr>
          <a:xfrm>
            <a:off x="408373" y="705818"/>
            <a:ext cx="1340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/>
              <a:t>용역 개요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49652271-F034-47DA-8827-31B852787E9A}"/>
              </a:ext>
            </a:extLst>
          </p:cNvPr>
          <p:cNvGrpSpPr/>
          <p:nvPr/>
        </p:nvGrpSpPr>
        <p:grpSpPr>
          <a:xfrm>
            <a:off x="488950" y="1075150"/>
            <a:ext cx="8928100" cy="779076"/>
            <a:chOff x="488950" y="1150566"/>
            <a:chExt cx="8928100" cy="598335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4FEBA316-0EE4-491A-97BA-37C131532D37}"/>
                </a:ext>
              </a:extLst>
            </p:cNvPr>
            <p:cNvSpPr/>
            <p:nvPr/>
          </p:nvSpPr>
          <p:spPr>
            <a:xfrm>
              <a:off x="488950" y="1150566"/>
              <a:ext cx="1077681" cy="5983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>
                  <a:solidFill>
                    <a:schemeClr val="tx1"/>
                  </a:solidFill>
                </a:rPr>
                <a:t>용역 목적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FF5BCDA-EAAD-4919-93DF-1CCE25146ED7}"/>
                </a:ext>
              </a:extLst>
            </p:cNvPr>
            <p:cNvSpPr/>
            <p:nvPr/>
          </p:nvSpPr>
          <p:spPr>
            <a:xfrm>
              <a:off x="1640264" y="1150566"/>
              <a:ext cx="7776786" cy="59833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en-US" altLang="ko-KR" sz="1600" dirty="0">
                  <a:solidFill>
                    <a:schemeClr val="tx1"/>
                  </a:solidFill>
                </a:rPr>
                <a:t>2026</a:t>
              </a:r>
              <a:r>
                <a:rPr lang="ko-KR" altLang="en-US" sz="1600" dirty="0">
                  <a:solidFill>
                    <a:schemeClr val="tx1"/>
                  </a:solidFill>
                </a:rPr>
                <a:t>년도 </a:t>
              </a:r>
              <a:r>
                <a:rPr lang="en-US" altLang="ko-KR" sz="1600" dirty="0">
                  <a:solidFill>
                    <a:schemeClr val="tx1"/>
                  </a:solidFill>
                </a:rPr>
                <a:t>PBV</a:t>
              </a:r>
              <a:r>
                <a:rPr lang="ko-KR" altLang="en-US" sz="1600" dirty="0">
                  <a:solidFill>
                    <a:schemeClr val="tx1"/>
                  </a:solidFill>
                </a:rPr>
                <a:t> </a:t>
              </a:r>
              <a:r>
                <a:rPr lang="en-US" altLang="ko-KR" sz="1600" dirty="0">
                  <a:solidFill>
                    <a:schemeClr val="tx1"/>
                  </a:solidFill>
                </a:rPr>
                <a:t>IVI</a:t>
              </a:r>
              <a:r>
                <a:rPr lang="ko-KR" altLang="en-US" sz="1600" dirty="0">
                  <a:solidFill>
                    <a:schemeClr val="tx1"/>
                  </a:solidFill>
                </a:rPr>
                <a:t> 유지보수 개발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960246DC-B2F9-4F71-8B7A-E5A1277142CC}"/>
              </a:ext>
            </a:extLst>
          </p:cNvPr>
          <p:cNvGrpSpPr/>
          <p:nvPr/>
        </p:nvGrpSpPr>
        <p:grpSpPr>
          <a:xfrm>
            <a:off x="488950" y="1952718"/>
            <a:ext cx="8928099" cy="779076"/>
            <a:chOff x="488950" y="1797667"/>
            <a:chExt cx="8928099" cy="598335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0D1E369-55FF-4EED-A1FE-A4372BDE2FD9}"/>
                </a:ext>
              </a:extLst>
            </p:cNvPr>
            <p:cNvSpPr/>
            <p:nvPr/>
          </p:nvSpPr>
          <p:spPr>
            <a:xfrm>
              <a:off x="488950" y="1810797"/>
              <a:ext cx="1077681" cy="5852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tx1"/>
                  </a:solidFill>
                </a:rPr>
                <a:t>용역 기간</a:t>
              </a:r>
              <a:endParaRPr lang="ko-KR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5557C8EE-921D-4189-BCF4-3EADA5CB1A61}"/>
                </a:ext>
              </a:extLst>
            </p:cNvPr>
            <p:cNvSpPr/>
            <p:nvPr/>
          </p:nvSpPr>
          <p:spPr>
            <a:xfrm>
              <a:off x="1640265" y="1797667"/>
              <a:ext cx="7776784" cy="59833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solidFill>
                    <a:schemeClr val="tx1"/>
                  </a:solidFill>
                </a:rPr>
                <a:t>총 </a:t>
              </a:r>
              <a:r>
                <a:rPr lang="en-US" altLang="ko-KR" sz="1600" dirty="0">
                  <a:solidFill>
                    <a:schemeClr val="tx1"/>
                  </a:solidFill>
                </a:rPr>
                <a:t>6</a:t>
              </a:r>
              <a:r>
                <a:rPr lang="ko-KR" altLang="en-US" sz="1600" dirty="0">
                  <a:solidFill>
                    <a:schemeClr val="tx1"/>
                  </a:solidFill>
                </a:rPr>
                <a:t>개월 </a:t>
              </a:r>
              <a:r>
                <a:rPr lang="en-US" altLang="ko-KR" sz="1600" dirty="0">
                  <a:solidFill>
                    <a:schemeClr val="tx1"/>
                  </a:solidFill>
                </a:rPr>
                <a:t>(2026.01.01 ~ 2026.06.30)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189007EB-1895-4CA0-9913-A4EA473276EC}"/>
              </a:ext>
            </a:extLst>
          </p:cNvPr>
          <p:cNvGrpSpPr/>
          <p:nvPr/>
        </p:nvGrpSpPr>
        <p:grpSpPr>
          <a:xfrm>
            <a:off x="488951" y="2830286"/>
            <a:ext cx="8928096" cy="3561636"/>
            <a:chOff x="488951" y="3104998"/>
            <a:chExt cx="8928096" cy="3286924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D10B44D-193D-4C91-A287-4ACB6146B048}"/>
                </a:ext>
              </a:extLst>
            </p:cNvPr>
            <p:cNvSpPr/>
            <p:nvPr/>
          </p:nvSpPr>
          <p:spPr>
            <a:xfrm>
              <a:off x="488951" y="3104999"/>
              <a:ext cx="1077680" cy="32869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tx1"/>
                  </a:solidFill>
                </a:rPr>
                <a:t>기술 개요</a:t>
              </a:r>
              <a:endParaRPr lang="ko-KR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82645413-CF40-489D-81FA-7B705605D607}"/>
                </a:ext>
              </a:extLst>
            </p:cNvPr>
            <p:cNvSpPr/>
            <p:nvPr/>
          </p:nvSpPr>
          <p:spPr>
            <a:xfrm>
              <a:off x="1640265" y="3104999"/>
              <a:ext cx="4099476" cy="32869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rtlCol="0" anchor="t"/>
            <a:lstStyle/>
            <a:p>
              <a:pPr marL="108000" indent="-1080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400" dirty="0">
                  <a:solidFill>
                    <a:schemeClr val="tx1"/>
                  </a:solidFill>
                  <a:latin typeface="+mn-ea"/>
                </a:rPr>
                <a:t>기술 개요</a:t>
              </a:r>
              <a:endParaRPr lang="en-US" altLang="ko-KR" sz="1400" dirty="0">
                <a:solidFill>
                  <a:schemeClr val="tx1"/>
                </a:solidFill>
                <a:latin typeface="+mn-ea"/>
              </a:endParaRPr>
            </a:p>
            <a:p>
              <a:pPr marL="360000" lvl="1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PBV IVI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플랫폼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내수 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Radio,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유럽 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Radio, DMB, </a:t>
              </a:r>
              <a:r>
                <a:rPr lang="en-US" altLang="ko-KR" sz="1200" dirty="0" err="1">
                  <a:solidFill>
                    <a:schemeClr val="tx1"/>
                  </a:solidFill>
                  <a:latin typeface="+mn-ea"/>
                </a:rPr>
                <a:t>MiniPlayer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en-US" altLang="ko-KR" sz="1200" dirty="0" err="1">
                  <a:solidFill>
                    <a:schemeClr val="tx1"/>
                  </a:solidFill>
                  <a:latin typeface="+mn-ea"/>
                </a:rPr>
                <a:t>RearCareMode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)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앱에 대한 유지보수 수행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.</a:t>
              </a:r>
            </a:p>
            <a:p>
              <a:pPr marL="360000" lvl="1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Android Application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레벨의 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GUI,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다국어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, UI /Logic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전체 어플리케이션 개발 및 유지보수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.</a:t>
              </a:r>
            </a:p>
            <a:p>
              <a:pPr marL="360000" lvl="1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고객사 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CR(Change Request)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대응 및 신규 기능 개발 수행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.</a:t>
              </a:r>
            </a:p>
            <a:p>
              <a:pPr marL="360000" lvl="1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지역별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(PBV 10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개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, PBV Lite 3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개 모델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) </a:t>
              </a:r>
              <a:r>
                <a:rPr lang="ko-KR" altLang="en-US" sz="1200" dirty="0" err="1">
                  <a:solidFill>
                    <a:schemeClr val="tx1"/>
                  </a:solidFill>
                  <a:latin typeface="+mn-ea"/>
                </a:rPr>
                <a:t>정기업데이트에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 따른 성능 육성 및 안정화 지원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.</a:t>
              </a:r>
            </a:p>
            <a:p>
              <a:pPr marL="360000" lvl="1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개발 언어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: Kotlin (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주력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), Java.</a:t>
              </a:r>
            </a:p>
            <a:p>
              <a:pPr marL="180000" lvl="1">
                <a:lnSpc>
                  <a:spcPct val="150000"/>
                </a:lnSpc>
              </a:pPr>
              <a:endParaRPr lang="en-US" altLang="ko-KR" sz="12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B2C5D8B4-B079-43BB-8EA8-319C310E1155}"/>
                </a:ext>
              </a:extLst>
            </p:cNvPr>
            <p:cNvSpPr/>
            <p:nvPr/>
          </p:nvSpPr>
          <p:spPr>
            <a:xfrm>
              <a:off x="5739740" y="3104998"/>
              <a:ext cx="3677307" cy="32869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rtlCol="0" anchor="t"/>
            <a:lstStyle/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ko-KR" altLang="en-US" sz="1400" dirty="0">
                  <a:solidFill>
                    <a:schemeClr val="tx1"/>
                  </a:solidFill>
                </a:rPr>
                <a:t>시스템 구성</a:t>
              </a:r>
              <a:endParaRPr lang="en-US" altLang="ko-KR" sz="1400" dirty="0">
                <a:solidFill>
                  <a:schemeClr val="tx1"/>
                </a:solidFill>
              </a:endParaRPr>
            </a:p>
            <a:p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9" name="바닥글 개체 틀 8">
            <a:extLst>
              <a:ext uri="{FF2B5EF4-FFF2-40B4-BE49-F238E27FC236}">
                <a16:creationId xmlns:a16="http://schemas.microsoft.com/office/drawing/2014/main" id="{D19FE606-709D-442F-8D17-21253E1E3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140344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B5A81FE-784D-0C5B-3B8D-323D3CF0B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176" y="3385595"/>
            <a:ext cx="3318988" cy="262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291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2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용역 내용 및 범위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712083-6108-4D69-B2EA-10CB2254CA9A}"/>
              </a:ext>
            </a:extLst>
          </p:cNvPr>
          <p:cNvSpPr txBox="1"/>
          <p:nvPr/>
        </p:nvSpPr>
        <p:spPr>
          <a:xfrm>
            <a:off x="408372" y="669059"/>
            <a:ext cx="3918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/>
              <a:t>유지보수 내용 및 범위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5CB9E22-3771-029D-AE57-0E43EEA8B2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367844"/>
              </p:ext>
            </p:extLst>
          </p:nvPr>
        </p:nvGraphicFramePr>
        <p:xfrm>
          <a:off x="401902" y="1187224"/>
          <a:ext cx="9102196" cy="52465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100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1502833">
                  <a:extLst>
                    <a:ext uri="{9D8B030D-6E8A-4147-A177-3AD203B41FA5}">
                      <a16:colId xmlns:a16="http://schemas.microsoft.com/office/drawing/2014/main" val="3571926780"/>
                    </a:ext>
                  </a:extLst>
                </a:gridCol>
                <a:gridCol w="3696659">
                  <a:extLst>
                    <a:ext uri="{9D8B030D-6E8A-4147-A177-3AD203B41FA5}">
                      <a16:colId xmlns:a16="http://schemas.microsoft.com/office/drawing/2014/main" val="4245680493"/>
                    </a:ext>
                  </a:extLst>
                </a:gridCol>
                <a:gridCol w="2467604">
                  <a:extLst>
                    <a:ext uri="{9D8B030D-6E8A-4147-A177-3AD203B41FA5}">
                      <a16:colId xmlns:a16="http://schemas.microsoft.com/office/drawing/2014/main" val="2161846362"/>
                    </a:ext>
                  </a:extLst>
                </a:gridCol>
              </a:tblGrid>
              <a:tr h="3618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항 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구 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내 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비 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087584"/>
                  </a:ext>
                </a:extLst>
              </a:tr>
              <a:tr h="348909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dirty="0"/>
                        <a:t>내수</a:t>
                      </a:r>
                      <a:r>
                        <a:rPr lang="en-US" altLang="ko-KR" sz="1400" dirty="0"/>
                        <a:t> Radio</a:t>
                      </a:r>
                      <a:endParaRPr lang="ko-KR" altLang="en-US" sz="1400" dirty="0"/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GUI</a:t>
                      </a:r>
                      <a:r>
                        <a:rPr lang="ko-KR" altLang="en-US" sz="1200" dirty="0"/>
                        <a:t> 변경 개발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내수</a:t>
                      </a:r>
                      <a:r>
                        <a:rPr lang="en-US" altLang="ko-KR" sz="1200" dirty="0"/>
                        <a:t> Radio</a:t>
                      </a:r>
                      <a:r>
                        <a:rPr lang="ko-KR" altLang="en-US" sz="1200" dirty="0"/>
                        <a:t> 앱 </a:t>
                      </a:r>
                      <a:r>
                        <a:rPr lang="en-US" altLang="ko-KR" sz="1200" dirty="0"/>
                        <a:t>GUI</a:t>
                      </a:r>
                      <a:r>
                        <a:rPr lang="ko-KR" altLang="en-US" sz="1200" dirty="0"/>
                        <a:t> 변경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고객사 제공 </a:t>
                      </a:r>
                      <a:r>
                        <a:rPr lang="en-US" altLang="ko-KR" sz="1200" dirty="0"/>
                        <a:t>MMI/GUI </a:t>
                      </a:r>
                      <a:r>
                        <a:rPr lang="ko-KR" altLang="en-US" sz="1200" dirty="0"/>
                        <a:t>가이드 준수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UI </a:t>
                      </a:r>
                      <a:r>
                        <a:rPr lang="ko-KR" altLang="en-US" sz="1200" dirty="0"/>
                        <a:t>및 </a:t>
                      </a:r>
                      <a:r>
                        <a:rPr lang="en-US" altLang="ko-KR" sz="1200" dirty="0"/>
                        <a:t>Logic </a:t>
                      </a:r>
                      <a:r>
                        <a:rPr lang="ko-KR" altLang="en-US" sz="1200" dirty="0"/>
                        <a:t>이슈 처리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예외 케이스 예방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적응 및 서비스 완전화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200" dirty="0"/>
                        <a:t>시험 결과서 및 </a:t>
                      </a:r>
                      <a:r>
                        <a:rPr lang="en-US" altLang="ko-KR" sz="1200" dirty="0"/>
                        <a:t>Jira </a:t>
                      </a:r>
                      <a:r>
                        <a:rPr lang="ko-KR" altLang="en-US" sz="1200" dirty="0"/>
                        <a:t>이슈 우선 반영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056915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신규 기능 개발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내수</a:t>
                      </a:r>
                      <a:r>
                        <a:rPr lang="en-US" altLang="ko-KR" sz="1200" dirty="0"/>
                        <a:t> Radio</a:t>
                      </a:r>
                      <a:r>
                        <a:rPr lang="ko-KR" altLang="en-US" sz="1200" dirty="0"/>
                        <a:t> 마이너 기능 설계 변경 및 수정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200" dirty="0"/>
                        <a:t>M/Car </a:t>
                      </a:r>
                      <a:r>
                        <a:rPr lang="ko-KR" altLang="en-US" sz="1200" dirty="0"/>
                        <a:t>이후 </a:t>
                      </a: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기준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343609"/>
                  </a:ext>
                </a:extLst>
              </a:tr>
              <a:tr h="348909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dirty="0"/>
                        <a:t>유럽 </a:t>
                      </a:r>
                      <a:r>
                        <a:rPr lang="en-US" altLang="ko-KR" sz="1400" dirty="0"/>
                        <a:t>Radio</a:t>
                      </a:r>
                      <a:endParaRPr lang="ko-KR" altLang="en-US" sz="1400" dirty="0"/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GUI</a:t>
                      </a:r>
                      <a:r>
                        <a:rPr lang="ko-KR" altLang="en-US" sz="1200" dirty="0"/>
                        <a:t> 및 다국어 개발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유럽</a:t>
                      </a:r>
                      <a:r>
                        <a:rPr lang="en-US" altLang="ko-KR" sz="1200" dirty="0"/>
                        <a:t> Radio</a:t>
                      </a:r>
                      <a:r>
                        <a:rPr lang="ko-KR" altLang="en-US" sz="1200" dirty="0"/>
                        <a:t> 앱 </a:t>
                      </a:r>
                      <a:r>
                        <a:rPr lang="en-US" altLang="ko-KR" sz="1200" dirty="0"/>
                        <a:t>GUI</a:t>
                      </a:r>
                      <a:r>
                        <a:rPr lang="ko-KR" altLang="en-US" sz="1200" dirty="0"/>
                        <a:t> 변경 및 다국어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고객사 제공 </a:t>
                      </a:r>
                      <a:r>
                        <a:rPr lang="en-US" altLang="ko-KR" sz="1200" dirty="0"/>
                        <a:t>MMI/GUI </a:t>
                      </a:r>
                      <a:r>
                        <a:rPr lang="ko-KR" altLang="en-US" sz="1200" dirty="0"/>
                        <a:t>가이드 준수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366983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UI </a:t>
                      </a:r>
                      <a:r>
                        <a:rPr lang="ko-KR" altLang="en-US" sz="1200" dirty="0"/>
                        <a:t>및 </a:t>
                      </a:r>
                      <a:r>
                        <a:rPr lang="en-US" altLang="ko-KR" sz="1200" dirty="0"/>
                        <a:t>Logic </a:t>
                      </a:r>
                      <a:r>
                        <a:rPr lang="ko-KR" altLang="en-US" sz="1200" dirty="0"/>
                        <a:t>이슈 처리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예외 케이스 예방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적응 및 서비스 완전화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200" dirty="0"/>
                        <a:t>시험 결과서 및 </a:t>
                      </a:r>
                      <a:r>
                        <a:rPr lang="en-US" altLang="ko-KR" sz="1200" dirty="0"/>
                        <a:t>Jira </a:t>
                      </a:r>
                      <a:r>
                        <a:rPr lang="ko-KR" altLang="en-US" sz="1200" dirty="0"/>
                        <a:t>이슈 우선 반영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735662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신규 기능 개발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유럽</a:t>
                      </a:r>
                      <a:r>
                        <a:rPr lang="en-US" altLang="ko-KR" sz="1200" dirty="0"/>
                        <a:t> Radio</a:t>
                      </a:r>
                      <a:r>
                        <a:rPr lang="ko-KR" altLang="en-US" sz="1200" dirty="0"/>
                        <a:t> 마이너 기능 설계 변경 및 수정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200" dirty="0"/>
                        <a:t>M/Car </a:t>
                      </a:r>
                      <a:r>
                        <a:rPr lang="ko-KR" altLang="en-US" sz="1200" dirty="0"/>
                        <a:t>이후 </a:t>
                      </a: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기준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709597"/>
                  </a:ext>
                </a:extLst>
              </a:tr>
              <a:tr h="348909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DMB</a:t>
                      </a:r>
                      <a:endParaRPr lang="ko-KR" altLang="en-US" sz="1400" dirty="0"/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GUI</a:t>
                      </a:r>
                      <a:r>
                        <a:rPr lang="ko-KR" altLang="en-US" sz="1200" dirty="0"/>
                        <a:t> 변경 개발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DMB </a:t>
                      </a:r>
                      <a:r>
                        <a:rPr lang="ko-KR" altLang="en-US" sz="1200" dirty="0"/>
                        <a:t>앱 </a:t>
                      </a:r>
                      <a:r>
                        <a:rPr lang="en-US" altLang="ko-KR" sz="1200" dirty="0"/>
                        <a:t>GUI</a:t>
                      </a:r>
                      <a:r>
                        <a:rPr lang="ko-KR" altLang="en-US" sz="1200" dirty="0"/>
                        <a:t> 변경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고객사 제공 </a:t>
                      </a:r>
                      <a:r>
                        <a:rPr lang="en-US" altLang="ko-KR" sz="1200" dirty="0"/>
                        <a:t>MMI/GUI </a:t>
                      </a:r>
                      <a:r>
                        <a:rPr lang="ko-KR" altLang="en-US" sz="1200" dirty="0"/>
                        <a:t>가이드 준수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3831620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UI </a:t>
                      </a:r>
                      <a:r>
                        <a:rPr lang="ko-KR" altLang="en-US" sz="1200" dirty="0"/>
                        <a:t>및 </a:t>
                      </a:r>
                      <a:r>
                        <a:rPr lang="en-US" altLang="ko-KR" sz="1200" dirty="0"/>
                        <a:t>Logic </a:t>
                      </a:r>
                      <a:r>
                        <a:rPr lang="ko-KR" altLang="en-US" sz="1200" dirty="0"/>
                        <a:t>이슈 처리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예외 케이스 예방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적응 및 서비스 완전화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200" dirty="0"/>
                        <a:t>시험 결과서 및 </a:t>
                      </a:r>
                      <a:r>
                        <a:rPr lang="en-US" altLang="ko-KR" sz="1200" dirty="0"/>
                        <a:t>Jira </a:t>
                      </a:r>
                      <a:r>
                        <a:rPr lang="ko-KR" altLang="en-US" sz="1200" dirty="0"/>
                        <a:t>이슈 우선 반영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2115002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신규 기능 개발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DMB </a:t>
                      </a:r>
                      <a:r>
                        <a:rPr lang="ko-KR" altLang="en-US" sz="1200" dirty="0"/>
                        <a:t>마이너 기능 설계 변경 및 수정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200" dirty="0"/>
                        <a:t>M/Car </a:t>
                      </a:r>
                      <a:r>
                        <a:rPr lang="ko-KR" altLang="en-US" sz="1200" dirty="0"/>
                        <a:t>이후 </a:t>
                      </a: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기준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729234"/>
                  </a:ext>
                </a:extLst>
              </a:tr>
              <a:tr h="348909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MiniPlayer</a:t>
                      </a:r>
                      <a:endParaRPr lang="ko-KR" altLang="en-US" sz="1400" dirty="0"/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GUI</a:t>
                      </a:r>
                      <a:r>
                        <a:rPr lang="ko-KR" altLang="en-US" sz="1200" dirty="0"/>
                        <a:t> 및 다국어 개발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MiniPlayer </a:t>
                      </a:r>
                      <a:r>
                        <a:rPr lang="ko-KR" altLang="en-US" sz="1200" dirty="0"/>
                        <a:t>앱 </a:t>
                      </a:r>
                      <a:r>
                        <a:rPr lang="en-US" altLang="ko-KR" sz="1200" dirty="0"/>
                        <a:t>GUI</a:t>
                      </a:r>
                      <a:r>
                        <a:rPr lang="ko-KR" altLang="en-US" sz="1200" dirty="0"/>
                        <a:t> 변경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고객사 제공 </a:t>
                      </a:r>
                      <a:r>
                        <a:rPr lang="en-US" altLang="ko-KR" sz="1200" dirty="0"/>
                        <a:t>MMI/GUI </a:t>
                      </a:r>
                      <a:r>
                        <a:rPr lang="ko-KR" altLang="en-US" sz="1200" dirty="0"/>
                        <a:t>가이드 준수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8610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UI </a:t>
                      </a:r>
                      <a:r>
                        <a:rPr lang="ko-KR" altLang="en-US" sz="1200" dirty="0"/>
                        <a:t>및 </a:t>
                      </a:r>
                      <a:r>
                        <a:rPr lang="en-US" altLang="ko-KR" sz="1200" dirty="0"/>
                        <a:t>Logic </a:t>
                      </a:r>
                      <a:r>
                        <a:rPr lang="ko-KR" altLang="en-US" sz="1200" dirty="0"/>
                        <a:t>이슈 처리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예외 케이스 예방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적응 및 서비스 완전화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200" dirty="0"/>
                        <a:t>시험 결과서 및 </a:t>
                      </a:r>
                      <a:r>
                        <a:rPr lang="en-US" altLang="ko-KR" sz="1200" dirty="0"/>
                        <a:t>Jira </a:t>
                      </a:r>
                      <a:r>
                        <a:rPr lang="ko-KR" altLang="en-US" sz="1200" dirty="0"/>
                        <a:t>이슈 우선 반영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064880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신규 기능 개발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MiniPlayer </a:t>
                      </a:r>
                      <a:r>
                        <a:rPr lang="ko-KR" altLang="en-US" sz="1200" dirty="0"/>
                        <a:t>마이너 기능 설계 변경 및 수정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200" dirty="0"/>
                        <a:t>M/Car </a:t>
                      </a:r>
                      <a:r>
                        <a:rPr lang="ko-KR" altLang="en-US" sz="1200" dirty="0"/>
                        <a:t>이후 </a:t>
                      </a: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기준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626879"/>
                  </a:ext>
                </a:extLst>
              </a:tr>
              <a:tr h="348909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400" dirty="0" err="1"/>
                        <a:t>RearCareMod</a:t>
                      </a:r>
                      <a:endParaRPr lang="ko-KR" altLang="en-US" sz="1400" dirty="0"/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Logic </a:t>
                      </a:r>
                      <a:r>
                        <a:rPr lang="ko-KR" altLang="en-US" sz="1200" dirty="0"/>
                        <a:t>이슈 처리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예외 케이스 예방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적응 및 서비스 완전화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200" dirty="0"/>
                        <a:t>시험 결과서 및 </a:t>
                      </a:r>
                      <a:r>
                        <a:rPr lang="en-US" altLang="ko-KR" sz="1200" dirty="0"/>
                        <a:t>Jira </a:t>
                      </a:r>
                      <a:r>
                        <a:rPr lang="ko-KR" altLang="en-US" sz="1200" dirty="0"/>
                        <a:t>이슈 우선 반영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3176728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신규 기능 개발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 err="1"/>
                        <a:t>RearCare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마이너 기능 설계 변경 및 수정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200" dirty="0"/>
                        <a:t>M/Car </a:t>
                      </a:r>
                      <a:r>
                        <a:rPr lang="ko-KR" altLang="en-US" sz="1200" dirty="0"/>
                        <a:t>이후 </a:t>
                      </a: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기준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6355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4312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3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업무 절차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0ED32E4-564E-5021-AB3D-B03917FB2ECC}"/>
              </a:ext>
            </a:extLst>
          </p:cNvPr>
          <p:cNvGrpSpPr/>
          <p:nvPr/>
        </p:nvGrpSpPr>
        <p:grpSpPr>
          <a:xfrm>
            <a:off x="750804" y="732147"/>
            <a:ext cx="8157410" cy="5613621"/>
            <a:chOff x="796802" y="826933"/>
            <a:chExt cx="8157410" cy="5613621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4BA821B1-CDF9-B93F-DB9E-8845E68FD176}"/>
                </a:ext>
              </a:extLst>
            </p:cNvPr>
            <p:cNvSpPr/>
            <p:nvPr/>
          </p:nvSpPr>
          <p:spPr>
            <a:xfrm>
              <a:off x="796802" y="826933"/>
              <a:ext cx="8157410" cy="5613621"/>
            </a:xfrm>
            <a:prstGeom prst="roundRect">
              <a:avLst>
                <a:gd name="adj" fmla="val 167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BFD453D6-3777-3169-E7FA-4650660962DF}"/>
                </a:ext>
              </a:extLst>
            </p:cNvPr>
            <p:cNvCxnSpPr>
              <a:cxnSpLocks/>
              <a:stCxn id="65" idx="2"/>
              <a:endCxn id="75" idx="0"/>
            </p:cNvCxnSpPr>
            <p:nvPr/>
          </p:nvCxnSpPr>
          <p:spPr>
            <a:xfrm flipH="1">
              <a:off x="5829453" y="1805392"/>
              <a:ext cx="8585" cy="3802330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9D1DE98F-DA2F-C073-4E2C-414C712338C0}"/>
                </a:ext>
              </a:extLst>
            </p:cNvPr>
            <p:cNvCxnSpPr>
              <a:cxnSpLocks/>
              <a:stCxn id="69" idx="3"/>
              <a:endCxn id="70" idx="1"/>
            </p:cNvCxnSpPr>
            <p:nvPr/>
          </p:nvCxnSpPr>
          <p:spPr>
            <a:xfrm>
              <a:off x="2387935" y="1493946"/>
              <a:ext cx="757475" cy="0"/>
            </a:xfrm>
            <a:prstGeom prst="straightConnector1">
              <a:avLst/>
            </a:prstGeom>
            <a:ln w="12700"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E185C40-4339-3A96-1C14-A3AC133F2F61}"/>
                </a:ext>
              </a:extLst>
            </p:cNvPr>
            <p:cNvSpPr txBox="1"/>
            <p:nvPr/>
          </p:nvSpPr>
          <p:spPr>
            <a:xfrm>
              <a:off x="2484543" y="1215070"/>
              <a:ext cx="564258" cy="261610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ctr"/>
              <a:r>
                <a:rPr lang="ko-KR" altLang="en-US" sz="1100" b="1">
                  <a:solidFill>
                    <a:srgbClr val="C00000"/>
                  </a:solidFill>
                </a:rPr>
                <a:t>사양협의</a:t>
              </a:r>
              <a:endParaRPr lang="ko-KR" altLang="en-US" sz="1100" b="1" dirty="0">
                <a:solidFill>
                  <a:srgbClr val="C00000"/>
                </a:solidFill>
              </a:endParaRPr>
            </a:p>
          </p:txBody>
        </p:sp>
        <p:cxnSp>
          <p:nvCxnSpPr>
            <p:cNvPr id="42" name="직선 화살표 연결선 41">
              <a:extLst>
                <a:ext uri="{FF2B5EF4-FFF2-40B4-BE49-F238E27FC236}">
                  <a16:creationId xmlns:a16="http://schemas.microsoft.com/office/drawing/2014/main" id="{41062B7F-5788-9119-06D0-4E49D2F1A5E4}"/>
                </a:ext>
              </a:extLst>
            </p:cNvPr>
            <p:cNvCxnSpPr>
              <a:cxnSpLocks/>
              <a:stCxn id="70" idx="2"/>
              <a:endCxn id="47" idx="0"/>
            </p:cNvCxnSpPr>
            <p:nvPr/>
          </p:nvCxnSpPr>
          <p:spPr>
            <a:xfrm>
              <a:off x="3768302" y="1786143"/>
              <a:ext cx="1" cy="807623"/>
            </a:xfrm>
            <a:prstGeom prst="straightConnector1">
              <a:avLst/>
            </a:prstGeom>
            <a:ln w="12700"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B5DC822-061F-694F-155E-1CE85872693D}"/>
                </a:ext>
              </a:extLst>
            </p:cNvPr>
            <p:cNvSpPr txBox="1"/>
            <p:nvPr/>
          </p:nvSpPr>
          <p:spPr>
            <a:xfrm>
              <a:off x="3064060" y="1979517"/>
              <a:ext cx="1401026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rIns="0" rtlCol="0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rgbClr val="C00000"/>
                  </a:solidFill>
                </a:rPr>
                <a:t>요구사항</a:t>
              </a:r>
              <a:r>
                <a:rPr lang="en-US" altLang="ko-KR" sz="1100" b="1" dirty="0">
                  <a:solidFill>
                    <a:srgbClr val="C00000"/>
                  </a:solidFill>
                </a:rPr>
                <a:t>(New</a:t>
              </a:r>
              <a:r>
                <a:rPr lang="ko-KR" altLang="en-US" sz="1100" b="1" dirty="0">
                  <a:solidFill>
                    <a:srgbClr val="C00000"/>
                  </a:solidFill>
                </a:rPr>
                <a:t> </a:t>
              </a:r>
              <a:r>
                <a:rPr lang="en-US" altLang="ko-KR" sz="1100" b="1" dirty="0">
                  <a:solidFill>
                    <a:srgbClr val="C00000"/>
                  </a:solidFill>
                </a:rPr>
                <a:t>Feature)</a:t>
              </a:r>
            </a:p>
            <a:p>
              <a:pPr algn="ctr"/>
              <a:r>
                <a:rPr lang="en-US" altLang="ko-KR" sz="1100" b="1" dirty="0">
                  <a:solidFill>
                    <a:srgbClr val="C00000"/>
                  </a:solidFill>
                </a:rPr>
                <a:t>&amp; </a:t>
              </a:r>
              <a:r>
                <a:rPr lang="ko-KR" altLang="en-US" sz="1100" b="1" dirty="0">
                  <a:solidFill>
                    <a:srgbClr val="C00000"/>
                  </a:solidFill>
                </a:rPr>
                <a:t>상황 공유</a:t>
              </a:r>
            </a:p>
          </p:txBody>
        </p:sp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775450FF-C4F6-09D7-353B-424341FA2B07}"/>
                </a:ext>
              </a:extLst>
            </p:cNvPr>
            <p:cNvSpPr/>
            <p:nvPr/>
          </p:nvSpPr>
          <p:spPr>
            <a:xfrm>
              <a:off x="3145411" y="2593766"/>
              <a:ext cx="1245783" cy="622892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설계 </a:t>
              </a:r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&amp; </a:t>
              </a:r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관리집단</a:t>
              </a:r>
              <a:endParaRPr lang="en-US" altLang="ko-KR" sz="1200" b="1" dirty="0">
                <a:solidFill>
                  <a:schemeClr val="tx1"/>
                </a:solidFill>
                <a:latin typeface="+mn-ea"/>
              </a:endParaRPr>
            </a:p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(PM &amp; PL)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EE7A4CF7-9856-904D-3144-8A0FC1932B80}"/>
                </a:ext>
              </a:extLst>
            </p:cNvPr>
            <p:cNvSpPr/>
            <p:nvPr/>
          </p:nvSpPr>
          <p:spPr>
            <a:xfrm>
              <a:off x="5215147" y="3235911"/>
              <a:ext cx="1245783" cy="360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유럽 </a:t>
              </a:r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Radio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9" name="사각형: 둥근 모서리 48">
              <a:extLst>
                <a:ext uri="{FF2B5EF4-FFF2-40B4-BE49-F238E27FC236}">
                  <a16:creationId xmlns:a16="http://schemas.microsoft.com/office/drawing/2014/main" id="{F3FD90E8-7480-AFD8-BEA9-CD7E07558748}"/>
                </a:ext>
              </a:extLst>
            </p:cNvPr>
            <p:cNvSpPr/>
            <p:nvPr/>
          </p:nvSpPr>
          <p:spPr>
            <a:xfrm>
              <a:off x="5215146" y="4026515"/>
              <a:ext cx="1245783" cy="360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DMB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854FA62D-FCAD-509B-45DE-65F33E9191E5}"/>
                </a:ext>
              </a:extLst>
            </p:cNvPr>
            <p:cNvSpPr/>
            <p:nvPr/>
          </p:nvSpPr>
          <p:spPr>
            <a:xfrm>
              <a:off x="5215147" y="2445307"/>
              <a:ext cx="1245783" cy="360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내수 </a:t>
              </a:r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Radio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51" name="연결선: 꺾임 50">
              <a:extLst>
                <a:ext uri="{FF2B5EF4-FFF2-40B4-BE49-F238E27FC236}">
                  <a16:creationId xmlns:a16="http://schemas.microsoft.com/office/drawing/2014/main" id="{AEF3A7C6-593F-D1F8-77D5-8BA3C68FC592}"/>
                </a:ext>
              </a:extLst>
            </p:cNvPr>
            <p:cNvCxnSpPr>
              <a:cxnSpLocks/>
              <a:stCxn id="47" idx="3"/>
              <a:endCxn id="50" idx="1"/>
            </p:cNvCxnSpPr>
            <p:nvPr/>
          </p:nvCxnSpPr>
          <p:spPr>
            <a:xfrm flipV="1">
              <a:off x="4391194" y="2625307"/>
              <a:ext cx="823953" cy="279905"/>
            </a:xfrm>
            <a:prstGeom prst="bentConnector3">
              <a:avLst>
                <a:gd name="adj1" fmla="val 50000"/>
              </a:avLst>
            </a:prstGeom>
            <a:ln w="1270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A8ABC365-319D-1FDA-E43A-395574E16A71}"/>
                </a:ext>
              </a:extLst>
            </p:cNvPr>
            <p:cNvCxnSpPr>
              <a:cxnSpLocks/>
              <a:endCxn id="47" idx="1"/>
            </p:cNvCxnSpPr>
            <p:nvPr/>
          </p:nvCxnSpPr>
          <p:spPr>
            <a:xfrm>
              <a:off x="2406253" y="2905212"/>
              <a:ext cx="739158" cy="0"/>
            </a:xfrm>
            <a:prstGeom prst="straightConnector1">
              <a:avLst/>
            </a:prstGeom>
            <a:ln w="12700"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연결선: 꺾임 52">
              <a:extLst>
                <a:ext uri="{FF2B5EF4-FFF2-40B4-BE49-F238E27FC236}">
                  <a16:creationId xmlns:a16="http://schemas.microsoft.com/office/drawing/2014/main" id="{711A45A8-DFB3-CCC1-A7A1-D3E4F0060D4B}"/>
                </a:ext>
              </a:extLst>
            </p:cNvPr>
            <p:cNvCxnSpPr>
              <a:cxnSpLocks/>
              <a:stCxn id="47" idx="3"/>
              <a:endCxn id="48" idx="1"/>
            </p:cNvCxnSpPr>
            <p:nvPr/>
          </p:nvCxnSpPr>
          <p:spPr>
            <a:xfrm>
              <a:off x="4391194" y="2905212"/>
              <a:ext cx="823953" cy="510699"/>
            </a:xfrm>
            <a:prstGeom prst="bentConnector3">
              <a:avLst/>
            </a:prstGeom>
            <a:ln w="1270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연결선: 꺾임 53">
              <a:extLst>
                <a:ext uri="{FF2B5EF4-FFF2-40B4-BE49-F238E27FC236}">
                  <a16:creationId xmlns:a16="http://schemas.microsoft.com/office/drawing/2014/main" id="{0D3F2C27-38DE-1151-B422-CBB7D9E04277}"/>
                </a:ext>
              </a:extLst>
            </p:cNvPr>
            <p:cNvCxnSpPr>
              <a:cxnSpLocks/>
              <a:stCxn id="47" idx="3"/>
              <a:endCxn id="49" idx="1"/>
            </p:cNvCxnSpPr>
            <p:nvPr/>
          </p:nvCxnSpPr>
          <p:spPr>
            <a:xfrm>
              <a:off x="4391194" y="2905212"/>
              <a:ext cx="823952" cy="1301303"/>
            </a:xfrm>
            <a:prstGeom prst="bentConnector3">
              <a:avLst>
                <a:gd name="adj1" fmla="val 50000"/>
              </a:avLst>
            </a:prstGeom>
            <a:ln w="1270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714B60AF-7182-F8BD-894F-9C02D50A7591}"/>
                </a:ext>
              </a:extLst>
            </p:cNvPr>
            <p:cNvSpPr/>
            <p:nvPr/>
          </p:nvSpPr>
          <p:spPr>
            <a:xfrm>
              <a:off x="7288612" y="3681542"/>
              <a:ext cx="1245783" cy="622892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사내 </a:t>
              </a:r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QC</a:t>
              </a:r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 팀</a:t>
              </a:r>
            </a:p>
          </p:txBody>
        </p:sp>
        <p:cxnSp>
          <p:nvCxnSpPr>
            <p:cNvPr id="56" name="연결선: 꺾임 55">
              <a:extLst>
                <a:ext uri="{FF2B5EF4-FFF2-40B4-BE49-F238E27FC236}">
                  <a16:creationId xmlns:a16="http://schemas.microsoft.com/office/drawing/2014/main" id="{31A38C77-C2B7-3860-EDA1-FE36A55323C9}"/>
                </a:ext>
              </a:extLst>
            </p:cNvPr>
            <p:cNvCxnSpPr>
              <a:cxnSpLocks/>
              <a:stCxn id="50" idx="3"/>
              <a:endCxn id="55" idx="1"/>
            </p:cNvCxnSpPr>
            <p:nvPr/>
          </p:nvCxnSpPr>
          <p:spPr>
            <a:xfrm>
              <a:off x="6460930" y="2625307"/>
              <a:ext cx="827682" cy="1367681"/>
            </a:xfrm>
            <a:prstGeom prst="bentConnector3">
              <a:avLst>
                <a:gd name="adj1" fmla="val 50000"/>
              </a:avLst>
            </a:prstGeom>
            <a:ln w="12700"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연결선: 꺾임 56">
              <a:extLst>
                <a:ext uri="{FF2B5EF4-FFF2-40B4-BE49-F238E27FC236}">
                  <a16:creationId xmlns:a16="http://schemas.microsoft.com/office/drawing/2014/main" id="{7A01993F-B5CC-9820-5C76-F5BCBE7DD037}"/>
                </a:ext>
              </a:extLst>
            </p:cNvPr>
            <p:cNvCxnSpPr>
              <a:cxnSpLocks/>
              <a:stCxn id="48" idx="3"/>
              <a:endCxn id="55" idx="1"/>
            </p:cNvCxnSpPr>
            <p:nvPr/>
          </p:nvCxnSpPr>
          <p:spPr>
            <a:xfrm>
              <a:off x="6460930" y="3415911"/>
              <a:ext cx="827682" cy="577077"/>
            </a:xfrm>
            <a:prstGeom prst="bentConnector3">
              <a:avLst>
                <a:gd name="adj1" fmla="val 50000"/>
              </a:avLst>
            </a:prstGeom>
            <a:ln w="12700"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연결선: 꺾임 57">
              <a:extLst>
                <a:ext uri="{FF2B5EF4-FFF2-40B4-BE49-F238E27FC236}">
                  <a16:creationId xmlns:a16="http://schemas.microsoft.com/office/drawing/2014/main" id="{78E68B67-0434-2542-EC91-461DCB801469}"/>
                </a:ext>
              </a:extLst>
            </p:cNvPr>
            <p:cNvCxnSpPr>
              <a:cxnSpLocks/>
              <a:stCxn id="55" idx="1"/>
              <a:endCxn id="49" idx="3"/>
            </p:cNvCxnSpPr>
            <p:nvPr/>
          </p:nvCxnSpPr>
          <p:spPr>
            <a:xfrm rot="10800000" flipV="1">
              <a:off x="6460930" y="3992987"/>
              <a:ext cx="827683" cy="213527"/>
            </a:xfrm>
            <a:prstGeom prst="bentConnector3">
              <a:avLst>
                <a:gd name="adj1" fmla="val 50000"/>
              </a:avLst>
            </a:prstGeom>
            <a:ln w="12700"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연결선: 꺾임 58">
              <a:extLst>
                <a:ext uri="{FF2B5EF4-FFF2-40B4-BE49-F238E27FC236}">
                  <a16:creationId xmlns:a16="http://schemas.microsoft.com/office/drawing/2014/main" id="{802EE835-1D18-C6C0-591A-35305CA4EC62}"/>
                </a:ext>
              </a:extLst>
            </p:cNvPr>
            <p:cNvCxnSpPr>
              <a:cxnSpLocks/>
              <a:stCxn id="55" idx="2"/>
              <a:endCxn id="47" idx="2"/>
            </p:cNvCxnSpPr>
            <p:nvPr/>
          </p:nvCxnSpPr>
          <p:spPr>
            <a:xfrm rot="5400000" flipH="1">
              <a:off x="5296016" y="1688946"/>
              <a:ext cx="1087776" cy="4143201"/>
            </a:xfrm>
            <a:prstGeom prst="bentConnector3">
              <a:avLst>
                <a:gd name="adj1" fmla="val -170417"/>
              </a:avLst>
            </a:prstGeom>
            <a:ln w="1270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6429DCEE-7B03-F4DA-E9B4-EC93D0F9E0B4}"/>
                </a:ext>
              </a:extLst>
            </p:cNvPr>
            <p:cNvSpPr/>
            <p:nvPr/>
          </p:nvSpPr>
          <p:spPr>
            <a:xfrm>
              <a:off x="7288612" y="1182500"/>
              <a:ext cx="1245783" cy="6228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모비스</a:t>
              </a:r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 QA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61" name="직선 화살표 연결선 60">
              <a:extLst>
                <a:ext uri="{FF2B5EF4-FFF2-40B4-BE49-F238E27FC236}">
                  <a16:creationId xmlns:a16="http://schemas.microsoft.com/office/drawing/2014/main" id="{12A058A1-F407-95C4-9755-5AC3E84C3CED}"/>
                </a:ext>
              </a:extLst>
            </p:cNvPr>
            <p:cNvCxnSpPr>
              <a:cxnSpLocks/>
              <a:stCxn id="55" idx="0"/>
              <a:endCxn id="60" idx="2"/>
            </p:cNvCxnSpPr>
            <p:nvPr/>
          </p:nvCxnSpPr>
          <p:spPr>
            <a:xfrm flipV="1">
              <a:off x="7911504" y="1805392"/>
              <a:ext cx="0" cy="1876150"/>
            </a:xfrm>
            <a:prstGeom prst="straightConnector1">
              <a:avLst/>
            </a:prstGeom>
            <a:ln w="1270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381E488-6D35-823A-E3B0-F70B575A4072}"/>
                </a:ext>
              </a:extLst>
            </p:cNvPr>
            <p:cNvSpPr txBox="1"/>
            <p:nvPr/>
          </p:nvSpPr>
          <p:spPr>
            <a:xfrm>
              <a:off x="7456252" y="2689874"/>
              <a:ext cx="91050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rIns="0" rtlCol="0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rgbClr val="C00000"/>
                  </a:solidFill>
                </a:rPr>
                <a:t>배포 버전 전달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04C16C26-60B4-0CA0-A3AF-B85BAF4D4FF1}"/>
                </a:ext>
              </a:extLst>
            </p:cNvPr>
            <p:cNvSpPr txBox="1"/>
            <p:nvPr/>
          </p:nvSpPr>
          <p:spPr>
            <a:xfrm>
              <a:off x="3365273" y="4088990"/>
              <a:ext cx="727763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rIns="0" rtlCol="0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rgbClr val="C00000"/>
                  </a:solidFill>
                </a:rPr>
                <a:t>이슈 분석</a:t>
              </a:r>
              <a:endParaRPr lang="en-US" altLang="ko-KR" sz="1100" b="1" dirty="0">
                <a:solidFill>
                  <a:srgbClr val="C00000"/>
                </a:solidFill>
              </a:endParaRPr>
            </a:p>
            <a:p>
              <a:pPr algn="ctr"/>
              <a:r>
                <a:rPr lang="en-US" altLang="ko-KR" sz="1100" b="1" dirty="0">
                  <a:solidFill>
                    <a:srgbClr val="C00000"/>
                  </a:solidFill>
                </a:rPr>
                <a:t>&amp; </a:t>
              </a:r>
              <a:r>
                <a:rPr lang="ko-KR" altLang="en-US" sz="1100" b="1" dirty="0">
                  <a:solidFill>
                    <a:srgbClr val="C00000"/>
                  </a:solidFill>
                </a:rPr>
                <a:t>업무 등록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29C18FA-4730-79B7-4D37-FF305404D9F9}"/>
                </a:ext>
              </a:extLst>
            </p:cNvPr>
            <p:cNvSpPr txBox="1"/>
            <p:nvPr/>
          </p:nvSpPr>
          <p:spPr>
            <a:xfrm>
              <a:off x="7247525" y="4676485"/>
              <a:ext cx="134011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rIns="0" rtlCol="0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rgbClr val="C00000"/>
                  </a:solidFill>
                </a:rPr>
                <a:t>이슈 보고</a:t>
              </a:r>
              <a:endParaRPr lang="en-US" altLang="ko-KR" sz="1100" b="1" dirty="0">
                <a:solidFill>
                  <a:srgbClr val="C00000"/>
                </a:solidFill>
              </a:endParaRPr>
            </a:p>
            <a:p>
              <a:pPr algn="ctr"/>
              <a:r>
                <a:rPr lang="en-US" altLang="ko-KR" sz="1100" b="1" dirty="0">
                  <a:solidFill>
                    <a:srgbClr val="C00000"/>
                  </a:solidFill>
                </a:rPr>
                <a:t>(Defect, Improvement)</a:t>
              </a:r>
              <a:endParaRPr lang="ko-KR" altLang="en-US" sz="1100" b="1" dirty="0">
                <a:solidFill>
                  <a:srgbClr val="C00000"/>
                </a:solidFill>
              </a:endParaRPr>
            </a:p>
          </p:txBody>
        </p:sp>
        <p:sp>
          <p:nvSpPr>
            <p:cNvPr id="65" name="사각형: 둥근 모서리 64">
              <a:extLst>
                <a:ext uri="{FF2B5EF4-FFF2-40B4-BE49-F238E27FC236}">
                  <a16:creationId xmlns:a16="http://schemas.microsoft.com/office/drawing/2014/main" id="{951E0D1B-6824-9567-D25F-D8D2B3E3B19C}"/>
                </a:ext>
              </a:extLst>
            </p:cNvPr>
            <p:cNvSpPr/>
            <p:nvPr/>
          </p:nvSpPr>
          <p:spPr>
            <a:xfrm>
              <a:off x="5215146" y="1182500"/>
              <a:ext cx="1245783" cy="6228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b="1" dirty="0" err="1">
                  <a:solidFill>
                    <a:schemeClr val="tx1"/>
                  </a:solidFill>
                  <a:latin typeface="+mn-ea"/>
                </a:rPr>
                <a:t>인포방송</a:t>
              </a:r>
              <a:endParaRPr lang="en-US" altLang="ko-KR" sz="1200" b="1" dirty="0">
                <a:solidFill>
                  <a:schemeClr val="tx1"/>
                </a:solidFill>
                <a:latin typeface="+mn-ea"/>
              </a:endParaRPr>
            </a:p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/</a:t>
              </a:r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미디어 </a:t>
              </a:r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APP</a:t>
              </a:r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팀</a:t>
              </a:r>
            </a:p>
          </p:txBody>
        </p:sp>
        <p:cxnSp>
          <p:nvCxnSpPr>
            <p:cNvPr id="66" name="직선 화살표 연결선 65">
              <a:extLst>
                <a:ext uri="{FF2B5EF4-FFF2-40B4-BE49-F238E27FC236}">
                  <a16:creationId xmlns:a16="http://schemas.microsoft.com/office/drawing/2014/main" id="{DA9D2C75-98AA-DC04-2FD6-8D66FAF4EE05}"/>
                </a:ext>
              </a:extLst>
            </p:cNvPr>
            <p:cNvCxnSpPr>
              <a:cxnSpLocks/>
              <a:stCxn id="70" idx="3"/>
              <a:endCxn id="65" idx="1"/>
            </p:cNvCxnSpPr>
            <p:nvPr/>
          </p:nvCxnSpPr>
          <p:spPr>
            <a:xfrm>
              <a:off x="4391194" y="1493946"/>
              <a:ext cx="823952" cy="0"/>
            </a:xfrm>
            <a:prstGeom prst="straightConnector1">
              <a:avLst/>
            </a:prstGeom>
            <a:ln w="12700"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화살표 연결선 66">
              <a:extLst>
                <a:ext uri="{FF2B5EF4-FFF2-40B4-BE49-F238E27FC236}">
                  <a16:creationId xmlns:a16="http://schemas.microsoft.com/office/drawing/2014/main" id="{C2099E86-FBDB-B4A9-EA01-CF4F65BB5D13}"/>
                </a:ext>
              </a:extLst>
            </p:cNvPr>
            <p:cNvCxnSpPr>
              <a:cxnSpLocks/>
              <a:stCxn id="65" idx="3"/>
              <a:endCxn id="60" idx="1"/>
            </p:cNvCxnSpPr>
            <p:nvPr/>
          </p:nvCxnSpPr>
          <p:spPr>
            <a:xfrm>
              <a:off x="6460929" y="1493946"/>
              <a:ext cx="827683" cy="0"/>
            </a:xfrm>
            <a:prstGeom prst="straightConnector1">
              <a:avLst/>
            </a:prstGeom>
            <a:ln w="12700"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69B1D01D-8FDE-4F43-C9EC-35A23F378F74}"/>
                </a:ext>
              </a:extLst>
            </p:cNvPr>
            <p:cNvSpPr txBox="1"/>
            <p:nvPr/>
          </p:nvSpPr>
          <p:spPr>
            <a:xfrm>
              <a:off x="5539879" y="1955163"/>
              <a:ext cx="596318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rIns="0" rtlCol="0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연동 수행</a:t>
              </a:r>
            </a:p>
          </p:txBody>
        </p:sp>
        <p:pic>
          <p:nvPicPr>
            <p:cNvPr id="69" name="Picture 2" descr="회장님차 납시오... 미국의 현대기아 그리고 제네시스 - 카가이">
              <a:extLst>
                <a:ext uri="{FF2B5EF4-FFF2-40B4-BE49-F238E27FC236}">
                  <a16:creationId xmlns:a16="http://schemas.microsoft.com/office/drawing/2014/main" id="{D180B286-7F81-597D-5AFF-A904B4FB02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2971" y="1099759"/>
              <a:ext cx="1094964" cy="788374"/>
            </a:xfrm>
            <a:prstGeom prst="round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0" name="Picture 4" descr="현대모비스 로고">
              <a:extLst>
                <a:ext uri="{FF2B5EF4-FFF2-40B4-BE49-F238E27FC236}">
                  <a16:creationId xmlns:a16="http://schemas.microsoft.com/office/drawing/2014/main" id="{A59AC653-DE7A-E044-C597-3CD54A22C0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45410" y="1201749"/>
              <a:ext cx="1245784" cy="584394"/>
            </a:xfrm>
            <a:prstGeom prst="round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1" name="그림 70" descr="텍스트, 식탁용기구, 플레이트, 접시이(가) 표시된 사진&#10;&#10;자동 생성된 설명">
              <a:extLst>
                <a:ext uri="{FF2B5EF4-FFF2-40B4-BE49-F238E27FC236}">
                  <a16:creationId xmlns:a16="http://schemas.microsoft.com/office/drawing/2014/main" id="{903873E4-1443-1F42-57A7-AF65CAA57E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2514"/>
            <a:stretch/>
          </p:blipFill>
          <p:spPr>
            <a:xfrm>
              <a:off x="1071946" y="2631972"/>
              <a:ext cx="1443790" cy="4065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</p:pic>
        <p:sp>
          <p:nvSpPr>
            <p:cNvPr id="72" name="사각형: 둥근 모서리 71">
              <a:extLst>
                <a:ext uri="{FF2B5EF4-FFF2-40B4-BE49-F238E27FC236}">
                  <a16:creationId xmlns:a16="http://schemas.microsoft.com/office/drawing/2014/main" id="{6198E6B1-C67F-5708-5685-5B77D9AC73C2}"/>
                </a:ext>
              </a:extLst>
            </p:cNvPr>
            <p:cNvSpPr/>
            <p:nvPr/>
          </p:nvSpPr>
          <p:spPr>
            <a:xfrm>
              <a:off x="5210854" y="4817119"/>
              <a:ext cx="1245783" cy="360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MiniPlayer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73" name="연결선: 꺾임 72">
              <a:extLst>
                <a:ext uri="{FF2B5EF4-FFF2-40B4-BE49-F238E27FC236}">
                  <a16:creationId xmlns:a16="http://schemas.microsoft.com/office/drawing/2014/main" id="{85EEE390-0307-D096-D576-FE71F7AD9C2A}"/>
                </a:ext>
              </a:extLst>
            </p:cNvPr>
            <p:cNvCxnSpPr>
              <a:cxnSpLocks/>
              <a:stCxn id="47" idx="3"/>
              <a:endCxn id="72" idx="1"/>
            </p:cNvCxnSpPr>
            <p:nvPr/>
          </p:nvCxnSpPr>
          <p:spPr>
            <a:xfrm>
              <a:off x="4391194" y="2905212"/>
              <a:ext cx="819660" cy="2091907"/>
            </a:xfrm>
            <a:prstGeom prst="bentConnector3">
              <a:avLst>
                <a:gd name="adj1" fmla="val 50000"/>
              </a:avLst>
            </a:prstGeom>
            <a:ln w="1270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연결선: 꺾임 73">
              <a:extLst>
                <a:ext uri="{FF2B5EF4-FFF2-40B4-BE49-F238E27FC236}">
                  <a16:creationId xmlns:a16="http://schemas.microsoft.com/office/drawing/2014/main" id="{E5870420-0A5E-7F36-5007-2296D568ED8B}"/>
                </a:ext>
              </a:extLst>
            </p:cNvPr>
            <p:cNvCxnSpPr>
              <a:cxnSpLocks/>
              <a:stCxn id="72" idx="3"/>
              <a:endCxn id="55" idx="1"/>
            </p:cNvCxnSpPr>
            <p:nvPr/>
          </p:nvCxnSpPr>
          <p:spPr>
            <a:xfrm flipV="1">
              <a:off x="6456637" y="3992988"/>
              <a:ext cx="831975" cy="1004131"/>
            </a:xfrm>
            <a:prstGeom prst="bentConnector3">
              <a:avLst>
                <a:gd name="adj1" fmla="val 50000"/>
              </a:avLst>
            </a:prstGeom>
            <a:ln w="12700"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사각형: 둥근 모서리 74">
              <a:extLst>
                <a:ext uri="{FF2B5EF4-FFF2-40B4-BE49-F238E27FC236}">
                  <a16:creationId xmlns:a16="http://schemas.microsoft.com/office/drawing/2014/main" id="{CA336638-1E26-9553-9830-91A55234DD5C}"/>
                </a:ext>
              </a:extLst>
            </p:cNvPr>
            <p:cNvSpPr/>
            <p:nvPr/>
          </p:nvSpPr>
          <p:spPr>
            <a:xfrm>
              <a:off x="5206561" y="5607722"/>
              <a:ext cx="1245783" cy="360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RearCareMode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76" name="연결선: 꺾임 75">
              <a:extLst>
                <a:ext uri="{FF2B5EF4-FFF2-40B4-BE49-F238E27FC236}">
                  <a16:creationId xmlns:a16="http://schemas.microsoft.com/office/drawing/2014/main" id="{3D3FF9B8-E07B-8A93-C6B1-AA74D9878CEA}"/>
                </a:ext>
              </a:extLst>
            </p:cNvPr>
            <p:cNvCxnSpPr>
              <a:cxnSpLocks/>
              <a:stCxn id="47" idx="3"/>
              <a:endCxn id="75" idx="1"/>
            </p:cNvCxnSpPr>
            <p:nvPr/>
          </p:nvCxnSpPr>
          <p:spPr>
            <a:xfrm>
              <a:off x="4391194" y="2905212"/>
              <a:ext cx="815367" cy="2882510"/>
            </a:xfrm>
            <a:prstGeom prst="bentConnector3">
              <a:avLst>
                <a:gd name="adj1" fmla="val 50000"/>
              </a:avLst>
            </a:prstGeom>
            <a:ln w="1270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연결선: 꺾임 76">
              <a:extLst>
                <a:ext uri="{FF2B5EF4-FFF2-40B4-BE49-F238E27FC236}">
                  <a16:creationId xmlns:a16="http://schemas.microsoft.com/office/drawing/2014/main" id="{56AFC327-A274-5F96-0C8B-347549620D7D}"/>
                </a:ext>
              </a:extLst>
            </p:cNvPr>
            <p:cNvCxnSpPr>
              <a:cxnSpLocks/>
              <a:stCxn id="55" idx="1"/>
              <a:endCxn id="75" idx="3"/>
            </p:cNvCxnSpPr>
            <p:nvPr/>
          </p:nvCxnSpPr>
          <p:spPr>
            <a:xfrm rot="10800000" flipV="1">
              <a:off x="6452344" y="3992988"/>
              <a:ext cx="836268" cy="1794734"/>
            </a:xfrm>
            <a:prstGeom prst="bentConnector3">
              <a:avLst>
                <a:gd name="adj1" fmla="val 50000"/>
              </a:avLst>
            </a:prstGeom>
            <a:ln w="12700"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2AAECC8-CAEF-53E4-FBDE-7920A23AB203}"/>
                </a:ext>
              </a:extLst>
            </p:cNvPr>
            <p:cNvSpPr txBox="1"/>
            <p:nvPr/>
          </p:nvSpPr>
          <p:spPr>
            <a:xfrm>
              <a:off x="6579593" y="3649072"/>
              <a:ext cx="622812" cy="1692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rgbClr val="C00000"/>
                  </a:solidFill>
                </a:rPr>
                <a:t>이슈 공유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50DF72F4-9846-622C-B3BC-62213483CB3E}"/>
                </a:ext>
              </a:extLst>
            </p:cNvPr>
            <p:cNvSpPr txBox="1"/>
            <p:nvPr/>
          </p:nvSpPr>
          <p:spPr>
            <a:xfrm>
              <a:off x="4329118" y="3595911"/>
              <a:ext cx="727763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rgbClr val="C00000"/>
                  </a:solidFill>
                </a:rPr>
                <a:t>업무</a:t>
              </a:r>
              <a:r>
                <a:rPr lang="en-US" altLang="ko-KR" sz="1100" b="1" dirty="0">
                  <a:solidFill>
                    <a:srgbClr val="C00000"/>
                  </a:solidFill>
                </a:rPr>
                <a:t>(Task)</a:t>
              </a:r>
            </a:p>
            <a:p>
              <a:pPr algn="ctr"/>
              <a:r>
                <a:rPr lang="ko-KR" altLang="en-US" sz="1100" b="1" dirty="0">
                  <a:solidFill>
                    <a:srgbClr val="C00000"/>
                  </a:solidFill>
                </a:rPr>
                <a:t>분석 </a:t>
              </a:r>
              <a:r>
                <a:rPr lang="en-US" altLang="ko-KR" sz="1100" b="1" dirty="0">
                  <a:solidFill>
                    <a:srgbClr val="C00000"/>
                  </a:solidFill>
                </a:rPr>
                <a:t>&amp; </a:t>
              </a:r>
              <a:r>
                <a:rPr lang="ko-KR" altLang="en-US" sz="1100" b="1" dirty="0">
                  <a:solidFill>
                    <a:srgbClr val="C00000"/>
                  </a:solidFill>
                </a:rPr>
                <a:t>분배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20145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0" dirty="0">
                <a:latin typeface="+mn-ea"/>
                <a:ea typeface="+mn-ea"/>
              </a:rPr>
              <a:t>4. </a:t>
            </a:r>
            <a:r>
              <a:rPr lang="ko-KR" altLang="en-US" sz="2400" b="0" dirty="0">
                <a:latin typeface="+mn-ea"/>
                <a:ea typeface="+mn-ea"/>
              </a:rPr>
              <a:t>월별 유지 보수 현황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A46649F4-32F0-FAA7-7384-F7E7A7D8B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532365"/>
              </p:ext>
            </p:extLst>
          </p:nvPr>
        </p:nvGraphicFramePr>
        <p:xfrm>
          <a:off x="764376" y="1250635"/>
          <a:ext cx="7936804" cy="473199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434074">
                  <a:extLst>
                    <a:ext uri="{9D8B030D-6E8A-4147-A177-3AD203B41FA5}">
                      <a16:colId xmlns:a16="http://schemas.microsoft.com/office/drawing/2014/main" val="321113157"/>
                    </a:ext>
                  </a:extLst>
                </a:gridCol>
                <a:gridCol w="10684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15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2362">
                  <a:extLst>
                    <a:ext uri="{9D8B030D-6E8A-4147-A177-3AD203B41FA5}">
                      <a16:colId xmlns:a16="http://schemas.microsoft.com/office/drawing/2014/main" val="1938543412"/>
                    </a:ext>
                  </a:extLst>
                </a:gridCol>
                <a:gridCol w="10778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5017">
                  <a:extLst>
                    <a:ext uri="{9D8B030D-6E8A-4147-A177-3AD203B41FA5}">
                      <a16:colId xmlns:a16="http://schemas.microsoft.com/office/drawing/2014/main" val="1033553221"/>
                    </a:ext>
                  </a:extLst>
                </a:gridCol>
                <a:gridCol w="1127538">
                  <a:extLst>
                    <a:ext uri="{9D8B030D-6E8A-4147-A177-3AD203B41FA5}">
                      <a16:colId xmlns:a16="http://schemas.microsoft.com/office/drawing/2014/main" val="2236798028"/>
                    </a:ext>
                  </a:extLst>
                </a:gridCol>
              </a:tblGrid>
              <a:tr h="300117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투입 개월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26.01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26.02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26.03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26.04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26.05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26.06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9658"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-16891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11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9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DMB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-16891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-16891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847510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RearCare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-16891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8677124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합계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16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-16891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12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19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28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19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66162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C83479C-86B4-F79E-0FCB-271999CBB8AB}"/>
              </a:ext>
            </a:extLst>
          </p:cNvPr>
          <p:cNvSpPr txBox="1"/>
          <p:nvPr/>
        </p:nvSpPr>
        <p:spPr>
          <a:xfrm>
            <a:off x="408372" y="669059"/>
            <a:ext cx="3918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/>
              <a:t>월별 이슈 건수</a:t>
            </a:r>
          </a:p>
        </p:txBody>
      </p:sp>
    </p:spTree>
    <p:extLst>
      <p:ext uri="{BB962C8B-B14F-4D97-AF65-F5344CB8AC3E}">
        <p14:creationId xmlns:p14="http://schemas.microsoft.com/office/powerpoint/2010/main" val="2200716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DEA13-F325-369A-B520-5769AC30C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69D21-D206-EEFC-AC06-E8D857675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5. </a:t>
            </a:r>
            <a:r>
              <a:rPr lang="ko-KR" altLang="en-US" dirty="0">
                <a:latin typeface="+mn-ea"/>
              </a:rPr>
              <a:t>유지보수 요청사항 처리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D93ECDA-0FD2-1024-656A-1092E58AF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B32606C4-95DD-F378-687D-3DD6B27B09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8048969"/>
              </p:ext>
            </p:extLst>
          </p:nvPr>
        </p:nvGraphicFramePr>
        <p:xfrm>
          <a:off x="436387" y="698424"/>
          <a:ext cx="8769985" cy="33432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8769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[REQ_01] UI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변경건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 스크린샷 첨부</a:t>
                      </a:r>
                      <a:endParaRPr lang="ko-KR" altLang="en-US" sz="1400" b="1" i="0" strike="noStrike" kern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204548A-D6D8-4783-68C2-AE075EE1B6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8437127"/>
              </p:ext>
            </p:extLst>
          </p:nvPr>
        </p:nvGraphicFramePr>
        <p:xfrm>
          <a:off x="436386" y="1266645"/>
          <a:ext cx="8769985" cy="4572783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749583956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6859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200" b="1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내 용</a:t>
                      </a:r>
                      <a:endParaRPr lang="ko-KR" altLang="en-US" sz="1200" b="1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i="0" strike="noStrike" kern="120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200" b="1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비 고</a:t>
                      </a:r>
                      <a:endParaRPr lang="ko-KR" altLang="en-US" sz="1200" b="1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5496">
                <a:tc rowSpan="2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UI 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 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sz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MPI-98619</a:t>
                      </a:r>
                      <a:r>
                        <a:rPr lang="en-US" altLang="ko-KR" sz="1200" dirty="0">
                          <a:solidFill>
                            <a:srgbClr val="0052CC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ko-KR" sz="1200" dirty="0" err="1">
                          <a:effectLst/>
                          <a:latin typeface="+mn-ea"/>
                          <a:ea typeface="+mn-ea"/>
                        </a:rPr>
                        <a:t>Radio</a:t>
                      </a:r>
                      <a:r>
                        <a:rPr lang="ko-KR" altLang="ko-KR" sz="1200" dirty="0">
                          <a:effectLst/>
                          <a:latin typeface="+mn-ea"/>
                          <a:ea typeface="+mn-ea"/>
                        </a:rPr>
                        <a:t> DMB </a:t>
                      </a:r>
                      <a:r>
                        <a:rPr lang="ko-KR" altLang="ko-KR" sz="1200" dirty="0" err="1">
                          <a:effectLst/>
                          <a:latin typeface="+mn-ea"/>
                          <a:ea typeface="+mn-ea"/>
                        </a:rPr>
                        <a:t>재생중</a:t>
                      </a:r>
                      <a:r>
                        <a:rPr lang="ko-KR" altLang="ko-KR" sz="1200" dirty="0">
                          <a:effectLst/>
                          <a:latin typeface="+mn-ea"/>
                          <a:ea typeface="+mn-ea"/>
                        </a:rPr>
                        <a:t> 표시되는 </a:t>
                      </a:r>
                      <a:r>
                        <a:rPr lang="ko-KR" altLang="ko-KR" sz="1200" dirty="0" err="1">
                          <a:effectLst/>
                          <a:latin typeface="+mn-ea"/>
                          <a:ea typeface="+mn-ea"/>
                        </a:rPr>
                        <a:t>Default</a:t>
                      </a:r>
                      <a:r>
                        <a:rPr lang="ko-KR" altLang="ko-KR" sz="1200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ko-KR" sz="1200" dirty="0" err="1">
                          <a:effectLst/>
                          <a:latin typeface="+mn-ea"/>
                          <a:ea typeface="+mn-ea"/>
                        </a:rPr>
                        <a:t>Image</a:t>
                      </a:r>
                      <a:r>
                        <a:rPr lang="ko-KR" altLang="ko-KR" sz="1200" dirty="0">
                          <a:effectLst/>
                          <a:latin typeface="+mn-ea"/>
                          <a:ea typeface="+mn-ea"/>
                        </a:rPr>
                        <a:t> GUI 가이드 이미지와 상이</a:t>
                      </a:r>
                    </a:p>
                    <a:p>
                      <a:pPr algn="ctr" fontAlgn="t">
                        <a:buNone/>
                      </a:pPr>
                      <a:endParaRPr lang="ko-KR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53340" marB="533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200" dirty="0">
                          <a:effectLst/>
                          <a:latin typeface="+mn-ea"/>
                          <a:ea typeface="+mn-ea"/>
                        </a:rPr>
                        <a:t>26-05-19</a:t>
                      </a:r>
                      <a:endParaRPr lang="ko-KR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53340" marB="5334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2967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MPI-91825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BT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Audio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DMB의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icon이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GUI 가이드 이미지와 상이 //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icon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differs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with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U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from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GUI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guide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image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BT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Audio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and DMB</a:t>
                      </a:r>
                    </a:p>
                    <a:p>
                      <a:pPr algn="ctr" fontAlgn="t">
                        <a:buNone/>
                      </a:pPr>
                      <a:endParaRPr lang="ko-KR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53340" marB="533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26-01-22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4355460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45D4C5B4-7D6A-6ABF-EEF1-88D33A6927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9872" y="2155914"/>
            <a:ext cx="2000905" cy="112550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CA7B19B-7ABC-00E2-4DF3-1C4B207B3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9872" y="4543934"/>
            <a:ext cx="2105498" cy="1173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356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04C141-5549-2F72-ACEF-32F6BA3EE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5. </a:t>
            </a:r>
            <a:r>
              <a:rPr lang="ko-KR" altLang="en-US" dirty="0">
                <a:latin typeface="+mn-ea"/>
              </a:rPr>
              <a:t>유지보수 요청사항 처리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DDE3495-9545-97D1-EEA7-491F0B304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5F559457-AB4D-9FE0-E055-C8B01582D0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724817"/>
              </p:ext>
            </p:extLst>
          </p:nvPr>
        </p:nvGraphicFramePr>
        <p:xfrm>
          <a:off x="436389" y="643585"/>
          <a:ext cx="8769985" cy="330612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8769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[REQ_02]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보안 관련 위반 발생 주의 요청 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>
                  <a:txBody>
                    <a:bodyPr/>
                    <a:lstStyle/>
                    <a:p>
                      <a:pPr marL="228600" indent="-228600" latinLnBrk="1">
                        <a:buAutoNum type="arabicPeriod"/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 메일로 업무 관련 내용 전송 금지에 대한 조치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=&gt;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 관련 내용을 전달시에는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Jira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통해 내용을 공유하도록 요청 하였습니다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2. USB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미허가된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저장장치에 업무 내용 저장 금지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=&gt; USB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는 회사 내부에 보유 및 정보 문서화하여 관리하고 있고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미등록된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USB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업무 내용을 저장하는 것을 금지 시켰습니다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아래의 내용을 투비원솔루션즈 개발자와 관계자에게 배포 및 별도 교육을 실시하였습니다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=&gt;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보안 관련 교육 사항 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 메일로 업무 관련 내용 전송 금지    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1)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 메일로 업무 관련 내용을 전송 하는 것을 절대 금지 합니다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   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2)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 관련 내용 전달시에는 </a:t>
                      </a:r>
                      <a:r>
                        <a:rPr lang="en-US" altLang="ko-KR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Moibis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Jira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통해 내용을 공유 바랍니다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   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나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전산장비 및 저장매체 관리     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1)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허가 및 미리 협의되지 않은 저장매체 사용 불가 합니다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       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   - USB,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외장하드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노트북    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2)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저장매체는 반드시 보안담당자에게 신고 후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사용셔야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합니다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   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3)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비대면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개발실 외부로 전산장비 및 저장매체 절대 이동 해서는 안됩니다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 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*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위의 사항 위반시에는 엄중한 조치가 내려질 것이니 본인에게 불이익이 가지 않도록 주의 요청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바립니다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b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903806"/>
                  </a:ext>
                </a:extLst>
              </a:tr>
            </a:tbl>
          </a:graphicData>
        </a:graphic>
      </p:graphicFrame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BBB0DC85-DA45-236D-B5B5-A2F1615CA7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2769606"/>
              </p:ext>
            </p:extLst>
          </p:nvPr>
        </p:nvGraphicFramePr>
        <p:xfrm>
          <a:off x="436388" y="3816594"/>
          <a:ext cx="8769985" cy="274224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8769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[REQ_03]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업무 공수 입력 요청 건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모든 인원이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Jira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공수 입력을 빠짐없이 하고 있는지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=&gt;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매달 마지막 주마다 팀원 전원에게 공수 입력을 지시 및 매달 초 필터 검색을 통해 공수 입력 사항을 확인하고 있습니다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공수 확인을 위한 필터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=&gt;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지라 공수 필터 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월별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시작일자 포함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생성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Radio: </a:t>
                      </a:r>
                      <a:r>
                        <a:rPr lang="ko-KR" altLang="ko-KR" sz="1200" dirty="0">
                          <a:hlinkClick r:id="rId2"/>
                        </a:rPr>
                        <a:t>[</a:t>
                      </a:r>
                      <a:r>
                        <a:rPr lang="ko-KR" altLang="ko-KR" sz="1200" dirty="0" err="1">
                          <a:hlinkClick r:id="rId2"/>
                        </a:rPr>
                        <a:t>투비원</a:t>
                      </a:r>
                      <a:r>
                        <a:rPr lang="ko-KR" altLang="ko-KR" sz="1200" dirty="0">
                          <a:hlinkClick r:id="rId2"/>
                        </a:rPr>
                        <a:t>]PBV </a:t>
                      </a:r>
                      <a:r>
                        <a:rPr lang="ko-KR" altLang="ko-KR" sz="1200" dirty="0" err="1">
                          <a:hlinkClick r:id="rId2"/>
                        </a:rPr>
                        <a:t>Radio</a:t>
                      </a:r>
                      <a:r>
                        <a:rPr lang="ko-KR" altLang="ko-KR" sz="1200" dirty="0">
                          <a:hlinkClick r:id="rId2"/>
                        </a:rPr>
                        <a:t> 공수 - 정명훈 기타협력사 - </a:t>
                      </a:r>
                      <a:r>
                        <a:rPr lang="ko-KR" altLang="ko-KR" sz="1200" dirty="0" err="1">
                          <a:hlinkClick r:id="rId2"/>
                        </a:rPr>
                        <a:t>Confluence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DMB : </a:t>
                      </a:r>
                      <a:r>
                        <a:rPr lang="ko-KR" altLang="ko-KR" sz="1200" dirty="0">
                          <a:hlinkClick r:id="rId3"/>
                        </a:rPr>
                        <a:t>[</a:t>
                      </a:r>
                      <a:r>
                        <a:rPr lang="ko-KR" altLang="ko-KR" sz="1200" dirty="0" err="1">
                          <a:hlinkClick r:id="rId3"/>
                        </a:rPr>
                        <a:t>투비원</a:t>
                      </a:r>
                      <a:r>
                        <a:rPr lang="ko-KR" altLang="ko-KR" sz="1200" dirty="0">
                          <a:hlinkClick r:id="rId3"/>
                        </a:rPr>
                        <a:t>] PBV DMB 공수 - 노진일 기타협력사 - </a:t>
                      </a:r>
                      <a:r>
                        <a:rPr lang="ko-KR" altLang="ko-KR" sz="1200" dirty="0" err="1">
                          <a:hlinkClick r:id="rId3"/>
                        </a:rPr>
                        <a:t>Confluence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MiniPlayer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: </a:t>
                      </a:r>
                      <a:r>
                        <a:rPr lang="ko-KR" altLang="ko-KR" sz="1100" dirty="0">
                          <a:hlinkClick r:id="rId4"/>
                        </a:rPr>
                        <a:t>[</a:t>
                      </a:r>
                      <a:r>
                        <a:rPr lang="ko-KR" altLang="ko-KR" sz="1100" dirty="0" err="1">
                          <a:hlinkClick r:id="rId4"/>
                        </a:rPr>
                        <a:t>투비원</a:t>
                      </a:r>
                      <a:r>
                        <a:rPr lang="ko-KR" altLang="ko-KR" sz="1100" dirty="0">
                          <a:hlinkClick r:id="rId4"/>
                        </a:rPr>
                        <a:t>]PBV </a:t>
                      </a:r>
                      <a:r>
                        <a:rPr lang="ko-KR" altLang="ko-KR" sz="1100" dirty="0" err="1">
                          <a:hlinkClick r:id="rId4"/>
                        </a:rPr>
                        <a:t>MiniPlayer</a:t>
                      </a:r>
                      <a:r>
                        <a:rPr lang="ko-KR" altLang="ko-KR" sz="1100" dirty="0">
                          <a:hlinkClick r:id="rId4"/>
                        </a:rPr>
                        <a:t> 공수 - 부재식 기타협력사 - </a:t>
                      </a:r>
                      <a:r>
                        <a:rPr lang="ko-KR" altLang="ko-KR" sz="1100" dirty="0" err="1">
                          <a:hlinkClick r:id="rId4"/>
                        </a:rPr>
                        <a:t>Confluence</a:t>
                      </a:r>
                      <a:b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RearCareMode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ko-KR" sz="1100" dirty="0">
                          <a:hlinkClick r:id="rId5"/>
                        </a:rPr>
                        <a:t>[</a:t>
                      </a:r>
                      <a:r>
                        <a:rPr lang="ko-KR" altLang="ko-KR" sz="1100" dirty="0" err="1">
                          <a:hlinkClick r:id="rId5"/>
                        </a:rPr>
                        <a:t>투비원</a:t>
                      </a:r>
                      <a:r>
                        <a:rPr lang="ko-KR" altLang="ko-KR" sz="1100" dirty="0">
                          <a:hlinkClick r:id="rId5"/>
                        </a:rPr>
                        <a:t>]PBV </a:t>
                      </a:r>
                      <a:r>
                        <a:rPr lang="ko-KR" altLang="ko-KR" sz="1100" dirty="0" err="1">
                          <a:hlinkClick r:id="rId5"/>
                        </a:rPr>
                        <a:t>RearCareMode</a:t>
                      </a:r>
                      <a:r>
                        <a:rPr lang="ko-KR" altLang="ko-KR" sz="1100" dirty="0">
                          <a:hlinkClick r:id="rId5"/>
                        </a:rPr>
                        <a:t> 공수 - 부재식 기타협력사 - </a:t>
                      </a:r>
                      <a:r>
                        <a:rPr lang="ko-KR" altLang="ko-KR" sz="1100" dirty="0" err="1">
                          <a:hlinkClick r:id="rId5"/>
                        </a:rPr>
                        <a:t>Confluence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903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2789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15906-0280-C3C8-4B47-E44A82B5C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1EBAB4-BA46-A448-B3EA-CC84368DE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5. </a:t>
            </a:r>
            <a:r>
              <a:rPr lang="ko-KR" altLang="en-US" dirty="0">
                <a:latin typeface="+mn-ea"/>
              </a:rPr>
              <a:t>유지보수 요청사항 처리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DE99619-580E-4A40-8638-251BA38C3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FF1A3026-C3A5-EB4A-3F46-0B4068F320D7}"/>
              </a:ext>
            </a:extLst>
          </p:cNvPr>
          <p:cNvGraphicFramePr>
            <a:graphicFrameLocks noGrp="1"/>
          </p:cNvGraphicFramePr>
          <p:nvPr/>
        </p:nvGraphicFramePr>
        <p:xfrm>
          <a:off x="436387" y="698424"/>
          <a:ext cx="8769985" cy="33432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8769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[REQ_01] UI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변경건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 스크린샷 첨부</a:t>
                      </a:r>
                      <a:endParaRPr lang="ko-KR" altLang="en-US" sz="1400" b="1" i="0" strike="noStrike" kern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A98963F-B538-151D-21FC-725232ED5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3188213"/>
              </p:ext>
            </p:extLst>
          </p:nvPr>
        </p:nvGraphicFramePr>
        <p:xfrm>
          <a:off x="436386" y="1266645"/>
          <a:ext cx="8769985" cy="2393542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749583956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7666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200" b="1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내 용</a:t>
                      </a:r>
                      <a:endParaRPr lang="ko-KR" altLang="en-US" sz="1200" b="1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i="0" strike="noStrike" kern="120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200" b="1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비 고</a:t>
                      </a:r>
                      <a:endParaRPr lang="ko-KR" altLang="en-US" sz="1200" b="1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9222"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UI 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 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TCIEXTORG-7776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[ESTRACK20-2296] 일본 라디오 방송국명 표시 기능 개발 (26년 1차)</a:t>
                      </a:r>
                      <a:endParaRPr lang="en-US" altLang="ko-KR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br>
                        <a:rPr lang="ko-KR" altLang="ko-KR" sz="1200" dirty="0"/>
                      </a:br>
                      <a:endParaRPr lang="ko-KR" altLang="ko-KR" sz="1200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t">
                        <a:buNone/>
                      </a:pPr>
                      <a:endParaRPr lang="ko-KR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53340" marB="533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2026-03-12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99E10D17-55F4-C66A-7231-C903EBD0FC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4841" y="2054431"/>
            <a:ext cx="2058390" cy="149353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471EE35-FCAF-C7D2-662B-10CB823537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2192" y="2054431"/>
            <a:ext cx="2099956" cy="149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143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59F25-4CA8-09B2-B046-DE853C2CA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A6ADEE-6978-180D-A3E3-3FFB4C435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6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(Radio)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A193D4C-3305-762E-9262-1AE597EDE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440FA41A-E9E4-1920-63EA-2C14705E14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9792863"/>
              </p:ext>
            </p:extLst>
          </p:nvPr>
        </p:nvGraphicFramePr>
        <p:xfrm>
          <a:off x="681038" y="579119"/>
          <a:ext cx="8656953" cy="5830393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00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40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72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5557">
                  <a:extLst>
                    <a:ext uri="{9D8B030D-6E8A-4147-A177-3AD203B41FA5}">
                      <a16:colId xmlns:a16="http://schemas.microsoft.com/office/drawing/2014/main" val="1938543412"/>
                    </a:ext>
                  </a:extLst>
                </a:gridCol>
                <a:gridCol w="9491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4086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비 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94">
                <a:tc rowSpan="12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로직 변경 건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[MPI-91919]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인천 옹진군 FM 106.7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febc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극동방송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미수신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26-01-22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94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[MPI-92020]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[IVI-SQA][GUI][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RadioEU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Bulgarian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설정시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TA (LID_10011) 문구 여백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미존재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26-01-26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12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[MPI-92741]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RadioEU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리스트 내 표시된 모든 방송 즐겨찾기 저장한 상태이나 SAVE ALL 버튼 비활성화되지 않음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26-02-03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896535"/>
                  </a:ext>
                </a:extLst>
              </a:tr>
              <a:tr h="4114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[MPI-91982]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Phone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통화 중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Apps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진입 시 통화 중 진입 불가 토스트 팝업 중복 출력 됨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26-02-05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672630"/>
                  </a:ext>
                </a:extLst>
              </a:tr>
              <a:tr h="561129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[MPI-92647]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방송국명이 있는 주파수 재생 중 동일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방송없고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동일 주파수의 다른 방송국이 없는 지역으로 이동 시 방송국명 유지 안함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26-02-05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94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[MPI-93309]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[VT][SyT2][DAB]APP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View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상태인데 DAB/FM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Off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Toast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pop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up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됨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26-02-23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8398159"/>
                  </a:ext>
                </a:extLst>
              </a:tr>
              <a:tr h="48096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[MPI-94294]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RadioEU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]게스트 프로필 초기화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동작시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앱 초기화 되지 않음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26-03-24 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866018"/>
                  </a:ext>
                </a:extLst>
              </a:tr>
              <a:tr h="56112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[MPI-94979]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즐겨찾기 2개 이상 저장된 상태에서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Reorder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버튼 밴드 탭 영역까지 드래그 시 간헐적으로 해당 방송이 상단에 고정되며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Reorder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버튼 활성화 상태이나 위치 변경 안됨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26-04-01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8451556"/>
                  </a:ext>
                </a:extLst>
              </a:tr>
              <a:tr h="4114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[MPI-96212]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Reorder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버튼 드래그 시 활성화 되지 않은 방송 움직임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26-04-15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653212"/>
                  </a:ext>
                </a:extLst>
              </a:tr>
              <a:tr h="4114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[MPI-96027]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Favorites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화면에서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Reorder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동작시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pressed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효과 미적용됨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26-04-14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1784701"/>
                  </a:ext>
                </a:extLst>
              </a:tr>
              <a:tr h="4114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[MPI-96054]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언어변경후 재변경시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List에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표시된 방송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Local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Search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검색되지 않음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26-04-09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2746574"/>
                  </a:ext>
                </a:extLst>
              </a:tr>
              <a:tr h="4114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[MPI-96433]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즐겨찾기 편집화면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Channel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UP/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Down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Toast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표시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26-04-15 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6641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783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B4243-8E9E-8139-69E8-EB7243D72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CEF354-99B2-57F2-0F6F-95653BFA0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6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(Radio)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35F3653-FA0A-D6BB-A37A-8BAA2743A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B518C667-89ED-C6C2-CED1-2E31523DCE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634259"/>
              </p:ext>
            </p:extLst>
          </p:nvPr>
        </p:nvGraphicFramePr>
        <p:xfrm>
          <a:off x="681038" y="593015"/>
          <a:ext cx="8637134" cy="6002302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297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84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3530">
                  <a:extLst>
                    <a:ext uri="{9D8B030D-6E8A-4147-A177-3AD203B41FA5}">
                      <a16:colId xmlns:a16="http://schemas.microsoft.com/office/drawing/2014/main" val="1938543412"/>
                    </a:ext>
                  </a:extLst>
                </a:gridCol>
                <a:gridCol w="946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6578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 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551">
                <a:tc rowSpan="12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로직 변경 건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[MPI-97198]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RadioEU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앱 위치 설정 진입 시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Title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크기 상이함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26-04-24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840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[MPI-96928]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Edit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Favorites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화면에서 SWRC CH UP/DN 입력 시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Toast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미표시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26-04-22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840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[MPI-97203]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RadioEU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라디오 외 화면에서 라디오 재생 중 VR 실행 &gt;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선택 시 VR 종료됨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26-04-28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840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[MPI-97109]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[IVI-SQA][HMI][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PhoneProjection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전화 수신 보류 &gt;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내Radio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재생 중 &gt; SWRC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Channel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Up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Down키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입력 시 무감 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26-04-24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551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[MPI-96595]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[VT][SyT2][FM] 라디오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앱뷰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잠시 표시되고 홈화면으로 튕김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26-04-22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840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[MPI-95749]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언어 변경 후 라디오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Local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Serach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화면에서 방송국명 초성 검색 시 검색 결과 표시 오류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26-04-09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7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[MPI-97904]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RadioEU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전화 수신 보류 &gt;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내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재생 중 &gt; SWRC CH UP/DN 입력됨 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26-05-07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6165190"/>
                  </a:ext>
                </a:extLst>
              </a:tr>
              <a:tr h="497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[MPI-98773]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[SyT2][VT][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라디오 채널 검색 화면에서 키보드 출력 중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View와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키보드 겹치는 영역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Long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Press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시 앱 위치 이동 동작 됨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26-05-22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6838084"/>
                  </a:ext>
                </a:extLst>
              </a:tr>
              <a:tr h="497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[MPI-97903]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라디오 즐겨찾기 편집 화면에서 SWRC UP/DN 입력 시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Wrapping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Around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동작 안함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26-05-08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6575947"/>
                  </a:ext>
                </a:extLst>
              </a:tr>
              <a:tr h="497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[MPI-97752]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EU] hr1 RDS/DAB 동일 방송 저장 후 RDS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SF발생시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Favourite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삭제 안됨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26-05-13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6012274"/>
                  </a:ext>
                </a:extLst>
              </a:tr>
              <a:tr h="497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[MPI-99249]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미디어 BG 재생 중 통화 보류 상태에서 미디어 선택 입력 시 라디오 토스트 팝업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미출력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26-05-29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76085"/>
                  </a:ext>
                </a:extLst>
              </a:tr>
              <a:tr h="497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[MPI-99276]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라디오 키보드 표시 중 목적지 설정 키보드로 포커스 변경 후 복귀 시 키보드만 출력 시키고 포커스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안잡힘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26-05-29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8582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1612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C0026-7D66-598C-D824-A7C974C6A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F94800-93F4-FB78-6966-437CC7533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6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(Radio)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7AF519-6209-3A98-C452-F5C65F7EA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71AF7538-9E22-0EA0-3C27-EE16EEA800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4584929"/>
              </p:ext>
            </p:extLst>
          </p:nvPr>
        </p:nvGraphicFramePr>
        <p:xfrm>
          <a:off x="681038" y="940254"/>
          <a:ext cx="8656953" cy="388152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24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5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2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5557">
                  <a:extLst>
                    <a:ext uri="{9D8B030D-6E8A-4147-A177-3AD203B41FA5}">
                      <a16:colId xmlns:a16="http://schemas.microsoft.com/office/drawing/2014/main" val="1938543412"/>
                    </a:ext>
                  </a:extLst>
                </a:gridCol>
                <a:gridCol w="9491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 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093">
                <a:tc rowSpan="5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로직 변경 건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MPI-99166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RadioEU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Local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Search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활성화 후 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Navigation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검색 터치 &gt; 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Local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Search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터치 후 검색어 입력 시 무감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2026-05-27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097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MPI-99193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SW1 27MY PBV 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중동향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내장AMP_CCS_SVM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#9 KNR 2차 1ST 전화 통화 중 2ST전화 수신, 팝업에서 메시지 터치 후 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전체앱에서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라디오 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진입시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진입됨</a:t>
                      </a:r>
                      <a:endParaRPr lang="ko-KR" altLang="ko-KR" sz="10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2026-05-28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097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MPI-98030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RadioEU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SVR,VI 실행 중 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TA,Alarm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신호 인가 후 SVR,VI 해제 시 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TA,Alarm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팝업 미 출력 상태 및 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아이콘 상태로 사운드 출력됨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2026-05-22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291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TCIEXTORG-7776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][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TCIEXTORG-9666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일본 라디오 방송국명 표시 기능 개발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2026-03-12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171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[TCIEXTORG-10621]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[ESTRACK20-2296] 일본 라디오 방송국명 표시 기능 개발 (26년 1차)_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DB갱신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2026-05-27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3171">
                <a:tc rowSpan="4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검토 및 조사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[MPI-92443] 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PBV 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개발환경 세팅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26-01-29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1w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606537"/>
                  </a:ext>
                </a:extLst>
              </a:tr>
              <a:tr h="193171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[MPI-92446] 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PBV 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소스 분석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26-01-29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1w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774765"/>
                  </a:ext>
                </a:extLst>
              </a:tr>
              <a:tr h="193171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[MPI-92445] 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PBV 세트 설치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26-01-29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1w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282813"/>
                  </a:ext>
                </a:extLst>
              </a:tr>
              <a:tr h="193171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[MPI-99986]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내수 라디오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DB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분석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-2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1w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473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9563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66FE6-3DBE-C706-049A-995F5B094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7541D7-D5AC-68E4-6B29-506DFC81D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6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(DMB)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5DD3065-E704-D2FA-D64C-121F6400E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2CB1857E-68CC-5D50-AC0F-AAC464F8F9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706137"/>
              </p:ext>
            </p:extLst>
          </p:nvPr>
        </p:nvGraphicFramePr>
        <p:xfrm>
          <a:off x="575310" y="713375"/>
          <a:ext cx="8769985" cy="5305453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1742303811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비 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 rowSpan="1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로직 변경 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MPI-98498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전화 수신 보류 후 미디어 전환 시 FM, AM, DMB </a:t>
                      </a:r>
                      <a:endParaRPr lang="en-US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1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모드는 팝업 안됨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26-05-20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MPI-98623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재난정보 편집화면 내 확장버튼 표시됨 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26-05-19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MPI-98392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전체화면에서 재생 중 카메라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하드키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입력 후 DMB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선택 시 블랙화면 잠시 표시됨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26-05-14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MPI-97557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일부 화면에서 키보드 출력 상태 중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Control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Center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진입 시도 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Text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Field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포커스 유지됨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26-04-29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l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MPI-97580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검색 화면 내 띄어쓰기 하여 검색 시 결과 내 하이라이트 표시 안됨 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26-04-29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MPI-96918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sz="1200" dirty="0">
                          <a:effectLst/>
                          <a:latin typeface="+mn-ea"/>
                          <a:ea typeface="+mn-ea"/>
                        </a:rPr>
                        <a:t>DMB </a:t>
                      </a:r>
                      <a:r>
                        <a:rPr lang="ko-KR" sz="1200" dirty="0" err="1">
                          <a:effectLst/>
                          <a:latin typeface="+mn-ea"/>
                          <a:ea typeface="+mn-ea"/>
                        </a:rPr>
                        <a:t>미수신</a:t>
                      </a:r>
                      <a:r>
                        <a:rPr lang="ko-KR" sz="1200" dirty="0">
                          <a:effectLst/>
                          <a:latin typeface="+mn-ea"/>
                          <a:ea typeface="+mn-ea"/>
                        </a:rPr>
                        <a:t> 상태에서 사운드 &gt; </a:t>
                      </a:r>
                      <a:r>
                        <a:rPr lang="ko-KR" sz="1200" dirty="0" err="1">
                          <a:effectLst/>
                          <a:latin typeface="+mn-ea"/>
                          <a:ea typeface="+mn-ea"/>
                        </a:rPr>
                        <a:t>안내음량</a:t>
                      </a:r>
                      <a:r>
                        <a:rPr lang="ko-KR" sz="1200" dirty="0">
                          <a:effectLst/>
                          <a:latin typeface="+mn-ea"/>
                          <a:ea typeface="+mn-ea"/>
                        </a:rPr>
                        <a:t> 진입 시 "수신 가능 지역 이동 시 자동 재생됩니다" 문구 없어짐</a:t>
                      </a:r>
                    </a:p>
                  </a:txBody>
                  <a:tcPr marL="76200" marR="76200" marT="53340" marB="533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26-04-22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MPI-95796</a:t>
                      </a:r>
                      <a:r>
                        <a:rPr lang="en-US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Media 재생 전환될 때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잠깐 표시되고 사라짐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26-04-02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MPI-94833</a:t>
                      </a:r>
                      <a:r>
                        <a:rPr lang="en-US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미표시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화면에서 채널 변경 시 DMB 채널 정보 팝업 2번 출력됨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26-03-18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1508632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MPI-94714</a:t>
                      </a:r>
                      <a:r>
                        <a:rPr lang="en-US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실행 중 계정 연동 &gt; DMB 진입 시 하이라이트 표시 된 방송이 아닌 이전 채널 재생됨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26-03-17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7689082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MPI-93973</a:t>
                      </a:r>
                      <a:r>
                        <a:rPr lang="en-US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앱 뷰 아이콘 입력 시 앱마다 동작 상이함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26-03-12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6628769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TCIEXTORG-8583</a:t>
                      </a:r>
                      <a:r>
                        <a:rPr lang="en-US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각 앱에서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홈화면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천이 요청할 경우 수신 통화 화면이 내려가는 문제가 발생할 수 있어서,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미디어앱에서는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소스원복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26-03-03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2232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78814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00BC5-0E52-6A66-B71C-FB9EA609E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F59D36-A170-3BF2-2A1C-AE7C6385C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6.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(DMB)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D19D1AD-92C4-46A4-03A4-CA5501E0D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22018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DB339E07-5C44-D8D9-C33F-5679B1E0F7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593139"/>
              </p:ext>
            </p:extLst>
          </p:nvPr>
        </p:nvGraphicFramePr>
        <p:xfrm>
          <a:off x="575310" y="672556"/>
          <a:ext cx="8769985" cy="590280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3367832594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 rowSpan="1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검토 및 조사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MPI-98390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미디어 변경 동작 반복 DMB 모드변경후 Media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Off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26-05-14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MPI-97572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주행 규제 문구 그레이 색상으로 처리 되어 있음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26-04-29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MPI-96465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강원도, 충청북도, 전라도, 제주도에서 재난 정보 수신 시 공유 권역의 재난 정보 팝업 출력되지 않음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26-04-15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MPI-96267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BG로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Station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반복변경 후 DMB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실행 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Launch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Delayed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26-04-10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92961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MPI-95932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재난정보와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Tmoney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위젯 동시 출력 중 STR &gt;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그리팅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화면에서 재난 정보 노티 팝업 잠깐 출력 후 자동 소거됨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26-04-02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027338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MPI-95806</a:t>
                      </a:r>
                      <a:r>
                        <a:rPr lang="en-US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옵션 메뉴 내 재난 정보 메뉴 비활성화 상태에서 길게 입력 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비프음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발생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26-04-02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931139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MPI-95767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채널 편집 화면 체크 해제된 목록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Dim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안됨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26-04-02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068640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MPI-94994</a:t>
                      </a:r>
                      <a:r>
                        <a:rPr lang="en-US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미수신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상태 Media 외 화면에서 Media 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Change로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변경 시 DMB - 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null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표시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26-03-19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496147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MPI-94106</a:t>
                      </a:r>
                      <a:r>
                        <a:rPr lang="en-US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진입 시 리스트에 없는 방송 재생됨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26-03-05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108449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MPI-93424</a:t>
                      </a:r>
                      <a:r>
                        <a:rPr lang="en-US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미니 플레이어는 BT 오디오 표시되고, DMB 사운드와 BT 오디오 사운드 동시에 출력됨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26-02-13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356989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MPI-93299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TCI-69608 DMB 수신감도 불량 이슈분석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26-02-12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21776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MPI-89649</a:t>
                      </a:r>
                      <a:r>
                        <a:rPr lang="en-US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라디오 모드 (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FM모드전환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스테이션 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변경시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DMB) 에서 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AA모드로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전환됨 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26-02-10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672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8907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D0EB2-D1E7-AD77-1D54-F2CEAC249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E264CC-027A-783C-CD16-28467AE16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6.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(DMB)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9E79E46-2D92-4396-E216-86F944909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22018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376ECB64-633D-F912-9CB4-638F1F7E80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297648"/>
              </p:ext>
            </p:extLst>
          </p:nvPr>
        </p:nvGraphicFramePr>
        <p:xfrm>
          <a:off x="575310" y="610100"/>
          <a:ext cx="8769985" cy="5969276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3367832594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7554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264">
                <a:tc rowSpan="1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검토 및 조사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MPI-90308</a:t>
                      </a:r>
                      <a:r>
                        <a:rPr lang="en-US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Press로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AppView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이동불가(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앱위치변경불가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26-01-19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002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sz="1200" u="non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MPI-90313</a:t>
                      </a:r>
                      <a:r>
                        <a:rPr lang="en-US" altLang="ko-KR" sz="1200" u="sng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ko-KR" sz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알림센터에서</a:t>
                      </a:r>
                      <a:r>
                        <a:rPr lang="ko-KR" altLang="ko-KR" sz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재난 정보 알림 </a:t>
                      </a:r>
                      <a:r>
                        <a:rPr lang="ko-KR" altLang="ko-KR" sz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선택시</a:t>
                      </a:r>
                      <a:r>
                        <a:rPr lang="ko-KR" altLang="ko-KR" sz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무반응</a:t>
                      </a:r>
                    </a:p>
                  </a:txBody>
                  <a:tcPr marL="76200" marR="76200" marT="53340" marB="533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26-01-21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9443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MPI-91275</a:t>
                      </a:r>
                      <a:r>
                        <a:rPr lang="en-US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서브화면에서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타앱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이동후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재진입시 간헐적으로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메인화면이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아닌 옵션표시 (1/10)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26-01-21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9443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MPI-91809</a:t>
                      </a:r>
                      <a:r>
                        <a:rPr lang="en-US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진입 시 편집된 리스트 출력되나 리스트에 없는 채널 재생됨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26-01-21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9443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MPI-91982</a:t>
                      </a:r>
                      <a:r>
                        <a:rPr lang="en-US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통화 중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진입 시 통화 중 진입 불가 토스트 팝업 중복 출력 됨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26-01-21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929612"/>
                  </a:ext>
                </a:extLst>
              </a:tr>
              <a:tr h="320264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MPI-92284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모비스 접속환경 및 계정, 보안관련 설정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26-01-09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027338"/>
                  </a:ext>
                </a:extLst>
              </a:tr>
              <a:tr h="320264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MPI-92275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PBV 세트설치 및 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DMB개발환경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세팅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26-01-16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931139"/>
                  </a:ext>
                </a:extLst>
              </a:tr>
              <a:tr h="499443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MPI-92274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마북연구소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방문하여 DMB 개발관련 장비사용법 인수인계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26-01-12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068640"/>
                  </a:ext>
                </a:extLst>
              </a:tr>
              <a:tr h="320264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MPI-92278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CCU/DCU 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장비세팅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및 사용방법 숙지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26-01-22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496147"/>
                  </a:ext>
                </a:extLst>
              </a:tr>
              <a:tr h="499443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MPI-97924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월 소스분석 및 문서정리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(DMB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재난정보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토스트팝업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26-05-31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108449"/>
                  </a:ext>
                </a:extLst>
              </a:tr>
              <a:tr h="49944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MPI-95569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월 소스분석 및 문서정리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(STR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진입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검색결과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채널변경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26-04-30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802810"/>
                  </a:ext>
                </a:extLst>
              </a:tr>
              <a:tr h="3202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MPI-93920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월 소스분석 및 문서정리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(DMB </a:t>
                      </a:r>
                      <a:r>
                        <a:rPr lang="en-US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adb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명령어 정리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26-03-31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8294819"/>
                  </a:ext>
                </a:extLst>
              </a:tr>
              <a:tr h="3202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MPI-92783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월 소스분석 및 문서정리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AudioFocus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및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Manager)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26-02-28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349950"/>
                  </a:ext>
                </a:extLst>
              </a:tr>
              <a:tr h="3202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MPI-92277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월 소스분석 및 문서정리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(BGS &amp;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채널 관리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26-01-31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940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12500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3E167-419B-9B09-EC4C-58D283EDA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AE39C5-A9E2-2244-2127-DB30B0774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6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</a:t>
            </a:r>
            <a:r>
              <a:rPr lang="en-US" altLang="ko-KR" dirty="0" err="1">
                <a:latin typeface="+mn-ea"/>
                <a:ea typeface="+mn-ea"/>
              </a:rPr>
              <a:t>MiniPlayer</a:t>
            </a:r>
            <a:r>
              <a:rPr lang="en-US" altLang="ko-KR" sz="2400" b="0" dirty="0">
                <a:latin typeface="+mn-ea"/>
                <a:ea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49B7F5D-CBB0-E84A-A63D-E8BC6EC8D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93BC8533-F068-7B4A-DC65-0976326D11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8383160"/>
              </p:ext>
            </p:extLst>
          </p:nvPr>
        </p:nvGraphicFramePr>
        <p:xfrm>
          <a:off x="575310" y="860125"/>
          <a:ext cx="8769985" cy="517776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327330368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 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320">
                <a:tc rowSpan="3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검토 및 조사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MPI-92211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마북연구소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방문하여 미니플레이어 인수인계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27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769944"/>
                  </a:ext>
                </a:extLst>
              </a:tr>
              <a:tr h="334320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MPI-92216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PBV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개발환경 세팅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27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 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7991513"/>
                  </a:ext>
                </a:extLst>
              </a:tr>
              <a:tr h="334320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MPI-92222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PBV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소스 분석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28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8233482"/>
                  </a:ext>
                </a:extLst>
              </a:tr>
              <a:tr h="301096">
                <a:tc rowSpan="6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로직 변경 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MPI-91825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BT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Audio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DMB의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icon이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GUI 가이드 이미지와 상이 //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icon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differs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with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U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from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GUI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guide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image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BT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Audio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and DMB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01-27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167285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TCI-72214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][MPI-95142]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marquee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action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when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music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with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specific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title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26-03-25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 3h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132485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TCI-71923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[SyT2][DMB] DMB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미수신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상태 Media 외 화면에서 Media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Change로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변경 시 DMB -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null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표시 // DMB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Unreceived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Status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Display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DMB -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null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when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changing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Media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Change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non-media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screen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26-03-19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TCI-76157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MPI-98184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이슈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브랜치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전개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[SyT2][SXM] Channel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변경 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Home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진입 시 일시적으로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 Bar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내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null - null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표시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18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TCI-76364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FM -&gt; AM 모드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변경시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앨범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깜빡이지않게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수정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18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TCI-75754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FM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선택 시 통화 중이 아닌데 "통화 중에는 사용할 수 없습니다. 통화 종료 후 사용해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주십시오."팝업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11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37788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8BD23-381E-2D6B-C822-0CD46FEB8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4D205D-C0B6-50DF-8C9A-500EF3305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6.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MiniPlayer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6761571-6881-2AB5-6573-D74035DE8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22018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26997C4B-40D8-31A8-5003-04E53739BB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421868"/>
              </p:ext>
            </p:extLst>
          </p:nvPr>
        </p:nvGraphicFramePr>
        <p:xfrm>
          <a:off x="575310" y="680719"/>
          <a:ext cx="8769985" cy="5430713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327330368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6872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 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4112">
                <a:tc rowSpan="9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검토 및 조사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TCI-70562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[SWUPDATE][26년1차][PBV][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SW택시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CP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연결후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CP화면에서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노래재생하고 지도 화면 천이시 상단에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바 미표시됨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26-02-2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 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132485"/>
                  </a:ext>
                </a:extLst>
              </a:tr>
              <a:tr h="1043605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TCI-71722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[MPI-94638] DMB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Press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&gt; Media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Change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입력 시 BT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Audio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재생 중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미출력됨 //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When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DMB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Press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&gt; Media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Change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entered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the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not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displayed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while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BT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Audio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26-03-16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 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36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TCI-71012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[PBV IVI][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Incoming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Call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Hold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(수신보류) 관련 사양서 수정 및 개발 상황 확인 검토 요청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26-03-03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36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TCI-71735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[MPI-94573][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중동지역앱에서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통화중일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때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Bar에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전화아이콘 반전 안됨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26-03-16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36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TCI-70745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PBV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MiniPlayerService와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AndroidMediaRepository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코드 분석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26-02-26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401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TCI-70714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MPI-92418 검토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26-02-25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 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4112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TCI-70725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MPI-91901 재현 시도([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카메라 화면에서 CP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Call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발신 후 종료 시 홈화면으로 튕기고 미니 플레이어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표시안됨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26-02-23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20053"/>
                  </a:ext>
                </a:extLst>
              </a:tr>
              <a:tr h="312401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TCI-71911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3월 UX 사양서 검토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26-03-19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979674"/>
                  </a:ext>
                </a:extLst>
              </a:tr>
              <a:tr h="664112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TCI-72557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]홈화면에서 모드변경시 AM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오동작/The AM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malfunctions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when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changing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modes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the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home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screen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 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48555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4523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27422-8650-2AD7-6EC9-28F822D70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DC45D7-72BF-F9FB-8267-3531B588B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6.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MiniPlayer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580462A-76D4-2327-7428-A1E144144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22018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7667FC53-BA8A-A9F5-210F-3064CEA448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4518446"/>
              </p:ext>
            </p:extLst>
          </p:nvPr>
        </p:nvGraphicFramePr>
        <p:xfrm>
          <a:off x="575310" y="730427"/>
          <a:ext cx="8769985" cy="3887874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3367832594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8449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6277">
                <a:tc rowSpan="6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검토 및 조사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TCI-76609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미디어 재생 중 사용자 선택 화면에서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Call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수신 &gt; 보류 &gt; 기존 사용자 로그인 시 Media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Bar와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Call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Status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동시 출력됨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6277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TCI-74998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CP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Music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다음 곡 변경 1초 전 VR 실행 후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Player에서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곡 정보 업데이트 안되고,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Pause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버튼 표시 유지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26-04-30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198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TCI-74997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AA음악재생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중 홈화면에서 미니플레이어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표시중e-Call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통화 연결/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종료시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미니플레이어 3번표시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26-04-30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198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TCI-74397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MPI-96955 PBV IVI HMI 사양서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통합릴리즈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- 04월 (260422)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6277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TCI-74396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CP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Music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다음 곡 변경 1초 전 VR 실행 후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Player에서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곡 정보 업데이트 안되고,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Pause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버튼 표시 유지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0198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TCI-7439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RadioNA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수신중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PS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Name이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Bar에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표시됨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929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07885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1F426-0EFE-A89E-15DF-BDEBBDC1E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C673BA-D216-675F-F5C0-ACFEE278B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6.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RearCareMode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62C64E3-1D24-21B4-3DD3-88BF3B906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82162CC4-7354-6CCF-B045-51004FE949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7164615"/>
              </p:ext>
            </p:extLst>
          </p:nvPr>
        </p:nvGraphicFramePr>
        <p:xfrm>
          <a:off x="575310" y="601864"/>
          <a:ext cx="8769985" cy="5320571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4129591717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7107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363"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로직 변경 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TCI-76472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Passenger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Talk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Display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Off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상태에서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후석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대화 실행 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Toast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팝업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미출력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26-05-29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795098"/>
                  </a:ext>
                </a:extLst>
              </a:tr>
              <a:tr h="349159">
                <a:tc rowSpan="9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검토 및 조사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MPI-92212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마북연구소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방문하여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RearCareMode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인수인계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26-01-27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3612800"/>
                  </a:ext>
                </a:extLst>
              </a:tr>
              <a:tr h="349159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MPI-92215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PBV 세트 설치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26-01-27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538736"/>
                  </a:ext>
                </a:extLst>
              </a:tr>
              <a:tr h="349159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MPI-92217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PBV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RearCareMode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개발환경 세팅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26-01-28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 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493651"/>
                  </a:ext>
                </a:extLst>
              </a:tr>
              <a:tr h="349159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MPI-92228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PBV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RearCareMode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소스 분석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26-01-27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4d 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726907"/>
                  </a:ext>
                </a:extLst>
              </a:tr>
              <a:tr h="502208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TCI-70715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RearCareMode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테스트 환경 동일화를 위한 개발환경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재세팅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26-02-26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233291"/>
                  </a:ext>
                </a:extLst>
              </a:tr>
              <a:tr h="349159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TCI-72567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RearMode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]3월 PBV UI 사양서 변경사항 검토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31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6419335"/>
                  </a:ext>
                </a:extLst>
              </a:tr>
              <a:tr h="544504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TCI-71916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[syt2][VT][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setup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Quite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Mode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커스텀키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동작 작동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간헐적동작안됨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26-03-19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167186"/>
                  </a:ext>
                </a:extLst>
              </a:tr>
              <a:tr h="544504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TCI-71915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PassengerTalk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게스트 프로필 초기화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동작시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후석대화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Mic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Volume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초기화되지 않음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26-03-19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2136052"/>
                  </a:ext>
                </a:extLst>
              </a:tr>
              <a:tr h="1130538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TCI-71913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Passenger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Talk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AA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Music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재생 중 구글 어시스턴트 실행 &gt;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Custom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Key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후석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대화 입력 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후석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대화 실행됨 //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Launch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Google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Assistant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while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AA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Music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&gt;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Custom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Key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Launch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seat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conversation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when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typing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back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seat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conversation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26-03-19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7318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5675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240DB-5ECC-333D-F5DB-C7BBE68F2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72C15D-0347-C317-DC38-2A00688F2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6.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RearCareMode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B16ED29-0E6F-635F-7B56-E9122CC14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22018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1EEBF6DA-D9D9-5715-8758-E177A84F34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2464467"/>
              </p:ext>
            </p:extLst>
          </p:nvPr>
        </p:nvGraphicFramePr>
        <p:xfrm>
          <a:off x="575310" y="672556"/>
          <a:ext cx="8769985" cy="235968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3367832594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336">
                <a:tc rowSpan="3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검토 및 조사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TCI-71013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[PBV IVI][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RearMode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Incoming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Call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Hold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(수신보류) 관련 사양서 수정 및 개발 상황 확인 검토 요청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26-03-03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TCI-72774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BT 기기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페어링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중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후석대화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비활성화 되지 않고 BT 연결 직전에 비활성화 후 활성화됨 //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seat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dialogue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not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disabled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during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BT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device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pairing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and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activated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after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disabling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immediately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before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BT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connection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26-04-02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[TCI-77885] [IVI-SQA][</a:t>
                      </a:r>
                      <a:r>
                        <a:rPr lang="en-US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GlobalSearch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Passenger Talk On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상태에서 </a:t>
                      </a:r>
                      <a:r>
                        <a:rPr lang="en-US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UserProfile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최근 검색어 세부 항목 선택 시 토스트 팝업 출력되지 않음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26-06-05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38743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25861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27A873B-FF18-45D4-A660-45C942968C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8735719"/>
              </p:ext>
            </p:extLst>
          </p:nvPr>
        </p:nvGraphicFramePr>
        <p:xfrm>
          <a:off x="457629" y="1022625"/>
          <a:ext cx="8925359" cy="53177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883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3359348606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1534966613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688814761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3702110034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3148098593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3770331782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2979487663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1466692295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2551936981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504472991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467304969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1462757947"/>
                    </a:ext>
                  </a:extLst>
                </a:gridCol>
              </a:tblGrid>
              <a:tr h="496293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투입 개월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M+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087584"/>
                  </a:ext>
                </a:extLst>
              </a:tr>
              <a:tr h="451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spc="-4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ko-KR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spc="-40" baseline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spc="-4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5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6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061218"/>
                  </a:ext>
                </a:extLst>
              </a:tr>
              <a:tr h="40605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26’ 01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26’ 02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26’03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26’04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26’05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26’06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598976"/>
                  </a:ext>
                </a:extLst>
              </a:tr>
              <a:tr h="9461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용역 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일정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30181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spc="-50" baseline="0" dirty="0"/>
                        <a:t>PBV</a:t>
                      </a:r>
                    </a:p>
                    <a:p>
                      <a:pPr algn="ctr" latinLnBrk="1"/>
                      <a:r>
                        <a:rPr lang="en-US" altLang="ko-KR" sz="1400" spc="-50" baseline="0" dirty="0"/>
                        <a:t>IVI</a:t>
                      </a:r>
                      <a:endParaRPr lang="ko-KR" altLang="en-US" sz="1400" spc="-50" baseline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3831620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0" dirty="0">
                <a:latin typeface="+mn-ea"/>
                <a:ea typeface="+mn-ea"/>
              </a:rPr>
              <a:t>7. </a:t>
            </a:r>
            <a:r>
              <a:rPr lang="ko-KR" altLang="en-US" dirty="0"/>
              <a:t>용역 일정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6972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712083-6108-4D69-B2EA-10CB2254CA9A}"/>
              </a:ext>
            </a:extLst>
          </p:cNvPr>
          <p:cNvSpPr txBox="1"/>
          <p:nvPr/>
        </p:nvSpPr>
        <p:spPr>
          <a:xfrm>
            <a:off x="408373" y="653292"/>
            <a:ext cx="26949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>
                <a:latin typeface="+mn-ea"/>
              </a:rPr>
              <a:t>유지보수 일정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총 </a:t>
            </a:r>
            <a:r>
              <a:rPr lang="en-US" altLang="ko-KR" sz="1600" dirty="0">
                <a:latin typeface="+mn-ea"/>
              </a:rPr>
              <a:t>6</a:t>
            </a:r>
            <a:r>
              <a:rPr lang="ko-KR" altLang="en-US" sz="1600" dirty="0">
                <a:latin typeface="+mn-ea"/>
              </a:rPr>
              <a:t>개월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B141202-69F1-40FD-9FA6-5EE0B6311A8A}"/>
              </a:ext>
            </a:extLst>
          </p:cNvPr>
          <p:cNvSpPr txBox="1"/>
          <p:nvPr/>
        </p:nvSpPr>
        <p:spPr>
          <a:xfrm>
            <a:off x="1490457" y="2320399"/>
            <a:ext cx="641769" cy="253916"/>
          </a:xfrm>
          <a:prstGeom prst="rect">
            <a:avLst/>
          </a:prstGeom>
          <a:noFill/>
        </p:spPr>
        <p:txBody>
          <a:bodyPr wrap="none" lIns="36000" rIns="36000" rtlCol="0">
            <a:spAutoFit/>
          </a:bodyPr>
          <a:lstStyle/>
          <a:p>
            <a:pPr algn="ctr"/>
            <a:r>
              <a:rPr lang="ko-KR" altLang="en-US" sz="1050" b="1" dirty="0"/>
              <a:t>착수 보고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D27E5189-CCC0-40DA-9BA7-BC925D6D1C38}"/>
              </a:ext>
            </a:extLst>
          </p:cNvPr>
          <p:cNvSpPr txBox="1"/>
          <p:nvPr/>
        </p:nvSpPr>
        <p:spPr>
          <a:xfrm>
            <a:off x="5336476" y="2359121"/>
            <a:ext cx="325978" cy="253916"/>
          </a:xfrm>
          <a:prstGeom prst="rect">
            <a:avLst/>
          </a:prstGeom>
          <a:noFill/>
        </p:spPr>
        <p:txBody>
          <a:bodyPr wrap="none" lIns="36000" rIns="36000" rtlCol="0">
            <a:spAutoFit/>
          </a:bodyPr>
          <a:lstStyle/>
          <a:p>
            <a:pPr algn="ctr"/>
            <a:r>
              <a:rPr lang="en-US" altLang="ko-KR" sz="1050" b="1" dirty="0"/>
              <a:t>M+6</a:t>
            </a:r>
            <a:endParaRPr lang="ko-KR" altLang="en-US" sz="1050" b="1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3A80F51E-A3B3-425C-AEEA-A42584C5DBF3}"/>
              </a:ext>
            </a:extLst>
          </p:cNvPr>
          <p:cNvSpPr txBox="1"/>
          <p:nvPr/>
        </p:nvSpPr>
        <p:spPr>
          <a:xfrm>
            <a:off x="5193808" y="2241232"/>
            <a:ext cx="611313" cy="253916"/>
          </a:xfrm>
          <a:prstGeom prst="rect">
            <a:avLst/>
          </a:prstGeom>
          <a:noFill/>
        </p:spPr>
        <p:txBody>
          <a:bodyPr wrap="none" lIns="36000" rIns="36000" rtlCol="0">
            <a:spAutoFit/>
          </a:bodyPr>
          <a:lstStyle/>
          <a:p>
            <a:pPr algn="ctr"/>
            <a:r>
              <a:rPr lang="ko-KR" altLang="en-US" sz="1050" b="1" dirty="0"/>
              <a:t>완료보고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C3B4EE9-A406-4EC5-BF11-D2E34AFDA1F2}"/>
              </a:ext>
            </a:extLst>
          </p:cNvPr>
          <p:cNvSpPr txBox="1"/>
          <p:nvPr/>
        </p:nvSpPr>
        <p:spPr>
          <a:xfrm>
            <a:off x="2076229" y="2898076"/>
            <a:ext cx="3175549" cy="230832"/>
          </a:xfrm>
          <a:prstGeom prst="rect">
            <a:avLst/>
          </a:prstGeom>
          <a:noFill/>
          <a:ln>
            <a:noFill/>
          </a:ln>
        </p:spPr>
        <p:txBody>
          <a:bodyPr wrap="none" lIns="0" rIns="0" rtlCol="0">
            <a:spAutoFit/>
          </a:bodyPr>
          <a:lstStyle/>
          <a:p>
            <a:pPr algn="ctr"/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Radio 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유지보수 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(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기능변경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수정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예외상황 예방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처리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성능육성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) </a:t>
            </a:r>
            <a:endParaRPr lang="ko-KR" altLang="en-US" sz="9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3855A1-306A-4900-DE27-5E48BE24756A}"/>
              </a:ext>
            </a:extLst>
          </p:cNvPr>
          <p:cNvSpPr txBox="1"/>
          <p:nvPr/>
        </p:nvSpPr>
        <p:spPr>
          <a:xfrm>
            <a:off x="1912319" y="3764321"/>
            <a:ext cx="3504769" cy="230832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DMB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 유지보수 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기능변경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수정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예외상황 예방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처리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성능육성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) </a:t>
            </a:r>
            <a:endParaRPr lang="ko-KR" altLang="en-US" sz="9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047D48-0D45-FBF7-996A-A0ACF032E08E}"/>
              </a:ext>
            </a:extLst>
          </p:cNvPr>
          <p:cNvSpPr txBox="1"/>
          <p:nvPr/>
        </p:nvSpPr>
        <p:spPr>
          <a:xfrm>
            <a:off x="1632250" y="5212473"/>
            <a:ext cx="3986768" cy="237012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900" b="1" dirty="0" err="1">
                <a:solidFill>
                  <a:srgbClr val="0070C0"/>
                </a:solidFill>
              </a:rPr>
              <a:t>RearCareMode</a:t>
            </a:r>
            <a:r>
              <a:rPr lang="ko-KR" altLang="en-US" sz="900" b="1" dirty="0">
                <a:solidFill>
                  <a:srgbClr val="0070C0"/>
                </a:solidFill>
              </a:rPr>
              <a:t> 유지보수 </a:t>
            </a:r>
            <a:r>
              <a:rPr lang="en-US" altLang="ko-KR" sz="900" b="1" dirty="0">
                <a:solidFill>
                  <a:srgbClr val="0070C0"/>
                </a:solidFill>
              </a:rPr>
              <a:t>(</a:t>
            </a:r>
            <a:r>
              <a:rPr lang="ko-KR" altLang="en-US" sz="900" b="1" dirty="0">
                <a:solidFill>
                  <a:srgbClr val="0070C0"/>
                </a:solidFill>
              </a:rPr>
              <a:t>기능변경</a:t>
            </a:r>
            <a:r>
              <a:rPr lang="en-US" altLang="ko-KR" sz="900" b="1" dirty="0">
                <a:solidFill>
                  <a:srgbClr val="0070C0"/>
                </a:solidFill>
              </a:rPr>
              <a:t>/</a:t>
            </a:r>
            <a:r>
              <a:rPr lang="ko-KR" altLang="en-US" sz="900" b="1" dirty="0">
                <a:solidFill>
                  <a:srgbClr val="0070C0"/>
                </a:solidFill>
              </a:rPr>
              <a:t>수정</a:t>
            </a:r>
            <a:r>
              <a:rPr lang="en-US" altLang="ko-KR" sz="900" b="1" dirty="0">
                <a:solidFill>
                  <a:srgbClr val="0070C0"/>
                </a:solidFill>
              </a:rPr>
              <a:t>, </a:t>
            </a:r>
            <a:r>
              <a:rPr lang="ko-KR" altLang="en-US" sz="900" b="1" dirty="0">
                <a:solidFill>
                  <a:srgbClr val="0070C0"/>
                </a:solidFill>
              </a:rPr>
              <a:t>예외상황 예방</a:t>
            </a:r>
            <a:r>
              <a:rPr lang="en-US" altLang="ko-KR" sz="900" b="1" dirty="0">
                <a:solidFill>
                  <a:srgbClr val="0070C0"/>
                </a:solidFill>
              </a:rPr>
              <a:t>/</a:t>
            </a:r>
            <a:r>
              <a:rPr lang="ko-KR" altLang="en-US" sz="900" b="1" dirty="0">
                <a:solidFill>
                  <a:srgbClr val="0070C0"/>
                </a:solidFill>
              </a:rPr>
              <a:t>처리</a:t>
            </a:r>
            <a:r>
              <a:rPr lang="en-US" altLang="ko-KR" sz="900" b="1" dirty="0">
                <a:solidFill>
                  <a:srgbClr val="0070C0"/>
                </a:solidFill>
              </a:rPr>
              <a:t>, </a:t>
            </a:r>
            <a:r>
              <a:rPr lang="ko-KR" altLang="en-US" sz="900" b="1" dirty="0">
                <a:solidFill>
                  <a:srgbClr val="0070C0"/>
                </a:solidFill>
              </a:rPr>
              <a:t>성능육성</a:t>
            </a:r>
            <a:r>
              <a:rPr lang="en-US" altLang="ko-KR" sz="900" b="1" dirty="0">
                <a:solidFill>
                  <a:srgbClr val="0070C0"/>
                </a:solidFill>
              </a:rPr>
              <a:t>) </a:t>
            </a:r>
            <a:endParaRPr lang="ko-KR" altLang="en-US" sz="900" b="1" dirty="0">
              <a:solidFill>
                <a:srgbClr val="0070C0"/>
              </a:solidFill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6C16AD5B-A9A5-229C-6B08-469196B9DEC3}"/>
              </a:ext>
            </a:extLst>
          </p:cNvPr>
          <p:cNvCxnSpPr>
            <a:cxnSpLocks/>
            <a:endCxn id="28" idx="0"/>
          </p:cNvCxnSpPr>
          <p:nvPr/>
        </p:nvCxnSpPr>
        <p:spPr>
          <a:xfrm flipH="1">
            <a:off x="1543800" y="3189367"/>
            <a:ext cx="3872262" cy="11493"/>
          </a:xfrm>
          <a:prstGeom prst="line">
            <a:avLst/>
          </a:prstGeom>
          <a:solidFill>
            <a:schemeClr val="accent6">
              <a:lumMod val="50000"/>
            </a:schemeClr>
          </a:solidFill>
          <a:ln w="28575">
            <a:solidFill>
              <a:schemeClr val="accent6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6220C664-1447-173E-6145-40CBCD6106D5}"/>
              </a:ext>
            </a:extLst>
          </p:cNvPr>
          <p:cNvSpPr/>
          <p:nvPr/>
        </p:nvSpPr>
        <p:spPr>
          <a:xfrm rot="5400000">
            <a:off x="1471756" y="3182082"/>
            <a:ext cx="106532" cy="37556"/>
          </a:xfrm>
          <a:prstGeom prst="triangle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9" name="이등변 삼각형 28">
            <a:extLst>
              <a:ext uri="{FF2B5EF4-FFF2-40B4-BE49-F238E27FC236}">
                <a16:creationId xmlns:a16="http://schemas.microsoft.com/office/drawing/2014/main" id="{14D4D28E-EDE5-082D-F7BF-C1794756FC88}"/>
              </a:ext>
            </a:extLst>
          </p:cNvPr>
          <p:cNvSpPr/>
          <p:nvPr/>
        </p:nvSpPr>
        <p:spPr>
          <a:xfrm rot="16200000">
            <a:off x="5362203" y="3168580"/>
            <a:ext cx="106532" cy="37556"/>
          </a:xfrm>
          <a:prstGeom prst="triangle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3E9E7526-36F7-BC50-50EE-4FCFF7F1BEC1}"/>
              </a:ext>
            </a:extLst>
          </p:cNvPr>
          <p:cNvGrpSpPr/>
          <p:nvPr/>
        </p:nvGrpSpPr>
        <p:grpSpPr>
          <a:xfrm>
            <a:off x="1497617" y="2573683"/>
            <a:ext cx="4001849" cy="160507"/>
            <a:chOff x="1806388" y="2050604"/>
            <a:chExt cx="3693078" cy="135072"/>
          </a:xfrm>
        </p:grpSpPr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9A3C3C24-7A5A-4B4D-A9DA-80019F70FCF7}"/>
                </a:ext>
              </a:extLst>
            </p:cNvPr>
            <p:cNvCxnSpPr>
              <a:cxnSpLocks/>
            </p:cNvCxnSpPr>
            <p:nvPr/>
          </p:nvCxnSpPr>
          <p:spPr>
            <a:xfrm>
              <a:off x="1835206" y="2122197"/>
              <a:ext cx="3580856" cy="0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타원 149">
              <a:extLst>
                <a:ext uri="{FF2B5EF4-FFF2-40B4-BE49-F238E27FC236}">
                  <a16:creationId xmlns:a16="http://schemas.microsoft.com/office/drawing/2014/main" id="{88AB993D-8034-44C5-BEA1-58D4594B1B01}"/>
                </a:ext>
              </a:extLst>
            </p:cNvPr>
            <p:cNvSpPr/>
            <p:nvPr/>
          </p:nvSpPr>
          <p:spPr>
            <a:xfrm>
              <a:off x="5369029" y="2058718"/>
              <a:ext cx="130437" cy="12695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E11F6B90-1539-189B-3CD9-43443473BA4C}"/>
                </a:ext>
              </a:extLst>
            </p:cNvPr>
            <p:cNvSpPr/>
            <p:nvPr/>
          </p:nvSpPr>
          <p:spPr>
            <a:xfrm>
              <a:off x="1806388" y="2050604"/>
              <a:ext cx="130437" cy="12695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B91CAAD8-930B-13CD-435A-0DD0932AD18D}"/>
              </a:ext>
            </a:extLst>
          </p:cNvPr>
          <p:cNvCxnSpPr>
            <a:cxnSpLocks/>
          </p:cNvCxnSpPr>
          <p:nvPr/>
        </p:nvCxnSpPr>
        <p:spPr>
          <a:xfrm flipH="1">
            <a:off x="1543800" y="4054759"/>
            <a:ext cx="3872262" cy="11493"/>
          </a:xfrm>
          <a:prstGeom prst="line">
            <a:avLst/>
          </a:prstGeom>
          <a:solidFill>
            <a:schemeClr val="accent6">
              <a:lumMod val="50000"/>
            </a:schemeClr>
          </a:solidFill>
          <a:ln w="28575">
            <a:solidFill>
              <a:schemeClr val="tx2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이등변 삼각형 33">
            <a:extLst>
              <a:ext uri="{FF2B5EF4-FFF2-40B4-BE49-F238E27FC236}">
                <a16:creationId xmlns:a16="http://schemas.microsoft.com/office/drawing/2014/main" id="{4E00658D-344A-F14E-2B14-933D186CF6C2}"/>
              </a:ext>
            </a:extLst>
          </p:cNvPr>
          <p:cNvSpPr/>
          <p:nvPr/>
        </p:nvSpPr>
        <p:spPr>
          <a:xfrm rot="5400000">
            <a:off x="1463129" y="4047474"/>
            <a:ext cx="106532" cy="37556"/>
          </a:xfrm>
          <a:prstGeom prst="triangle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5" name="이등변 삼각형 34">
            <a:extLst>
              <a:ext uri="{FF2B5EF4-FFF2-40B4-BE49-F238E27FC236}">
                <a16:creationId xmlns:a16="http://schemas.microsoft.com/office/drawing/2014/main" id="{3B4DF110-DEB3-2F77-234F-E81499C4C5BA}"/>
              </a:ext>
            </a:extLst>
          </p:cNvPr>
          <p:cNvSpPr/>
          <p:nvPr/>
        </p:nvSpPr>
        <p:spPr>
          <a:xfrm rot="16200000">
            <a:off x="5362203" y="4033972"/>
            <a:ext cx="106532" cy="37556"/>
          </a:xfrm>
          <a:prstGeom prst="triangle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47DF7E5F-EAA5-D545-151E-7BC8CEAACEB1}"/>
              </a:ext>
            </a:extLst>
          </p:cNvPr>
          <p:cNvCxnSpPr>
            <a:cxnSpLocks/>
            <a:endCxn id="37" idx="0"/>
          </p:cNvCxnSpPr>
          <p:nvPr/>
        </p:nvCxnSpPr>
        <p:spPr>
          <a:xfrm flipH="1">
            <a:off x="1552436" y="5513445"/>
            <a:ext cx="3863626" cy="11493"/>
          </a:xfrm>
          <a:prstGeom prst="line">
            <a:avLst/>
          </a:prstGeom>
          <a:solidFill>
            <a:schemeClr val="accent6">
              <a:lumMod val="50000"/>
            </a:schemeClr>
          </a:solidFill>
          <a:ln w="28575">
            <a:solidFill>
              <a:srgbClr val="197EC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이등변 삼각형 36">
            <a:extLst>
              <a:ext uri="{FF2B5EF4-FFF2-40B4-BE49-F238E27FC236}">
                <a16:creationId xmlns:a16="http://schemas.microsoft.com/office/drawing/2014/main" id="{7DE43463-309A-B2C9-EF63-0AFC0CA6E135}"/>
              </a:ext>
            </a:extLst>
          </p:cNvPr>
          <p:cNvSpPr/>
          <p:nvPr/>
        </p:nvSpPr>
        <p:spPr>
          <a:xfrm rot="5400000">
            <a:off x="1480392" y="5506160"/>
            <a:ext cx="106532" cy="37556"/>
          </a:xfrm>
          <a:prstGeom prst="triangle">
            <a:avLst/>
          </a:prstGeom>
          <a:solidFill>
            <a:srgbClr val="197EC6"/>
          </a:solidFill>
          <a:ln>
            <a:solidFill>
              <a:srgbClr val="197E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8" name="이등변 삼각형 37">
            <a:extLst>
              <a:ext uri="{FF2B5EF4-FFF2-40B4-BE49-F238E27FC236}">
                <a16:creationId xmlns:a16="http://schemas.microsoft.com/office/drawing/2014/main" id="{5E79B03E-0F3B-8700-98EE-91E359CFFEBB}"/>
              </a:ext>
            </a:extLst>
          </p:cNvPr>
          <p:cNvSpPr/>
          <p:nvPr/>
        </p:nvSpPr>
        <p:spPr>
          <a:xfrm rot="16200000">
            <a:off x="5362203" y="5492658"/>
            <a:ext cx="106532" cy="37556"/>
          </a:xfrm>
          <a:prstGeom prst="triangle">
            <a:avLst/>
          </a:prstGeom>
          <a:solidFill>
            <a:srgbClr val="197EC6"/>
          </a:solidFill>
          <a:ln>
            <a:solidFill>
              <a:srgbClr val="197E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050867-6752-ECD5-D411-B1CFFDC7236A}"/>
              </a:ext>
            </a:extLst>
          </p:cNvPr>
          <p:cNvSpPr txBox="1"/>
          <p:nvPr/>
        </p:nvSpPr>
        <p:spPr>
          <a:xfrm>
            <a:off x="1578324" y="4505848"/>
            <a:ext cx="3986768" cy="237012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900" b="1" dirty="0" err="1">
                <a:solidFill>
                  <a:schemeClr val="accent4">
                    <a:lumMod val="50000"/>
                  </a:schemeClr>
                </a:solidFill>
              </a:rPr>
              <a:t>MiniPlayer</a:t>
            </a:r>
            <a:r>
              <a:rPr lang="ko-KR" altLang="en-US" sz="900" b="1" dirty="0">
                <a:solidFill>
                  <a:schemeClr val="accent4">
                    <a:lumMod val="50000"/>
                  </a:schemeClr>
                </a:solidFill>
              </a:rPr>
              <a:t> 유지보수 </a:t>
            </a:r>
            <a:r>
              <a:rPr lang="en-US" altLang="ko-KR" sz="900" b="1" dirty="0">
                <a:solidFill>
                  <a:schemeClr val="accent4">
                    <a:lumMod val="50000"/>
                  </a:schemeClr>
                </a:solidFill>
              </a:rPr>
              <a:t>(</a:t>
            </a:r>
            <a:r>
              <a:rPr lang="ko-KR" altLang="en-US" sz="900" b="1" dirty="0">
                <a:solidFill>
                  <a:schemeClr val="accent4">
                    <a:lumMod val="50000"/>
                  </a:schemeClr>
                </a:solidFill>
              </a:rPr>
              <a:t>기능변경</a:t>
            </a:r>
            <a:r>
              <a:rPr lang="en-US" altLang="ko-KR" sz="900" b="1" dirty="0">
                <a:solidFill>
                  <a:schemeClr val="accent4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accent4">
                    <a:lumMod val="50000"/>
                  </a:schemeClr>
                </a:solidFill>
              </a:rPr>
              <a:t>수정</a:t>
            </a:r>
            <a:r>
              <a:rPr lang="en-US" altLang="ko-KR" sz="900" b="1" dirty="0">
                <a:solidFill>
                  <a:schemeClr val="accent4">
                    <a:lumMod val="50000"/>
                  </a:schemeClr>
                </a:solidFill>
              </a:rPr>
              <a:t>, </a:t>
            </a:r>
            <a:r>
              <a:rPr lang="ko-KR" altLang="en-US" sz="900" b="1" dirty="0">
                <a:solidFill>
                  <a:schemeClr val="accent4">
                    <a:lumMod val="50000"/>
                  </a:schemeClr>
                </a:solidFill>
              </a:rPr>
              <a:t>예외상황 예방</a:t>
            </a:r>
            <a:r>
              <a:rPr lang="en-US" altLang="ko-KR" sz="900" b="1" dirty="0">
                <a:solidFill>
                  <a:schemeClr val="accent4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accent4">
                    <a:lumMod val="50000"/>
                  </a:schemeClr>
                </a:solidFill>
              </a:rPr>
              <a:t>처리</a:t>
            </a:r>
            <a:r>
              <a:rPr lang="en-US" altLang="ko-KR" sz="900" b="1" dirty="0">
                <a:solidFill>
                  <a:schemeClr val="accent4">
                    <a:lumMod val="50000"/>
                  </a:schemeClr>
                </a:solidFill>
              </a:rPr>
              <a:t>, </a:t>
            </a:r>
            <a:r>
              <a:rPr lang="ko-KR" altLang="en-US" sz="900" b="1" dirty="0">
                <a:solidFill>
                  <a:schemeClr val="accent4">
                    <a:lumMod val="50000"/>
                  </a:schemeClr>
                </a:solidFill>
              </a:rPr>
              <a:t>성능육성</a:t>
            </a:r>
            <a:r>
              <a:rPr lang="en-US" altLang="ko-KR" sz="900" b="1" dirty="0">
                <a:solidFill>
                  <a:schemeClr val="accent4">
                    <a:lumMod val="50000"/>
                  </a:schemeClr>
                </a:solidFill>
              </a:rPr>
              <a:t>) </a:t>
            </a:r>
            <a:endParaRPr lang="ko-KR" altLang="en-US" sz="9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140D5FF-2414-3C10-5A1B-C137DCA1C78A}"/>
              </a:ext>
            </a:extLst>
          </p:cNvPr>
          <p:cNvCxnSpPr>
            <a:cxnSpLocks/>
          </p:cNvCxnSpPr>
          <p:nvPr/>
        </p:nvCxnSpPr>
        <p:spPr>
          <a:xfrm flipH="1">
            <a:off x="1525022" y="4862108"/>
            <a:ext cx="3863626" cy="11493"/>
          </a:xfrm>
          <a:prstGeom prst="line">
            <a:avLst/>
          </a:prstGeom>
          <a:solidFill>
            <a:schemeClr val="accent6">
              <a:lumMod val="50000"/>
            </a:schemeClr>
          </a:solidFill>
          <a:ln w="28575">
            <a:solidFill>
              <a:schemeClr val="accent4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이등변 삼각형 11">
            <a:extLst>
              <a:ext uri="{FF2B5EF4-FFF2-40B4-BE49-F238E27FC236}">
                <a16:creationId xmlns:a16="http://schemas.microsoft.com/office/drawing/2014/main" id="{3FDEF1EF-E4C0-6BBF-C18F-E623567FC829}"/>
              </a:ext>
            </a:extLst>
          </p:cNvPr>
          <p:cNvSpPr/>
          <p:nvPr/>
        </p:nvSpPr>
        <p:spPr>
          <a:xfrm rot="5400000">
            <a:off x="1480392" y="4854823"/>
            <a:ext cx="106532" cy="37556"/>
          </a:xfrm>
          <a:prstGeom prst="triangl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3" name="이등변 삼각형 12">
            <a:extLst>
              <a:ext uri="{FF2B5EF4-FFF2-40B4-BE49-F238E27FC236}">
                <a16:creationId xmlns:a16="http://schemas.microsoft.com/office/drawing/2014/main" id="{0C4483FA-9ACF-8DE4-68E0-E81C51C607BC}"/>
              </a:ext>
            </a:extLst>
          </p:cNvPr>
          <p:cNvSpPr/>
          <p:nvPr/>
        </p:nvSpPr>
        <p:spPr>
          <a:xfrm rot="16200000">
            <a:off x="5362203" y="4843330"/>
            <a:ext cx="106532" cy="37556"/>
          </a:xfrm>
          <a:prstGeom prst="triangl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91762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8. </a:t>
            </a:r>
            <a:r>
              <a:rPr lang="ko-KR" altLang="en-US" dirty="0">
                <a:latin typeface="+mn-ea"/>
                <a:ea typeface="+mn-ea"/>
              </a:rPr>
              <a:t>최종개발 산출물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423525" cy="244608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712083-6108-4D69-B2EA-10CB2254CA9A}"/>
              </a:ext>
            </a:extLst>
          </p:cNvPr>
          <p:cNvSpPr txBox="1"/>
          <p:nvPr/>
        </p:nvSpPr>
        <p:spPr>
          <a:xfrm>
            <a:off x="408373" y="717066"/>
            <a:ext cx="15712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>
                <a:latin typeface="+mn-ea"/>
              </a:rPr>
              <a:t>산출물 목록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27A873B-FF18-45D4-A660-45C942968C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2455994"/>
              </p:ext>
            </p:extLst>
          </p:nvPr>
        </p:nvGraphicFramePr>
        <p:xfrm>
          <a:off x="408373" y="1168372"/>
          <a:ext cx="9086377" cy="5327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9617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1459037">
                  <a:extLst>
                    <a:ext uri="{9D8B030D-6E8A-4147-A177-3AD203B41FA5}">
                      <a16:colId xmlns:a16="http://schemas.microsoft.com/office/drawing/2014/main" val="2200296800"/>
                    </a:ext>
                  </a:extLst>
                </a:gridCol>
                <a:gridCol w="3354625">
                  <a:extLst>
                    <a:ext uri="{9D8B030D-6E8A-4147-A177-3AD203B41FA5}">
                      <a16:colId xmlns:a16="http://schemas.microsoft.com/office/drawing/2014/main" val="3571926780"/>
                    </a:ext>
                  </a:extLst>
                </a:gridCol>
                <a:gridCol w="1681722">
                  <a:extLst>
                    <a:ext uri="{9D8B030D-6E8A-4147-A177-3AD203B41FA5}">
                      <a16:colId xmlns:a16="http://schemas.microsoft.com/office/drawing/2014/main" val="3359348606"/>
                    </a:ext>
                  </a:extLst>
                </a:gridCol>
                <a:gridCol w="1721376">
                  <a:extLst>
                    <a:ext uri="{9D8B030D-6E8A-4147-A177-3AD203B41FA5}">
                      <a16:colId xmlns:a16="http://schemas.microsoft.com/office/drawing/2014/main" val="344365675"/>
                    </a:ext>
                  </a:extLst>
                </a:gridCol>
              </a:tblGrid>
              <a:tr h="35365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분 류</a:t>
                      </a:r>
                    </a:p>
                  </a:txBody>
                  <a:tcPr marL="0" marR="0" marT="72000" marB="72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 목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제출 형태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제출일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061218"/>
                  </a:ext>
                </a:extLst>
              </a:tr>
              <a:tr h="110200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보고서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완료보고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완료 보고서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S/W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개발 내역 및 산출물 보고서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742950" lvl="1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소스 코드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릴리즈 노트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S/W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검증 보고서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742950" lvl="1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QAC / </a:t>
                      </a:r>
                      <a:r>
                        <a:rPr lang="en-US" altLang="ko-KR" sz="1000" dirty="0" err="1">
                          <a:latin typeface="+mn-ea"/>
                          <a:ea typeface="+mn-ea"/>
                        </a:rPr>
                        <a:t>CodeSonar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M+6</a:t>
                      </a:r>
                      <a:br>
                        <a:rPr lang="en-US" altLang="ko-KR" sz="1000" dirty="0">
                          <a:latin typeface="+mn-ea"/>
                          <a:ea typeface="+mn-ea"/>
                        </a:rPr>
                      </a:b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(2026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06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월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6 M/M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투입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매주 주간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보고</a:t>
                      </a: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374225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바이너리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&amp;</a:t>
                      </a:r>
                    </a:p>
                    <a:p>
                      <a:pPr algn="ctr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소스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완료보고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b="0" strike="noStrike" spc="-1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Radio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전체 소스 경로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: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ko-KR" sz="1000" dirty="0" err="1">
                          <a:latin typeface="+mn-ea"/>
                          <a:ea typeface="+mn-ea"/>
                          <a:hlinkClick r:id="rId2"/>
                        </a:rPr>
                        <a:t>Browse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2"/>
                        </a:rPr>
                        <a:t> M.HMI / </a:t>
                      </a:r>
                      <a:r>
                        <a:rPr lang="ko-KR" altLang="ko-KR" sz="1000" dirty="0" err="1">
                          <a:latin typeface="+mn-ea"/>
                          <a:ea typeface="+mn-ea"/>
                          <a:hlinkClick r:id="rId2"/>
                        </a:rPr>
                        <a:t>platform.vendor.mobis.packages.apps.radio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2"/>
                        </a:rPr>
                        <a:t> - </a:t>
                      </a:r>
                      <a:r>
                        <a:rPr lang="ko-KR" altLang="ko-KR" sz="1000" dirty="0" err="1">
                          <a:latin typeface="+mn-ea"/>
                          <a:ea typeface="+mn-ea"/>
                          <a:hlinkClick r:id="rId2"/>
                        </a:rPr>
                        <a:t>Bitbucket</a:t>
                      </a:r>
                      <a:endParaRPr lang="en-US" altLang="ko-KR" sz="1000" b="0" strike="noStrike" spc="-1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DMB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전체 소스 경로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: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ko-KR" sz="1000" dirty="0" err="1">
                          <a:latin typeface="+mn-ea"/>
                          <a:ea typeface="+mn-ea"/>
                          <a:hlinkClick r:id="rId3"/>
                        </a:rPr>
                        <a:t>Browse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3"/>
                        </a:rPr>
                        <a:t> M.HMI / </a:t>
                      </a:r>
                      <a:r>
                        <a:rPr lang="ko-KR" altLang="ko-KR" sz="1000" dirty="0" err="1">
                          <a:latin typeface="+mn-ea"/>
                          <a:ea typeface="+mn-ea"/>
                          <a:hlinkClick r:id="rId3"/>
                        </a:rPr>
                        <a:t>platform.vendor.mobis.packages.apps.DMB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3"/>
                        </a:rPr>
                        <a:t> - </a:t>
                      </a:r>
                      <a:r>
                        <a:rPr lang="ko-KR" altLang="ko-KR" sz="1000" dirty="0" err="1">
                          <a:latin typeface="+mn-ea"/>
                          <a:ea typeface="+mn-ea"/>
                          <a:hlinkClick r:id="rId3"/>
                        </a:rPr>
                        <a:t>Bitbucket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 err="1">
                          <a:latin typeface="+mn-ea"/>
                          <a:ea typeface="+mn-ea"/>
                        </a:rPr>
                        <a:t>MiniPlayer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전체 소스 경로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: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ko-KR" sz="1000" dirty="0" err="1">
                          <a:latin typeface="+mn-ea"/>
                          <a:ea typeface="+mn-ea"/>
                          <a:hlinkClick r:id="rId4"/>
                        </a:rPr>
                        <a:t>Browse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4"/>
                        </a:rPr>
                        <a:t> M.HMI / </a:t>
                      </a:r>
                      <a:r>
                        <a:rPr lang="ko-KR" altLang="ko-KR" sz="1000" dirty="0" err="1">
                          <a:latin typeface="+mn-ea"/>
                          <a:ea typeface="+mn-ea"/>
                          <a:hlinkClick r:id="rId4"/>
                        </a:rPr>
                        <a:t>platform.vendor.mobis.packages.apps.MiniPlayer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4"/>
                        </a:rPr>
                        <a:t> </a:t>
                      </a:r>
                      <a:r>
                        <a:rPr lang="en-US" altLang="ko-KR" sz="1000" dirty="0">
                          <a:latin typeface="+mn-ea"/>
                          <a:ea typeface="+mn-ea"/>
                          <a:hlinkClick r:id="rId4"/>
                        </a:rPr>
                        <a:t>–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4"/>
                        </a:rPr>
                        <a:t> </a:t>
                      </a:r>
                      <a:r>
                        <a:rPr lang="ko-KR" altLang="ko-KR" sz="1000" dirty="0" err="1">
                          <a:latin typeface="+mn-ea"/>
                          <a:ea typeface="+mn-ea"/>
                          <a:hlinkClick r:id="rId4"/>
                        </a:rPr>
                        <a:t>Bitbucket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 err="1">
                          <a:latin typeface="+mn-ea"/>
                          <a:ea typeface="+mn-ea"/>
                        </a:rPr>
                        <a:t>RearCare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전체 소스 경로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: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ko-KR" sz="1000" dirty="0" err="1">
                          <a:latin typeface="+mn-ea"/>
                          <a:ea typeface="+mn-ea"/>
                          <a:hlinkClick r:id="rId5"/>
                        </a:rPr>
                        <a:t>Browse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5"/>
                        </a:rPr>
                        <a:t> M.HMI / </a:t>
                      </a:r>
                      <a:r>
                        <a:rPr lang="ko-KR" altLang="ko-KR" sz="1000" dirty="0" err="1">
                          <a:latin typeface="+mn-ea"/>
                          <a:ea typeface="+mn-ea"/>
                          <a:hlinkClick r:id="rId5"/>
                        </a:rPr>
                        <a:t>platform.vendor.mobis.packages.apps.RearCareMode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5"/>
                        </a:rPr>
                        <a:t> </a:t>
                      </a:r>
                      <a:r>
                        <a:rPr lang="en-US" altLang="ko-KR" sz="1000" dirty="0">
                          <a:latin typeface="+mn-ea"/>
                          <a:ea typeface="+mn-ea"/>
                          <a:hlinkClick r:id="rId5"/>
                        </a:rPr>
                        <a:t>–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5"/>
                        </a:rPr>
                        <a:t> </a:t>
                      </a:r>
                      <a:r>
                        <a:rPr lang="ko-KR" altLang="ko-KR" sz="1000" dirty="0" err="1">
                          <a:latin typeface="+mn-ea"/>
                          <a:ea typeface="+mn-ea"/>
                          <a:hlinkClick r:id="rId5"/>
                        </a:rPr>
                        <a:t>Bitbucket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M+6</a:t>
                      </a:r>
                      <a:br>
                        <a:rPr lang="en-US" altLang="ko-KR" sz="1000" dirty="0">
                          <a:latin typeface="+mn-ea"/>
                          <a:ea typeface="+mn-ea"/>
                        </a:rPr>
                      </a:b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(2026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06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월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6 M/M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투입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매주 주간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보고</a:t>
                      </a: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735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54534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9-1. </a:t>
            </a:r>
            <a:r>
              <a:rPr lang="ko-KR" altLang="en-US" dirty="0">
                <a:latin typeface="+mn-ea"/>
                <a:ea typeface="+mn-ea"/>
              </a:rPr>
              <a:t>인력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투입</a:t>
            </a:r>
            <a:r>
              <a:rPr lang="en-US" altLang="ko-KR" dirty="0">
                <a:latin typeface="+mn-ea"/>
                <a:ea typeface="+mn-ea"/>
              </a:rPr>
              <a:t>(</a:t>
            </a:r>
            <a:r>
              <a:rPr lang="ko-KR" altLang="en-US" dirty="0" err="1">
                <a:latin typeface="+mn-ea"/>
                <a:ea typeface="+mn-ea"/>
              </a:rPr>
              <a:t>계약공수</a:t>
            </a:r>
            <a:r>
              <a:rPr lang="en-US" altLang="ko-KR" dirty="0">
                <a:latin typeface="+mn-ea"/>
                <a:ea typeface="+mn-ea"/>
              </a:rPr>
              <a:t>)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209014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8B1DF5-25DC-3317-FD0B-76C1E2E69A7C}"/>
              </a:ext>
            </a:extLst>
          </p:cNvPr>
          <p:cNvSpPr txBox="1"/>
          <p:nvPr/>
        </p:nvSpPr>
        <p:spPr>
          <a:xfrm>
            <a:off x="390160" y="651908"/>
            <a:ext cx="58016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>
                <a:latin typeface="+mn-ea"/>
              </a:rPr>
              <a:t>용역 기간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총 </a:t>
            </a:r>
            <a:r>
              <a:rPr lang="en-US" altLang="ko-KR" sz="1600" dirty="0">
                <a:latin typeface="+mn-ea"/>
              </a:rPr>
              <a:t>6</a:t>
            </a:r>
            <a:r>
              <a:rPr lang="ko-KR" altLang="en-US" sz="1600" dirty="0">
                <a:latin typeface="+mn-ea"/>
              </a:rPr>
              <a:t>개월</a:t>
            </a:r>
            <a:r>
              <a:rPr lang="en-US" altLang="ko-KR" sz="1600" dirty="0">
                <a:latin typeface="+mn-ea"/>
              </a:rPr>
              <a:t>(2026.01.01 ~ 2026.06.30)</a:t>
            </a:r>
            <a:endParaRPr lang="ko-KR" altLang="en-US" sz="1600" dirty="0">
              <a:latin typeface="+mn-ea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B6E68C4-4E57-164B-5583-2F1A4E1434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236037"/>
              </p:ext>
            </p:extLst>
          </p:nvPr>
        </p:nvGraphicFramePr>
        <p:xfrm>
          <a:off x="528199" y="1044734"/>
          <a:ext cx="8807391" cy="54338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9008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1062166">
                  <a:extLst>
                    <a:ext uri="{9D8B030D-6E8A-4147-A177-3AD203B41FA5}">
                      <a16:colId xmlns:a16="http://schemas.microsoft.com/office/drawing/2014/main" val="1519100431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3359348606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1534966613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688814761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3702110034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3148098593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3770331782"/>
                    </a:ext>
                  </a:extLst>
                </a:gridCol>
                <a:gridCol w="946833">
                  <a:extLst>
                    <a:ext uri="{9D8B030D-6E8A-4147-A177-3AD203B41FA5}">
                      <a16:colId xmlns:a16="http://schemas.microsoft.com/office/drawing/2014/main" val="4218837671"/>
                    </a:ext>
                  </a:extLst>
                </a:gridCol>
              </a:tblGrid>
              <a:tr h="34954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인력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등급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M+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087584"/>
                  </a:ext>
                </a:extLst>
              </a:tr>
              <a:tr h="3177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061218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내수</a:t>
                      </a:r>
                      <a:r>
                        <a:rPr lang="en-US" altLang="ko-KR" sz="1000" spc="-50" baseline="0" dirty="0">
                          <a:latin typeface="+mn-ea"/>
                          <a:ea typeface="+mn-ea"/>
                        </a:rPr>
                        <a:t> Radio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3139628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1771772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583139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368183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유럽</a:t>
                      </a:r>
                      <a:r>
                        <a:rPr lang="en-US" altLang="ko-KR" sz="1000" spc="-50" baseline="0" dirty="0">
                          <a:latin typeface="+mn-ea"/>
                          <a:ea typeface="+mn-ea"/>
                        </a:rPr>
                        <a:t> Radio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11815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2.4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5097988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1648744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5630652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767859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pc="-50" baseline="0" dirty="0">
                          <a:latin typeface="+mn-ea"/>
                          <a:ea typeface="+mn-ea"/>
                        </a:rPr>
                        <a:t>DMB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387099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034235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41316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265185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0.6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0.6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0.6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0.6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3.6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206676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pc="-50" baseline="0" dirty="0">
                          <a:latin typeface="+mn-ea"/>
                          <a:ea typeface="+mn-ea"/>
                        </a:rPr>
                        <a:t>MiniPlayer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3170664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1085992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908552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3939654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0419862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pc="-50" baseline="0" dirty="0" err="1">
                          <a:latin typeface="+mn-ea"/>
                          <a:ea typeface="+mn-ea"/>
                        </a:rPr>
                        <a:t>RearCareMod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951112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3473037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6027317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5552665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840997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총합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5.4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478827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5.4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507463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5.4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10974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3911740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2.7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2.7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2.7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2.7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2.7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2.7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16.2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20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45802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321FC-67FB-27D3-8C14-EA4916803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2763FB-3F0D-D94C-981D-4F205E705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9-2. </a:t>
            </a:r>
            <a:r>
              <a:rPr lang="ko-KR" altLang="en-US" dirty="0">
                <a:latin typeface="+mn-ea"/>
                <a:ea typeface="+mn-ea"/>
              </a:rPr>
              <a:t>인력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투입</a:t>
            </a:r>
            <a:r>
              <a:rPr lang="en-US" altLang="ko-KR" dirty="0">
                <a:latin typeface="+mn-ea"/>
                <a:ea typeface="+mn-ea"/>
              </a:rPr>
              <a:t>(</a:t>
            </a:r>
            <a:r>
              <a:rPr lang="ko-KR" altLang="en-US" dirty="0" err="1">
                <a:latin typeface="+mn-ea"/>
                <a:ea typeface="+mn-ea"/>
              </a:rPr>
              <a:t>실제투입공수</a:t>
            </a:r>
            <a:r>
              <a:rPr lang="en-US" altLang="ko-KR" dirty="0">
                <a:latin typeface="+mn-ea"/>
                <a:ea typeface="+mn-ea"/>
              </a:rPr>
              <a:t>)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AB8C3F7-8A82-9C85-3E86-42E2AE96D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209014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B9ADC1-A20B-C593-354E-9FD1C1777C3F}"/>
              </a:ext>
            </a:extLst>
          </p:cNvPr>
          <p:cNvSpPr txBox="1"/>
          <p:nvPr/>
        </p:nvSpPr>
        <p:spPr>
          <a:xfrm>
            <a:off x="390160" y="651908"/>
            <a:ext cx="58016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>
                <a:latin typeface="+mn-ea"/>
              </a:rPr>
              <a:t>용역 기간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총 </a:t>
            </a:r>
            <a:r>
              <a:rPr lang="en-US" altLang="ko-KR" sz="1600" dirty="0">
                <a:latin typeface="+mn-ea"/>
              </a:rPr>
              <a:t>6</a:t>
            </a:r>
            <a:r>
              <a:rPr lang="ko-KR" altLang="en-US" sz="1600" dirty="0">
                <a:latin typeface="+mn-ea"/>
              </a:rPr>
              <a:t>개월</a:t>
            </a:r>
            <a:r>
              <a:rPr lang="en-US" altLang="ko-KR" sz="1600" dirty="0">
                <a:latin typeface="+mn-ea"/>
              </a:rPr>
              <a:t>(2026.01.01 ~ 2026.06.30)</a:t>
            </a:r>
            <a:endParaRPr lang="ko-KR" altLang="en-US" sz="1600" dirty="0">
              <a:latin typeface="+mn-ea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26ADF0C-5CC5-E011-5595-231CDF7E56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3608455"/>
              </p:ext>
            </p:extLst>
          </p:nvPr>
        </p:nvGraphicFramePr>
        <p:xfrm>
          <a:off x="528199" y="1062095"/>
          <a:ext cx="8807391" cy="54338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9008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1062166">
                  <a:extLst>
                    <a:ext uri="{9D8B030D-6E8A-4147-A177-3AD203B41FA5}">
                      <a16:colId xmlns:a16="http://schemas.microsoft.com/office/drawing/2014/main" val="1519100431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3359348606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1534966613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688814761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3702110034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3148098593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3770331782"/>
                    </a:ext>
                  </a:extLst>
                </a:gridCol>
                <a:gridCol w="946833">
                  <a:extLst>
                    <a:ext uri="{9D8B030D-6E8A-4147-A177-3AD203B41FA5}">
                      <a16:colId xmlns:a16="http://schemas.microsoft.com/office/drawing/2014/main" val="4218837671"/>
                    </a:ext>
                  </a:extLst>
                </a:gridCol>
              </a:tblGrid>
              <a:tr h="34954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인력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등급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M+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087584"/>
                  </a:ext>
                </a:extLst>
              </a:tr>
              <a:tr h="3177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061218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내수</a:t>
                      </a:r>
                      <a:r>
                        <a:rPr lang="en-US" altLang="ko-KR" sz="1000" spc="-50" baseline="0" dirty="0">
                          <a:latin typeface="+mn-ea"/>
                          <a:ea typeface="+mn-ea"/>
                        </a:rPr>
                        <a:t> Radio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1.08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1.38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3139628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1771772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583139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0.52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2.46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368183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유럽</a:t>
                      </a:r>
                      <a:r>
                        <a:rPr lang="en-US" altLang="ko-KR" sz="1000" spc="-50" baseline="0" dirty="0">
                          <a:latin typeface="+mn-ea"/>
                          <a:ea typeface="+mn-ea"/>
                        </a:rPr>
                        <a:t> Radio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0.45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0.42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0.43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0.43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2.33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11815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0.55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0.58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0.57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0.57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0.55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3.02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5097988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1648744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5630652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0.95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5.35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767859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pc="-50" baseline="0" dirty="0">
                          <a:latin typeface="+mn-ea"/>
                          <a:ea typeface="+mn-ea"/>
                        </a:rPr>
                        <a:t>DMB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0.41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2.27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387099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0.22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034235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41316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265185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0.62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0.53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0.57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0.64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0.55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0.55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3.47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206676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pc="-50" baseline="0" dirty="0">
                          <a:latin typeface="+mn-ea"/>
                          <a:ea typeface="+mn-ea"/>
                        </a:rPr>
                        <a:t>MiniPlayer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3170664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1085992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1.49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908552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3939654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1.49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0419862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pc="-50" baseline="0" dirty="0" err="1">
                          <a:latin typeface="+mn-ea"/>
                          <a:ea typeface="+mn-ea"/>
                        </a:rPr>
                        <a:t>RearCareMode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951112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3473037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0.38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0.35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0.03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0.03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1.09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6027317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5552665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0.38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0.35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0.03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0.03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1.09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840997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총합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1.03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1.02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1.05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0.89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0.94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5.68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478827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0.84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1.07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1.06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0.95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507463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0.78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0.82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0.14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0.14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2.58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10974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3911740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2.65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2.7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2.59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2.18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2.09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2.09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13.86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20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72798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ABC05C24-A9C8-4DB8-81A2-0F8E5804F1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직사각형 2">
            <a:hlinkClick r:id="rId4"/>
          </p:cNvPr>
          <p:cNvSpPr/>
          <p:nvPr/>
        </p:nvSpPr>
        <p:spPr>
          <a:xfrm>
            <a:off x="8486261" y="6306085"/>
            <a:ext cx="1160929" cy="151425"/>
          </a:xfrm>
          <a:prstGeom prst="rect">
            <a:avLst/>
          </a:prstGeom>
          <a:noFill/>
          <a:ln>
            <a:noFill/>
            <a:prstDash val="sysDot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41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836275D-A649-4F89-A345-2743868096BA}"/>
              </a:ext>
            </a:extLst>
          </p:cNvPr>
          <p:cNvSpPr/>
          <p:nvPr/>
        </p:nvSpPr>
        <p:spPr>
          <a:xfrm>
            <a:off x="0" y="5862"/>
            <a:ext cx="9906000" cy="6858000"/>
          </a:xfrm>
          <a:prstGeom prst="rect">
            <a:avLst/>
          </a:prstGeom>
          <a:solidFill>
            <a:schemeClr val="accent5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863543" y="2646681"/>
            <a:ext cx="4038012" cy="12618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감사합니다</a:t>
            </a:r>
            <a:endParaRPr lang="en-US" altLang="ko-KR" sz="6000" b="1" dirty="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10C7DF-13B7-4D34-AE1A-C7CCF9C594FA}"/>
              </a:ext>
            </a:extLst>
          </p:cNvPr>
          <p:cNvSpPr txBox="1"/>
          <p:nvPr/>
        </p:nvSpPr>
        <p:spPr>
          <a:xfrm>
            <a:off x="7612208" y="6128968"/>
            <a:ext cx="2287806" cy="57541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b="1" dirty="0">
                <a:solidFill>
                  <a:schemeClr val="accent5">
                    <a:lumMod val="50000"/>
                  </a:schemeClr>
                </a:solidFill>
              </a:rPr>
              <a:t>㈜</a:t>
            </a:r>
            <a:r>
              <a:rPr lang="ko-KR" altLang="en-US" sz="2000" b="1" dirty="0">
                <a:solidFill>
                  <a:schemeClr val="accent5">
                    <a:lumMod val="50000"/>
                  </a:schemeClr>
                </a:solidFill>
              </a:rPr>
              <a:t>투비원솔루션즈</a:t>
            </a:r>
            <a:endParaRPr lang="ko-KR" altLang="en-US" sz="2400"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2992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20875</TotalTime>
  <Words>4347</Words>
  <Application>Microsoft Office PowerPoint</Application>
  <PresentationFormat>A4 용지(210x297mm)</PresentationFormat>
  <Paragraphs>1210</Paragraphs>
  <Slides>24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2" baseType="lpstr">
      <vt:lpstr>Noto Sans CJK KR</vt:lpstr>
      <vt:lpstr>굴림</vt:lpstr>
      <vt:lpstr>맑은 고딕</vt:lpstr>
      <vt:lpstr>Arial</vt:lpstr>
      <vt:lpstr>Calibri</vt:lpstr>
      <vt:lpstr>Calibri Light</vt:lpstr>
      <vt:lpstr>Wingdings</vt:lpstr>
      <vt:lpstr>Office 테마</vt:lpstr>
      <vt:lpstr>PowerPoint 프레젠테이션</vt:lpstr>
      <vt:lpstr>1. 용역 개요</vt:lpstr>
      <vt:lpstr>2. 용역 내용 및 범위</vt:lpstr>
      <vt:lpstr>3. 유지보수 업무 절차</vt:lpstr>
      <vt:lpstr>4. 월별 유지 보수 현황</vt:lpstr>
      <vt:lpstr>5. 유지보수 요청사항 처리</vt:lpstr>
      <vt:lpstr>5. 유지보수 요청사항 처리</vt:lpstr>
      <vt:lpstr>5. 유지보수 요청사항 처리</vt:lpstr>
      <vt:lpstr>6. 유지보수 내역(Radio)</vt:lpstr>
      <vt:lpstr>6. 유지보수 내역(Radio)</vt:lpstr>
      <vt:lpstr>6. 유지보수 내역(Radio)</vt:lpstr>
      <vt:lpstr>6. 유지보수 내역(DMB)</vt:lpstr>
      <vt:lpstr>6. 유지보수 내역(DMB)</vt:lpstr>
      <vt:lpstr>6. 유지보수 내역(DMB)</vt:lpstr>
      <vt:lpstr>6. 유지보수 내역(MiniPlayer)</vt:lpstr>
      <vt:lpstr>6. 유지보수 내역(MiniPlayer)</vt:lpstr>
      <vt:lpstr>6. 유지보수 내역(MiniPlayer)</vt:lpstr>
      <vt:lpstr>6. 유지보수 내역(RearCareMode)</vt:lpstr>
      <vt:lpstr>6. 유지보수 내역(RearCareMode)</vt:lpstr>
      <vt:lpstr>7. 용역 일정</vt:lpstr>
      <vt:lpstr>8. 최종개발 산출물</vt:lpstr>
      <vt:lpstr>9-1. 인력 투입(계약공수)</vt:lpstr>
      <vt:lpstr>9-2. 인력 투입(실제투입공수)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Kwon Huh</dc:creator>
  <cp:lastModifiedBy>부재식 (주)투비원솔루션즈</cp:lastModifiedBy>
  <cp:revision>592</cp:revision>
  <cp:lastPrinted>2018-07-16T02:44:16Z</cp:lastPrinted>
  <dcterms:created xsi:type="dcterms:W3CDTF">2017-09-07T02:36:35Z</dcterms:created>
  <dcterms:modified xsi:type="dcterms:W3CDTF">2026-06-11T06:18:04Z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d0bc021-0c43-4029-a072-964d39f3070b_Enabled">
    <vt:lpwstr>true</vt:lpwstr>
  </property>
  <property fmtid="{D5CDD505-2E9C-101B-9397-08002B2CF9AE}" pid="3" name="MSIP_Label_cd0bc021-0c43-4029-a072-964d39f3070b_SetDate">
    <vt:lpwstr>2022-09-05T07:40:19Z</vt:lpwstr>
  </property>
  <property fmtid="{D5CDD505-2E9C-101B-9397-08002B2CF9AE}" pid="4" name="MSIP_Label_cd0bc021-0c43-4029-a072-964d39f3070b_Method">
    <vt:lpwstr>Privileged</vt:lpwstr>
  </property>
  <property fmtid="{D5CDD505-2E9C-101B-9397-08002B2CF9AE}" pid="5" name="MSIP_Label_cd0bc021-0c43-4029-a072-964d39f3070b_Name">
    <vt:lpwstr>일반(General)</vt:lpwstr>
  </property>
  <property fmtid="{D5CDD505-2E9C-101B-9397-08002B2CF9AE}" pid="6" name="MSIP_Label_cd0bc021-0c43-4029-a072-964d39f3070b_SiteId">
    <vt:lpwstr>7cf932c0-bced-4490-b11f-48d23b1fe0d9</vt:lpwstr>
  </property>
  <property fmtid="{D5CDD505-2E9C-101B-9397-08002B2CF9AE}" pid="7" name="MSIP_Label_cd0bc021-0c43-4029-a072-964d39f3070b_ActionId">
    <vt:lpwstr>5341107d-1e13-4f28-9255-ed4bbdf875f1</vt:lpwstr>
  </property>
  <property fmtid="{D5CDD505-2E9C-101B-9397-08002B2CF9AE}" pid="8" name="MSIP_Label_cd0bc021-0c43-4029-a072-964d39f3070b_ContentBits">
    <vt:lpwstr>0</vt:lpwstr>
  </property>
</Properties>
</file>