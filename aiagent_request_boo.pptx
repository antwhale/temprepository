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6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68843E-53AF-602D-34B2-5BA39DC7A6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EC9E1A3-CFB3-5BE6-9685-FE154B069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F16016-29E7-A0F7-F3EC-3409FCE84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C78EE-4DB6-4042-AA3A-D2BFEF3B450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5EEFE6-6435-496B-7621-74C9C3C40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51F5FA-FC87-1976-8919-8B647FC28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5130D-3550-4E63-ABB2-0D0AE3D6B9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215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8ECE7A-E455-755E-C50E-FB4CC0EDD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47F4EC-DE94-8B0B-AF31-ADCE2DD84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DD3762-54B2-1C76-0982-2B4320145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C78EE-4DB6-4042-AA3A-D2BFEF3B450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01A43B-D823-6B76-F69C-220662ABC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5E3084-BDFB-C6DB-25FF-F44A90FF4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5130D-3550-4E63-ABB2-0D0AE3D6B9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251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88D1F2-259B-B9C1-04F4-2D786F479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65144F-F5A1-1E1E-0ACE-C8E55722A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47DCE8-F4A0-2E28-83DC-DAA996120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C78EE-4DB6-4042-AA3A-D2BFEF3B450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11DC18-1ACB-7F10-D8A6-5020D089B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D84B20-A196-D993-F758-71CA6A7D1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5130D-3550-4E63-ABB2-0D0AE3D6B9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453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A4D96-20A9-8307-623A-68FAC1DAE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FD66CD-6560-08B6-496D-A238E885AA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8DB478-356C-476F-F0A6-4C2A0F829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448708-3545-699F-C4DF-398AE1D15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C78EE-4DB6-4042-AA3A-D2BFEF3B450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E3E4C77-1BF3-22F8-380D-EC7BB0633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52341E-D94A-4464-A906-C44231AAE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5130D-3550-4E63-ABB2-0D0AE3D6B9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936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CAB230-CBF0-DCD6-A4DE-3EE85C7F6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516406-C760-F572-17E8-2AEB21DAAC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9F7C95-FD63-8382-3391-FCDE65D59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4003F37-2E5C-502A-073A-BFBC0CB6E5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3E25209-F549-7864-CB97-EB2E28182C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2F9C913-D1AA-5313-553B-936F4A35D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C78EE-4DB6-4042-AA3A-D2BFEF3B450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C6958C4-EB4A-221B-8F33-D56F4D472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EA2BCA7-C7B2-D449-9E1C-D034D4D12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5130D-3550-4E63-ABB2-0D0AE3D6B9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321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20E216-9DB1-0A62-E324-BB66C8AB1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DC5BD6F-B06C-D507-8985-62A7F71D7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C78EE-4DB6-4042-AA3A-D2BFEF3B450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1ED977D-2D7E-88B8-D0C0-90AF879AC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DE52BD-3A56-9312-513E-AF89E58AF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5130D-3550-4E63-ABB2-0D0AE3D6B9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560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05DC65-96B2-D340-5C0A-8AE320EE2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C78EE-4DB6-4042-AA3A-D2BFEF3B450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056F0E5-D36A-9ECB-B797-AA4DE2EB7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8DAA52-54F4-F4F8-D3A6-A41775632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5130D-3550-4E63-ABB2-0D0AE3D6B9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066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CA5CE-DC0F-8127-C489-EB1CD9A39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1B0E5B-E368-DBF6-9B14-7E3B0309E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71DAA0-06FA-F1C2-E0FA-361A33AEE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37DEE-58B6-4FD0-6840-BE4974671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C78EE-4DB6-4042-AA3A-D2BFEF3B450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7D68BD2-1CFE-34A9-1106-CE3ACCB1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7B98DA-4456-B9AB-87CD-0AA40A316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5130D-3550-4E63-ABB2-0D0AE3D6B9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4774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9D61FE-F5DA-3978-9A61-38A0F4814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9C213AE-C00E-82A4-2B95-A9A69C1269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D55D9C-73CE-B92C-8638-8820245A4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FFE707-1762-3278-60A6-E0BA7226F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C78EE-4DB6-4042-AA3A-D2BFEF3B450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E8531E-850F-6023-50DD-2A73B7704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1C9B01B-B18E-D7FB-416B-16CB0DD5D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5130D-3550-4E63-ABB2-0D0AE3D6B9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636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4C3CF8-F733-6AB6-5AAD-590EE3989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B1752A-E39D-1E35-99DB-C683DB41DC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FB371D-033E-3B88-9EE7-6F41A4D8D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C78EE-4DB6-4042-AA3A-D2BFEF3B450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5C555A-A72D-9C86-A05C-B16941CF3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B86E74-2C7C-B67D-C84A-75AC391D9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5130D-3550-4E63-ABB2-0D0AE3D6B9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4868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09742D-112D-B2E1-3575-5302603D48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2BAC300-535C-515B-CCB7-0D2768AC3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A1AFAA-02CD-FA34-DFB1-578205DDF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C78EE-4DB6-4042-AA3A-D2BFEF3B450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0FE5BA-1DFF-949A-6680-82AE962F3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DFE743-8CC9-B8BD-C7B2-CD7353F64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5130D-3550-4E63-ABB2-0D0AE3D6B9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02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BC9EBAF-44C3-EE1C-B976-38843482C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83E462-27F2-469C-A6ED-ABF474BBB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4C4331-A982-F777-E0F8-74769A6189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C78EE-4DB6-4042-AA3A-D2BFEF3B4500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0E78FB-4DC5-0314-6832-497E3F8226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4B7301-65BA-6984-F81E-102F51385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45130D-3550-4E63-ABB2-0D0AE3D6B9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6581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5431BA1-55AE-C73A-2A56-AFBAB16A6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54" y="262550"/>
            <a:ext cx="10078691" cy="726462"/>
          </a:xfrm>
        </p:spPr>
        <p:txBody>
          <a:bodyPr>
            <a:normAutofit/>
          </a:bodyPr>
          <a:lstStyle/>
          <a:p>
            <a:r>
              <a:rPr lang="en-US" altLang="ko-KR" dirty="0"/>
              <a:t>Mobis Orchestrator </a:t>
            </a:r>
            <a:r>
              <a:rPr lang="ko-KR" altLang="ko-KR" dirty="0"/>
              <a:t>라이브러리</a:t>
            </a:r>
            <a:r>
              <a:rPr lang="en-US" altLang="ko-KR" dirty="0"/>
              <a:t> </a:t>
            </a:r>
            <a:r>
              <a:rPr lang="ko-KR" altLang="en-US" dirty="0"/>
              <a:t>연동된 </a:t>
            </a:r>
            <a:r>
              <a:rPr lang="en-US" altLang="ko-KR" dirty="0"/>
              <a:t>AIAgent </a:t>
            </a:r>
            <a:r>
              <a:rPr lang="ko-KR" altLang="en-US" dirty="0"/>
              <a:t>개발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4C06A178-5277-F34C-E10C-FA7FD98A4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1436" y="1315016"/>
            <a:ext cx="4212045" cy="5102734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ko-KR" dirty="0"/>
              <a:t> Orchestrator</a:t>
            </a:r>
            <a:r>
              <a:rPr lang="ko-KR" altLang="ko-KR" dirty="0"/>
              <a:t>를 활용하여 사용자 발화를 </a:t>
            </a:r>
            <a:r>
              <a:rPr lang="ko-KR" altLang="ko-KR" dirty="0" err="1"/>
              <a:t>입력받아</a:t>
            </a:r>
            <a:r>
              <a:rPr lang="ko-KR" altLang="ko-KR" dirty="0"/>
              <a:t> 명령을 분해하고</a:t>
            </a:r>
            <a:r>
              <a:rPr lang="en-US" altLang="ko-KR" dirty="0"/>
              <a:t>, </a:t>
            </a:r>
            <a:r>
              <a:rPr lang="ko-KR" altLang="ko-KR" dirty="0"/>
              <a:t>의미를 분류하여 적절한 답변을 도출하도록 개발</a:t>
            </a:r>
            <a:r>
              <a:rPr lang="en-US" altLang="ko-KR" dirty="0"/>
              <a:t>. </a:t>
            </a:r>
            <a:r>
              <a:rPr lang="ko-KR" altLang="ko-KR" dirty="0"/>
              <a:t>기존의 대화흐름과 온 디바이스</a:t>
            </a:r>
            <a:r>
              <a:rPr lang="en-US" altLang="ko-KR" dirty="0"/>
              <a:t> database</a:t>
            </a:r>
            <a:r>
              <a:rPr lang="ko-KR" altLang="ko-KR" dirty="0"/>
              <a:t>를 기반으로 사용자의 의도 파악 후</a:t>
            </a:r>
            <a:r>
              <a:rPr lang="en-US" altLang="ko-KR" dirty="0"/>
              <a:t>, </a:t>
            </a:r>
            <a:r>
              <a:rPr lang="ko-KR" altLang="ko-KR" dirty="0" err="1"/>
              <a:t>온디바이스</a:t>
            </a:r>
            <a:r>
              <a:rPr lang="ko-KR" altLang="ko-KR" dirty="0"/>
              <a:t> 모델</a:t>
            </a:r>
            <a:r>
              <a:rPr lang="en-US" altLang="ko-KR" dirty="0"/>
              <a:t>, RAG, Cloud LLM, </a:t>
            </a:r>
            <a:r>
              <a:rPr lang="ko-KR" altLang="ko-KR" dirty="0"/>
              <a:t>차량제어를 통하여 최적화된 결과 도출</a:t>
            </a:r>
            <a:r>
              <a:rPr lang="en-US" altLang="ko-KR" dirty="0"/>
              <a:t>.</a:t>
            </a:r>
            <a:endParaRPr lang="ko-KR" altLang="ko-KR" dirty="0"/>
          </a:p>
          <a:p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35887B9-3BC0-BDF5-2E8F-EB79E4A5A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5575" y="1315016"/>
            <a:ext cx="5383795" cy="2968066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3B721C1D-481B-E03D-6151-D9991EF200ED}"/>
              </a:ext>
            </a:extLst>
          </p:cNvPr>
          <p:cNvSpPr/>
          <p:nvPr/>
        </p:nvSpPr>
        <p:spPr>
          <a:xfrm>
            <a:off x="8722556" y="1124763"/>
            <a:ext cx="2214030" cy="2453306"/>
          </a:xfrm>
          <a:prstGeom prst="rect">
            <a:avLst/>
          </a:prstGeom>
          <a:solidFill>
            <a:schemeClr val="bg1">
              <a:alpha val="0"/>
            </a:schemeClr>
          </a:solidFill>
          <a:ln w="412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F03DC0BE-CFBD-51D0-CBFF-39E307429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283082"/>
            <a:ext cx="4212045" cy="237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575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59222-32E8-D233-5DD8-69EADD366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9A7199E-8FB6-411E-345D-EAF6214BE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54" y="262550"/>
            <a:ext cx="10078691" cy="726462"/>
          </a:xfrm>
        </p:spPr>
        <p:txBody>
          <a:bodyPr>
            <a:normAutofit/>
          </a:bodyPr>
          <a:lstStyle/>
          <a:p>
            <a:pPr lvl="0"/>
            <a:r>
              <a:rPr lang="en-US" altLang="ko-KR" dirty="0"/>
              <a:t>STT</a:t>
            </a:r>
            <a:r>
              <a:rPr lang="ko-KR" altLang="ko-KR" dirty="0"/>
              <a:t>를 활용한 서비스 개발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6B93AC2-6FC6-5D60-8B78-5442DF4A4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1436" y="1315016"/>
            <a:ext cx="4212045" cy="5102734"/>
          </a:xfrm>
        </p:spPr>
        <p:txBody>
          <a:bodyPr/>
          <a:lstStyle/>
          <a:p>
            <a:r>
              <a:rPr lang="ko-KR" altLang="ko-KR" b="1" dirty="0" err="1"/>
              <a:t>온디바이스</a:t>
            </a:r>
            <a:r>
              <a:rPr lang="en-US" altLang="ko-KR" b="1" dirty="0"/>
              <a:t> STT </a:t>
            </a:r>
            <a:r>
              <a:rPr lang="ko-KR" altLang="ko-KR" b="1" dirty="0"/>
              <a:t>적용</a:t>
            </a:r>
            <a:r>
              <a:rPr lang="en-US" altLang="ko-KR" dirty="0"/>
              <a:t>: </a:t>
            </a:r>
            <a:r>
              <a:rPr lang="ko-KR" altLang="ko-KR" dirty="0"/>
              <a:t>네트워크 연결이 불안정한 환경에서도 안정적인 음성 인식 제공</a:t>
            </a:r>
            <a:r>
              <a:rPr lang="en-US" altLang="ko-KR" dirty="0"/>
              <a:t> → </a:t>
            </a:r>
            <a:r>
              <a:rPr lang="ko-KR" altLang="ko-KR" dirty="0"/>
              <a:t>사용자 경험 개선</a:t>
            </a:r>
          </a:p>
          <a:p>
            <a:r>
              <a:rPr lang="en-US" altLang="ko-KR" b="1" dirty="0"/>
              <a:t>Cloud STT </a:t>
            </a:r>
            <a:r>
              <a:rPr lang="ko-KR" altLang="ko-KR" b="1" dirty="0"/>
              <a:t>적용</a:t>
            </a:r>
            <a:r>
              <a:rPr lang="en-US" altLang="ko-KR" dirty="0"/>
              <a:t>: </a:t>
            </a:r>
            <a:r>
              <a:rPr lang="ko-KR" altLang="ko-KR" dirty="0"/>
              <a:t>대규모 언어 모델 기반의 고정확도 음성 인식</a:t>
            </a:r>
            <a:r>
              <a:rPr lang="en-US" altLang="ko-KR" dirty="0"/>
              <a:t> → </a:t>
            </a:r>
            <a:r>
              <a:rPr lang="ko-KR" altLang="ko-KR" dirty="0"/>
              <a:t>복잡한 발화 처리 가능</a:t>
            </a:r>
          </a:p>
          <a:p>
            <a:r>
              <a:rPr lang="ko-KR" altLang="ko-KR" b="1" dirty="0"/>
              <a:t>멀티 엔진 통합</a:t>
            </a:r>
            <a:r>
              <a:rPr lang="en-US" altLang="ko-KR" dirty="0"/>
              <a:t>: </a:t>
            </a:r>
            <a:r>
              <a:rPr lang="ko-KR" altLang="ko-KR" dirty="0"/>
              <a:t>상황에 따라 엔진을 자동 전환하여 성능과 안정성을 동시에 확보</a:t>
            </a:r>
          </a:p>
          <a:p>
            <a:r>
              <a:rPr lang="ko-KR" altLang="ko-KR" b="1" dirty="0"/>
              <a:t>실시간 처리 최적화</a:t>
            </a:r>
            <a:r>
              <a:rPr lang="en-US" altLang="ko-KR" dirty="0"/>
              <a:t>: </a:t>
            </a:r>
            <a:r>
              <a:rPr lang="ko-KR" altLang="ko-KR" dirty="0"/>
              <a:t>음성 입력부터 결과 반환까지 지연 시간을 최소화하여 대화형 서비스 품질 향상</a:t>
            </a:r>
          </a:p>
          <a:p>
            <a:r>
              <a:rPr lang="ko-KR" altLang="ko-KR" b="1" dirty="0"/>
              <a:t>확장성 확보</a:t>
            </a:r>
            <a:r>
              <a:rPr lang="en-US" altLang="ko-KR" dirty="0"/>
              <a:t>: </a:t>
            </a:r>
            <a:r>
              <a:rPr lang="ko-KR" altLang="ko-KR" dirty="0"/>
              <a:t>다양한 언어와 도메인에 맞춰</a:t>
            </a:r>
            <a:r>
              <a:rPr lang="en-US" altLang="ko-KR" dirty="0"/>
              <a:t> STT </a:t>
            </a:r>
            <a:r>
              <a:rPr lang="ko-KR" altLang="ko-KR" dirty="0"/>
              <a:t>모델을 교체</a:t>
            </a:r>
            <a:r>
              <a:rPr lang="en-US" altLang="ko-KR" dirty="0"/>
              <a:t>·</a:t>
            </a:r>
            <a:r>
              <a:rPr lang="ko-KR" altLang="ko-KR" dirty="0"/>
              <a:t>추가할 수 있는 구조 설계 경험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DF7F4D7-58B9-7CB9-7F3E-EF7E4032B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893" y="2834104"/>
            <a:ext cx="6717671" cy="3761346"/>
          </a:xfrm>
          <a:prstGeom prst="rect">
            <a:avLst/>
          </a:prstGeom>
        </p:spPr>
      </p:pic>
      <p:pic>
        <p:nvPicPr>
          <p:cNvPr id="7" name="그림 6" descr="Speech To Text Technology - Beyond Key Systems">
            <a:extLst>
              <a:ext uri="{FF2B5EF4-FFF2-40B4-BE49-F238E27FC236}">
                <a16:creationId xmlns:a16="http://schemas.microsoft.com/office/drawing/2014/main" id="{325279A7-62F3-55C1-4DD3-7DD64C328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866" y="1095799"/>
            <a:ext cx="2819400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979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A055B-3E92-2DD9-7742-2ED6CB923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61AA769-14AD-0C97-FEC4-14951E10A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54" y="262550"/>
            <a:ext cx="10078691" cy="726462"/>
          </a:xfrm>
        </p:spPr>
        <p:txBody>
          <a:bodyPr>
            <a:normAutofit/>
          </a:bodyPr>
          <a:lstStyle/>
          <a:p>
            <a:pPr lvl="0"/>
            <a:r>
              <a:rPr lang="en-US" altLang="ko-KR" dirty="0"/>
              <a:t> TTS</a:t>
            </a:r>
            <a:r>
              <a:rPr lang="ko-KR" altLang="en-US" dirty="0"/>
              <a:t>를 활용한 서비스 개발</a:t>
            </a:r>
            <a:endParaRPr lang="ko-KR" altLang="ko-KR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315CA2E-E29C-95AD-DE72-3964433DB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1436" y="1315016"/>
            <a:ext cx="4212045" cy="5102734"/>
          </a:xfrm>
        </p:spPr>
        <p:txBody>
          <a:bodyPr/>
          <a:lstStyle/>
          <a:p>
            <a:r>
              <a:rPr lang="ko-KR" altLang="ko-KR" b="1" dirty="0" err="1"/>
              <a:t>온디바이스</a:t>
            </a:r>
            <a:r>
              <a:rPr lang="en-US" altLang="ko-KR" b="1" dirty="0"/>
              <a:t> TTS </a:t>
            </a:r>
            <a:r>
              <a:rPr lang="ko-KR" altLang="ko-KR" b="1" dirty="0"/>
              <a:t>적용</a:t>
            </a:r>
            <a:r>
              <a:rPr lang="en-US" altLang="ko-KR" dirty="0"/>
              <a:t>: </a:t>
            </a:r>
            <a:r>
              <a:rPr lang="ko-KR" altLang="ko-KR" dirty="0"/>
              <a:t>네트워크 연결이 불안정한 환경에서도 즉각적인 음성 출력 가능</a:t>
            </a:r>
            <a:r>
              <a:rPr lang="en-US" altLang="ko-KR" dirty="0"/>
              <a:t> → </a:t>
            </a:r>
            <a:r>
              <a:rPr lang="ko-KR" altLang="ko-KR" dirty="0"/>
              <a:t>사용자 경험 개선</a:t>
            </a:r>
          </a:p>
          <a:p>
            <a:r>
              <a:rPr lang="en-US" altLang="ko-KR" b="1" dirty="0"/>
              <a:t>Cloud TTS </a:t>
            </a:r>
            <a:r>
              <a:rPr lang="ko-KR" altLang="ko-KR" b="1" dirty="0"/>
              <a:t>적용</a:t>
            </a:r>
            <a:r>
              <a:rPr lang="en-US" altLang="ko-KR" dirty="0"/>
              <a:t>: </a:t>
            </a:r>
            <a:r>
              <a:rPr lang="ko-KR" altLang="ko-KR" dirty="0"/>
              <a:t>대규모 음성 합성 모델을 활용해 자연스러운 발화와 다양한 언어 지원 확보</a:t>
            </a:r>
          </a:p>
          <a:p>
            <a:r>
              <a:rPr lang="ko-KR" altLang="ko-KR" b="1" dirty="0"/>
              <a:t>멀티 엔진 통합</a:t>
            </a:r>
            <a:r>
              <a:rPr lang="en-US" altLang="ko-KR" dirty="0"/>
              <a:t>: </a:t>
            </a:r>
            <a:r>
              <a:rPr lang="ko-KR" altLang="ko-KR" dirty="0"/>
              <a:t>상황에 따라 엔진을 자동 전환하여 성능과 안정성을 동시에 확보</a:t>
            </a:r>
          </a:p>
          <a:p>
            <a:r>
              <a:rPr lang="ko-KR" altLang="ko-KR" b="1" dirty="0"/>
              <a:t>실시간 응답 최적화</a:t>
            </a:r>
            <a:r>
              <a:rPr lang="en-US" altLang="ko-KR" dirty="0"/>
              <a:t>: STT</a:t>
            </a:r>
            <a:r>
              <a:rPr lang="ko-KR" altLang="ko-KR" dirty="0"/>
              <a:t>와 결합하여 음성 입력</a:t>
            </a:r>
            <a:r>
              <a:rPr lang="en-US" altLang="ko-KR" dirty="0"/>
              <a:t> → </a:t>
            </a:r>
            <a:r>
              <a:rPr lang="ko-KR" altLang="ko-KR" dirty="0"/>
              <a:t>음성 출력까지의 전체 대화 흐름을 지연 없이 구현</a:t>
            </a:r>
          </a:p>
          <a:p>
            <a:r>
              <a:rPr lang="ko-KR" altLang="ko-KR" b="1" dirty="0"/>
              <a:t>플랫폼 맞춤형 음성 피드백</a:t>
            </a:r>
            <a:r>
              <a:rPr lang="en-US" altLang="ko-KR" dirty="0"/>
              <a:t>: </a:t>
            </a:r>
            <a:r>
              <a:rPr lang="ko-KR" altLang="ko-KR" dirty="0"/>
              <a:t>모비스 기기 플랫폼에 따라 다른 목소리 톤과 스타일을 적용하여 </a:t>
            </a:r>
            <a:r>
              <a:rPr lang="ko-KR" altLang="ko-KR" dirty="0" err="1"/>
              <a:t>몰입감</a:t>
            </a:r>
            <a:r>
              <a:rPr lang="ko-KR" altLang="ko-KR" dirty="0"/>
              <a:t> 있는</a:t>
            </a:r>
            <a:r>
              <a:rPr lang="en-US" altLang="ko-KR" dirty="0"/>
              <a:t> UX </a:t>
            </a:r>
            <a:r>
              <a:rPr lang="ko-KR" altLang="ko-KR" dirty="0"/>
              <a:t>제공</a:t>
            </a:r>
          </a:p>
          <a:p>
            <a:r>
              <a:rPr lang="ko-KR" altLang="ko-KR" b="1" dirty="0"/>
              <a:t>확장성 확보</a:t>
            </a:r>
            <a:r>
              <a:rPr lang="en-US" altLang="ko-KR" dirty="0"/>
              <a:t>: </a:t>
            </a:r>
            <a:r>
              <a:rPr lang="ko-KR" altLang="ko-KR" dirty="0"/>
              <a:t>다양한 언어</a:t>
            </a:r>
            <a:r>
              <a:rPr lang="en-US" altLang="ko-KR" dirty="0"/>
              <a:t>·</a:t>
            </a:r>
            <a:r>
              <a:rPr lang="ko-KR" altLang="ko-KR" dirty="0"/>
              <a:t>도메인에 맞춰</a:t>
            </a:r>
            <a:r>
              <a:rPr lang="en-US" altLang="ko-KR" dirty="0"/>
              <a:t> TTS </a:t>
            </a:r>
            <a:r>
              <a:rPr lang="ko-KR" altLang="ko-KR" dirty="0"/>
              <a:t>모델을 교체</a:t>
            </a:r>
            <a:r>
              <a:rPr lang="en-US" altLang="ko-KR" dirty="0"/>
              <a:t>·</a:t>
            </a:r>
            <a:r>
              <a:rPr lang="ko-KR" altLang="ko-KR" dirty="0"/>
              <a:t>추가할 수 있는 구조 설계 경험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F7604AE-F9D2-9993-2A85-C9D2F57BCE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21920"/>
            <a:ext cx="5863628" cy="3298291"/>
          </a:xfrm>
          <a:prstGeom prst="rect">
            <a:avLst/>
          </a:prstGeom>
        </p:spPr>
      </p:pic>
      <p:pic>
        <p:nvPicPr>
          <p:cNvPr id="9" name="그림 8" descr="영어 문장을 읽어주는 TTS 사이트">
            <a:extLst>
              <a:ext uri="{FF2B5EF4-FFF2-40B4-BE49-F238E27FC236}">
                <a16:creationId xmlns:a16="http://schemas.microsoft.com/office/drawing/2014/main" id="{848AED9F-D13E-659E-92F1-8B2887E21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8329" y="358846"/>
            <a:ext cx="3822448" cy="254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2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D8963-BAC0-F06C-5110-612A08957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4598EF3-33C1-2BEA-F5E8-F5005A404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54" y="262550"/>
            <a:ext cx="10078691" cy="726462"/>
          </a:xfrm>
        </p:spPr>
        <p:txBody>
          <a:bodyPr>
            <a:normAutofit/>
          </a:bodyPr>
          <a:lstStyle/>
          <a:p>
            <a:pPr lvl="0"/>
            <a:r>
              <a:rPr lang="en-US" altLang="ko-KR" dirty="0"/>
              <a:t>On-Device LLM</a:t>
            </a:r>
            <a:r>
              <a:rPr lang="ko-KR" altLang="ko-KR" dirty="0"/>
              <a:t>을 활용한 질문</a:t>
            </a:r>
            <a:r>
              <a:rPr lang="en-US" altLang="ko-KR" dirty="0"/>
              <a:t>-</a:t>
            </a:r>
            <a:r>
              <a:rPr lang="ko-KR" altLang="ko-KR" dirty="0"/>
              <a:t>답변 서비스 개발 경험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1FD509A-EEEA-41AF-73A1-697C4AB6D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1006" y="989012"/>
            <a:ext cx="4452475" cy="542873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220000"/>
              </a:lnSpc>
            </a:pPr>
            <a:r>
              <a:rPr lang="ko-KR" altLang="ko-KR" dirty="0"/>
              <a:t>최신 </a:t>
            </a:r>
            <a:r>
              <a:rPr lang="en-US" altLang="ko-KR" dirty="0"/>
              <a:t>Kanana On-Device LLM </a:t>
            </a:r>
            <a:r>
              <a:rPr lang="ko-KR" altLang="ko-KR" dirty="0"/>
              <a:t>모델을 안드로이드 환경에 탑재하여 질문</a:t>
            </a:r>
            <a:r>
              <a:rPr lang="en-US" altLang="ko-KR" dirty="0"/>
              <a:t>-</a:t>
            </a:r>
            <a:r>
              <a:rPr lang="ko-KR" altLang="ko-KR" dirty="0"/>
              <a:t>답변</a:t>
            </a:r>
            <a:r>
              <a:rPr lang="en-US" altLang="ko-KR" dirty="0"/>
              <a:t>(Q&amp;A) </a:t>
            </a:r>
            <a:r>
              <a:rPr lang="ko-KR" altLang="ko-KR" dirty="0"/>
              <a:t>서비스 구현</a:t>
            </a:r>
          </a:p>
          <a:p>
            <a:pPr>
              <a:lnSpc>
                <a:spcPct val="220000"/>
              </a:lnSpc>
            </a:pPr>
            <a:r>
              <a:rPr lang="ko-KR" altLang="ko-KR" dirty="0"/>
              <a:t>디바이스 내에서 직접 모델을 실행함으로써 네트워크 연결 없이도 자연어 질의 응답 가능</a:t>
            </a:r>
          </a:p>
          <a:p>
            <a:pPr>
              <a:lnSpc>
                <a:spcPct val="220000"/>
              </a:lnSpc>
            </a:pPr>
            <a:r>
              <a:rPr lang="en-US" altLang="ko-KR" dirty="0"/>
              <a:t>STT/TTS</a:t>
            </a:r>
            <a:r>
              <a:rPr lang="ko-KR" altLang="ko-KR" dirty="0"/>
              <a:t>와 결합하여 음성 기반 대화형</a:t>
            </a:r>
            <a:r>
              <a:rPr lang="en-US" altLang="ko-KR" dirty="0"/>
              <a:t> Q&amp;A </a:t>
            </a:r>
            <a:r>
              <a:rPr lang="ko-KR" altLang="ko-KR" dirty="0"/>
              <a:t>서비스 제공</a:t>
            </a:r>
          </a:p>
          <a:p>
            <a:pPr>
              <a:lnSpc>
                <a:spcPct val="220000"/>
              </a:lnSpc>
            </a:pPr>
            <a:r>
              <a:rPr lang="en-US" altLang="ko-KR" dirty="0"/>
              <a:t>LLM</a:t>
            </a:r>
            <a:r>
              <a:rPr lang="ko-KR" altLang="ko-KR" dirty="0"/>
              <a:t>모델을 활용하여 </a:t>
            </a:r>
            <a:r>
              <a:rPr lang="ko-KR" altLang="ko-KR" dirty="0" err="1"/>
              <a:t>뮤직스트리밍</a:t>
            </a:r>
            <a:r>
              <a:rPr lang="ko-KR" altLang="ko-KR" dirty="0"/>
              <a:t> 서비스</a:t>
            </a:r>
            <a:r>
              <a:rPr lang="en-US" altLang="ko-KR" dirty="0"/>
              <a:t>, </a:t>
            </a:r>
            <a:r>
              <a:rPr lang="ko-KR" altLang="ko-KR" dirty="0"/>
              <a:t>현재 차량 상태</a:t>
            </a:r>
            <a:r>
              <a:rPr lang="en-US" altLang="ko-KR" dirty="0"/>
              <a:t>, </a:t>
            </a:r>
            <a:r>
              <a:rPr lang="ko-KR" altLang="ko-KR" dirty="0"/>
              <a:t>운전자의 운전습관 등과 관련된 운전자 안내 멘트 생성기능 개발</a:t>
            </a:r>
          </a:p>
          <a:p>
            <a:pPr>
              <a:lnSpc>
                <a:spcPct val="220000"/>
              </a:lnSpc>
            </a:pPr>
            <a:r>
              <a:rPr lang="ko-KR" altLang="ko-KR" b="1" dirty="0" err="1"/>
              <a:t>온디바이스</a:t>
            </a:r>
            <a:r>
              <a:rPr lang="ko-KR" altLang="ko-KR" b="1" dirty="0"/>
              <a:t> 실행 최적화</a:t>
            </a:r>
            <a:r>
              <a:rPr lang="en-US" altLang="ko-KR" dirty="0"/>
              <a:t>: </a:t>
            </a:r>
            <a:r>
              <a:rPr lang="ko-KR" altLang="ko-KR" dirty="0"/>
              <a:t>메모리 관리</a:t>
            </a:r>
            <a:r>
              <a:rPr lang="en-US" altLang="ko-KR" dirty="0"/>
              <a:t>, </a:t>
            </a:r>
            <a:r>
              <a:rPr lang="ko-KR" altLang="ko-KR" dirty="0"/>
              <a:t>모델 파일 로딩</a:t>
            </a:r>
            <a:r>
              <a:rPr lang="en-US" altLang="ko-KR" dirty="0"/>
              <a:t>, </a:t>
            </a:r>
            <a:r>
              <a:rPr lang="ko-KR" altLang="ko-KR" dirty="0"/>
              <a:t>연산 최적화를 통해 </a:t>
            </a:r>
            <a:r>
              <a:rPr lang="en-US" altLang="ko-KR" dirty="0"/>
              <a:t>Connect-S </a:t>
            </a:r>
            <a:r>
              <a:rPr lang="ko-KR" altLang="ko-KR" dirty="0"/>
              <a:t>환경에서도 대규모 언어 모델을 안정적으로 구동</a:t>
            </a:r>
          </a:p>
          <a:p>
            <a:pPr>
              <a:lnSpc>
                <a:spcPct val="220000"/>
              </a:lnSpc>
            </a:pPr>
            <a:r>
              <a:rPr lang="ko-KR" altLang="ko-KR" b="1" dirty="0" err="1"/>
              <a:t>저지연</a:t>
            </a:r>
            <a:r>
              <a:rPr lang="ko-KR" altLang="ko-KR" b="1" dirty="0"/>
              <a:t> 응답</a:t>
            </a:r>
            <a:r>
              <a:rPr lang="en-US" altLang="ko-KR" dirty="0"/>
              <a:t>: </a:t>
            </a:r>
            <a:endParaRPr lang="ko-KR" altLang="ko-KR" dirty="0"/>
          </a:p>
          <a:p>
            <a:pPr>
              <a:lnSpc>
                <a:spcPct val="220000"/>
              </a:lnSpc>
            </a:pPr>
            <a:r>
              <a:rPr lang="en-US" altLang="ko-KR" dirty="0"/>
              <a:t>1)</a:t>
            </a:r>
            <a:r>
              <a:rPr lang="ko-KR" altLang="ko-KR" dirty="0"/>
              <a:t>네트워크 왕복 시간이 제거되어 실시간 대화형 서비스에 적합</a:t>
            </a:r>
            <a:r>
              <a:rPr lang="en-US" altLang="ko-KR" dirty="0"/>
              <a:t>. </a:t>
            </a:r>
            <a:endParaRPr lang="ko-KR" altLang="ko-KR" dirty="0"/>
          </a:p>
          <a:p>
            <a:pPr>
              <a:lnSpc>
                <a:spcPct val="220000"/>
              </a:lnSpc>
            </a:pPr>
            <a:r>
              <a:rPr lang="en-US" altLang="ko-KR" dirty="0"/>
              <a:t>2) </a:t>
            </a:r>
            <a:r>
              <a:rPr lang="ko-KR" altLang="ko-KR" dirty="0"/>
              <a:t>복잡한 통신과 연산은 </a:t>
            </a:r>
            <a:r>
              <a:rPr lang="ko-KR" altLang="ko-KR" dirty="0" err="1"/>
              <a:t>비동기처리하여</a:t>
            </a:r>
            <a:r>
              <a:rPr lang="ko-KR" altLang="ko-KR" dirty="0"/>
              <a:t> </a:t>
            </a:r>
            <a:r>
              <a:rPr lang="ko-KR" altLang="ko-KR" dirty="0" err="1"/>
              <a:t>응닶시간</a:t>
            </a:r>
            <a:r>
              <a:rPr lang="ko-KR" altLang="ko-KR" dirty="0"/>
              <a:t> 최소화</a:t>
            </a:r>
          </a:p>
          <a:p>
            <a:pPr>
              <a:lnSpc>
                <a:spcPct val="220000"/>
              </a:lnSpc>
            </a:pPr>
            <a:r>
              <a:rPr lang="ko-KR" altLang="ko-KR" b="1" dirty="0" err="1"/>
              <a:t>모듈화된</a:t>
            </a:r>
            <a:r>
              <a:rPr lang="ko-KR" altLang="ko-KR" b="1" dirty="0"/>
              <a:t> 아키텍처</a:t>
            </a:r>
            <a:r>
              <a:rPr lang="en-US" altLang="ko-KR" dirty="0"/>
              <a:t>: LLM, STT, TTS, Orchestrator</a:t>
            </a:r>
            <a:r>
              <a:rPr lang="ko-KR" altLang="ko-KR" dirty="0"/>
              <a:t>를 유기적으로 연결하여 음성</a:t>
            </a:r>
            <a:r>
              <a:rPr lang="en-US" altLang="ko-KR" dirty="0"/>
              <a:t>-</a:t>
            </a:r>
            <a:r>
              <a:rPr lang="ko-KR" altLang="ko-KR" dirty="0"/>
              <a:t>텍스트</a:t>
            </a:r>
            <a:r>
              <a:rPr lang="en-US" altLang="ko-KR" dirty="0"/>
              <a:t>-</a:t>
            </a:r>
            <a:r>
              <a:rPr lang="ko-KR" altLang="ko-KR" dirty="0"/>
              <a:t>응답까지의 전체 파이프라인 구축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1C5B2FF-A593-4191-4CF5-347A0EDE6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788" y="4008818"/>
            <a:ext cx="4576206" cy="258663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D003889-C041-C1D7-ABBE-BE79E7EE6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042" y="989012"/>
            <a:ext cx="3342915" cy="31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626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84E99-0CAC-2595-CDED-96742DB43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F4DFF32-9A47-3CB6-73C1-FA6C9C536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54" y="262550"/>
            <a:ext cx="10078691" cy="726462"/>
          </a:xfrm>
        </p:spPr>
        <p:txBody>
          <a:bodyPr>
            <a:normAutofit/>
          </a:bodyPr>
          <a:lstStyle/>
          <a:p>
            <a:pPr lvl="0"/>
            <a:r>
              <a:rPr lang="en-US" altLang="ko-KR" dirty="0"/>
              <a:t>Wake-Up-Word </a:t>
            </a:r>
            <a:r>
              <a:rPr lang="ko-KR" altLang="en-US" dirty="0"/>
              <a:t>활용한 서비스 </a:t>
            </a:r>
            <a:r>
              <a:rPr lang="ko-KR" altLang="ko-KR" dirty="0"/>
              <a:t>개발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6ABC7CF-0FB2-080B-90DD-FB1AE10AE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1436" y="1315016"/>
            <a:ext cx="4212045" cy="5102734"/>
          </a:xfrm>
        </p:spPr>
        <p:txBody>
          <a:bodyPr/>
          <a:lstStyle/>
          <a:p>
            <a:r>
              <a:rPr lang="en-US" altLang="ko-KR" dirty="0"/>
              <a:t>Wake-Up-Word </a:t>
            </a:r>
            <a:r>
              <a:rPr lang="ko-KR" altLang="ko-KR" dirty="0"/>
              <a:t>기능을 활용하여 사용자 최적화된</a:t>
            </a:r>
            <a:r>
              <a:rPr lang="en-US" altLang="ko-KR" dirty="0"/>
              <a:t> UX</a:t>
            </a:r>
            <a:r>
              <a:rPr lang="ko-KR" altLang="ko-KR" dirty="0"/>
              <a:t>환경 개발</a:t>
            </a:r>
          </a:p>
          <a:p>
            <a:r>
              <a:rPr lang="ko-KR" altLang="ko-KR" b="1" dirty="0"/>
              <a:t>리소스 최적화</a:t>
            </a:r>
            <a:r>
              <a:rPr lang="en-US" altLang="ko-KR" dirty="0"/>
              <a:t>: </a:t>
            </a:r>
            <a:r>
              <a:rPr lang="ko-KR" altLang="ko-KR" dirty="0"/>
              <a:t>디바이스가 불필요한 대기 상태에 </a:t>
            </a:r>
            <a:r>
              <a:rPr lang="ko-KR" altLang="ko-KR" dirty="0" err="1"/>
              <a:t>머물지않도록</a:t>
            </a:r>
            <a:r>
              <a:rPr lang="ko-KR" altLang="ko-KR" dirty="0"/>
              <a:t> 리소스 소모를 최소화하는 알고리즘 설계</a:t>
            </a:r>
            <a:r>
              <a:rPr lang="en-US" altLang="ko-KR" dirty="0"/>
              <a:t>.</a:t>
            </a:r>
            <a:endParaRPr lang="ko-KR" altLang="ko-KR" dirty="0"/>
          </a:p>
          <a:p>
            <a:r>
              <a:rPr lang="ko-KR" altLang="ko-KR" b="1" dirty="0"/>
              <a:t>실시간 반응성 확보</a:t>
            </a:r>
            <a:r>
              <a:rPr lang="en-US" altLang="ko-KR" dirty="0"/>
              <a:t>: </a:t>
            </a:r>
            <a:r>
              <a:rPr lang="ko-KR" altLang="ko-KR" dirty="0" err="1"/>
              <a:t>웨이크업</a:t>
            </a:r>
            <a:r>
              <a:rPr lang="ko-KR" altLang="ko-KR" dirty="0"/>
              <a:t> 워드 인식 후 즉각적인 서비스 실행으로 사용자 경험 향상</a:t>
            </a:r>
          </a:p>
          <a:p>
            <a:r>
              <a:rPr lang="ko-KR" altLang="ko-KR" b="1" dirty="0" err="1"/>
              <a:t>온디바이스</a:t>
            </a:r>
            <a:r>
              <a:rPr lang="ko-KR" altLang="ko-KR" b="1" dirty="0"/>
              <a:t> 음성 인식 적용</a:t>
            </a:r>
            <a:r>
              <a:rPr lang="en-US" altLang="ko-KR" dirty="0"/>
              <a:t>: </a:t>
            </a:r>
            <a:r>
              <a:rPr lang="ko-KR" altLang="ko-KR" dirty="0"/>
              <a:t>네트워크 연결 없이도 안정적으로 </a:t>
            </a:r>
            <a:r>
              <a:rPr lang="ko-KR" altLang="ko-KR" dirty="0" err="1"/>
              <a:t>웨이크업</a:t>
            </a:r>
            <a:r>
              <a:rPr lang="ko-KR" altLang="ko-KR" dirty="0"/>
              <a:t> 워드 인식 가능</a:t>
            </a:r>
          </a:p>
          <a:p>
            <a:r>
              <a:rPr lang="ko-KR" altLang="ko-KR" b="1" dirty="0"/>
              <a:t>엔진 최적화</a:t>
            </a:r>
            <a:r>
              <a:rPr lang="en-US" altLang="ko-KR" dirty="0"/>
              <a:t>: </a:t>
            </a:r>
            <a:r>
              <a:rPr lang="ko-KR" altLang="ko-KR" dirty="0"/>
              <a:t>음성인식에 필요한 각종 파일들</a:t>
            </a:r>
            <a:r>
              <a:rPr lang="en-US" altLang="ko-KR" dirty="0"/>
              <a:t>(.so, .lib, .</a:t>
            </a:r>
            <a:r>
              <a:rPr lang="en-US" altLang="ko-KR" dirty="0" err="1"/>
              <a:t>json</a:t>
            </a:r>
            <a:r>
              <a:rPr lang="en-US" altLang="ko-KR" dirty="0"/>
              <a:t>)</a:t>
            </a:r>
            <a:r>
              <a:rPr lang="ko-KR" altLang="ko-KR" dirty="0"/>
              <a:t>을 읽어오는 작업을 최적화함으로써 서비스 성능 향상 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9FF2452-35FA-42F2-4953-52782F990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5287" y="3361768"/>
            <a:ext cx="5775277" cy="323368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295F680-4D8D-677F-2C6D-250D7ADCF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8873" y="507140"/>
            <a:ext cx="4591691" cy="263879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C44B6BE-53E7-A16D-C602-AEDB15E85A20}"/>
              </a:ext>
            </a:extLst>
          </p:cNvPr>
          <p:cNvSpPr txBox="1"/>
          <p:nvPr/>
        </p:nvSpPr>
        <p:spPr>
          <a:xfrm>
            <a:off x="7613963" y="1420992"/>
            <a:ext cx="1629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Hey, Hyundai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6644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0D726-CC51-E6BC-5D08-B0B0EE464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EB2F699-D923-2B1E-4B83-7D77DB957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54" y="262550"/>
            <a:ext cx="10078691" cy="726462"/>
          </a:xfrm>
        </p:spPr>
        <p:txBody>
          <a:bodyPr>
            <a:normAutofit/>
          </a:bodyPr>
          <a:lstStyle/>
          <a:p>
            <a:pPr lvl="0"/>
            <a:r>
              <a:rPr lang="en-US" altLang="ko-KR" dirty="0" err="1"/>
              <a:t>BootReceiver</a:t>
            </a:r>
            <a:r>
              <a:rPr lang="ko-KR" altLang="ko-KR" dirty="0"/>
              <a:t>기반 앱 자동 실행 기능 개발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91E6280-7EE2-6619-1701-940E454D2D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1436" y="1315016"/>
            <a:ext cx="4212045" cy="510273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ko-KR" dirty="0"/>
              <a:t>안드로이드</a:t>
            </a:r>
            <a:r>
              <a:rPr lang="en-US" altLang="ko-KR" dirty="0"/>
              <a:t> </a:t>
            </a:r>
            <a:r>
              <a:rPr lang="en-US" altLang="ko-KR" dirty="0" err="1"/>
              <a:t>BroadcastReceiver</a:t>
            </a:r>
            <a:r>
              <a:rPr lang="ko-KR" altLang="ko-KR" dirty="0"/>
              <a:t>를 활용하여 디바이스 부팅 완료 시점</a:t>
            </a:r>
            <a:r>
              <a:rPr lang="en-US" altLang="ko-KR" dirty="0"/>
              <a:t>(BOOT_COMPLETED)</a:t>
            </a:r>
            <a:r>
              <a:rPr lang="ko-KR" altLang="ko-KR" dirty="0"/>
              <a:t>에 앱을 자동 실행하는 기능 개발</a:t>
            </a:r>
          </a:p>
          <a:p>
            <a:pPr>
              <a:lnSpc>
                <a:spcPct val="150000"/>
              </a:lnSpc>
            </a:pPr>
            <a:r>
              <a:rPr lang="ko-KR" altLang="ko-KR" dirty="0"/>
              <a:t>서비스형 앱 및 백그라운드 프로세스가 부팅 직후 안정적으로 시작되도록 설계</a:t>
            </a:r>
          </a:p>
          <a:p>
            <a:pPr>
              <a:lnSpc>
                <a:spcPct val="150000"/>
              </a:lnSpc>
            </a:pPr>
            <a:r>
              <a:rPr lang="ko-KR" altLang="ko-KR" dirty="0"/>
              <a:t>사용자 개입 없이도 필요한 기능이 즉시 활성화되도록 구현하여 편의성 강화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OS </a:t>
            </a:r>
            <a:r>
              <a:rPr lang="ko-KR" altLang="ko-KR" dirty="0"/>
              <a:t>레벨의 </a:t>
            </a:r>
            <a:r>
              <a:rPr lang="ko-KR" altLang="ko-KR" dirty="0" err="1"/>
              <a:t>브로드캐스트</a:t>
            </a:r>
            <a:r>
              <a:rPr lang="ko-KR" altLang="ko-KR" dirty="0"/>
              <a:t> 이벤트</a:t>
            </a:r>
            <a:r>
              <a:rPr lang="en-US" altLang="ko-KR" dirty="0"/>
              <a:t>(BOOT_COMPLETED)</a:t>
            </a:r>
            <a:r>
              <a:rPr lang="ko-KR" altLang="ko-KR" dirty="0"/>
              <a:t>를 활용하여 앱 생명주기와 시스템 이벤트를 유기적으로 연결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5044F9C-A4F9-6531-7254-D12F7FAA0BC1}"/>
              </a:ext>
            </a:extLst>
          </p:cNvPr>
          <p:cNvSpPr/>
          <p:nvPr/>
        </p:nvSpPr>
        <p:spPr>
          <a:xfrm>
            <a:off x="5838392" y="1232779"/>
            <a:ext cx="1602463" cy="7264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시동 </a:t>
            </a:r>
            <a:r>
              <a:rPr lang="en-US" altLang="ko-KR" dirty="0"/>
              <a:t>on</a:t>
            </a:r>
            <a:endParaRPr lang="ko-KR" altLang="en-US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35B73453-F7DF-842A-F310-B19F793C94DD}"/>
              </a:ext>
            </a:extLst>
          </p:cNvPr>
          <p:cNvCxnSpPr>
            <a:cxnSpLocks/>
            <a:stCxn id="2" idx="2"/>
            <a:endCxn id="9" idx="0"/>
          </p:cNvCxnSpPr>
          <p:nvPr/>
        </p:nvCxnSpPr>
        <p:spPr>
          <a:xfrm>
            <a:off x="6639624" y="1959241"/>
            <a:ext cx="0" cy="542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D659D2-E0B2-F9A7-2EE9-2DFA6F0FB100}"/>
              </a:ext>
            </a:extLst>
          </p:cNvPr>
          <p:cNvSpPr/>
          <p:nvPr/>
        </p:nvSpPr>
        <p:spPr>
          <a:xfrm>
            <a:off x="5399299" y="2502122"/>
            <a:ext cx="2480649" cy="11078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BOOT_COMPLETED Intent </a:t>
            </a:r>
            <a:r>
              <a:rPr lang="ko-KR" altLang="en-US" dirty="0"/>
              <a:t>발생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2B82B23-DF67-0097-5EE4-116A7668B22F}"/>
              </a:ext>
            </a:extLst>
          </p:cNvPr>
          <p:cNvCxnSpPr>
            <a:cxnSpLocks/>
            <a:stCxn id="9" idx="2"/>
            <a:endCxn id="20" idx="0"/>
          </p:cNvCxnSpPr>
          <p:nvPr/>
        </p:nvCxnSpPr>
        <p:spPr>
          <a:xfrm>
            <a:off x="6639624" y="3610001"/>
            <a:ext cx="0" cy="438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47E531D-D80E-9ACD-F41E-0FE0B4093C6D}"/>
              </a:ext>
            </a:extLst>
          </p:cNvPr>
          <p:cNvSpPr/>
          <p:nvPr/>
        </p:nvSpPr>
        <p:spPr>
          <a:xfrm>
            <a:off x="5399299" y="4048759"/>
            <a:ext cx="2480649" cy="11078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BroadcastReceiver</a:t>
            </a:r>
            <a:endParaRPr lang="en-US" altLang="ko-KR" dirty="0"/>
          </a:p>
          <a:p>
            <a:pPr algn="ctr"/>
            <a:r>
              <a:rPr lang="en-US" altLang="ko-KR" dirty="0"/>
              <a:t>Intent </a:t>
            </a:r>
            <a:r>
              <a:rPr lang="ko-KR" altLang="en-US" dirty="0"/>
              <a:t>수신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35787BA-90E5-F59F-FE2C-7DD02544ECB6}"/>
              </a:ext>
            </a:extLst>
          </p:cNvPr>
          <p:cNvSpPr/>
          <p:nvPr/>
        </p:nvSpPr>
        <p:spPr>
          <a:xfrm>
            <a:off x="5847446" y="5595396"/>
            <a:ext cx="1593409" cy="8223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서비스 시작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069DAE43-AC71-6D2A-9D97-78A85C0B0ACD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>
            <a:off x="6639624" y="5156638"/>
            <a:ext cx="4527" cy="438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구름 29">
            <a:extLst>
              <a:ext uri="{FF2B5EF4-FFF2-40B4-BE49-F238E27FC236}">
                <a16:creationId xmlns:a16="http://schemas.microsoft.com/office/drawing/2014/main" id="{8D9AF667-40DD-D730-97FE-A754EECD5A12}"/>
              </a:ext>
            </a:extLst>
          </p:cNvPr>
          <p:cNvSpPr/>
          <p:nvPr/>
        </p:nvSpPr>
        <p:spPr>
          <a:xfrm>
            <a:off x="8971983" y="1120878"/>
            <a:ext cx="2172828" cy="1249378"/>
          </a:xfrm>
          <a:prstGeom prst="clou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Android</a:t>
            </a:r>
          </a:p>
          <a:p>
            <a:pPr algn="ctr"/>
            <a:r>
              <a:rPr lang="en-US" altLang="ko-KR" dirty="0"/>
              <a:t>System</a:t>
            </a:r>
            <a:endParaRPr lang="ko-KR" altLang="en-US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67EFEF8-2BC2-60EC-3AFD-C7C12BD65180}"/>
              </a:ext>
            </a:extLst>
          </p:cNvPr>
          <p:cNvSpPr/>
          <p:nvPr/>
        </p:nvSpPr>
        <p:spPr>
          <a:xfrm>
            <a:off x="8790911" y="3753366"/>
            <a:ext cx="2806577" cy="146875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Application</a:t>
            </a:r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284AA2C-36E5-6B68-0A3F-DBB6083D17E0}"/>
              </a:ext>
            </a:extLst>
          </p:cNvPr>
          <p:cNvSpPr/>
          <p:nvPr/>
        </p:nvSpPr>
        <p:spPr>
          <a:xfrm>
            <a:off x="9460872" y="4725909"/>
            <a:ext cx="2037030" cy="39686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BroadcastReceiver</a:t>
            </a:r>
            <a:endParaRPr lang="ko-KR" altLang="en-US" sz="1400" dirty="0"/>
          </a:p>
        </p:txBody>
      </p:sp>
      <p:cxnSp>
        <p:nvCxnSpPr>
          <p:cNvPr id="35" name="연결선: 구부러짐 34">
            <a:extLst>
              <a:ext uri="{FF2B5EF4-FFF2-40B4-BE49-F238E27FC236}">
                <a16:creationId xmlns:a16="http://schemas.microsoft.com/office/drawing/2014/main" id="{4A15F152-3BA6-EE2C-B5AC-1FC74873992C}"/>
              </a:ext>
            </a:extLst>
          </p:cNvPr>
          <p:cNvCxnSpPr>
            <a:cxnSpLocks/>
            <a:stCxn id="31" idx="1"/>
            <a:endCxn id="30" idx="2"/>
          </p:cNvCxnSpPr>
          <p:nvPr/>
        </p:nvCxnSpPr>
        <p:spPr>
          <a:xfrm rot="10800000" flipH="1">
            <a:off x="8790911" y="1745567"/>
            <a:ext cx="187812" cy="2742178"/>
          </a:xfrm>
          <a:prstGeom prst="curvedConnector3">
            <a:avLst>
              <a:gd name="adj1" fmla="val -121717"/>
            </a:avLst>
          </a:prstGeom>
          <a:ln w="22225" cmpd="sng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1A53DBEC-D7C7-DFAF-823B-0ED1C6FF863B}"/>
              </a:ext>
            </a:extLst>
          </p:cNvPr>
          <p:cNvCxnSpPr>
            <a:cxnSpLocks/>
            <a:stCxn id="30" idx="0"/>
            <a:endCxn id="31" idx="3"/>
          </p:cNvCxnSpPr>
          <p:nvPr/>
        </p:nvCxnSpPr>
        <p:spPr>
          <a:xfrm>
            <a:off x="11143000" y="1745567"/>
            <a:ext cx="454488" cy="2742178"/>
          </a:xfrm>
          <a:prstGeom prst="curvedConnector3">
            <a:avLst>
              <a:gd name="adj1" fmla="val 150298"/>
            </a:avLst>
          </a:prstGeom>
          <a:ln w="22225" cmpd="sng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CE61557-568F-C8EE-2EEC-5951A9DB9374}"/>
              </a:ext>
            </a:extLst>
          </p:cNvPr>
          <p:cNvSpPr txBox="1"/>
          <p:nvPr/>
        </p:nvSpPr>
        <p:spPr>
          <a:xfrm>
            <a:off x="8603099" y="2706986"/>
            <a:ext cx="1394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Register for Intent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6C55BC-FCDB-5BDB-45F9-8069626D7AA6}"/>
              </a:ext>
            </a:extLst>
          </p:cNvPr>
          <p:cNvSpPr txBox="1"/>
          <p:nvPr/>
        </p:nvSpPr>
        <p:spPr>
          <a:xfrm>
            <a:off x="10397908" y="2706986"/>
            <a:ext cx="1394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/>
              <a:t>System broadcast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6786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BF616-E725-70F4-1A3A-795779CAD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7BC3F562-DD90-191C-6FB1-43C0102E9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54" y="262550"/>
            <a:ext cx="10078691" cy="726462"/>
          </a:xfrm>
        </p:spPr>
        <p:txBody>
          <a:bodyPr>
            <a:normAutofit/>
          </a:bodyPr>
          <a:lstStyle/>
          <a:p>
            <a:pPr lvl="0"/>
            <a:r>
              <a:rPr lang="en-US" altLang="ko-KR" dirty="0" err="1"/>
              <a:t>FloatingView</a:t>
            </a:r>
            <a:r>
              <a:rPr lang="en-US" altLang="ko-KR" dirty="0"/>
              <a:t> </a:t>
            </a:r>
            <a:r>
              <a:rPr lang="ko-KR" altLang="ko-KR" dirty="0"/>
              <a:t>기반 서비스 개발경험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3D1E40F-ED19-2348-E3E5-D02A51EA4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1436" y="1315016"/>
            <a:ext cx="4212045" cy="510273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ko-KR" altLang="ko-KR" dirty="0"/>
              <a:t>안드로이드</a:t>
            </a:r>
            <a:r>
              <a:rPr lang="en-US" altLang="ko-KR" dirty="0"/>
              <a:t> </a:t>
            </a:r>
            <a:r>
              <a:rPr lang="en-US" altLang="ko-KR" dirty="0" err="1"/>
              <a:t>FloatingView</a:t>
            </a:r>
            <a:r>
              <a:rPr lang="ko-KR" altLang="ko-KR" dirty="0"/>
              <a:t>를 활용하여 앱 실행 중에도 다른 화면 위에 뷰를 띄워 사용자와 상호작용할 수 있는 기능 구현</a:t>
            </a:r>
          </a:p>
          <a:p>
            <a:pPr>
              <a:lnSpc>
                <a:spcPct val="150000"/>
              </a:lnSpc>
            </a:pPr>
            <a:r>
              <a:rPr lang="ko-KR" altLang="ko-KR" dirty="0"/>
              <a:t>멀티태스킹 환경에서 사용자 편의성을 높이는 오버레이</a:t>
            </a:r>
            <a:r>
              <a:rPr lang="en-US" altLang="ko-KR" dirty="0"/>
              <a:t> UI </a:t>
            </a:r>
            <a:r>
              <a:rPr lang="ko-KR" altLang="ko-KR" dirty="0"/>
              <a:t>개발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STT, TTS, LLM, Wake-Up-Word </a:t>
            </a:r>
            <a:r>
              <a:rPr lang="ko-KR" altLang="ko-KR" dirty="0"/>
              <a:t>등 다양한 기능을</a:t>
            </a:r>
            <a:r>
              <a:rPr lang="en-US" altLang="ko-KR" dirty="0"/>
              <a:t> </a:t>
            </a:r>
            <a:r>
              <a:rPr lang="en-US" altLang="ko-KR" dirty="0" err="1"/>
              <a:t>FloattingView</a:t>
            </a:r>
            <a:r>
              <a:rPr lang="ko-KR" altLang="ko-KR" dirty="0"/>
              <a:t>와의 </a:t>
            </a:r>
            <a:r>
              <a:rPr lang="ko-KR" altLang="ko-KR" dirty="0" err="1"/>
              <a:t>인터렉션으로</a:t>
            </a:r>
            <a:r>
              <a:rPr lang="ko-KR" altLang="ko-KR" dirty="0"/>
              <a:t> 제공</a:t>
            </a:r>
          </a:p>
          <a:p>
            <a:pPr>
              <a:lnSpc>
                <a:spcPct val="150000"/>
              </a:lnSpc>
            </a:pPr>
            <a:r>
              <a:rPr lang="en-US" altLang="ko-KR" dirty="0" err="1"/>
              <a:t>FloatingView</a:t>
            </a:r>
            <a:r>
              <a:rPr lang="ko-KR" altLang="ko-KR" dirty="0"/>
              <a:t>와 안드로이드 생명주기를 통합하여 안정적인 서비스 및 자원관리 최적화</a:t>
            </a:r>
          </a:p>
          <a:p>
            <a:pPr>
              <a:lnSpc>
                <a:spcPct val="150000"/>
              </a:lnSpc>
            </a:pPr>
            <a:r>
              <a:rPr lang="en-US" altLang="ko-KR" dirty="0" err="1"/>
              <a:t>FloatingView</a:t>
            </a:r>
            <a:r>
              <a:rPr lang="ko-KR" altLang="ko-KR" dirty="0"/>
              <a:t>의 애니메이션 효과를 적용하여 사용자 경험을 극대화하고 서비스의 역동성 부여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C527BC6-DE77-F451-E55A-6D5B4E5B5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9858" y="53179"/>
            <a:ext cx="2906162" cy="1640498"/>
          </a:xfrm>
          <a:prstGeom prst="rect">
            <a:avLst/>
          </a:prstGeom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522C7189-8272-AA08-B28C-53A1F79A16AB}"/>
              </a:ext>
            </a:extLst>
          </p:cNvPr>
          <p:cNvSpPr/>
          <p:nvPr/>
        </p:nvSpPr>
        <p:spPr>
          <a:xfrm>
            <a:off x="5469461" y="1095475"/>
            <a:ext cx="2268986" cy="96872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Call to </a:t>
            </a:r>
            <a:r>
              <a:rPr lang="en-US" altLang="ko-KR" dirty="0" err="1"/>
              <a:t>startService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0C4F49B-C239-3DA6-8DE2-AFF249A2747B}"/>
              </a:ext>
            </a:extLst>
          </p:cNvPr>
          <p:cNvSpPr/>
          <p:nvPr/>
        </p:nvSpPr>
        <p:spPr>
          <a:xfrm>
            <a:off x="5836127" y="2316182"/>
            <a:ext cx="1535655" cy="5794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onCreate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CB2059D-C3AB-70E6-DD21-75A6316E4E5D}"/>
              </a:ext>
            </a:extLst>
          </p:cNvPr>
          <p:cNvSpPr/>
          <p:nvPr/>
        </p:nvSpPr>
        <p:spPr>
          <a:xfrm>
            <a:off x="5516992" y="3109114"/>
            <a:ext cx="2173925" cy="5794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onStartCommand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15" name="순서도: 준비 14">
            <a:extLst>
              <a:ext uri="{FF2B5EF4-FFF2-40B4-BE49-F238E27FC236}">
                <a16:creationId xmlns:a16="http://schemas.microsoft.com/office/drawing/2014/main" id="{CBB6BB26-DC36-6753-F8CB-1D972C5CBAAF}"/>
              </a:ext>
            </a:extLst>
          </p:cNvPr>
          <p:cNvSpPr/>
          <p:nvPr/>
        </p:nvSpPr>
        <p:spPr>
          <a:xfrm>
            <a:off x="5469461" y="3981347"/>
            <a:ext cx="2268986" cy="823865"/>
          </a:xfrm>
          <a:prstGeom prst="flowChartPreparation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Service</a:t>
            </a:r>
          </a:p>
          <a:p>
            <a:pPr algn="ctr"/>
            <a:r>
              <a:rPr lang="en-US" altLang="ko-KR" dirty="0"/>
              <a:t>Running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AEFD579-4DBA-1AE2-8398-E32467E52DE7}"/>
              </a:ext>
            </a:extLst>
          </p:cNvPr>
          <p:cNvSpPr/>
          <p:nvPr/>
        </p:nvSpPr>
        <p:spPr>
          <a:xfrm>
            <a:off x="5836127" y="4960633"/>
            <a:ext cx="1535655" cy="5794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onDestroy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21" name="순서도: 준비 20">
            <a:extLst>
              <a:ext uri="{FF2B5EF4-FFF2-40B4-BE49-F238E27FC236}">
                <a16:creationId xmlns:a16="http://schemas.microsoft.com/office/drawing/2014/main" id="{C2C90692-CDBC-7322-5E14-D0D05F98EC4A}"/>
              </a:ext>
            </a:extLst>
          </p:cNvPr>
          <p:cNvSpPr/>
          <p:nvPr/>
        </p:nvSpPr>
        <p:spPr>
          <a:xfrm>
            <a:off x="5469461" y="5803442"/>
            <a:ext cx="2268986" cy="823865"/>
          </a:xfrm>
          <a:prstGeom prst="flowChartPreparatio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Service</a:t>
            </a:r>
          </a:p>
          <a:p>
            <a:pPr algn="ctr"/>
            <a:r>
              <a:rPr lang="en-US" altLang="ko-KR" dirty="0"/>
              <a:t>Shutdown</a:t>
            </a:r>
            <a:endParaRPr lang="ko-KR" altLang="en-US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6A06875F-8E2E-68DE-2EAD-839D7A9E9E33}"/>
              </a:ext>
            </a:extLst>
          </p:cNvPr>
          <p:cNvSpPr/>
          <p:nvPr/>
        </p:nvSpPr>
        <p:spPr>
          <a:xfrm>
            <a:off x="8303953" y="1095475"/>
            <a:ext cx="2268986" cy="968720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Creaet</a:t>
            </a:r>
            <a:endParaRPr lang="en-US" altLang="ko-KR" dirty="0"/>
          </a:p>
          <a:p>
            <a:pPr algn="ctr"/>
            <a:r>
              <a:rPr lang="en-US" altLang="ko-KR" dirty="0" err="1"/>
              <a:t>FloatingView</a:t>
            </a:r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DE67631-56A8-6493-CAA7-0D6D133F3F61}"/>
              </a:ext>
            </a:extLst>
          </p:cNvPr>
          <p:cNvSpPr/>
          <p:nvPr/>
        </p:nvSpPr>
        <p:spPr>
          <a:xfrm>
            <a:off x="8670618" y="2316182"/>
            <a:ext cx="1535655" cy="5794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onCreate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6833259-8D81-A984-A71C-A05174DED29C}"/>
              </a:ext>
            </a:extLst>
          </p:cNvPr>
          <p:cNvSpPr/>
          <p:nvPr/>
        </p:nvSpPr>
        <p:spPr>
          <a:xfrm>
            <a:off x="8670619" y="4960633"/>
            <a:ext cx="1535655" cy="5794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onDestroy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084C9F8F-F6F0-1DAE-A423-0400E8B1E2FF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6602822" y="2064195"/>
            <a:ext cx="1133" cy="2519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2084CA58-92C9-516C-ACBD-6CAB4B5A156C}"/>
              </a:ext>
            </a:extLst>
          </p:cNvPr>
          <p:cNvCxnSpPr>
            <a:cxnSpLocks/>
          </p:cNvCxnSpPr>
          <p:nvPr/>
        </p:nvCxnSpPr>
        <p:spPr>
          <a:xfrm>
            <a:off x="6603954" y="2900131"/>
            <a:ext cx="0" cy="2089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E6264ADE-B9DB-2F4D-6C92-9B8EC0E8F652}"/>
              </a:ext>
            </a:extLst>
          </p:cNvPr>
          <p:cNvCxnSpPr>
            <a:cxnSpLocks/>
          </p:cNvCxnSpPr>
          <p:nvPr/>
        </p:nvCxnSpPr>
        <p:spPr>
          <a:xfrm flipH="1">
            <a:off x="6584716" y="3688536"/>
            <a:ext cx="1" cy="29281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E98DE114-46A7-4AB6-3F32-94FE7FF21515}"/>
              </a:ext>
            </a:extLst>
          </p:cNvPr>
          <p:cNvCxnSpPr>
            <a:cxnSpLocks/>
          </p:cNvCxnSpPr>
          <p:nvPr/>
        </p:nvCxnSpPr>
        <p:spPr>
          <a:xfrm>
            <a:off x="6599428" y="4805212"/>
            <a:ext cx="1" cy="1674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9EFA828F-2BA4-65DA-81A0-8EF8A15A1ED6}"/>
              </a:ext>
            </a:extLst>
          </p:cNvPr>
          <p:cNvCxnSpPr>
            <a:cxnSpLocks/>
          </p:cNvCxnSpPr>
          <p:nvPr/>
        </p:nvCxnSpPr>
        <p:spPr>
          <a:xfrm flipH="1">
            <a:off x="6603954" y="5552124"/>
            <a:ext cx="1" cy="2513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122F386D-6AB7-3217-E575-FB3FCCA5761B}"/>
              </a:ext>
            </a:extLst>
          </p:cNvPr>
          <p:cNvCxnSpPr>
            <a:stCxn id="27" idx="2"/>
            <a:endCxn id="29" idx="0"/>
          </p:cNvCxnSpPr>
          <p:nvPr/>
        </p:nvCxnSpPr>
        <p:spPr>
          <a:xfrm>
            <a:off x="9438446" y="2895604"/>
            <a:ext cx="1" cy="2065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627CEA92-D8B5-F296-AC24-1D3F38A40782}"/>
              </a:ext>
            </a:extLst>
          </p:cNvPr>
          <p:cNvCxnSpPr>
            <a:stCxn id="12" idx="3"/>
            <a:endCxn id="27" idx="1"/>
          </p:cNvCxnSpPr>
          <p:nvPr/>
        </p:nvCxnSpPr>
        <p:spPr>
          <a:xfrm>
            <a:off x="7371782" y="2605893"/>
            <a:ext cx="1298836" cy="12700"/>
          </a:xfrm>
          <a:prstGeom prst="bentConnector3">
            <a:avLst>
              <a:gd name="adj1" fmla="val -2278"/>
            </a:avLst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0F5B954D-C630-F71F-9437-6F3991B2DB98}"/>
              </a:ext>
            </a:extLst>
          </p:cNvPr>
          <p:cNvCxnSpPr>
            <a:cxnSpLocks/>
            <a:stCxn id="18" idx="3"/>
            <a:endCxn id="29" idx="1"/>
          </p:cNvCxnSpPr>
          <p:nvPr/>
        </p:nvCxnSpPr>
        <p:spPr>
          <a:xfrm>
            <a:off x="7371782" y="5250344"/>
            <a:ext cx="1298837" cy="12700"/>
          </a:xfrm>
          <a:prstGeom prst="bentConnector3">
            <a:avLst>
              <a:gd name="adj1" fmla="val 98096"/>
            </a:avLst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C3823695-DA39-BB2B-B048-5EDE37807C28}"/>
              </a:ext>
            </a:extLst>
          </p:cNvPr>
          <p:cNvCxnSpPr>
            <a:cxnSpLocks/>
            <a:stCxn id="25" idx="4"/>
            <a:endCxn id="27" idx="0"/>
          </p:cNvCxnSpPr>
          <p:nvPr/>
        </p:nvCxnSpPr>
        <p:spPr>
          <a:xfrm>
            <a:off x="9438446" y="2064195"/>
            <a:ext cx="0" cy="251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4433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BF76F-8976-1760-8B36-BEC2F4CC6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521BCE3-E478-FEBD-0678-4FE0B9745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54" y="262550"/>
            <a:ext cx="10078691" cy="726462"/>
          </a:xfrm>
        </p:spPr>
        <p:txBody>
          <a:bodyPr>
            <a:normAutofit/>
          </a:bodyPr>
          <a:lstStyle/>
          <a:p>
            <a:pPr lvl="0"/>
            <a:r>
              <a:rPr lang="en-US" altLang="ko-KR" dirty="0" err="1"/>
              <a:t>MediaSession</a:t>
            </a:r>
            <a:r>
              <a:rPr lang="en-US" altLang="ko-KR" dirty="0"/>
              <a:t> </a:t>
            </a:r>
            <a:r>
              <a:rPr lang="ko-KR" altLang="en-US" dirty="0"/>
              <a:t>활용한 서비스 </a:t>
            </a:r>
            <a:r>
              <a:rPr lang="ko-KR" altLang="ko-KR" dirty="0"/>
              <a:t>개발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69AD3AD-2431-FE98-D2FE-6C2D152DF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1436" y="1315016"/>
            <a:ext cx="4212045" cy="5102734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ko-KR" altLang="ko-KR" dirty="0"/>
              <a:t>안드로이드</a:t>
            </a:r>
            <a:r>
              <a:rPr lang="en-US" altLang="ko-KR" dirty="0"/>
              <a:t> </a:t>
            </a:r>
            <a:r>
              <a:rPr lang="en-US" altLang="ko-KR" dirty="0" err="1"/>
              <a:t>MediaSession</a:t>
            </a:r>
            <a:r>
              <a:rPr lang="en-US" altLang="ko-KR" dirty="0"/>
              <a:t> API</a:t>
            </a:r>
            <a:r>
              <a:rPr lang="ko-KR" altLang="ko-KR" dirty="0"/>
              <a:t>를 활용하여 현재 재생 중인 미디어의 메타데이터와 상태 정보를 수집 및 재가공</a:t>
            </a:r>
          </a:p>
          <a:p>
            <a:pPr>
              <a:lnSpc>
                <a:spcPct val="150000"/>
              </a:lnSpc>
            </a:pPr>
            <a:r>
              <a:rPr lang="ko-KR" altLang="ko-KR" b="1" dirty="0"/>
              <a:t>안드로이드 미디어 프레임워크 이해</a:t>
            </a:r>
            <a:r>
              <a:rPr lang="en-US" altLang="ko-KR" dirty="0"/>
              <a:t>: </a:t>
            </a:r>
            <a:r>
              <a:rPr lang="en-US" altLang="ko-KR" dirty="0" err="1"/>
              <a:t>MediaSession</a:t>
            </a:r>
            <a:r>
              <a:rPr lang="ko-KR" altLang="ko-KR" dirty="0"/>
              <a:t>과</a:t>
            </a:r>
            <a:r>
              <a:rPr lang="en-US" altLang="ko-KR" dirty="0"/>
              <a:t> </a:t>
            </a:r>
            <a:r>
              <a:rPr lang="en-US" altLang="ko-KR" dirty="0" err="1"/>
              <a:t>MediaController</a:t>
            </a:r>
            <a:r>
              <a:rPr lang="ko-KR" altLang="ko-KR" dirty="0"/>
              <a:t>를 활용해 재생 상태</a:t>
            </a:r>
            <a:r>
              <a:rPr lang="en-US" altLang="ko-KR" dirty="0"/>
              <a:t>, </a:t>
            </a:r>
            <a:r>
              <a:rPr lang="ko-KR" altLang="ko-KR" dirty="0"/>
              <a:t>메타데이터</a:t>
            </a:r>
            <a:r>
              <a:rPr lang="en-US" altLang="ko-KR" dirty="0"/>
              <a:t>, </a:t>
            </a:r>
            <a:r>
              <a:rPr lang="ko-KR" altLang="ko-KR" dirty="0"/>
              <a:t>컨트롤 이벤트를 안정적으로 처리</a:t>
            </a:r>
            <a:r>
              <a:rPr lang="ko-KR" altLang="ko-KR" b="1" dirty="0"/>
              <a:t> </a:t>
            </a:r>
            <a:endParaRPr lang="ko-KR" altLang="ko-KR" dirty="0"/>
          </a:p>
          <a:p>
            <a:pPr>
              <a:lnSpc>
                <a:spcPct val="150000"/>
              </a:lnSpc>
            </a:pPr>
            <a:r>
              <a:rPr lang="ko-KR" altLang="ko-KR" b="1" dirty="0"/>
              <a:t>사용자 경험 개선</a:t>
            </a:r>
            <a:r>
              <a:rPr lang="en-US" altLang="ko-KR" dirty="0"/>
              <a:t>: </a:t>
            </a:r>
            <a:r>
              <a:rPr lang="ko-KR" altLang="ko-KR" dirty="0"/>
              <a:t>현재 재생 중인 콘텐츠 정보를 기반으로 맞춤형 알림</a:t>
            </a:r>
            <a:r>
              <a:rPr lang="en-US" altLang="ko-KR" dirty="0"/>
              <a:t>, </a:t>
            </a:r>
            <a:r>
              <a:rPr lang="ko-KR" altLang="ko-KR" dirty="0"/>
              <a:t>위젯</a:t>
            </a:r>
            <a:r>
              <a:rPr lang="en-US" altLang="ko-KR" dirty="0"/>
              <a:t>, </a:t>
            </a:r>
            <a:r>
              <a:rPr lang="ko-KR" altLang="ko-KR" dirty="0"/>
              <a:t>음성 응답 제공</a:t>
            </a:r>
            <a:r>
              <a:rPr lang="en-US" altLang="ko-KR" dirty="0"/>
              <a:t> → </a:t>
            </a:r>
            <a:r>
              <a:rPr lang="ko-KR" altLang="ko-KR" dirty="0"/>
              <a:t>직관적이고 편리한</a:t>
            </a:r>
            <a:r>
              <a:rPr lang="en-US" altLang="ko-KR" dirty="0"/>
              <a:t> UX </a:t>
            </a:r>
            <a:r>
              <a:rPr lang="ko-KR" altLang="ko-KR" dirty="0"/>
              <a:t>확보</a:t>
            </a:r>
          </a:p>
          <a:p>
            <a:pPr>
              <a:lnSpc>
                <a:spcPct val="150000"/>
              </a:lnSpc>
            </a:pPr>
            <a:r>
              <a:rPr lang="ko-KR" altLang="ko-KR" b="1" dirty="0"/>
              <a:t>서비스 확장성</a:t>
            </a:r>
            <a:r>
              <a:rPr lang="en-US" altLang="ko-KR" dirty="0"/>
              <a:t>: </a:t>
            </a:r>
            <a:r>
              <a:rPr lang="ko-KR" altLang="ko-KR" dirty="0"/>
              <a:t>다양한 음악 소스에 날씨</a:t>
            </a:r>
            <a:r>
              <a:rPr lang="en-US" altLang="ko-KR" dirty="0"/>
              <a:t>, </a:t>
            </a:r>
            <a:r>
              <a:rPr lang="ko-KR" altLang="ko-KR" dirty="0"/>
              <a:t>차량주행상태</a:t>
            </a:r>
            <a:r>
              <a:rPr lang="en-US" altLang="ko-KR" dirty="0"/>
              <a:t>, </a:t>
            </a:r>
            <a:r>
              <a:rPr lang="ko-KR" altLang="ko-KR" dirty="0"/>
              <a:t>시간 등의 정보를 융합하여</a:t>
            </a:r>
            <a:r>
              <a:rPr lang="en-US" altLang="ko-KR" dirty="0"/>
              <a:t> LLM</a:t>
            </a:r>
            <a:r>
              <a:rPr lang="ko-KR" altLang="ko-KR" dirty="0"/>
              <a:t>을 활용한</a:t>
            </a:r>
            <a:r>
              <a:rPr lang="en-US" altLang="ko-KR" dirty="0"/>
              <a:t> AI DJ </a:t>
            </a:r>
            <a:r>
              <a:rPr lang="ko-KR" altLang="ko-KR" dirty="0"/>
              <a:t>서비스 개발</a:t>
            </a:r>
          </a:p>
          <a:p>
            <a:pPr>
              <a:lnSpc>
                <a:spcPct val="150000"/>
              </a:lnSpc>
            </a:pPr>
            <a:r>
              <a:rPr lang="ko-KR" altLang="ko-KR" b="1" dirty="0"/>
              <a:t>실시간 동기화</a:t>
            </a:r>
            <a:r>
              <a:rPr lang="en-US" altLang="ko-KR" dirty="0"/>
              <a:t>: </a:t>
            </a:r>
            <a:r>
              <a:rPr lang="en-US" altLang="ko-KR" dirty="0" err="1"/>
              <a:t>MediaSession</a:t>
            </a:r>
            <a:r>
              <a:rPr lang="en-US" altLang="ko-KR" dirty="0"/>
              <a:t> </a:t>
            </a:r>
            <a:r>
              <a:rPr lang="ko-KR" altLang="ko-KR" dirty="0"/>
              <a:t>이벤트를 실시간으로 반영하여 사용자 인터페이스와 서비스가 항상 최신 상태 유지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7B0A68B-CEED-76BA-65D0-F30E3A0FC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1068" y="1227910"/>
            <a:ext cx="6699496" cy="2744853"/>
          </a:xfrm>
          <a:prstGeom prst="rect">
            <a:avLst/>
          </a:prstGeom>
        </p:spPr>
      </p:pic>
      <p:pic>
        <p:nvPicPr>
          <p:cNvPr id="8" name="그림 7" descr="MediaSession を使用して再生を制御およびアドバタイズする | Android media | Android Developers">
            <a:extLst>
              <a:ext uri="{FF2B5EF4-FFF2-40B4-BE49-F238E27FC236}">
                <a16:creationId xmlns:a16="http://schemas.microsoft.com/office/drawing/2014/main" id="{8EB09A87-86DD-EC97-E7C0-DB76DCAF1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194" y="3974400"/>
            <a:ext cx="4568566" cy="1728126"/>
          </a:xfrm>
          <a:prstGeom prst="rect">
            <a:avLst/>
          </a:prstGeom>
        </p:spPr>
      </p:pic>
      <p:sp>
        <p:nvSpPr>
          <p:cNvPr id="13" name="화살표: 위쪽 12">
            <a:extLst>
              <a:ext uri="{FF2B5EF4-FFF2-40B4-BE49-F238E27FC236}">
                <a16:creationId xmlns:a16="http://schemas.microsoft.com/office/drawing/2014/main" id="{3767AE4D-DBA5-60F7-FECB-635EBE135F02}"/>
              </a:ext>
            </a:extLst>
          </p:cNvPr>
          <p:cNvSpPr/>
          <p:nvPr/>
        </p:nvSpPr>
        <p:spPr>
          <a:xfrm>
            <a:off x="5902857" y="3972762"/>
            <a:ext cx="238408" cy="77125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63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9B7EB-595A-874A-29E0-16CCF9913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067C80B5-1B95-0411-BAD5-1114FE87F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954" y="262550"/>
            <a:ext cx="10078691" cy="726462"/>
          </a:xfrm>
        </p:spPr>
        <p:txBody>
          <a:bodyPr>
            <a:normAutofit/>
          </a:bodyPr>
          <a:lstStyle/>
          <a:p>
            <a:pPr lvl="0"/>
            <a:r>
              <a:rPr lang="en-US" altLang="ko-KR" dirty="0"/>
              <a:t>Connect-S </a:t>
            </a:r>
            <a:r>
              <a:rPr lang="ko-KR" altLang="ko-KR" dirty="0"/>
              <a:t>키이벤트 연동하여 사용자 경험 개선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9DCEF563-7FD4-10B0-4218-41E09AC36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1436" y="1315016"/>
            <a:ext cx="4212045" cy="5102734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Connect API </a:t>
            </a:r>
            <a:r>
              <a:rPr lang="ko-KR" altLang="ko-KR" dirty="0"/>
              <a:t>활용한</a:t>
            </a:r>
            <a:r>
              <a:rPr lang="en-US" altLang="ko-KR" dirty="0"/>
              <a:t> PTT Key Event</a:t>
            </a:r>
            <a:r>
              <a:rPr lang="ko-KR" altLang="ko-KR" dirty="0"/>
              <a:t>를 활용하여</a:t>
            </a:r>
            <a:r>
              <a:rPr lang="en-US" altLang="ko-KR" dirty="0"/>
              <a:t> STT </a:t>
            </a:r>
            <a:r>
              <a:rPr lang="ko-KR" altLang="ko-KR" dirty="0"/>
              <a:t>서비스 연동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UI</a:t>
            </a:r>
            <a:r>
              <a:rPr lang="ko-KR" altLang="ko-KR" dirty="0"/>
              <a:t>와 백그라운드 서비스가 자연스럽게 연결되도록 설계하여 사용자 편의성 강화</a:t>
            </a:r>
            <a:r>
              <a:rPr lang="en-US" altLang="ko-KR" dirty="0"/>
              <a:t> </a:t>
            </a:r>
            <a:endParaRPr lang="ko-KR" altLang="ko-KR" dirty="0"/>
          </a:p>
          <a:p>
            <a:pPr>
              <a:lnSpc>
                <a:spcPct val="150000"/>
              </a:lnSpc>
            </a:pPr>
            <a:r>
              <a:rPr lang="ko-KR" altLang="ko-KR" b="1" dirty="0"/>
              <a:t>시스템 이벤트 이해</a:t>
            </a:r>
            <a:r>
              <a:rPr lang="en-US" altLang="ko-KR" dirty="0"/>
              <a:t>: Connect API</a:t>
            </a:r>
            <a:r>
              <a:rPr lang="ko-KR" altLang="ko-KR" dirty="0"/>
              <a:t>의 키 이벤트 처리 흐름을 깊이 이해하고</a:t>
            </a:r>
            <a:r>
              <a:rPr lang="en-US" altLang="ko-KR" dirty="0"/>
              <a:t>, </a:t>
            </a:r>
            <a:r>
              <a:rPr lang="en-US" altLang="ko-KR" dirty="0" err="1"/>
              <a:t>KeyEvent</a:t>
            </a:r>
            <a:r>
              <a:rPr lang="ko-KR" altLang="ko-KR" dirty="0"/>
              <a:t>를 안정적으로 서비스와 연결</a:t>
            </a:r>
          </a:p>
          <a:p>
            <a:pPr>
              <a:lnSpc>
                <a:spcPct val="150000"/>
              </a:lnSpc>
            </a:pPr>
            <a:r>
              <a:rPr lang="ko-KR" altLang="ko-KR" b="1" dirty="0"/>
              <a:t>사용자 경험 개선</a:t>
            </a:r>
            <a:r>
              <a:rPr lang="en-US" altLang="ko-KR" dirty="0"/>
              <a:t>: </a:t>
            </a:r>
            <a:r>
              <a:rPr lang="ko-KR" altLang="ko-KR" dirty="0"/>
              <a:t>화면 조작 없이도 하드웨어 키 입력만으로 빠르게 기능 실행 가능</a:t>
            </a:r>
            <a:r>
              <a:rPr lang="en-US" altLang="ko-KR" dirty="0"/>
              <a:t> → </a:t>
            </a:r>
            <a:r>
              <a:rPr lang="ko-KR" altLang="ko-KR" dirty="0"/>
              <a:t>직관적이고 편리한</a:t>
            </a:r>
            <a:r>
              <a:rPr lang="en-US" altLang="ko-KR" dirty="0"/>
              <a:t> UX </a:t>
            </a:r>
            <a:r>
              <a:rPr lang="ko-KR" altLang="ko-KR" dirty="0"/>
              <a:t>제공</a:t>
            </a:r>
          </a:p>
          <a:p>
            <a:pPr>
              <a:lnSpc>
                <a:spcPct val="150000"/>
              </a:lnSpc>
            </a:pPr>
            <a:r>
              <a:rPr lang="ko-KR" altLang="ko-KR" b="1" dirty="0"/>
              <a:t>실시간 반응성 확보</a:t>
            </a:r>
            <a:r>
              <a:rPr lang="en-US" altLang="ko-KR" dirty="0"/>
              <a:t>: </a:t>
            </a:r>
            <a:r>
              <a:rPr lang="ko-KR" altLang="ko-KR" dirty="0"/>
              <a:t>키 입력과 서비스 실행 간 지연을 최소화하여 즉각적인 사용자 피드백 제공</a:t>
            </a:r>
          </a:p>
          <a:p>
            <a:pPr>
              <a:lnSpc>
                <a:spcPct val="150000"/>
              </a:lnSpc>
            </a:pPr>
            <a:r>
              <a:rPr lang="ko-KR" altLang="ko-KR" b="1" dirty="0"/>
              <a:t>확장성</a:t>
            </a:r>
            <a:r>
              <a:rPr lang="en-US" altLang="ko-KR" dirty="0"/>
              <a:t>: </a:t>
            </a:r>
            <a:r>
              <a:rPr lang="ko-KR" altLang="ko-KR" dirty="0"/>
              <a:t>다양한 키 입력을 활용해 멀티 기능을 제공할 수 있는 구조 설계</a:t>
            </a:r>
          </a:p>
        </p:txBody>
      </p:sp>
      <p:sp>
        <p:nvSpPr>
          <p:cNvPr id="2" name="구름 1">
            <a:extLst>
              <a:ext uri="{FF2B5EF4-FFF2-40B4-BE49-F238E27FC236}">
                <a16:creationId xmlns:a16="http://schemas.microsoft.com/office/drawing/2014/main" id="{4834D39A-231B-B220-C547-38EBB3F49CFD}"/>
              </a:ext>
            </a:extLst>
          </p:cNvPr>
          <p:cNvSpPr/>
          <p:nvPr/>
        </p:nvSpPr>
        <p:spPr>
          <a:xfrm>
            <a:off x="6455120" y="2316505"/>
            <a:ext cx="2172828" cy="1249378"/>
          </a:xfrm>
          <a:prstGeom prst="cloud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Connect-S</a:t>
            </a:r>
          </a:p>
          <a:p>
            <a:pPr algn="ctr"/>
            <a:r>
              <a:rPr lang="en-US" altLang="ko-KR" dirty="0"/>
              <a:t>System</a:t>
            </a:r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52FBE2B-34CC-C4D1-2928-26CF19361710}"/>
              </a:ext>
            </a:extLst>
          </p:cNvPr>
          <p:cNvSpPr/>
          <p:nvPr/>
        </p:nvSpPr>
        <p:spPr>
          <a:xfrm>
            <a:off x="6274048" y="4948993"/>
            <a:ext cx="2806577" cy="146875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Application</a:t>
            </a:r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AAC7B62-6A04-E79C-AAAC-20430D0A1C46}"/>
              </a:ext>
            </a:extLst>
          </p:cNvPr>
          <p:cNvSpPr/>
          <p:nvPr/>
        </p:nvSpPr>
        <p:spPr>
          <a:xfrm>
            <a:off x="6944009" y="5921536"/>
            <a:ext cx="2037030" cy="39686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err="1"/>
              <a:t>HmgCarInputManager</a:t>
            </a:r>
            <a:endParaRPr lang="ko-KR" altLang="en-US" sz="1400" dirty="0"/>
          </a:p>
        </p:txBody>
      </p:sp>
      <p:cxnSp>
        <p:nvCxnSpPr>
          <p:cNvPr id="9" name="연결선: 구부러짐 8">
            <a:extLst>
              <a:ext uri="{FF2B5EF4-FFF2-40B4-BE49-F238E27FC236}">
                <a16:creationId xmlns:a16="http://schemas.microsoft.com/office/drawing/2014/main" id="{85DD31C5-E9C8-B55B-8325-9EA70188F9A3}"/>
              </a:ext>
            </a:extLst>
          </p:cNvPr>
          <p:cNvCxnSpPr>
            <a:cxnSpLocks/>
            <a:stCxn id="3" idx="1"/>
            <a:endCxn id="2" idx="2"/>
          </p:cNvCxnSpPr>
          <p:nvPr/>
        </p:nvCxnSpPr>
        <p:spPr>
          <a:xfrm rot="10800000" flipH="1">
            <a:off x="6274048" y="2941194"/>
            <a:ext cx="187812" cy="2742178"/>
          </a:xfrm>
          <a:prstGeom prst="curvedConnector3">
            <a:avLst>
              <a:gd name="adj1" fmla="val -444690"/>
            </a:avLst>
          </a:prstGeom>
          <a:ln w="22225" cmpd="sng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86CA1A17-9910-C550-B289-5A4FAC8122EB}"/>
              </a:ext>
            </a:extLst>
          </p:cNvPr>
          <p:cNvCxnSpPr>
            <a:cxnSpLocks/>
            <a:stCxn id="2" idx="0"/>
            <a:endCxn id="3" idx="3"/>
          </p:cNvCxnSpPr>
          <p:nvPr/>
        </p:nvCxnSpPr>
        <p:spPr>
          <a:xfrm>
            <a:off x="8626137" y="2941194"/>
            <a:ext cx="454488" cy="2742178"/>
          </a:xfrm>
          <a:prstGeom prst="curvedConnector3">
            <a:avLst>
              <a:gd name="adj1" fmla="val 150298"/>
            </a:avLst>
          </a:prstGeom>
          <a:ln w="22225" cmpd="sng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E856225-49F8-2182-BB01-0D258B248D29}"/>
              </a:ext>
            </a:extLst>
          </p:cNvPr>
          <p:cNvSpPr txBox="1"/>
          <p:nvPr/>
        </p:nvSpPr>
        <p:spPr>
          <a:xfrm>
            <a:off x="5464919" y="4203309"/>
            <a:ext cx="1980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Register </a:t>
            </a:r>
            <a:r>
              <a:rPr lang="en-US" altLang="ko-KR" dirty="0" err="1"/>
              <a:t>IKeyEventListener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901AFC-E2A5-EB5D-380E-0424AEBA0127}"/>
              </a:ext>
            </a:extLst>
          </p:cNvPr>
          <p:cNvSpPr txBox="1"/>
          <p:nvPr/>
        </p:nvSpPr>
        <p:spPr>
          <a:xfrm>
            <a:off x="6362362" y="3597668"/>
            <a:ext cx="2888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ko-KR" dirty="0"/>
              <a:t>KEYCODE_VOICE_ASSIST</a:t>
            </a:r>
            <a:endParaRPr lang="en-US" altLang="ko-KR" dirty="0"/>
          </a:p>
          <a:p>
            <a:pPr algn="r"/>
            <a:r>
              <a:rPr lang="en-US" altLang="ko-KR" dirty="0"/>
              <a:t>Event</a:t>
            </a:r>
            <a:endParaRPr lang="ko-KR" altLang="en-US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C1FAE630-88B6-CEF4-9699-3E7A61797C63}"/>
              </a:ext>
            </a:extLst>
          </p:cNvPr>
          <p:cNvSpPr/>
          <p:nvPr/>
        </p:nvSpPr>
        <p:spPr>
          <a:xfrm>
            <a:off x="6585238" y="1119541"/>
            <a:ext cx="1901227" cy="7264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사용자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D3FA038-BC03-206F-B23B-282023B338FC}"/>
              </a:ext>
            </a:extLst>
          </p:cNvPr>
          <p:cNvCxnSpPr>
            <a:stCxn id="15" idx="4"/>
            <a:endCxn id="2" idx="3"/>
          </p:cNvCxnSpPr>
          <p:nvPr/>
        </p:nvCxnSpPr>
        <p:spPr>
          <a:xfrm>
            <a:off x="7535852" y="1846003"/>
            <a:ext cx="5682" cy="5419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16106BD-0C27-24F5-90AB-FE831E3F8C52}"/>
              </a:ext>
            </a:extLst>
          </p:cNvPr>
          <p:cNvSpPr txBox="1"/>
          <p:nvPr/>
        </p:nvSpPr>
        <p:spPr>
          <a:xfrm>
            <a:off x="7634375" y="1874258"/>
            <a:ext cx="1980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PTT</a:t>
            </a:r>
            <a:r>
              <a:rPr lang="ko-KR" altLang="en-US" dirty="0"/>
              <a:t>키 입력</a:t>
            </a:r>
          </a:p>
        </p:txBody>
      </p:sp>
    </p:spTree>
    <p:extLst>
      <p:ext uri="{BB962C8B-B14F-4D97-AF65-F5344CB8AC3E}">
        <p14:creationId xmlns:p14="http://schemas.microsoft.com/office/powerpoint/2010/main" val="1272329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824</Words>
  <Application>Microsoft Office PowerPoint</Application>
  <PresentationFormat>와이드스크린</PresentationFormat>
  <Paragraphs>88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Mobis Orchestrator 라이브러리 연동된 AIAgent 개발</vt:lpstr>
      <vt:lpstr>STT를 활용한 서비스 개발</vt:lpstr>
      <vt:lpstr> TTS를 활용한 서비스 개발</vt:lpstr>
      <vt:lpstr>On-Device LLM을 활용한 질문-답변 서비스 개발 경험</vt:lpstr>
      <vt:lpstr>Wake-Up-Word 활용한 서비스 개발</vt:lpstr>
      <vt:lpstr>BootReceiver기반 앱 자동 실행 기능 개발</vt:lpstr>
      <vt:lpstr>FloatingView 기반 서비스 개발경험</vt:lpstr>
      <vt:lpstr>MediaSession 활용한 서비스 개발</vt:lpstr>
      <vt:lpstr>Connect-S 키이벤트 연동하여 사용자 경험 개선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부재식 (주)투비원솔루션즈</dc:creator>
  <cp:lastModifiedBy>부재식 (주)투비원솔루션즈</cp:lastModifiedBy>
  <cp:revision>5</cp:revision>
  <dcterms:created xsi:type="dcterms:W3CDTF">2026-06-25T02:00:31Z</dcterms:created>
  <dcterms:modified xsi:type="dcterms:W3CDTF">2026-06-25T02:54:15Z</dcterms:modified>
</cp:coreProperties>
</file>