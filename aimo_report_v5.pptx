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8_7FF62665.xml" ContentType="application/vnd.ms-powerpoint.comments+xml"/>
  <Override PartName="/ppt/notesSlides/notesSlide4.xml" ContentType="application/vnd.openxmlformats-officedocument.presentationml.notesSlide+xml"/>
  <Override PartName="/ppt/comments/modernComment_18B_5AC130A0.xml" ContentType="application/vnd.ms-powerpoint.comments+xml"/>
  <Override PartName="/ppt/notesSlides/notesSlide5.xml" ContentType="application/vnd.openxmlformats-officedocument.presentationml.notesSlide+xml"/>
  <Override PartName="/ppt/comments/modernComment_18C_6DD5AAF0.xml" ContentType="application/vnd.ms-powerpoint.comments+xml"/>
  <Override PartName="/ppt/notesSlides/notesSlide6.xml" ContentType="application/vnd.openxmlformats-officedocument.presentationml.notesSlide+xml"/>
  <Override PartName="/ppt/comments/modernComment_156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82_40B7A04F.xml" ContentType="application/vnd.ms-powerpoint.comments+xml"/>
  <Override PartName="/ppt/notesSlides/notesSlide9.xml" ContentType="application/vnd.openxmlformats-officedocument.presentationml.notesSlide+xml"/>
  <Override PartName="/ppt/comments/modernComment_178_4FF63E39.xml" ContentType="application/vnd.ms-powerpoint.comments+xml"/>
  <Override PartName="/ppt/notesSlides/notesSlide10.xml" ContentType="application/vnd.openxmlformats-officedocument.presentationml.notesSlide+xml"/>
  <Override PartName="/ppt/comments/modernComment_172_5D0A3AFB.xml" ContentType="application/vnd.ms-powerpoint.comments+xml"/>
  <Override PartName="/ppt/notesSlides/notesSlide11.xml" ContentType="application/vnd.openxmlformats-officedocument.presentationml.notesSlide+xml"/>
  <Override PartName="/ppt/comments/modernComment_18D_CCDC6323.xml" ContentType="application/vnd.ms-powerpoint.comments+xml"/>
  <Override PartName="/ppt/notesSlides/notesSlide12.xml" ContentType="application/vnd.openxmlformats-officedocument.presentationml.notesSlide+xml"/>
  <Override PartName="/ppt/comments/modernComment_183_42F2E83.xml" ContentType="application/vnd.ms-powerpoint.comments+xml"/>
  <Override PartName="/ppt/notesSlides/notesSlide13.xml" ContentType="application/vnd.openxmlformats-officedocument.presentationml.notesSlide+xml"/>
  <Override PartName="/ppt/comments/modernComment_184_DEAF274D.xml" ContentType="application/vnd.ms-powerpoint.comments+xml"/>
  <Override PartName="/ppt/notesSlides/notesSlide14.xml" ContentType="application/vnd.openxmlformats-officedocument.presentationml.notesSlide+xml"/>
  <Override PartName="/ppt/comments/modernComment_17E_14673650.xml" ContentType="application/vnd.ms-powerpoint.comments+xml"/>
  <Override PartName="/ppt/notesSlides/notesSlide15.xml" ContentType="application/vnd.openxmlformats-officedocument.presentationml.notesSlide+xml"/>
  <Override PartName="/ppt/comments/modernComment_186_DFF8B5ED.xml" ContentType="application/vnd.ms-powerpoint.comments+xml"/>
  <Override PartName="/ppt/notesSlides/notesSlide16.xml" ContentType="application/vnd.openxmlformats-officedocument.presentationml.notesSlide+xml"/>
  <Override PartName="/ppt/comments/modernComment_18F_AC59565B.xml" ContentType="application/vnd.ms-powerpoint.comments+xml"/>
  <Override PartName="/ppt/notesSlides/notesSlide17.xml" ContentType="application/vnd.openxmlformats-officedocument.presentationml.notesSlide+xml"/>
  <Override PartName="/ppt/comments/modernComment_190_44BCE695.xml" ContentType="application/vnd.ms-powerpoint.comments+xml"/>
  <Override PartName="/ppt/notesSlides/notesSlide18.xml" ContentType="application/vnd.openxmlformats-officedocument.presentationml.notesSlide+xml"/>
  <Override PartName="/ppt/comments/modernComment_189_AFD70214.xml" ContentType="application/vnd.ms-powerpoint.comments+xml"/>
  <Override PartName="/ppt/notesSlides/notesSlide19.xml" ContentType="application/vnd.openxmlformats-officedocument.presentationml.notesSlide+xml"/>
  <Override PartName="/ppt/comments/modernComment_17F_DA6EA4BB.xml" ContentType="application/vnd.ms-powerpoint.comments+xml"/>
  <Override PartName="/ppt/notesSlides/notesSlide20.xml" ContentType="application/vnd.openxmlformats-officedocument.presentationml.notesSlide+xml"/>
  <Override PartName="/ppt/comments/modernComment_180_55881110.xml" ContentType="application/vnd.ms-powerpoint.comments+xml"/>
  <Override PartName="/ppt/notesSlides/notesSlide21.xml" ContentType="application/vnd.openxmlformats-officedocument.presentationml.notesSlide+xml"/>
  <Override PartName="/ppt/comments/modernComment_181_5C14CBAB.xml" ContentType="application/vnd.ms-powerpoint.comments+xml"/>
  <Override PartName="/ppt/notesSlides/notesSlide22.xml" ContentType="application/vnd.openxmlformats-officedocument.presentationml.notesSlide+xml"/>
  <Override PartName="/ppt/comments/modernComment_18E_A687288C.xml" ContentType="application/vnd.ms-powerpoint.comments+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7" r:id="rId2"/>
    <p:sldMasterId id="2147483652" r:id="rId3"/>
  </p:sldMasterIdLst>
  <p:notesMasterIdLst>
    <p:notesMasterId r:id="rId29"/>
  </p:notesMasterIdLst>
  <p:sldIdLst>
    <p:sldId id="343" r:id="rId4"/>
    <p:sldId id="362" r:id="rId5"/>
    <p:sldId id="366" r:id="rId6"/>
    <p:sldId id="264" r:id="rId7"/>
    <p:sldId id="395" r:id="rId8"/>
    <p:sldId id="396" r:id="rId9"/>
    <p:sldId id="356" r:id="rId10"/>
    <p:sldId id="342" r:id="rId11"/>
    <p:sldId id="371" r:id="rId12"/>
    <p:sldId id="386" r:id="rId13"/>
    <p:sldId id="376" r:id="rId14"/>
    <p:sldId id="370" r:id="rId15"/>
    <p:sldId id="397" r:id="rId16"/>
    <p:sldId id="387" r:id="rId17"/>
    <p:sldId id="388" r:id="rId18"/>
    <p:sldId id="382" r:id="rId19"/>
    <p:sldId id="390" r:id="rId20"/>
    <p:sldId id="399" r:id="rId21"/>
    <p:sldId id="400" r:id="rId22"/>
    <p:sldId id="393" r:id="rId23"/>
    <p:sldId id="383" r:id="rId24"/>
    <p:sldId id="384" r:id="rId25"/>
    <p:sldId id="385" r:id="rId26"/>
    <p:sldId id="398" r:id="rId27"/>
    <p:sldId id="377" r:id="rId28"/>
  </p:sldIdLst>
  <p:sldSz cx="9906000" cy="6858000" type="A4"/>
  <p:notesSz cx="6735763" cy="9866313"/>
  <p:defaultTextStyle>
    <a:defPPr>
      <a:defRPr lang="ko-KR"/>
    </a:defPPr>
    <a:lvl1pPr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1pPr>
    <a:lvl2pPr marL="4572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2pPr>
    <a:lvl3pPr marL="9144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3pPr>
    <a:lvl4pPr marL="13716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4pPr>
    <a:lvl5pPr marL="1828800" algn="l" rtl="0" fontAlgn="base" latinLnBrk="1">
      <a:spcBef>
        <a:spcPct val="0"/>
      </a:spcBef>
      <a:spcAft>
        <a:spcPct val="0"/>
      </a:spcAft>
      <a:defRPr kumimoji="1" sz="1400" u="sng" kern="1200">
        <a:solidFill>
          <a:schemeClr val="tx2"/>
        </a:solidFill>
        <a:latin typeface="HY헤드라인M" pitchFamily="18" charset="-127"/>
        <a:ea typeface="HY헤드라인M" pitchFamily="18" charset="-127"/>
        <a:cs typeface="+mn-cs"/>
      </a:defRPr>
    </a:lvl5pPr>
    <a:lvl6pPr marL="22860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6pPr>
    <a:lvl7pPr marL="27432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7pPr>
    <a:lvl8pPr marL="32004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8pPr>
    <a:lvl9pPr marL="3657600" algn="l" defTabSz="914400" rtl="0" eaLnBrk="1" latinLnBrk="1" hangingPunct="1">
      <a:defRPr kumimoji="1" sz="1400" u="sng" kern="1200">
        <a:solidFill>
          <a:schemeClr val="tx2"/>
        </a:solidFill>
        <a:latin typeface="HY헤드라인M" pitchFamily="18" charset="-127"/>
        <a:ea typeface="HY헤드라인M" pitchFamily="18" charset="-127"/>
        <a:cs typeface="+mn-cs"/>
      </a:defRPr>
    </a:lvl9pPr>
  </p:defaultTextStyle>
  <p:extLst>
    <p:ext uri="{EFAFB233-063F-42B5-8137-9DF3F51BA10A}">
      <p15:sldGuideLst xmlns:p15="http://schemas.microsoft.com/office/powerpoint/2012/main">
        <p15:guide id="1" orient="horz" pos="2160">
          <p15:clr>
            <a:srgbClr val="A4A3A4"/>
          </p15:clr>
        </p15:guide>
        <p15:guide id="2" pos="194"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60EE6F-D1BB-BFC8-5997-CADFF937DA3D}" name="부재식 (주)투비원솔루션즈" initials="부" userId="S::DT100107@mobis-partners.com::2cee1a69-12f7-4123-b1f3-e7a359e42a1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333399"/>
    <a:srgbClr val="4D81C2"/>
    <a:srgbClr val="FFB9B9"/>
    <a:srgbClr val="FFF3F3"/>
    <a:srgbClr val="FFEFEF"/>
    <a:srgbClr val="FFFFFF"/>
    <a:srgbClr val="03A8DD"/>
    <a:srgbClr val="E2E2F6"/>
    <a:srgbClr val="0000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97" autoAdjust="0"/>
    <p:restoredTop sz="90482" autoAdjust="0"/>
  </p:normalViewPr>
  <p:slideViewPr>
    <p:cSldViewPr>
      <p:cViewPr varScale="1">
        <p:scale>
          <a:sx n="111" d="100"/>
          <a:sy n="111" d="100"/>
        </p:scale>
        <p:origin x="3420" y="114"/>
      </p:cViewPr>
      <p:guideLst>
        <p:guide orient="horz" pos="2160"/>
        <p:guide pos="194"/>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3342" y="-102"/>
      </p:cViewPr>
      <p:guideLst>
        <p:guide orient="horz" pos="3108"/>
        <p:guide pos="2122"/>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comments/modernComment_17E_14673650.xml><?xml version="1.0" encoding="utf-8"?>
<p188:cmLst xmlns:a="http://schemas.openxmlformats.org/drawingml/2006/main" xmlns:r="http://schemas.openxmlformats.org/officeDocument/2006/relationships" xmlns:p188="http://schemas.microsoft.com/office/powerpoint/2018/8/main">
  <p188:cm id="{C5F0EBBA-CD1E-43D4-8D96-EB17B61142AE}" authorId="{9460EE6F-D1BB-BFC8-5997-CADFF937DA3D}" created="2026-08-20T09:52:48.574">
    <pc:sldMkLst xmlns:pc="http://schemas.microsoft.com/office/powerpoint/2013/main/command">
      <pc:docMk/>
      <pc:sldMk cId="342308432" sldId="382"/>
    </pc:sldMkLst>
    <p188:txBody>
      <a:bodyPr/>
      <a:lstStyle/>
      <a:p>
        <a:r>
          <a:rPr lang="ko-KR" altLang="en-US"/>
          <a:t>Vehicle Q&amp;A 앱 시퀀스 다이어그램입니다.
앞에서 언급했던 내용이므로 간단하게 요약해서 말씀드리겠습니다.
사용자의 질문은 오케스트레이터에 입력이되고 차량 매뉴얼을 기반으로 답변할 수 있으면 RAG에서 답변을 바로 생성합니다.
그렇지 못할 경우 CloudLLM으로 답변을 생성합니다.</a:t>
        </a:r>
      </a:p>
    </p188:txBody>
  </p188:cm>
</p188:cmLst>
</file>

<file path=ppt/comments/modernComment_17F_DA6EA4BB.xml><?xml version="1.0" encoding="utf-8"?>
<p188:cmLst xmlns:a="http://schemas.openxmlformats.org/drawingml/2006/main" xmlns:r="http://schemas.openxmlformats.org/officeDocument/2006/relationships" xmlns:p188="http://schemas.microsoft.com/office/powerpoint/2018/8/main">
  <p188:cm id="{C06B22E4-A636-477A-ACDA-A30EC8DBB07A}" authorId="{9460EE6F-D1BB-BFC8-5997-CADFF937DA3D}" created="2026-08-20T10:04:27.895">
    <pc:sldMkLst xmlns:pc="http://schemas.microsoft.com/office/powerpoint/2013/main/command">
      <pc:docMk/>
      <pc:sldMk cId="3664684219" sldId="383"/>
    </pc:sldMkLst>
    <p188:txBody>
      <a:bodyPr/>
      <a:lstStyle/>
      <a:p>
        <a:r>
          <a:rPr lang="ko-KR" altLang="en-US"/>
          <a:t>온디바이스 LLM 모델이나 Cloud LLM 모델의 답변 생성 과정을 보여주는 보이스 크롬 개발 화면입니다.
로티 이미지를 활용하여 애니메이션 효과를 추가하였습니다.</a:t>
        </a:r>
      </a:p>
    </p188:txBody>
  </p188:cm>
</p188:cmLst>
</file>

<file path=ppt/comments/modernComment_18B_5AC130A0.xml><?xml version="1.0" encoding="utf-8"?>
<p188:cmLst xmlns:a="http://schemas.openxmlformats.org/drawingml/2006/main" xmlns:r="http://schemas.openxmlformats.org/officeDocument/2006/relationships" xmlns:p188="http://schemas.microsoft.com/office/powerpoint/2018/8/main">
  <p188:cm id="{C3CCFB75-F95B-4227-BF4F-806E0E5D7C55}" authorId="{9460EE6F-D1BB-BFC8-5997-CADFF937DA3D}" created="2026-08-20T09:30:56.270">
    <pc:sldMkLst xmlns:pc="http://schemas.microsoft.com/office/powerpoint/2013/main/command">
      <pc:docMk/>
      <pc:sldMk cId="1522610336" sldId="395"/>
    </pc:sldMkLst>
    <p188:txBody>
      <a:bodyPr/>
      <a:lstStyle/>
      <a:p>
        <a:r>
          <a:rPr lang="ko-KR" altLang="en-US"/>
          <a:t>모비스가 설계하고 개발한 모델과 서비스들을 기반으로 AIAgent 앱을 개발하고 있습니다.
8/7 부터 매주 금요일마다 릴리즈를하여 모비스와 함께 테스트를 진행하고 있습니다.</a:t>
        </a:r>
      </a:p>
    </p188:txBody>
  </p188:cm>
</p188:cmLst>
</file>

<file path=ppt/comments/modernComment_18C_6DD5AAF0.xml><?xml version="1.0" encoding="utf-8"?>
<p188:cmLst xmlns:a="http://schemas.openxmlformats.org/drawingml/2006/main" xmlns:r="http://schemas.openxmlformats.org/officeDocument/2006/relationships" xmlns:p188="http://schemas.microsoft.com/office/powerpoint/2018/8/main">
  <p188:cm id="{6E69AEF4-9660-4D4A-90AD-4BC0D43506A8}" authorId="{9460EE6F-D1BB-BFC8-5997-CADFF937DA3D}" created="2026-08-20T09:32:15.509">
    <pc:sldMkLst xmlns:pc="http://schemas.microsoft.com/office/powerpoint/2013/main/command">
      <pc:docMk/>
      <pc:sldMk cId="1842719472" sldId="396"/>
    </pc:sldMkLst>
    <p188:txBody>
      <a:bodyPr/>
      <a:lstStyle/>
      <a:p>
        <a:r>
          <a:rPr lang="ko-KR" altLang="en-US"/>
          <a:t>모비스에서 개인화DB를 조회하는 AIDL 서비스를 설계 및 개발하였고
해당 서비스를 연동하여 Live AI DJ 기능을 개발하고 있습니다.</a:t>
        </a:r>
      </a:p>
    </p188:txBody>
  </p188:cm>
</p188:cmLst>
</file>

<file path=ppt/comments/modernComment_18D_CCDC6323.xml><?xml version="1.0" encoding="utf-8"?>
<p188:cmLst xmlns:a="http://schemas.openxmlformats.org/drawingml/2006/main" xmlns:r="http://schemas.openxmlformats.org/officeDocument/2006/relationships" xmlns:p188="http://schemas.microsoft.com/office/powerpoint/2018/8/main">
  <p188:cm id="{5E3A7933-3CD1-4B75-B61B-94E8AF58BC0E}" authorId="{9460EE6F-D1BB-BFC8-5997-CADFF937DA3D}" created="2026-08-20T09:43:32.680">
    <pc:sldMkLst xmlns:pc="http://schemas.microsoft.com/office/powerpoint/2013/main/command">
      <pc:docMk/>
      <pc:sldMk cId="3436995363" sldId="397"/>
    </pc:sldMkLst>
    <p188:txBody>
      <a:bodyPr/>
      <a:lstStyle/>
      <a:p>
        <a:r>
          <a:rPr lang="ko-KR" altLang="en-US"/>
          <a:t>텍스트 한 줄 씩 읽어주세요</a:t>
        </a:r>
      </a:p>
    </p188:txBody>
  </p188:cm>
</p188:cmLst>
</file>

<file path=ppt/comments/modernComment_18E_A687288C.xml><?xml version="1.0" encoding="utf-8"?>
<p188:cmLst xmlns:a="http://schemas.openxmlformats.org/drawingml/2006/main" xmlns:r="http://schemas.openxmlformats.org/officeDocument/2006/relationships" xmlns:p188="http://schemas.microsoft.com/office/powerpoint/2018/8/main">
  <p188:cm id="{6D76B425-4027-4015-8B05-53E53366CBFD}" authorId="{9460EE6F-D1BB-BFC8-5997-CADFF937DA3D}" created="2026-08-20T10:06:07.249">
    <pc:sldMkLst xmlns:pc="http://schemas.microsoft.com/office/powerpoint/2013/main/command">
      <pc:docMk/>
      <pc:sldMk cId="2793875596" sldId="398"/>
    </pc:sldMkLst>
    <p188:txBody>
      <a:bodyPr/>
      <a:lstStyle/>
      <a:p>
        <a:r>
          <a:rPr lang="ko-KR" altLang="en-US"/>
          <a:t>LIVE AI DJ에서 플레이리스트를 추천하는 화면입니다.</a:t>
        </a:r>
      </a:p>
    </p188:txBody>
  </p188:cm>
</p188:cmLst>
</file>

<file path=ppt/comments/modernComment_18F_AC59565B.xml><?xml version="1.0" encoding="utf-8"?>
<p188:cmLst xmlns:a="http://schemas.openxmlformats.org/drawingml/2006/main" xmlns:r="http://schemas.openxmlformats.org/officeDocument/2006/relationships" xmlns:p188="http://schemas.microsoft.com/office/powerpoint/2018/8/main">
  <p188:cm id="{F01BCADE-1B9C-4A65-877B-3BF39394E320}" authorId="{9460EE6F-D1BB-BFC8-5997-CADFF937DA3D}" created="2026-08-20T09:58:06.534">
    <pc:sldMkLst xmlns:pc="http://schemas.microsoft.com/office/powerpoint/2013/main/command">
      <pc:docMk/>
      <pc:sldMk cId="2891535963" sldId="399"/>
    </pc:sldMkLst>
    <p188:txBody>
      <a:bodyPr/>
      <a:lstStyle/>
      <a:p>
        <a:r>
          <a:rPr lang="ko-KR" altLang="en-US"/>
          <a:t>Live AI DJ 앱 시퀀스 다이어그램입니다.
사용자가 노래 추천 서비스를 요청하게되면
오케스트레이터 이후에  GPT Service를 통하여 노래 추천 서비스를 요청한 것이 맞는지 검증하게 됩니다.
이후, 뮤직 라우터를 통해 요청을 분석하고
개인화 DB를 선택적으로 참고하여 노래를 추천합니다.
 </a:t>
        </a:r>
      </a:p>
    </p188:txBody>
  </p188:cm>
</p188:cmLst>
</file>

<file path=ppt/comments/modernComment_108_7FF62665.xml><?xml version="1.0" encoding="utf-8"?>
<p188:cmLst xmlns:a="http://schemas.openxmlformats.org/drawingml/2006/main" xmlns:r="http://schemas.openxmlformats.org/officeDocument/2006/relationships" xmlns:p188="http://schemas.microsoft.com/office/powerpoint/2018/8/main">
  <p188:cm id="{6FA38618-FA8E-408F-AB8C-07D7490E5704}" authorId="{9460EE6F-D1BB-BFC8-5997-CADFF937DA3D}" created="2026-08-20T09:25:09.001">
    <pc:sldMkLst xmlns:pc="http://schemas.microsoft.com/office/powerpoint/2013/main/command">
      <pc:docMk/>
      <pc:sldMk cId="2146838117" sldId="264"/>
    </pc:sldMkLst>
    <p188:txBody>
      <a:bodyPr/>
      <a:lstStyle/>
      <a:p>
        <a:r>
          <a:rPr lang="ko-KR" altLang="en-US"/>
          <a:t>STT에 사용되는 Whisper 모델, OnDevice LLM 모델, VectorDB 기반 RAG Service 등은 모비스가 설계 및 개발하였고
투비원에서는 해당 모델 및 서비스를 연동하여 AIAgent 앱을 개발하였다.</a:t>
        </a:r>
      </a:p>
    </p188:txBody>
  </p188:cm>
</p188:cmLst>
</file>

<file path=ppt/comments/modernComment_156_0.xml><?xml version="1.0" encoding="utf-8"?>
<p188:cmLst xmlns:a="http://schemas.openxmlformats.org/drawingml/2006/main" xmlns:r="http://schemas.openxmlformats.org/officeDocument/2006/relationships" xmlns:p188="http://schemas.microsoft.com/office/powerpoint/2018/8/main">
  <p188:cm id="{C7D42FFD-F38E-49AF-B250-9C2E9C054CE5}" authorId="{9460EE6F-D1BB-BFC8-5997-CADFF937DA3D}" created="2026-08-20T09:36:15.594">
    <pc:sldMkLst xmlns:pc="http://schemas.microsoft.com/office/powerpoint/2013/main/command">
      <pc:docMk/>
      <pc:sldMk cId="0" sldId="342"/>
    </pc:sldMkLst>
    <p188:txBody>
      <a:bodyPr/>
      <a:lstStyle/>
      <a:p>
        <a:r>
          <a:rPr lang="ko-KR" altLang="en-US"/>
          <a:t>현재 전체적인 기능은 70% 정도 구현된 상태이고 9/7 중간보고발표회를 대비하여 테스트 및 버그 수정에 집중하고 있습니다.</a:t>
        </a:r>
      </a:p>
    </p188:txBody>
  </p188:cm>
</p188:cmLst>
</file>

<file path=ppt/comments/modernComment_172_5D0A3AFB.xml><?xml version="1.0" encoding="utf-8"?>
<p188:cmLst xmlns:a="http://schemas.openxmlformats.org/drawingml/2006/main" xmlns:r="http://schemas.openxmlformats.org/officeDocument/2006/relationships" xmlns:p188="http://schemas.microsoft.com/office/powerpoint/2018/8/main">
  <p188:cm id="{5111D125-273F-4ED3-8F4B-BC5DBFD4DAEE}" authorId="{9460EE6F-D1BB-BFC8-5997-CADFF937DA3D}" created="2026-08-20T09:42:43.075">
    <pc:sldMkLst xmlns:pc="http://schemas.microsoft.com/office/powerpoint/2013/main/command">
      <pc:docMk/>
      <pc:sldMk cId="1560951547" sldId="370"/>
    </pc:sldMkLst>
    <p188:txBody>
      <a:bodyPr/>
      <a:lstStyle/>
      <a:p>
        <a:r>
          <a:rPr lang="ko-KR" altLang="en-US"/>
          <a:t>텍스트 한 줄 씩 읽어주세요</a:t>
        </a:r>
      </a:p>
    </p188:txBody>
  </p188:cm>
</p188:cmLst>
</file>

<file path=ppt/comments/modernComment_178_4FF63E39.xml><?xml version="1.0" encoding="utf-8"?>
<p188:cmLst xmlns:a="http://schemas.openxmlformats.org/drawingml/2006/main" xmlns:r="http://schemas.openxmlformats.org/officeDocument/2006/relationships" xmlns:p188="http://schemas.microsoft.com/office/powerpoint/2018/8/main">
  <p188:cm id="{730F62CD-45B3-4ED0-99DD-7E597E2D6ECE}" authorId="{9460EE6F-D1BB-BFC8-5997-CADFF937DA3D}" created="2026-08-20T09:42:26.474">
    <pc:sldMkLst xmlns:pc="http://schemas.microsoft.com/office/powerpoint/2013/main/command">
      <pc:docMk/>
      <pc:sldMk cId="1341537849" sldId="376"/>
    </pc:sldMkLst>
    <p188:txBody>
      <a:bodyPr/>
      <a:lstStyle/>
      <a:p>
        <a:r>
          <a:rPr lang="ko-KR" altLang="en-US"/>
          <a:t>텍스트 한 줄 씩 읽어주세요</a:t>
        </a:r>
      </a:p>
    </p188:txBody>
  </p188:cm>
</p188:cmLst>
</file>

<file path=ppt/comments/modernComment_180_55881110.xml><?xml version="1.0" encoding="utf-8"?>
<p188:cmLst xmlns:a="http://schemas.openxmlformats.org/drawingml/2006/main" xmlns:r="http://schemas.openxmlformats.org/officeDocument/2006/relationships" xmlns:p188="http://schemas.microsoft.com/office/powerpoint/2018/8/main">
  <p188:cm id="{8A8B5324-EF4D-4266-887B-70BCFFF63E64}" authorId="{9460EE6F-D1BB-BFC8-5997-CADFF937DA3D}" created="2026-08-20T10:05:22.071">
    <pc:sldMkLst xmlns:pc="http://schemas.microsoft.com/office/powerpoint/2013/main/command">
      <pc:docMk/>
      <pc:sldMk cId="1434980624" sldId="384"/>
    </pc:sldMkLst>
    <p188:txBody>
      <a:bodyPr/>
      <a:lstStyle/>
      <a:p>
        <a:r>
          <a:rPr lang="ko-KR" altLang="en-US"/>
          <a:t>Vehicle Q&amp;A 서비스에서 답변을 보여주는 화면입니다</a:t>
        </a:r>
      </a:p>
    </p188:txBody>
  </p188:cm>
</p188:cmLst>
</file>

<file path=ppt/comments/modernComment_181_5C14CBAB.xml><?xml version="1.0" encoding="utf-8"?>
<p188:cmLst xmlns:a="http://schemas.openxmlformats.org/drawingml/2006/main" xmlns:r="http://schemas.openxmlformats.org/officeDocument/2006/relationships" xmlns:p188="http://schemas.microsoft.com/office/powerpoint/2018/8/main">
  <p188:cm id="{45C3E1F5-50F8-451D-BD35-6C24FA3DB45D}" authorId="{9460EE6F-D1BB-BFC8-5997-CADFF937DA3D}" created="2026-08-20T10:05:45.594">
    <pc:sldMkLst xmlns:pc="http://schemas.microsoft.com/office/powerpoint/2013/main/command">
      <pc:docMk/>
      <pc:sldMk cId="1544866731" sldId="385"/>
    </pc:sldMkLst>
    <p188:txBody>
      <a:bodyPr/>
      <a:lstStyle/>
      <a:p>
        <a:r>
          <a:rPr lang="ko-KR" altLang="en-US"/>
          <a:t>Vehicle Control 에서 차량 제어를 완료한 후의 화면입니다</a:t>
        </a:r>
      </a:p>
    </p188:txBody>
  </p188:cm>
</p188:cmLst>
</file>

<file path=ppt/comments/modernComment_182_40B7A04F.xml><?xml version="1.0" encoding="utf-8"?>
<p188:cmLst xmlns:a="http://schemas.openxmlformats.org/drawingml/2006/main" xmlns:r="http://schemas.openxmlformats.org/officeDocument/2006/relationships" xmlns:p188="http://schemas.microsoft.com/office/powerpoint/2018/8/main">
  <p188:cm id="{252E6B6C-D54D-44FD-86FD-DFB40170D8B9}" authorId="{9460EE6F-D1BB-BFC8-5997-CADFF937DA3D}" created="2026-08-20T09:40:09.812">
    <pc:sldMkLst xmlns:pc="http://schemas.microsoft.com/office/powerpoint/2013/main/command">
      <pc:docMk/>
      <pc:sldMk cId="1085775951" sldId="386"/>
    </pc:sldMkLst>
    <p188:txBody>
      <a:bodyPr/>
      <a:lstStyle/>
      <a:p>
        <a:r>
          <a:rPr lang="ko-KR" altLang="en-US"/>
          <a:t>텍스트 한 줄 씩 읽어주세요</a:t>
        </a:r>
      </a:p>
    </p188:txBody>
  </p188:cm>
</p188:cmLst>
</file>

<file path=ppt/comments/modernComment_183_42F2E83.xml><?xml version="1.0" encoding="utf-8"?>
<p188:cmLst xmlns:a="http://schemas.openxmlformats.org/drawingml/2006/main" xmlns:r="http://schemas.openxmlformats.org/officeDocument/2006/relationships" xmlns:p188="http://schemas.microsoft.com/office/powerpoint/2018/8/main">
  <p188:cm id="{3149B2D0-3DAD-486A-9BB5-02E845A3BFD1}" authorId="{9460EE6F-D1BB-BFC8-5997-CADFF937DA3D}" created="2026-08-20T09:45:52.840">
    <pc:sldMkLst xmlns:pc="http://schemas.microsoft.com/office/powerpoint/2013/main/command">
      <pc:docMk/>
      <pc:sldMk cId="70200963" sldId="387"/>
    </pc:sldMkLst>
    <p188:txBody>
      <a:bodyPr/>
      <a:lstStyle/>
      <a:p>
        <a:r>
          <a:rPr lang="ko-KR" altLang="en-US"/>
          <a:t>오케스트레이터가 답변할 수 없는 질문은 OpenAI API같은 Cloud LLM으로 호출을 하여 답변을 합니다.
만약 장소와 관련된 질문일 경우 GeoCoding API를 사용하여 정확한 답변을 도출하도록 설계하였습니다</a:t>
        </a:r>
      </a:p>
    </p188:txBody>
  </p188:cm>
</p188:cmLst>
</file>

<file path=ppt/comments/modernComment_184_DEAF274D.xml><?xml version="1.0" encoding="utf-8"?>
<p188:cmLst xmlns:a="http://schemas.openxmlformats.org/drawingml/2006/main" xmlns:r="http://schemas.openxmlformats.org/officeDocument/2006/relationships" xmlns:p188="http://schemas.microsoft.com/office/powerpoint/2018/8/main">
  <p188:cm id="{5DF66BF0-3A64-448C-8E8A-2CAE61CDBA1E}" authorId="{9460EE6F-D1BB-BFC8-5997-CADFF937DA3D}" created="2026-08-20T09:46:42.711">
    <pc:sldMkLst xmlns:pc="http://schemas.microsoft.com/office/powerpoint/2013/main/command">
      <pc:docMk/>
      <pc:sldMk cId="3736020813" sldId="388"/>
    </pc:sldMkLst>
    <p188:txBody>
      <a:bodyPr/>
      <a:lstStyle/>
      <a:p>
        <a:r>
          <a:rPr lang="ko-KR" altLang="en-US"/>
          <a:t>오케스트레이터가 답변할 수 없는 질문은 OpenAI API 같은 Cloud  LLM을 호출을 하여 답변을 합니다.
만약 날씨와 관련된 질문일 경우 OpenWeather API를 사용하여 정확한 답변을 도출하도록 설계하였습니다</a:t>
        </a:r>
      </a:p>
    </p188:txBody>
  </p188:cm>
</p188:cmLst>
</file>

<file path=ppt/comments/modernComment_186_DFF8B5ED.xml><?xml version="1.0" encoding="utf-8"?>
<p188:cmLst xmlns:a="http://schemas.openxmlformats.org/drawingml/2006/main" xmlns:r="http://schemas.openxmlformats.org/officeDocument/2006/relationships" xmlns:p188="http://schemas.microsoft.com/office/powerpoint/2018/8/main">
  <p188:cm id="{621425FE-5AD4-4A59-90CA-D229B1F62923}" authorId="{9460EE6F-D1BB-BFC8-5997-CADFF937DA3D}" created="2026-08-20T09:54:24.465">
    <pc:sldMkLst xmlns:pc="http://schemas.microsoft.com/office/powerpoint/2013/main/command">
      <pc:docMk/>
      <pc:sldMk cId="3757618669" sldId="390"/>
    </pc:sldMkLst>
    <p188:txBody>
      <a:bodyPr/>
      <a:lstStyle/>
      <a:p>
        <a:r>
          <a:rPr lang="ko-KR" altLang="en-US"/>
          <a:t>Vehicle Control 앱 시퀀스 다이어그램입니다.
Vehicle Control에서 제어 가능한 차량 상태는 온도, 밝기, 볼륨이고
차량 제어 요청이 들어오면 오케스트레이터를 통해서 차량을 제어하게됩니다.</a:t>
        </a:r>
      </a:p>
    </p188:txBody>
  </p188:cm>
</p188:cmLst>
</file>

<file path=ppt/comments/modernComment_189_AFD70214.xml><?xml version="1.0" encoding="utf-8"?>
<p188:cmLst xmlns:a="http://schemas.openxmlformats.org/drawingml/2006/main" xmlns:r="http://schemas.openxmlformats.org/officeDocument/2006/relationships" xmlns:p188="http://schemas.microsoft.com/office/powerpoint/2018/8/main">
  <p188:cm id="{289ED59E-6687-444E-A2B6-D6F8CDF8C87B}" authorId="{9460EE6F-D1BB-BFC8-5997-CADFF937DA3D}" created="2026-08-20T10:03:57.814">
    <pc:sldMkLst xmlns:pc="http://schemas.microsoft.com/office/powerpoint/2013/main/command">
      <pc:docMk/>
      <pc:sldMk cId="2950103572" sldId="393"/>
    </pc:sldMkLst>
    <p188:txBody>
      <a:bodyPr/>
      <a:lstStyle/>
      <a:p>
        <a:r>
          <a:rPr lang="ko-KR" altLang="en-US"/>
          <a:t>DJ 멘트 생성 관련된 시퀀스 다이어 그램입니다.
작년과 똑같은 과정을 거쳐 DJ 멘트를 생성하게되는데 올해에는 가사를 추가적으로 활용하여 멘트를 생성하게 됩니다.
가사요약은 Mobis에서 제공하는 OnDevice 모델을 사용하여 요약을 하도록 설계하였습니다.
생성된 DJ 멘트는 TTS를 통하여 호출되고
아이모 설정앱에서 TTS 호출을 키거나 끌 수 있습니다.</a:t>
        </a:r>
      </a:p>
    </p188:txBody>
  </p188:cm>
</p188:cmLst>
</file>

<file path=ppt/comments/modernComment_190_44BCE695.xml><?xml version="1.0" encoding="utf-8"?>
<p188:cmLst xmlns:a="http://schemas.openxmlformats.org/drawingml/2006/main" xmlns:r="http://schemas.openxmlformats.org/officeDocument/2006/relationships" xmlns:p188="http://schemas.microsoft.com/office/powerpoint/2018/8/main">
  <p188:cm id="{0CAEA899-8D90-409A-88F9-BA76277C5ACC}" authorId="{9460EE6F-D1BB-BFC8-5997-CADFF937DA3D}" created="2026-08-20T10:00:01.264">
    <pc:sldMkLst xmlns:pc="http://schemas.microsoft.com/office/powerpoint/2013/main/command">
      <pc:docMk/>
      <pc:sldMk cId="1153230485" sldId="400"/>
    </pc:sldMkLst>
    <p188:txBody>
      <a:bodyPr/>
      <a:lstStyle/>
      <a:p>
        <a:r>
          <a:rPr lang="ko-KR" altLang="en-US"/>
          <a:t>Cloud LLM 호출과 관련된 내용은 앞에서 자세히 언급했기 때문에 간단하게만 말씀드리겠습니다.
Cloud LLM 호출시 답변의 정확도를 높이기 위하여 날씨나 위치 기반의 외부 API를 같이 호출하도록 설계하였습니다.</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19413" cy="493713"/>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lvl1pP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5" name="Rectangle 3"/>
          <p:cNvSpPr>
            <a:spLocks noGrp="1" noChangeArrowheads="1"/>
          </p:cNvSpPr>
          <p:nvPr>
            <p:ph type="dt" idx="1"/>
          </p:nvPr>
        </p:nvSpPr>
        <p:spPr bwMode="auto">
          <a:xfrm>
            <a:off x="3814763" y="0"/>
            <a:ext cx="2919412" cy="493713"/>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lvl1pPr algn="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5364" name="Rectangle 4"/>
          <p:cNvSpPr>
            <a:spLocks noGrp="1" noRot="1" noChangeAspect="1" noChangeArrowheads="1" noTextEdit="1"/>
          </p:cNvSpPr>
          <p:nvPr>
            <p:ph type="sldImg" idx="2"/>
          </p:nvPr>
        </p:nvSpPr>
        <p:spPr bwMode="auto">
          <a:xfrm>
            <a:off x="696913" y="739775"/>
            <a:ext cx="5343525" cy="3698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73100" y="4686300"/>
            <a:ext cx="5389563" cy="4440238"/>
          </a:xfrm>
          <a:prstGeom prst="rect">
            <a:avLst/>
          </a:prstGeom>
          <a:noFill/>
          <a:ln w="9525">
            <a:noFill/>
            <a:miter lim="800000"/>
            <a:headEnd/>
            <a:tailEnd/>
          </a:ln>
        </p:spPr>
        <p:txBody>
          <a:bodyPr vert="horz" wrap="square" lIns="90754" tIns="45377" rIns="90754" bIns="45377" numCol="1" anchor="t" anchorCtr="0" compatLnSpc="1">
            <a:prstTxWarp prst="textNoShape">
              <a:avLst/>
            </a:prstTxWarp>
          </a:bodyPr>
          <a:lstStyle/>
          <a:p>
            <a:pPr lvl="0"/>
            <a:r>
              <a:rPr lang="ko-KR" altLang="en-US" noProof="0" dirty="0"/>
              <a:t>마스터 텍스트 스타일을 편집합니다</a:t>
            </a:r>
          </a:p>
          <a:p>
            <a:pPr lvl="1"/>
            <a:r>
              <a:rPr lang="ko-KR" altLang="en-US" noProof="0" dirty="0"/>
              <a:t>둘째 수준</a:t>
            </a:r>
          </a:p>
          <a:p>
            <a:pPr lvl="2"/>
            <a:r>
              <a:rPr lang="ko-KR" altLang="en-US" noProof="0" dirty="0"/>
              <a:t>셋째 수준</a:t>
            </a:r>
          </a:p>
          <a:p>
            <a:pPr lvl="3"/>
            <a:r>
              <a:rPr lang="ko-KR" altLang="en-US" noProof="0" dirty="0"/>
              <a:t>넷째 수준</a:t>
            </a:r>
          </a:p>
          <a:p>
            <a:pPr lvl="4"/>
            <a:r>
              <a:rPr lang="ko-KR" altLang="en-US" noProof="0" dirty="0"/>
              <a:t>다섯째 수준</a:t>
            </a:r>
          </a:p>
        </p:txBody>
      </p:sp>
      <p:sp>
        <p:nvSpPr>
          <p:cNvPr id="8198" name="Rectangle 6"/>
          <p:cNvSpPr>
            <a:spLocks noGrp="1" noChangeArrowheads="1"/>
          </p:cNvSpPr>
          <p:nvPr>
            <p:ph type="ftr" sz="quarter" idx="4"/>
          </p:nvPr>
        </p:nvSpPr>
        <p:spPr bwMode="auto">
          <a:xfrm>
            <a:off x="0" y="9371013"/>
            <a:ext cx="2919413" cy="493712"/>
          </a:xfrm>
          <a:prstGeom prst="rect">
            <a:avLst/>
          </a:prstGeom>
          <a:noFill/>
          <a:ln w="9525">
            <a:noFill/>
            <a:miter lim="800000"/>
            <a:headEnd/>
            <a:tailEnd/>
          </a:ln>
        </p:spPr>
        <p:txBody>
          <a:bodyPr vert="horz" wrap="square" lIns="90754" tIns="45377" rIns="90754" bIns="45377" numCol="1" anchor="b" anchorCtr="0" compatLnSpc="1">
            <a:prstTxWarp prst="textNoShape">
              <a:avLst/>
            </a:prstTxWarp>
          </a:bodyPr>
          <a:lstStyle>
            <a:lvl1pP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9" name="Rectangle 7"/>
          <p:cNvSpPr>
            <a:spLocks noGrp="1" noChangeArrowheads="1"/>
          </p:cNvSpPr>
          <p:nvPr>
            <p:ph type="sldNum" sz="quarter" idx="5"/>
          </p:nvPr>
        </p:nvSpPr>
        <p:spPr bwMode="auto">
          <a:xfrm>
            <a:off x="3814763" y="9371013"/>
            <a:ext cx="2919412" cy="493712"/>
          </a:xfrm>
          <a:prstGeom prst="rect">
            <a:avLst/>
          </a:prstGeom>
          <a:noFill/>
          <a:ln w="9525">
            <a:noFill/>
            <a:miter lim="800000"/>
            <a:headEnd/>
            <a:tailEnd/>
          </a:ln>
        </p:spPr>
        <p:txBody>
          <a:bodyPr vert="horz" wrap="square" lIns="90754" tIns="45377" rIns="90754" bIns="45377" numCol="1" anchor="b" anchorCtr="0" compatLnSpc="1">
            <a:prstTxWarp prst="textNoShape">
              <a:avLst/>
            </a:prstTxWarp>
          </a:bodyPr>
          <a:lstStyle>
            <a:lvl1pPr algn="r" defTabSz="908050">
              <a:defRPr sz="1200" u="none">
                <a:solidFill>
                  <a:schemeClr val="tx1"/>
                </a:solidFill>
                <a:latin typeface="맑은 고딕" panose="020B0503020000020004" pitchFamily="50" charset="-127"/>
                <a:ea typeface="맑은 고딕" panose="020B0503020000020004" pitchFamily="50" charset="-127"/>
              </a:defRPr>
            </a:lvl1pPr>
          </a:lstStyle>
          <a:p>
            <a:pPr>
              <a:defRPr/>
            </a:pPr>
            <a:fld id="{B65BCA0B-FEA2-4C6D-8135-B5F232A2F2B2}" type="slidenum">
              <a:rPr lang="en-US" altLang="ko-KR" smtClean="0"/>
              <a:pPr>
                <a:defRPr/>
              </a:pPr>
              <a:t>‹#›</a:t>
            </a:fld>
            <a:endParaRPr lang="en-US" altLang="ko-KR" dirty="0"/>
          </a:p>
        </p:txBody>
      </p:sp>
    </p:spTree>
    <p:extLst>
      <p:ext uri="{BB962C8B-B14F-4D97-AF65-F5344CB8AC3E}">
        <p14:creationId xmlns:p14="http://schemas.microsoft.com/office/powerpoint/2010/main" val="2930450685"/>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p:cNvSpPr>
            <a:spLocks noGrp="1" noRot="1" noChangeAspect="1" noTextEdit="1"/>
          </p:cNvSpPr>
          <p:nvPr>
            <p:ph type="sldImg"/>
          </p:nvPr>
        </p:nvSpPr>
        <p:spPr>
          <a:ln/>
        </p:spPr>
      </p:sp>
      <p:sp>
        <p:nvSpPr>
          <p:cNvPr id="1741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E9D400E2-54F6-45F6-B69D-16D28510DA4D}"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E780-1DD3-4DD5-8E26-0AE60D29309E}"/>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B9A3AB82-6393-A439-68F1-6934B1F3DC6F}"/>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57FE1217-620A-49D5-10A0-9CC0998964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70CD56EE-722A-BDF0-F240-937CF9CB51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E9D400E2-54F6-45F6-B69D-16D28510DA4D}"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09252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p:cNvSpPr>
            <a:spLocks noGrp="1" noRot="1" noChangeAspect="1" noTextEdit="1"/>
          </p:cNvSpPr>
          <p:nvPr>
            <p:ph type="sldImg"/>
          </p:nvPr>
        </p:nvSpPr>
        <p:spPr>
          <a:ln/>
        </p:spPr>
      </p:sp>
      <p:sp>
        <p:nvSpPr>
          <p:cNvPr id="1741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4</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7991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F224-A804-C6D1-2CB3-4BD017759461}"/>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53D57DDB-CC38-727F-D3D4-C5810051075D}"/>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8199A994-7CDD-B1CB-A6A7-9BD971F98B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490F9D11-CECB-AECB-B47F-E6178A738C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5</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142482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A4F1-2DEB-CB45-3429-41BA9B56BA9D}"/>
            </a:ext>
          </a:extLst>
        </p:cNvPr>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8952D2F5-CFBA-FFA1-156B-7A66E82C5E71}"/>
              </a:ext>
            </a:extLst>
          </p:cNvPr>
          <p:cNvSpPr>
            <a:spLocks noGrp="1" noRot="1" noChangeAspect="1" noTextEdit="1"/>
          </p:cNvSpPr>
          <p:nvPr>
            <p:ph type="sldImg"/>
          </p:nvPr>
        </p:nvSpPr>
        <p:spPr>
          <a:ln/>
        </p:spPr>
      </p:sp>
      <p:sp>
        <p:nvSpPr>
          <p:cNvPr id="17411" name="슬라이드 노트 개체 틀 2">
            <a:extLst>
              <a:ext uri="{FF2B5EF4-FFF2-40B4-BE49-F238E27FC236}">
                <a16:creationId xmlns:a16="http://schemas.microsoft.com/office/drawing/2014/main" id="{0FE0D46A-DB27-A1D3-920A-4D8E89104A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17412" name="슬라이드 번호 개체 틀 3">
            <a:extLst>
              <a:ext uri="{FF2B5EF4-FFF2-40B4-BE49-F238E27FC236}">
                <a16:creationId xmlns:a16="http://schemas.microsoft.com/office/drawing/2014/main" id="{1E29E4E7-D0B4-DAC5-7BD2-EB1AA256AD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marL="0" marR="0" lvl="0" indent="0" algn="r" defTabSz="908050" rtl="0" eaLnBrk="1" fontAlgn="base" latinLnBrk="1" hangingPunct="1">
              <a:lnSpc>
                <a:spcPct val="100000"/>
              </a:lnSpc>
              <a:spcBef>
                <a:spcPct val="0"/>
              </a:spcBef>
              <a:spcAft>
                <a:spcPct val="0"/>
              </a:spcAft>
              <a:buClrTx/>
              <a:buSzTx/>
              <a:buFontTx/>
              <a:buNone/>
              <a:tabLst/>
              <a:defRPr/>
            </a:pPr>
            <a:fld id="{E9D400E2-54F6-45F6-B69D-16D28510DA4D}"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cs typeface="+mn-cs"/>
              </a:rPr>
              <a:pPr marL="0" marR="0" lvl="0" indent="0" algn="r" defTabSz="908050" rtl="0" eaLnBrk="1" fontAlgn="base" latinLnBrk="1" hangingPunct="1">
                <a:lnSpc>
                  <a:spcPct val="100000"/>
                </a:lnSpc>
                <a:spcBef>
                  <a:spcPct val="0"/>
                </a:spcBef>
                <a:spcAft>
                  <a:spcPct val="0"/>
                </a:spcAft>
                <a:buClrTx/>
                <a:buSzTx/>
                <a:buFontTx/>
                <a:buNone/>
                <a:tabLst/>
                <a:defRPr/>
              </a:pPr>
              <a:t>6</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545334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슬라이드 이미지 개체 틀 1"/>
          <p:cNvSpPr>
            <a:spLocks noGrp="1" noRot="1" noChangeAspect="1" noTextEdit="1"/>
          </p:cNvSpPr>
          <p:nvPr>
            <p:ph type="sldImg"/>
          </p:nvPr>
        </p:nvSpPr>
        <p:spPr>
          <a:ln/>
        </p:spPr>
      </p:sp>
      <p:sp>
        <p:nvSpPr>
          <p:cNvPr id="2048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0484"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DB99094-17D2-4010-A0AE-C527454DDB8A}"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8</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C831-4B1B-2B65-75D2-4DED10A1F45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1E277689-6C18-2781-52C5-64894D724F1D}"/>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F0C91523-C05C-5713-860E-24CB99451D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456B7005-72B6-AF62-318D-8EDBA99B1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9</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66046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9D51-452C-D520-DAE2-1CB2EF4EA760}"/>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BC932B00-B44D-1BE6-B012-27C7DE9C2AA0}"/>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5B862A8C-72DA-9C76-648B-C1F6438FF8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EE457877-DE58-3302-3F8B-B9FFDE40B4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10</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63325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9EAB-6F7B-6771-955C-7F8280E6792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C51ED13-5455-0FA9-3E74-C7F3760B3E86}"/>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F0604881-F69A-CC01-0CCA-D7605F688B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A404A1DA-CE1A-C47F-9EA8-8AEB1FE2CE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11</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41203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843B-35FC-6F05-0785-E1A5D4F6578C}"/>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51627752-DB90-694E-4245-C7A63BA0B489}"/>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D79C3F06-14E8-97FA-E984-DA041D0D87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F8642D9F-3248-0603-4CF8-7D961A4119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67673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54CD-4AC9-8732-AECE-A3CA306E0512}"/>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3AC619E4-C310-127C-190A-E010E1A6E78B}"/>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E09B4DCB-AC81-BEF4-9464-4B907A81A4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7F7DF61D-24C4-8A3E-99C2-D21304FB74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21280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EC3B8-9D1D-E3E2-3317-4CF410D16F4F}"/>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5BB3CE24-B537-2373-17AB-CCEFE6E60CAB}"/>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41B63F20-A74D-0516-3768-820B78F72A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D7D272D5-3671-B031-028B-5B651411A0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14</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71716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6F682-4623-682A-D586-66076D9CDA61}"/>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FAC9552F-BD78-D881-1C90-CFE884436FC3}"/>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059F41D9-B702-5FD2-B3B8-5C10B9636F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4BE2491-95C0-FC63-8699-D3C492DF91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15</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13098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58FB-2184-2BF4-336E-AB114D0D3CE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6201D1BC-44BE-394C-1CE4-98EB0B389D97}"/>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1749AFE3-A598-3305-F9B8-8D56F6DE71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D6185971-3D3E-C862-6F4B-122AED3A05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16</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84050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86AB-CAAE-8CDE-6B0F-DDA7E7D9E337}"/>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4EA5ADA2-E38D-1BF9-17B7-DAF8070851D0}"/>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68FC8A86-16B9-141C-EBA1-F8873C7A20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B749273C-BC58-7FE9-A87D-5C23419D68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17</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41563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30D5A-CCAD-8465-3090-51E74637BF38}"/>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A2EB2E32-7D55-8930-C886-68842249F279}"/>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AB1566A5-CEF1-4335-28FD-94017D1284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5AE48BB1-071A-BB01-9345-7732C756812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18</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44616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DE2B-8076-2D62-504C-277043F6B590}"/>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22CB4B7B-6805-82A6-6B8C-1F1C7D6C2867}"/>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8A9A08AB-EC6E-6C4F-7CDD-0FE1CF64AB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54B1F491-53F8-6E8C-2662-3C24E9920F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19</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53558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DEEA-B777-E7AF-B821-83B7A45CCE6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437F1140-531B-9A13-EF73-04853867B34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E43653FC-A86B-C0FF-04BF-F96655D98B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A36D157E-E5B3-08B0-A7DB-2C30FECBF7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20</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6867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21</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5074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22</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55451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78FA-2D5F-183C-57E1-4F4CBE2291BE}"/>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91F031DF-9E66-3B90-F509-C7C32A0E4C0F}"/>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9744E321-E324-ED15-DCC2-6A7B5E5C1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299AF663-B293-3181-803D-5DE0E2CEA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23</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10221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5FDE-B2A0-ADAD-9FCE-746C07160014}"/>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EC99650B-A457-5909-150F-6DF637194E5C}"/>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72085A9B-BFB4-60B7-BEE8-B174B7DD5C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4E1EF6C5-940B-A63C-B8E6-B2C6545287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24</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06163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44B6-2A00-4CD0-A588-4D01CDDA9F53}"/>
            </a:ext>
          </a:extLst>
        </p:cNvPr>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F36C82BA-7241-2A82-8B30-EF85E7EEF968}"/>
              </a:ext>
            </a:extLst>
          </p:cNvPr>
          <p:cNvSpPr>
            <a:spLocks noGrp="1" noRot="1" noChangeAspect="1" noTextEdit="1"/>
          </p:cNvSpPr>
          <p:nvPr>
            <p:ph type="sldImg"/>
          </p:nvPr>
        </p:nvSpPr>
        <p:spPr>
          <a:ln/>
        </p:spPr>
      </p:sp>
      <p:sp>
        <p:nvSpPr>
          <p:cNvPr id="21507" name="슬라이드 노트 개체 틀 2">
            <a:extLst>
              <a:ext uri="{FF2B5EF4-FFF2-40B4-BE49-F238E27FC236}">
                <a16:creationId xmlns:a16="http://schemas.microsoft.com/office/drawing/2014/main" id="{5D941F75-98A4-2FEA-E82E-C6762680E0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dirty="0"/>
          </a:p>
        </p:txBody>
      </p:sp>
      <p:sp>
        <p:nvSpPr>
          <p:cNvPr id="21508" name="슬라이드 번호 개체 틀 3">
            <a:extLst>
              <a:ext uri="{FF2B5EF4-FFF2-40B4-BE49-F238E27FC236}">
                <a16:creationId xmlns:a16="http://schemas.microsoft.com/office/drawing/2014/main" id="{B47E04CB-5829-75AB-1A29-C99B4D8F34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8050" eaLnBrk="0" hangingPunct="0">
              <a:defRPr kumimoji="1" sz="1400" u="sng">
                <a:solidFill>
                  <a:schemeClr val="tx2"/>
                </a:solidFill>
                <a:latin typeface="HY헤드라인M" pitchFamily="18" charset="-127"/>
                <a:ea typeface="HY헤드라인M" pitchFamily="18" charset="-127"/>
              </a:defRPr>
            </a:lvl1pPr>
            <a:lvl2pPr marL="742950" indent="-285750" defTabSz="908050" eaLnBrk="0" hangingPunct="0">
              <a:defRPr kumimoji="1" sz="1400" u="sng">
                <a:solidFill>
                  <a:schemeClr val="tx2"/>
                </a:solidFill>
                <a:latin typeface="HY헤드라인M" pitchFamily="18" charset="-127"/>
                <a:ea typeface="HY헤드라인M" pitchFamily="18" charset="-127"/>
              </a:defRPr>
            </a:lvl2pPr>
            <a:lvl3pPr marL="1143000" indent="-228600" defTabSz="908050" eaLnBrk="0" hangingPunct="0">
              <a:defRPr kumimoji="1" sz="1400" u="sng">
                <a:solidFill>
                  <a:schemeClr val="tx2"/>
                </a:solidFill>
                <a:latin typeface="HY헤드라인M" pitchFamily="18" charset="-127"/>
                <a:ea typeface="HY헤드라인M" pitchFamily="18" charset="-127"/>
              </a:defRPr>
            </a:lvl3pPr>
            <a:lvl4pPr marL="1600200" indent="-228600" defTabSz="908050" eaLnBrk="0" hangingPunct="0">
              <a:defRPr kumimoji="1" sz="1400" u="sng">
                <a:solidFill>
                  <a:schemeClr val="tx2"/>
                </a:solidFill>
                <a:latin typeface="HY헤드라인M" pitchFamily="18" charset="-127"/>
                <a:ea typeface="HY헤드라인M" pitchFamily="18" charset="-127"/>
              </a:defRPr>
            </a:lvl4pPr>
            <a:lvl5pPr marL="2057400" indent="-228600" defTabSz="908050" eaLnBrk="0" hangingPunct="0">
              <a:defRPr kumimoji="1" sz="1400" u="sng">
                <a:solidFill>
                  <a:schemeClr val="tx2"/>
                </a:solidFill>
                <a:latin typeface="HY헤드라인M" pitchFamily="18" charset="-127"/>
                <a:ea typeface="HY헤드라인M" pitchFamily="18" charset="-127"/>
              </a:defRPr>
            </a:lvl5pPr>
            <a:lvl6pPr marL="25146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defTabSz="90805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fld id="{6EA9E48E-7D76-48ED-8A5F-8FCCA0BCE03B}" type="slidenum">
              <a:rPr lang="en-US" altLang="ko-KR" sz="1200" u="none" smtClean="0">
                <a:solidFill>
                  <a:schemeClr val="tx1"/>
                </a:solidFill>
                <a:latin typeface="맑은 고딕" panose="020B0503020000020004" pitchFamily="50" charset="-127"/>
                <a:ea typeface="맑은 고딕" panose="020B0503020000020004" pitchFamily="50" charset="-127"/>
              </a:rPr>
              <a:pPr eaLnBrk="1" hangingPunct="1"/>
              <a:t>25</a:t>
            </a:fld>
            <a:endParaRPr lang="en-US" altLang="ko-KR" sz="1200"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9402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pic>
        <p:nvPicPr>
          <p:cNvPr id="2" name="Picture 2" descr="현대모비스에 대한 이미지 검색결과">
            <a:extLst>
              <a:ext uri="{FF2B5EF4-FFF2-40B4-BE49-F238E27FC236}">
                <a16:creationId xmlns:a16="http://schemas.microsoft.com/office/drawing/2014/main" id="{B64C3658-4FF6-F050-CFBF-3EF20C003AA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532" y="6642329"/>
            <a:ext cx="522727" cy="180000"/>
          </a:xfrm>
          <a:prstGeom prst="rect">
            <a:avLst/>
          </a:prstGeom>
          <a:noFill/>
          <a:extLst>
            <a:ext uri="{909E8E84-426E-40DD-AFC4-6F175D3DCCD1}">
              <a14:hiddenFill xmlns:a14="http://schemas.microsoft.com/office/drawing/2010/main">
                <a:solidFill>
                  <a:srgbClr val="FFFFFF"/>
                </a:solidFill>
              </a14:hiddenFill>
            </a:ext>
          </a:extLst>
        </p:spPr>
      </p:pic>
      <p:pic>
        <p:nvPicPr>
          <p:cNvPr id="6" name="그림 5">
            <a:extLst>
              <a:ext uri="{FF2B5EF4-FFF2-40B4-BE49-F238E27FC236}">
                <a16:creationId xmlns:a16="http://schemas.microsoft.com/office/drawing/2014/main" id="{028C09E0-1BF9-BF7C-A7F3-84AEF3726F4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533" b="33732"/>
          <a:stretch>
            <a:fillRect/>
          </a:stretch>
        </p:blipFill>
        <p:spPr>
          <a:xfrm>
            <a:off x="8697416" y="6671433"/>
            <a:ext cx="1136576" cy="141943"/>
          </a:xfrm>
          <a:prstGeom prst="rect">
            <a:avLst/>
          </a:prstGeom>
        </p:spPr>
      </p:pic>
      <p:sp>
        <p:nvSpPr>
          <p:cNvPr id="7" name="TextBox 6">
            <a:extLst>
              <a:ext uri="{FF2B5EF4-FFF2-40B4-BE49-F238E27FC236}">
                <a16:creationId xmlns:a16="http://schemas.microsoft.com/office/drawing/2014/main" id="{581B01B4-371D-7723-526A-5D041673EE63}"/>
              </a:ext>
            </a:extLst>
          </p:cNvPr>
          <p:cNvSpPr txBox="1"/>
          <p:nvPr userDrawn="1"/>
        </p:nvSpPr>
        <p:spPr>
          <a:xfrm>
            <a:off x="704528" y="6620072"/>
            <a:ext cx="3145413" cy="246221"/>
          </a:xfrm>
          <a:prstGeom prst="rect">
            <a:avLst/>
          </a:prstGeom>
          <a:noFill/>
        </p:spPr>
        <p:txBody>
          <a:bodyPr wrap="none" rtlCol="0">
            <a:spAutoFit/>
          </a:bodyPr>
          <a:lstStyle/>
          <a:p>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2026년도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On-Device</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기반 AI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Agent</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a:t>
            </a:r>
            <a:r>
              <a:rPr lang="ko-KR" altLang="ko-KR" sz="1000" u="none" dirty="0" err="1">
                <a:solidFill>
                  <a:schemeClr val="bg1">
                    <a:lumMod val="65000"/>
                  </a:schemeClr>
                </a:solidFill>
                <a:latin typeface="맑은 고딕" panose="020B0503020000020004" pitchFamily="50" charset="-127"/>
                <a:ea typeface="맑은 고딕" panose="020B0503020000020004" pitchFamily="50" charset="-127"/>
              </a:rPr>
              <a:t>App</a:t>
            </a:r>
            <a:r>
              <a:rPr lang="ko-KR" altLang="ko-KR" sz="1000" u="none" dirty="0">
                <a:solidFill>
                  <a:schemeClr val="bg1">
                    <a:lumMod val="65000"/>
                  </a:schemeClr>
                </a:solidFill>
                <a:latin typeface="맑은 고딕" panose="020B0503020000020004" pitchFamily="50" charset="-127"/>
                <a:ea typeface="맑은 고딕" panose="020B0503020000020004" pitchFamily="50" charset="-127"/>
              </a:rPr>
              <a:t> 선행 과제</a:t>
            </a:r>
            <a:endParaRPr kumimoji="1" lang="ko-KR" altLang="en-US" sz="1000" u="none" kern="1200" dirty="0">
              <a:solidFill>
                <a:schemeClr val="bg1">
                  <a:lumMod val="65000"/>
                </a:schemeClr>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10273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5"/>
            <a:ext cx="8420100" cy="1470025"/>
          </a:xfrm>
          <a:prstGeom prst="rect">
            <a:avLst/>
          </a:prstGeom>
        </p:spPr>
        <p:txBody>
          <a:bodyPr/>
          <a:lstStyle>
            <a:lvl1pPr>
              <a:defRPr>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latin typeface="맑은 고딕" panose="020B0503020000020004" pitchFamily="50" charset="-127"/>
                <a:ea typeface="맑은 고딕" panose="020B0503020000020004" pitchFamily="50" charset="-127"/>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dirty="0"/>
              <a:t>마스터 부제목 스타일 편집</a:t>
            </a:r>
          </a:p>
        </p:txBody>
      </p:sp>
    </p:spTree>
    <p:extLst>
      <p:ext uri="{BB962C8B-B14F-4D97-AF65-F5344CB8AC3E}">
        <p14:creationId xmlns:p14="http://schemas.microsoft.com/office/powerpoint/2010/main" val="1392719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17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125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lvl1pPr>
              <a:defRPr>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3" name="내용 개체 틀 2"/>
          <p:cNvSpPr>
            <a:spLocks noGrp="1"/>
          </p:cNvSpPr>
          <p:nvPr>
            <p:ph idx="1"/>
          </p:nvPr>
        </p:nvSpPr>
        <p:spPr>
          <a:xfrm>
            <a:off x="495300" y="1600200"/>
            <a:ext cx="8915400" cy="4525963"/>
          </a:xfrm>
          <a:prstGeom prst="rect">
            <a:avLst/>
          </a:prstGeom>
        </p:spPr>
        <p:txBody>
          <a:bodyPr/>
          <a:lstStyle>
            <a:lvl1pPr>
              <a:defRPr>
                <a:latin typeface="맑은 고딕" panose="020B0503020000020004" pitchFamily="50" charset="-127"/>
                <a:ea typeface="맑은 고딕" panose="020B0503020000020004" pitchFamily="50" charset="-127"/>
              </a:defRPr>
            </a:lvl1pPr>
            <a:lvl2pPr>
              <a:defRPr>
                <a:latin typeface="맑은 고딕" panose="020B0503020000020004" pitchFamily="50" charset="-127"/>
                <a:ea typeface="맑은 고딕" panose="020B0503020000020004" pitchFamily="50" charset="-127"/>
              </a:defRPr>
            </a:lvl2pPr>
            <a:lvl3pPr>
              <a:defRPr>
                <a:latin typeface="맑은 고딕" panose="020B0503020000020004" pitchFamily="50" charset="-127"/>
                <a:ea typeface="맑은 고딕" panose="020B0503020000020004" pitchFamily="50" charset="-127"/>
              </a:defRPr>
            </a:lvl3pPr>
            <a:lvl4pPr>
              <a:defRPr>
                <a:latin typeface="맑은 고딕" panose="020B0503020000020004" pitchFamily="50" charset="-127"/>
                <a:ea typeface="맑은 고딕" panose="020B0503020000020004" pitchFamily="50" charset="-127"/>
              </a:defRPr>
            </a:lvl4pPr>
            <a:lvl5pPr>
              <a:defRPr>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4167662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표지 복사"/>
          <p:cNvPicPr>
            <a:picLocks noChangeAspect="1" noChangeArrowheads="1"/>
          </p:cNvPicPr>
          <p:nvPr/>
        </p:nvPicPr>
        <p:blipFill>
          <a:blip r:embed="rId4">
            <a:lum bright="-18000"/>
            <a:extLst>
              <a:ext uri="{28A0092B-C50C-407E-A947-70E740481C1C}">
                <a14:useLocalDpi xmlns:a14="http://schemas.microsoft.com/office/drawing/2010/main" val="0"/>
              </a:ext>
            </a:extLst>
          </a:blip>
          <a:srcRect b="775"/>
          <a:stretch>
            <a:fillRect/>
          </a:stretch>
        </p:blipFill>
        <p:spPr bwMode="auto">
          <a:xfrm>
            <a:off x="0" y="466725"/>
            <a:ext cx="9906000" cy="66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4" r:id="rId1"/>
    <p:sldLayoutId id="2147484372"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제목 개체 틀 1"/>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2051" name="텍스트 개체 틀 2"/>
          <p:cNvSpPr>
            <a:spLocks noGrp="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fld id="{09A77F8F-9608-4520-8017-5E4B26AB054F}" type="datetimeFigureOut">
              <a:rPr lang="ko-KR" altLang="en-US" smtClean="0"/>
              <a:pPr>
                <a:defRPr/>
              </a:pPr>
              <a:t>2026-08-21</a:t>
            </a:fld>
            <a:endParaRPr lang="ko-KR" altLang="en-US" dirty="0"/>
          </a:p>
        </p:txBody>
      </p:sp>
      <p:sp>
        <p:nvSpPr>
          <p:cNvPr id="5" name="바닥글 개체 틀 4"/>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endParaRPr lang="ko-KR" altLang="en-US" dirty="0"/>
          </a:p>
        </p:txBody>
      </p:sp>
      <p:sp>
        <p:nvSpPr>
          <p:cNvPr id="6" name="슬라이드 번호 개체 틀 5"/>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latin typeface="맑은 고딕" panose="020B0503020000020004" pitchFamily="50" charset="-127"/>
                <a:ea typeface="맑은 고딕" panose="020B0503020000020004" pitchFamily="50" charset="-127"/>
              </a:defRPr>
            </a:lvl1pPr>
          </a:lstStyle>
          <a:p>
            <a:pPr>
              <a:defRPr/>
            </a:pPr>
            <a:fld id="{67E7F788-7958-4CC9-BA86-4417EA3464ED}" type="slidenum">
              <a:rPr lang="ko-KR" altLang="en-US" smtClean="0"/>
              <a:pPr>
                <a:defRPr/>
              </a:pPr>
              <a:t>‹#›</a:t>
            </a:fld>
            <a:endParaRPr lang="ko-KR" altLang="en-US" dirty="0"/>
          </a:p>
        </p:txBody>
      </p:sp>
    </p:spTree>
  </p:cSld>
  <p:clrMap bg1="lt1" tx1="dk1" bg2="lt2" tx2="dk2" accent1="accent1" accent2="accent2" accent3="accent3" accent4="accent4" accent5="accent5" accent6="accent6" hlink="hlink" folHlink="folHlink"/>
  <p:sldLayoutIdLst>
    <p:sldLayoutId id="2147484371" r:id="rId1"/>
  </p:sldLayoutIdLst>
  <p:txStyles>
    <p:titleStyle>
      <a:lvl1pPr algn="ctr" rtl="0" eaLnBrk="0" fontAlgn="base" latinLnBrk="1" hangingPunct="0">
        <a:spcBef>
          <a:spcPct val="0"/>
        </a:spcBef>
        <a:spcAft>
          <a:spcPct val="0"/>
        </a:spcAft>
        <a:defRPr sz="4400" kern="1200">
          <a:solidFill>
            <a:schemeClr val="tx1"/>
          </a:solidFill>
          <a:latin typeface="+mj-lt"/>
          <a:ea typeface="맑은 고딕" panose="020B0503020000020004" pitchFamily="50" charset="-127"/>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charset="0"/>
        <a:buChar char="•"/>
        <a:defRPr sz="3200" kern="1200">
          <a:solidFill>
            <a:schemeClr val="tx1"/>
          </a:solidFill>
          <a:latin typeface="+mn-lt"/>
          <a:ea typeface="맑은 고딕" panose="020B0503020000020004" pitchFamily="50" charset="-127"/>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맑은 고딕" panose="020B0503020000020004" pitchFamily="50" charset="-127"/>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맑은 고딕" panose="020B0503020000020004" pitchFamily="50" charset="-127"/>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맑은 고딕" panose="020B0503020000020004" pitchFamily="50" charset="-127"/>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맑은 고딕" panose="020B0503020000020004"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5" name="Picture 5" descr="표지 복사"/>
          <p:cNvPicPr>
            <a:picLocks noChangeAspect="1" noChangeArrowheads="1"/>
          </p:cNvPicPr>
          <p:nvPr/>
        </p:nvPicPr>
        <p:blipFill>
          <a:blip r:embed="rId4">
            <a:lum bright="-18000"/>
            <a:extLst>
              <a:ext uri="{28A0092B-C50C-407E-A947-70E740481C1C}">
                <a14:useLocalDpi xmlns:a14="http://schemas.microsoft.com/office/drawing/2010/main" val="0"/>
              </a:ext>
            </a:extLst>
          </a:blip>
          <a:srcRect b="775"/>
          <a:stretch>
            <a:fillRect/>
          </a:stretch>
        </p:blipFill>
        <p:spPr bwMode="auto">
          <a:xfrm>
            <a:off x="0" y="466725"/>
            <a:ext cx="9906000" cy="66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6" name="Picture 7" descr="슬로건단독형"/>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 y="6581775"/>
            <a:ext cx="15875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33" descr="logo01"/>
          <p:cNvPicPr>
            <a:picLocks noChangeAspect="1" noChangeArrowheads="1"/>
          </p:cNvPicPr>
          <p:nvPr/>
        </p:nvPicPr>
        <p:blipFill>
          <a:blip r:embed="rId6">
            <a:extLst>
              <a:ext uri="{28A0092B-C50C-407E-A947-70E740481C1C}">
                <a14:useLocalDpi xmlns:a14="http://schemas.microsoft.com/office/drawing/2010/main" val="0"/>
              </a:ext>
            </a:extLst>
          </a:blip>
          <a:srcRect l="11053"/>
          <a:stretch>
            <a:fillRect/>
          </a:stretch>
        </p:blipFill>
        <p:spPr bwMode="auto">
          <a:xfrm>
            <a:off x="8599488" y="19050"/>
            <a:ext cx="124936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5" r:id="rId1"/>
    <p:sldLayoutId id="2147484356"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8_7FF62665.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8B_5AC130A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8C_6DD5AAF0.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56_0.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82_40B7A04F.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78_4FF63E3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72_5D0A3AFB.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8D_CCDC632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83_42F2E8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84_DEAF274D.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7E_1467365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86_DFF8B5ED.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8F_AC59565B.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90_44BCE695.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89_AFD70214.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7F_DA6EA4BB.xml"/><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80_55881110.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81_5C14CBAB.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8E_A687288C.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ko-KR" altLang="en-US" dirty="0">
              <a:latin typeface="맑은 고딕" panose="020B0503020000020004" pitchFamily="50" charset="-127"/>
              <a:ea typeface="맑은 고딕" panose="020B0503020000020004" pitchFamily="50" charset="-127"/>
            </a:endParaRPr>
          </a:p>
        </p:txBody>
      </p:sp>
      <p:sp>
        <p:nvSpPr>
          <p:cNvPr id="7171" name="Rectangle 4"/>
          <p:cNvSpPr>
            <a:spLocks noChangeArrowheads="1"/>
          </p:cNvSpPr>
          <p:nvPr/>
        </p:nvSpPr>
        <p:spPr bwMode="auto">
          <a:xfrm>
            <a:off x="3641089" y="4797152"/>
            <a:ext cx="2534917" cy="88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p>
            <a:pPr marL="342900" indent="-342900" algn="ctr">
              <a:spcBef>
                <a:spcPct val="20000"/>
              </a:spcBef>
            </a:pPr>
            <a:r>
              <a:rPr lang="en-US" altLang="ko-KR" sz="2400" u="none" dirty="0">
                <a:latin typeface="맑은 고딕" panose="020B0503020000020004" pitchFamily="50" charset="-127"/>
                <a:ea typeface="맑은 고딕" panose="020B0503020000020004" pitchFamily="50" charset="-127"/>
              </a:rPr>
              <a:t>2026.</a:t>
            </a:r>
            <a:r>
              <a:rPr lang="ko-KR" altLang="en-US" sz="2400" u="none" dirty="0">
                <a:latin typeface="맑은 고딕" panose="020B0503020000020004" pitchFamily="50" charset="-127"/>
                <a:ea typeface="맑은 고딕" panose="020B0503020000020004" pitchFamily="50" charset="-127"/>
              </a:rPr>
              <a:t> </a:t>
            </a:r>
            <a:r>
              <a:rPr lang="en-US" altLang="ko-KR" sz="2400" u="none" dirty="0">
                <a:latin typeface="맑은 고딕" panose="020B0503020000020004" pitchFamily="50" charset="-127"/>
                <a:ea typeface="맑은 고딕" panose="020B0503020000020004" pitchFamily="50" charset="-127"/>
              </a:rPr>
              <a:t>08. 14 </a:t>
            </a:r>
          </a:p>
          <a:p>
            <a:pPr marL="342900" indent="-342900" algn="ctr">
              <a:spcBef>
                <a:spcPct val="20000"/>
              </a:spcBef>
            </a:pPr>
            <a:r>
              <a:rPr lang="ko-KR" altLang="en-US" sz="2400" u="none" dirty="0">
                <a:latin typeface="맑은 고딕" panose="020B0503020000020004" pitchFamily="50" charset="-127"/>
                <a:ea typeface="맑은 고딕" panose="020B0503020000020004" pitchFamily="50" charset="-127"/>
              </a:rPr>
              <a:t>㈜투비원솔루션즈</a:t>
            </a:r>
            <a:endParaRPr lang="en-US" altLang="ko-KR" sz="2400" u="none" dirty="0">
              <a:latin typeface="맑은 고딕" panose="020B0503020000020004" pitchFamily="50" charset="-127"/>
              <a:ea typeface="맑은 고딕" panose="020B0503020000020004" pitchFamily="50" charset="-127"/>
            </a:endParaRPr>
          </a:p>
        </p:txBody>
      </p:sp>
      <p:sp>
        <p:nvSpPr>
          <p:cNvPr id="7173" name="AutoShape 5" descr="표지 -white33"/>
          <p:cNvSpPr>
            <a:spLocks noChangeArrowheads="1"/>
          </p:cNvSpPr>
          <p:nvPr/>
        </p:nvSpPr>
        <p:spPr bwMode="auto">
          <a:xfrm>
            <a:off x="595313" y="1412875"/>
            <a:ext cx="8715375" cy="1516063"/>
          </a:xfrm>
          <a:prstGeom prst="roundRect">
            <a:avLst>
              <a:gd name="adj" fmla="val 6667"/>
            </a:avLst>
          </a:prstGeom>
          <a:blipFill dpi="0" rotWithShape="1">
            <a:blip r:embed="rId2"/>
            <a:srcRect/>
            <a:stretch>
              <a:fillRect/>
            </a:stretch>
          </a:blipFill>
          <a:ln w="12700" algn="ctr">
            <a:solidFill>
              <a:srgbClr val="000000"/>
            </a:solidFill>
            <a:round/>
            <a:headEnd/>
            <a:tailEnd/>
          </a:ln>
        </p:spPr>
        <p:txBody>
          <a:bodyPr wrap="none" anchor="ctr"/>
          <a:lstStyle/>
          <a:p>
            <a:pPr algn="ctr">
              <a:spcBef>
                <a:spcPct val="50000"/>
              </a:spcBef>
            </a:pPr>
            <a:r>
              <a:rPr lang="ko-KR" altLang="en-US" sz="2800" u="none" dirty="0">
                <a:solidFill>
                  <a:srgbClr val="000000"/>
                </a:solidFill>
                <a:latin typeface="맑은 고딕" panose="020B0503020000020004" pitchFamily="50" charset="-127"/>
                <a:ea typeface="맑은 고딕" panose="020B0503020000020004" pitchFamily="50" charset="-127"/>
              </a:rPr>
              <a:t>용역과제 중간 보고서</a:t>
            </a:r>
            <a:endParaRPr lang="en-US" altLang="ko-KR" sz="2800" u="none" dirty="0">
              <a:solidFill>
                <a:srgbClr val="000000"/>
              </a:solidFill>
              <a:latin typeface="맑은 고딕" panose="020B0503020000020004" pitchFamily="50" charset="-127"/>
              <a:ea typeface="맑은 고딕" panose="020B0503020000020004" pitchFamily="50" charset="-127"/>
            </a:endParaRPr>
          </a:p>
          <a:p>
            <a:pPr algn="ctr">
              <a:spcBef>
                <a:spcPct val="50000"/>
              </a:spcBef>
            </a:pPr>
            <a:r>
              <a:rPr lang="en-US" altLang="ko-KR" sz="2800" u="none" dirty="0">
                <a:solidFill>
                  <a:srgbClr val="000000"/>
                </a:solidFill>
                <a:latin typeface="맑은 고딕" panose="020B0503020000020004" pitchFamily="50" charset="-127"/>
                <a:ea typeface="맑은 고딕" panose="020B0503020000020004" pitchFamily="50" charset="-127"/>
              </a:rPr>
              <a:t>- </a:t>
            </a:r>
            <a:r>
              <a:rPr lang="ko-KR" altLang="ko-KR" sz="2800" u="none" dirty="0">
                <a:solidFill>
                  <a:srgbClr val="000000"/>
                </a:solidFill>
                <a:latin typeface="맑은 고딕" panose="020B0503020000020004" pitchFamily="50" charset="-127"/>
                <a:ea typeface="맑은 고딕" panose="020B0503020000020004" pitchFamily="50" charset="-127"/>
              </a:rPr>
              <a:t>2026년도 </a:t>
            </a:r>
            <a:r>
              <a:rPr lang="ko-KR" altLang="ko-KR" sz="2800" u="none" dirty="0" err="1">
                <a:solidFill>
                  <a:srgbClr val="000000"/>
                </a:solidFill>
                <a:latin typeface="맑은 고딕" panose="020B0503020000020004" pitchFamily="50" charset="-127"/>
                <a:ea typeface="맑은 고딕" panose="020B0503020000020004" pitchFamily="50" charset="-127"/>
              </a:rPr>
              <a:t>On-Device</a:t>
            </a:r>
            <a:r>
              <a:rPr lang="ko-KR" altLang="ko-KR" sz="2800" u="none" dirty="0">
                <a:solidFill>
                  <a:srgbClr val="000000"/>
                </a:solidFill>
                <a:latin typeface="맑은 고딕" panose="020B0503020000020004" pitchFamily="50" charset="-127"/>
                <a:ea typeface="맑은 고딕" panose="020B0503020000020004" pitchFamily="50" charset="-127"/>
              </a:rPr>
              <a:t> 기반 AI </a:t>
            </a:r>
            <a:r>
              <a:rPr lang="ko-KR" altLang="ko-KR" sz="2800" u="none" dirty="0" err="1">
                <a:solidFill>
                  <a:srgbClr val="000000"/>
                </a:solidFill>
                <a:latin typeface="맑은 고딕" panose="020B0503020000020004" pitchFamily="50" charset="-127"/>
                <a:ea typeface="맑은 고딕" panose="020B0503020000020004" pitchFamily="50" charset="-127"/>
              </a:rPr>
              <a:t>Agent</a:t>
            </a:r>
            <a:r>
              <a:rPr lang="ko-KR" altLang="ko-KR" sz="2800" u="none" dirty="0">
                <a:solidFill>
                  <a:srgbClr val="000000"/>
                </a:solidFill>
                <a:latin typeface="맑은 고딕" panose="020B0503020000020004" pitchFamily="50" charset="-127"/>
                <a:ea typeface="맑은 고딕" panose="020B0503020000020004" pitchFamily="50" charset="-127"/>
              </a:rPr>
              <a:t> </a:t>
            </a:r>
            <a:r>
              <a:rPr lang="ko-KR" altLang="ko-KR" sz="2800" u="none" dirty="0" err="1">
                <a:solidFill>
                  <a:srgbClr val="000000"/>
                </a:solidFill>
                <a:latin typeface="맑은 고딕" panose="020B0503020000020004" pitchFamily="50" charset="-127"/>
                <a:ea typeface="맑은 고딕" panose="020B0503020000020004" pitchFamily="50" charset="-127"/>
              </a:rPr>
              <a:t>App</a:t>
            </a:r>
            <a:r>
              <a:rPr lang="ko-KR" altLang="ko-KR" sz="2800" u="none" dirty="0">
                <a:solidFill>
                  <a:srgbClr val="000000"/>
                </a:solidFill>
                <a:latin typeface="맑은 고딕" panose="020B0503020000020004" pitchFamily="50" charset="-127"/>
                <a:ea typeface="맑은 고딕" panose="020B0503020000020004" pitchFamily="50" charset="-127"/>
              </a:rPr>
              <a:t> 선행 과제</a:t>
            </a:r>
            <a:r>
              <a:rPr lang="en-US" altLang="ko-KR" sz="2800" u="none" dirty="0">
                <a:solidFill>
                  <a:srgbClr val="000000"/>
                </a:solidFill>
                <a:latin typeface="맑은 고딕" panose="020B0503020000020004" pitchFamily="50" charset="-127"/>
                <a:ea typeface="맑은 고딕" panose="020B0503020000020004" pitchFamily="50" charset="-127"/>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a:t>
            </a:r>
            <a:r>
              <a:rPr lang="ko-KR" altLang="en-US" sz="2400" u="none" dirty="0">
                <a:solidFill>
                  <a:schemeClr val="tx1"/>
                </a:solidFill>
                <a:latin typeface="맑은 고딕" panose="020B0503020000020004" pitchFamily="50" charset="-127"/>
                <a:ea typeface="맑은 고딕" panose="020B0503020000020004" pitchFamily="50" charset="-127"/>
              </a:rPr>
              <a:t> 용역 개요 및 내용</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7" name="AutoShape 761"/>
          <p:cNvSpPr>
            <a:spLocks noChangeArrowheads="1"/>
          </p:cNvSpPr>
          <p:nvPr/>
        </p:nvSpPr>
        <p:spPr bwMode="auto">
          <a:xfrm>
            <a:off x="296863" y="708249"/>
            <a:ext cx="2567905"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1)</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개요</a:t>
            </a:r>
          </a:p>
        </p:txBody>
      </p:sp>
      <p:sp>
        <p:nvSpPr>
          <p:cNvPr id="40" name="오각형 22"/>
          <p:cNvSpPr>
            <a:spLocks noChangeArrowheads="1"/>
          </p:cNvSpPr>
          <p:nvPr/>
        </p:nvSpPr>
        <p:spPr bwMode="auto">
          <a:xfrm>
            <a:off x="631825" y="1196752"/>
            <a:ext cx="1203325" cy="576064"/>
          </a:xfrm>
          <a:prstGeom prst="homePlate">
            <a:avLst>
              <a:gd name="adj" fmla="val 19332"/>
            </a:avLst>
          </a:prstGeom>
          <a:solidFill>
            <a:srgbClr val="DDDDDD">
              <a:alpha val="69803"/>
            </a:srgbClr>
          </a:solidFill>
          <a:ln w="19050" algn="ctr">
            <a:solidFill>
              <a:srgbClr val="969696"/>
            </a:solidFill>
            <a:round/>
            <a:headEnd/>
            <a:tailEnd/>
          </a:ln>
        </p:spPr>
        <p:txBody>
          <a:bodyPr wrap="none" anchor="ctr" anchorCtr="1"/>
          <a:lstStyle/>
          <a:p>
            <a:pPr algn="ctr" fontAlgn="auto" latinLnBrk="0">
              <a:spcBef>
                <a:spcPts val="0"/>
              </a:spcBef>
              <a:spcAft>
                <a:spcPts val="0"/>
              </a:spcAft>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용역 목적</a:t>
            </a:r>
          </a:p>
        </p:txBody>
      </p:sp>
      <p:sp>
        <p:nvSpPr>
          <p:cNvPr id="41" name="TextBox 23"/>
          <p:cNvSpPr txBox="1">
            <a:spLocks noChangeArrowheads="1"/>
          </p:cNvSpPr>
          <p:nvPr/>
        </p:nvSpPr>
        <p:spPr bwMode="auto">
          <a:xfrm flipH="1">
            <a:off x="1917698" y="1196752"/>
            <a:ext cx="7356475" cy="576064"/>
          </a:xfrm>
          <a:prstGeom prst="rect">
            <a:avLst/>
          </a:prstGeom>
          <a:solidFill>
            <a:srgbClr val="DDDDDD">
              <a:alpha val="30196"/>
            </a:srgbClr>
          </a:solidFill>
          <a:ln w="19050">
            <a:solidFill>
              <a:srgbClr val="969696"/>
            </a:solidFill>
            <a:miter lim="800000"/>
            <a:headEnd/>
            <a:tailEnd/>
          </a:ln>
        </p:spPr>
        <p:txBody>
          <a:bodyPr wrap="none" anchor="ctr"/>
          <a:lstStyle/>
          <a:p>
            <a:pPr fontAlgn="auto" latinLnBrk="0">
              <a:spcBef>
                <a:spcPts val="0"/>
              </a:spcBef>
              <a:spcAft>
                <a:spcPts val="0"/>
              </a:spcAft>
              <a:buFont typeface="Arial" pitchFamily="34" charset="0"/>
              <a:buChar char="•"/>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rPr>
              <a:t>AIMO 1.0 AI Agent </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개발</a:t>
            </a:r>
            <a:endPar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endParaRPr>
          </a:p>
        </p:txBody>
      </p:sp>
      <p:sp>
        <p:nvSpPr>
          <p:cNvPr id="44" name="오각형 22"/>
          <p:cNvSpPr>
            <a:spLocks noChangeArrowheads="1"/>
          </p:cNvSpPr>
          <p:nvPr/>
        </p:nvSpPr>
        <p:spPr bwMode="auto">
          <a:xfrm>
            <a:off x="631825" y="1844824"/>
            <a:ext cx="1203325" cy="576064"/>
          </a:xfrm>
          <a:prstGeom prst="homePlate">
            <a:avLst>
              <a:gd name="adj" fmla="val 19332"/>
            </a:avLst>
          </a:prstGeom>
          <a:solidFill>
            <a:srgbClr val="DDDDDD">
              <a:alpha val="69803"/>
            </a:srgbClr>
          </a:solidFill>
          <a:ln w="19050" algn="ctr">
            <a:solidFill>
              <a:srgbClr val="969696"/>
            </a:solidFill>
            <a:round/>
            <a:headEnd/>
            <a:tailEnd/>
          </a:ln>
        </p:spPr>
        <p:txBody>
          <a:bodyPr wrap="none" anchor="ctr" anchorCtr="1"/>
          <a:lstStyle/>
          <a:p>
            <a:pPr algn="ctr" fontAlgn="auto" latinLnBrk="0">
              <a:spcBef>
                <a:spcPts val="0"/>
              </a:spcBef>
              <a:spcAft>
                <a:spcPts val="0"/>
              </a:spcAft>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용역 기간</a:t>
            </a:r>
          </a:p>
        </p:txBody>
      </p:sp>
      <p:sp>
        <p:nvSpPr>
          <p:cNvPr id="45" name="TextBox 23"/>
          <p:cNvSpPr txBox="1">
            <a:spLocks noChangeArrowheads="1"/>
          </p:cNvSpPr>
          <p:nvPr/>
        </p:nvSpPr>
        <p:spPr bwMode="auto">
          <a:xfrm flipH="1">
            <a:off x="1928663" y="1844824"/>
            <a:ext cx="7356475" cy="576064"/>
          </a:xfrm>
          <a:prstGeom prst="rect">
            <a:avLst/>
          </a:prstGeom>
          <a:solidFill>
            <a:srgbClr val="DDDDDD">
              <a:alpha val="30196"/>
            </a:srgbClr>
          </a:solidFill>
          <a:ln w="19050">
            <a:solidFill>
              <a:srgbClr val="969696"/>
            </a:solidFill>
            <a:miter lim="800000"/>
            <a:headEnd/>
            <a:tailEnd/>
          </a:ln>
        </p:spPr>
        <p:txBody>
          <a:bodyPr wrap="none" anchor="ctr"/>
          <a:lstStyle/>
          <a:p>
            <a:pPr fontAlgn="auto" latinLnBrk="0">
              <a:spcBef>
                <a:spcPts val="0"/>
              </a:spcBef>
              <a:spcAft>
                <a:spcPts val="0"/>
              </a:spcAft>
              <a:buFont typeface="Arial" pitchFamily="34" charset="0"/>
              <a:buChar char="•"/>
              <a:defRPr/>
            </a:pP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rPr>
              <a:t>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2026.05.01 ~ 2026.12.31 (</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총 </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8</a:t>
            </a:r>
            <a:r>
              <a:rPr kumimoji="0" lang="ko-KR" altLang="en-US"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개월</a:t>
            </a:r>
            <a:r>
              <a:rPr kumimoji="0" lang="en-US" altLang="ko-KR" sz="1600"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rPr>
              <a:t>)</a:t>
            </a:r>
          </a:p>
        </p:txBody>
      </p:sp>
      <p:sp>
        <p:nvSpPr>
          <p:cNvPr id="46" name="AutoShape 761"/>
          <p:cNvSpPr>
            <a:spLocks noChangeArrowheads="1"/>
          </p:cNvSpPr>
          <p:nvPr/>
        </p:nvSpPr>
        <p:spPr bwMode="auto">
          <a:xfrm>
            <a:off x="307975" y="2652465"/>
            <a:ext cx="2628801"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2)</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내용 및 범위</a:t>
            </a:r>
          </a:p>
        </p:txBody>
      </p:sp>
      <p:graphicFrame>
        <p:nvGraphicFramePr>
          <p:cNvPr id="23" name="표 22"/>
          <p:cNvGraphicFramePr>
            <a:graphicFrameLocks noGrp="1"/>
          </p:cNvGraphicFramePr>
          <p:nvPr>
            <p:extLst>
              <p:ext uri="{D42A27DB-BD31-4B8C-83A1-F6EECF244321}">
                <p14:modId xmlns:p14="http://schemas.microsoft.com/office/powerpoint/2010/main" val="3055160707"/>
              </p:ext>
            </p:extLst>
          </p:nvPr>
        </p:nvGraphicFramePr>
        <p:xfrm>
          <a:off x="488950" y="3212976"/>
          <a:ext cx="9001125" cy="2829683"/>
        </p:xfrm>
        <a:graphic>
          <a:graphicData uri="http://schemas.openxmlformats.org/drawingml/2006/table">
            <a:tbl>
              <a:tblPr firstRow="1" bandRow="1">
                <a:tableStyleId>{5940675A-B579-460E-94D1-54222C63F5DA}</a:tableStyleId>
              </a:tblPr>
              <a:tblGrid>
                <a:gridCol w="1511722">
                  <a:extLst>
                    <a:ext uri="{9D8B030D-6E8A-4147-A177-3AD203B41FA5}">
                      <a16:colId xmlns:a16="http://schemas.microsoft.com/office/drawing/2014/main" val="20000"/>
                    </a:ext>
                  </a:extLst>
                </a:gridCol>
                <a:gridCol w="6192688">
                  <a:extLst>
                    <a:ext uri="{9D8B030D-6E8A-4147-A177-3AD203B41FA5}">
                      <a16:colId xmlns:a16="http://schemas.microsoft.com/office/drawing/2014/main" val="20001"/>
                    </a:ext>
                  </a:extLst>
                </a:gridCol>
                <a:gridCol w="1296715">
                  <a:extLst>
                    <a:ext uri="{9D8B030D-6E8A-4147-A177-3AD203B41FA5}">
                      <a16:colId xmlns:a16="http://schemas.microsoft.com/office/drawing/2014/main" val="20002"/>
                    </a:ext>
                  </a:extLst>
                </a:gridCol>
              </a:tblGrid>
              <a:tr h="268410">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항목</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용역 내용 및 범위</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400" kern="1200" dirty="0">
                          <a:solidFill>
                            <a:schemeClr val="tx1"/>
                          </a:solidFill>
                          <a:latin typeface="맑은 고딕" panose="020B0503020000020004" pitchFamily="50" charset="-127"/>
                          <a:ea typeface="맑은 고딕" panose="020B0503020000020004" pitchFamily="50" charset="-127"/>
                          <a:cs typeface="+mn-cs"/>
                        </a:rPr>
                        <a:t>비 고</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1077940">
                <a:tc>
                  <a:txBody>
                    <a:bodyPr/>
                    <a:lstStyle/>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r>
                        <a:rPr lang="ko-KR" altLang="en-US" sz="1200" b="1" dirty="0">
                          <a:latin typeface="맑은 고딕" panose="020B0503020000020004" pitchFamily="50" charset="-127"/>
                          <a:ea typeface="맑은 고딕" panose="020B0503020000020004" pitchFamily="50" charset="-127"/>
                        </a:rPr>
                        <a:t> </a:t>
                      </a:r>
                      <a:r>
                        <a:rPr lang="en-US" altLang="ko-KR" sz="1200" b="1" dirty="0">
                          <a:latin typeface="맑은 고딕" panose="020B0503020000020004" pitchFamily="50" charset="-127"/>
                          <a:ea typeface="맑은 고딕" panose="020B0503020000020004" pitchFamily="50" charset="-127"/>
                        </a:rPr>
                        <a:t>Q&amp;A</a:t>
                      </a:r>
                      <a:r>
                        <a:rPr lang="ko-KR" altLang="en-US" sz="1200" b="1" dirty="0">
                          <a:latin typeface="맑은 고딕" panose="020B0503020000020004" pitchFamily="50" charset="-127"/>
                          <a:ea typeface="맑은 고딕" panose="020B0503020000020004" pitchFamily="50" charset="-127"/>
                        </a:rPr>
                        <a:t> </a:t>
                      </a:r>
                      <a:endParaRPr lang="en-US" altLang="ko-KR" sz="1200" b="0" dirty="0">
                        <a:latin typeface="맑은 고딕" panose="020B0503020000020004" pitchFamily="50" charset="-127"/>
                        <a:ea typeface="맑은 고딕" panose="020B0503020000020004" pitchFamily="50" charset="-127"/>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Whisper-Medium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모델을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STT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서비스 구현 </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사용자 음성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입력받아</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기존 대화 히스토리 기반으로 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multi-turn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Semantic Router</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차량 매뉴얼 답변을 반환하는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Orchestrator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차량 매뉴얼에 없는 정보를 응답하는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CloudLLM</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Lottie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이미지를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처리 과정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차량 매뉴얼</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/DTC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코드</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자동차 정비 매뉴얼</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/IVI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매뉴얼 기반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결과 공유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FloatingView</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Pleos</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TTS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활용한 답변 출력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진행중</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(80%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1280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D95F4-47BC-51C2-A984-7A7500666791}"/>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BCA35E30-A494-404F-AB6E-512B507CC40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a:t>
            </a:r>
            <a:r>
              <a:rPr lang="ko-KR" altLang="en-US" sz="2400" u="none" dirty="0">
                <a:solidFill>
                  <a:schemeClr val="tx1"/>
                </a:solidFill>
                <a:latin typeface="맑은 고딕" panose="020B0503020000020004" pitchFamily="50" charset="-127"/>
                <a:ea typeface="맑은 고딕" panose="020B0503020000020004" pitchFamily="50" charset="-127"/>
              </a:rPr>
              <a:t> 용역 개요 및 내용</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AutoShape 761">
            <a:extLst>
              <a:ext uri="{FF2B5EF4-FFF2-40B4-BE49-F238E27FC236}">
                <a16:creationId xmlns:a16="http://schemas.microsoft.com/office/drawing/2014/main" id="{CB4B966F-4BB7-D645-0EF8-0D29868DF278}"/>
              </a:ext>
            </a:extLst>
          </p:cNvPr>
          <p:cNvSpPr>
            <a:spLocks noChangeArrowheads="1"/>
          </p:cNvSpPr>
          <p:nvPr/>
        </p:nvSpPr>
        <p:spPr bwMode="auto">
          <a:xfrm>
            <a:off x="307975" y="620688"/>
            <a:ext cx="3060849"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a:lnSpc>
                <a:spcPct val="90000"/>
              </a:lnSpc>
              <a:defRPr/>
            </a:pP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sym typeface="Wingdings" pitchFamily="2" charset="2"/>
              </a:rPr>
              <a:t>2)</a:t>
            </a:r>
            <a:r>
              <a:rPr lang="en-US" altLang="ko-KR"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 </a:t>
            </a:r>
            <a:r>
              <a:rPr lang="ko-KR" altLang="en-US" sz="1800" u="none" dirty="0">
                <a:solidFill>
                  <a:schemeClr val="bg1"/>
                </a:solidFill>
                <a:effectLst>
                  <a:outerShdw blurRad="38100" dist="38100" dir="2700000" algn="tl">
                    <a:srgbClr val="000000"/>
                  </a:outerShdw>
                </a:effectLst>
                <a:latin typeface="맑은 고딕" panose="020B0503020000020004" pitchFamily="50" charset="-127"/>
                <a:ea typeface="맑은 고딕" panose="020B0503020000020004" pitchFamily="50" charset="-127"/>
              </a:rPr>
              <a:t>용역 내용 및 범위</a:t>
            </a:r>
          </a:p>
        </p:txBody>
      </p:sp>
      <p:graphicFrame>
        <p:nvGraphicFramePr>
          <p:cNvPr id="23" name="표 22">
            <a:extLst>
              <a:ext uri="{FF2B5EF4-FFF2-40B4-BE49-F238E27FC236}">
                <a16:creationId xmlns:a16="http://schemas.microsoft.com/office/drawing/2014/main" id="{35157B2D-7C30-C398-5024-34F767859F9C}"/>
              </a:ext>
            </a:extLst>
          </p:cNvPr>
          <p:cNvGraphicFramePr>
            <a:graphicFrameLocks noGrp="1"/>
          </p:cNvGraphicFramePr>
          <p:nvPr>
            <p:extLst>
              <p:ext uri="{D42A27DB-BD31-4B8C-83A1-F6EECF244321}">
                <p14:modId xmlns:p14="http://schemas.microsoft.com/office/powerpoint/2010/main" val="60980250"/>
              </p:ext>
            </p:extLst>
          </p:nvPr>
        </p:nvGraphicFramePr>
        <p:xfrm>
          <a:off x="488950" y="1052736"/>
          <a:ext cx="9001125" cy="4892477"/>
        </p:xfrm>
        <a:graphic>
          <a:graphicData uri="http://schemas.openxmlformats.org/drawingml/2006/table">
            <a:tbl>
              <a:tblPr firstRow="1" bandRow="1">
                <a:tableStyleId>{5940675A-B579-460E-94D1-54222C63F5DA}</a:tableStyleId>
              </a:tblPr>
              <a:tblGrid>
                <a:gridCol w="1511722">
                  <a:extLst>
                    <a:ext uri="{9D8B030D-6E8A-4147-A177-3AD203B41FA5}">
                      <a16:colId xmlns:a16="http://schemas.microsoft.com/office/drawing/2014/main" val="20000"/>
                    </a:ext>
                  </a:extLst>
                </a:gridCol>
                <a:gridCol w="6192688">
                  <a:extLst>
                    <a:ext uri="{9D8B030D-6E8A-4147-A177-3AD203B41FA5}">
                      <a16:colId xmlns:a16="http://schemas.microsoft.com/office/drawing/2014/main" val="20001"/>
                    </a:ext>
                  </a:extLst>
                </a:gridCol>
                <a:gridCol w="1296715">
                  <a:extLst>
                    <a:ext uri="{9D8B030D-6E8A-4147-A177-3AD203B41FA5}">
                      <a16:colId xmlns:a16="http://schemas.microsoft.com/office/drawing/2014/main" val="20002"/>
                    </a:ext>
                  </a:extLst>
                </a:gridCol>
              </a:tblGrid>
              <a:tr h="288032">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항목</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용역 내용 및 범위</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ko-KR" altLang="en-US" sz="1600" kern="1200" dirty="0">
                          <a:solidFill>
                            <a:schemeClr val="tx1"/>
                          </a:solidFill>
                          <a:latin typeface="맑은 고딕" panose="020B0503020000020004" pitchFamily="50" charset="-127"/>
                          <a:ea typeface="맑은 고딕" panose="020B0503020000020004" pitchFamily="50" charset="-127"/>
                          <a:cs typeface="+mn-cs"/>
                        </a:rPr>
                        <a:t>비 고</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485584">
                <a:tc>
                  <a:txBody>
                    <a:bodyPr/>
                    <a:lstStyle/>
                    <a:p>
                      <a:pPr algn="ctr" latinLnBrk="1"/>
                      <a:r>
                        <a:rPr lang="en-US" altLang="ko-KR" sz="1200" b="1" dirty="0">
                          <a:latin typeface="맑은 고딕" panose="020B0503020000020004" pitchFamily="50" charset="-127"/>
                          <a:ea typeface="맑은 고딕" panose="020B0503020000020004" pitchFamily="50" charset="-127"/>
                        </a:rPr>
                        <a:t>Vehicle Control</a:t>
                      </a:r>
                    </a:p>
                    <a:p>
                      <a:pPr algn="ctr" latinLnBrk="1"/>
                      <a:r>
                        <a:rPr lang="ko-KR" altLang="en-US" sz="1200" b="1" dirty="0">
                          <a:latin typeface="맑은 고딕" panose="020B0503020000020004" pitchFamily="50" charset="-127"/>
                          <a:ea typeface="맑은 고딕" panose="020B0503020000020004" pitchFamily="50" charset="-127"/>
                        </a:rPr>
                        <a:t>개발</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Whisper-Medium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모델을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STT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서비스 구현 </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사용자 음성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입력받아</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기존 대화 히스토리 기반으로 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multi-turn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Semantic Router</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차량 매뉴얼 답변을 반환하는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Orchestrator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사용자의 자연어 입력을 받아 차량 기능 제어하는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Lottie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이미지를 활용한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처리 과정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질의</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응답 결과 공유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FloatingView</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차량 제어 결과 화면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err="1">
                          <a:solidFill>
                            <a:schemeClr val="tx1"/>
                          </a:solidFill>
                          <a:latin typeface="맑은 고딕" panose="020B0503020000020004" pitchFamily="50" charset="-127"/>
                          <a:ea typeface="맑은 고딕" panose="020B0503020000020004" pitchFamily="50" charset="-127"/>
                          <a:cs typeface="+mn-cs"/>
                        </a:rPr>
                        <a:t>Pleos</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TTS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활용한 답변 출력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진행중</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(80%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16024">
                <a:tc>
                  <a:txBody>
                    <a:bodyPr/>
                    <a:lstStyle/>
                    <a:p>
                      <a:pPr algn="ctr" latinLnBrk="1"/>
                      <a:r>
                        <a:rPr lang="en-US" altLang="ko-KR" sz="1200" b="1" dirty="0">
                          <a:latin typeface="맑은 고딕" panose="020B0503020000020004" pitchFamily="50" charset="-127"/>
                          <a:ea typeface="맑은 고딕" panose="020B0503020000020004" pitchFamily="50" charset="-127"/>
                        </a:rPr>
                        <a:t>Live AI DJ</a:t>
                      </a:r>
                    </a:p>
                    <a:p>
                      <a:pPr algn="ctr" latinLnBrk="1"/>
                      <a:r>
                        <a:rPr lang="ko-KR" altLang="en-US" sz="1200" b="1" dirty="0">
                          <a:latin typeface="맑은 고딕" panose="020B0503020000020004" pitchFamily="50" charset="-127"/>
                          <a:ea typeface="맑은 고딕" panose="020B0503020000020004" pitchFamily="50" charset="-127"/>
                        </a:rPr>
                        <a:t>개발</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도로 주행 상황</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노래 제목</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가수명</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가사 등을 활용한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DJ</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멘트 생성 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DJ</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멘트 생성을 위한 모비스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On-Device GPT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기능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개인화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DB</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와 </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Spotify API</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를 활용한 사용자 친화적인 노래 추천서비스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LLM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정확도 향상 및 개인화를 위한 질의 도메인화</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(Query Routing)</a:t>
                      </a:r>
                    </a:p>
                    <a:p>
                      <a:pPr marL="171450" indent="-171450" algn="l" defTabSz="914400" rtl="0" eaLnBrk="1" latinLnBrk="1" hangingPunct="1">
                        <a:lnSpc>
                          <a:spcPct val="150000"/>
                        </a:lnSpc>
                        <a:buFont typeface="Arial" panose="020B0604020202020204" pitchFamily="34" charset="0"/>
                        <a:buChar cha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노래 추천 리스트 공유를 위한 </a:t>
                      </a:r>
                      <a:r>
                        <a:rPr lang="ko-KR" altLang="en-US" sz="1200" kern="1200" baseline="0" dirty="0" err="1">
                          <a:solidFill>
                            <a:schemeClr val="tx1"/>
                          </a:solidFill>
                          <a:latin typeface="맑은 고딕" panose="020B0503020000020004" pitchFamily="50" charset="-127"/>
                          <a:ea typeface="맑은 고딕" panose="020B0503020000020004" pitchFamily="50" charset="-127"/>
                          <a:cs typeface="+mn-cs"/>
                        </a:rPr>
                        <a:t>인텐트</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 인터페이스 구현</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진행중</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(50% </a:t>
                      </a: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r>
                        <a:rPr lang="en-US" altLang="ko-KR" sz="1200" kern="1200" baseline="0" dirty="0">
                          <a:solidFill>
                            <a:schemeClr val="tx1"/>
                          </a:solidFill>
                          <a:latin typeface="맑은 고딕" panose="020B0503020000020004" pitchFamily="50" charset="-127"/>
                          <a:ea typeface="맑은 고딕" panose="020B0503020000020004" pitchFamily="50" charset="-127"/>
                          <a:cs typeface="+mn-cs"/>
                        </a:rPr>
                        <a:t>)</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38968">
                <a:tc>
                  <a:txBody>
                    <a:bodyPr/>
                    <a:lstStyle/>
                    <a:p>
                      <a:pPr algn="ctr" latinLnBrk="1"/>
                      <a:r>
                        <a:rPr lang="ko-KR" altLang="en-US" sz="1200" b="1" dirty="0">
                          <a:latin typeface="맑은 고딕" panose="020B0503020000020004" pitchFamily="50" charset="-127"/>
                          <a:ea typeface="맑은 고딕" panose="020B0503020000020004" pitchFamily="50" charset="-127"/>
                        </a:rPr>
                        <a:t>클라우드 연동</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defTabSz="914400" rtl="0" eaLnBrk="1" latinLnBrk="1" hangingPunct="1">
                        <a:lnSpc>
                          <a:spcPct val="150000"/>
                        </a:lnSpc>
                        <a:buFont typeface="Arial" panose="020B0604020202020204" pitchFamily="34" charset="0"/>
                        <a:buChar char="•"/>
                      </a:pP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Query Routing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기반 클라우드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LLM API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연동</a:t>
                      </a:r>
                      <a:endParaRPr lang="en-US" altLang="ko-KR" sz="1200" b="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날씨 데이터 질의를 위하여 </a:t>
                      </a:r>
                      <a:r>
                        <a:rPr lang="en-US" altLang="ko-KR" sz="1200" b="0" kern="1200" baseline="0" dirty="0" err="1">
                          <a:solidFill>
                            <a:schemeClr val="tx1"/>
                          </a:solidFill>
                          <a:latin typeface="맑은 고딕" panose="020B0503020000020004" pitchFamily="50" charset="-127"/>
                          <a:ea typeface="맑은 고딕" panose="020B0503020000020004" pitchFamily="50" charset="-127"/>
                          <a:cs typeface="+mn-cs"/>
                        </a:rPr>
                        <a:t>Geomatry</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API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연동</a:t>
                      </a:r>
                      <a:endParaRPr lang="en-US" altLang="ko-KR" sz="1200" b="0" kern="1200" baseline="0" dirty="0">
                        <a:solidFill>
                          <a:schemeClr val="tx1"/>
                        </a:solidFill>
                        <a:latin typeface="맑은 고딕" panose="020B0503020000020004" pitchFamily="50" charset="-127"/>
                        <a:ea typeface="맑은 고딕" panose="020B0503020000020004" pitchFamily="50" charset="-127"/>
                        <a:cs typeface="+mn-cs"/>
                      </a:endParaRPr>
                    </a:p>
                    <a:p>
                      <a:pPr marL="171450" indent="-171450" algn="l" defTabSz="914400" rtl="0" eaLnBrk="1" latinLnBrk="1" hangingPunct="1">
                        <a:lnSpc>
                          <a:spcPct val="150000"/>
                        </a:lnSpc>
                        <a:buFont typeface="Arial" panose="020B0604020202020204" pitchFamily="34" charset="0"/>
                        <a:buChar char="•"/>
                      </a:pP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다양한 클라우드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LLM </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서비스 제공을 위하여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Open AI, Gemini,</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Claude</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200" b="0" kern="1200" baseline="0" dirty="0">
                          <a:solidFill>
                            <a:schemeClr val="tx1"/>
                          </a:solidFill>
                          <a:latin typeface="맑은 고딕" panose="020B0503020000020004" pitchFamily="50" charset="-127"/>
                          <a:ea typeface="맑은 고딕" panose="020B0503020000020004" pitchFamily="50" charset="-127"/>
                          <a:cs typeface="+mn-cs"/>
                        </a:rPr>
                        <a:t>API</a:t>
                      </a:r>
                      <a:r>
                        <a:rPr lang="ko-KR" altLang="en-US" sz="1200" b="0" kern="1200" baseline="0" dirty="0">
                          <a:solidFill>
                            <a:schemeClr val="tx1"/>
                          </a:solidFill>
                          <a:latin typeface="맑은 고딕" panose="020B0503020000020004" pitchFamily="50" charset="-127"/>
                          <a:ea typeface="맑은 고딕" panose="020B0503020000020004" pitchFamily="50" charset="-127"/>
                          <a:cs typeface="+mn-cs"/>
                        </a:rPr>
                        <a:t> 연동</a:t>
                      </a: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1" hangingPunct="1">
                        <a:lnSpc>
                          <a:spcPct val="120000"/>
                        </a:lnSpc>
                        <a:spcBef>
                          <a:spcPts val="0"/>
                        </a:spcBef>
                        <a:spcAft>
                          <a:spcPts val="0"/>
                        </a:spcAft>
                        <a:buClrTx/>
                        <a:buSzTx/>
                        <a:buFont typeface="Wingdings" pitchFamily="2" charset="2"/>
                        <a:buNone/>
                        <a:tabLst/>
                        <a:defRPr/>
                      </a:pPr>
                      <a:r>
                        <a:rPr lang="ko-KR" altLang="en-US" sz="1200" kern="1200" baseline="0" dirty="0">
                          <a:solidFill>
                            <a:schemeClr val="tx1"/>
                          </a:solidFill>
                          <a:latin typeface="맑은 고딕" panose="020B0503020000020004" pitchFamily="50" charset="-127"/>
                          <a:ea typeface="맑은 고딕" panose="020B0503020000020004" pitchFamily="50" charset="-127"/>
                          <a:cs typeface="+mn-cs"/>
                        </a:rPr>
                        <a:t>완료</a:t>
                      </a:r>
                      <a:endParaRPr lang="en-US" altLang="ko-KR" sz="1200" kern="1200" baseline="0" dirty="0">
                        <a:solidFill>
                          <a:schemeClr val="tx1"/>
                        </a:solidFill>
                        <a:latin typeface="맑은 고딕" panose="020B0503020000020004" pitchFamily="50" charset="-127"/>
                        <a:ea typeface="맑은 고딕" panose="020B0503020000020004" pitchFamily="50" charset="-127"/>
                        <a:cs typeface="+mn-cs"/>
                      </a:endParaRPr>
                    </a:p>
                  </a:txBody>
                  <a:tcPr marL="91435" marR="91435" marT="45703" marB="45703"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14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graphicFrame>
        <p:nvGraphicFramePr>
          <p:cNvPr id="11" name="표 10">
            <a:extLst>
              <a:ext uri="{FF2B5EF4-FFF2-40B4-BE49-F238E27FC236}">
                <a16:creationId xmlns:a16="http://schemas.microsoft.com/office/drawing/2014/main" id="{1B057B5A-D059-8CD2-B96E-8A4BDEF274EC}"/>
              </a:ext>
            </a:extLst>
          </p:cNvPr>
          <p:cNvGraphicFramePr>
            <a:graphicFrameLocks noGrp="1"/>
          </p:cNvGraphicFramePr>
          <p:nvPr>
            <p:extLst>
              <p:ext uri="{D42A27DB-BD31-4B8C-83A1-F6EECF244321}">
                <p14:modId xmlns:p14="http://schemas.microsoft.com/office/powerpoint/2010/main" val="1787311587"/>
              </p:ext>
            </p:extLst>
          </p:nvPr>
        </p:nvGraphicFramePr>
        <p:xfrm>
          <a:off x="346930" y="1221155"/>
          <a:ext cx="8929688" cy="5304189"/>
        </p:xfrm>
        <a:graphic>
          <a:graphicData uri="http://schemas.openxmlformats.org/drawingml/2006/table">
            <a:tbl>
              <a:tblPr firstRow="1" bandRow="1">
                <a:tableStyleId>{5940675A-B579-460E-94D1-54222C63F5DA}</a:tableStyleId>
              </a:tblPr>
              <a:tblGrid>
                <a:gridCol w="1008112">
                  <a:extLst>
                    <a:ext uri="{9D8B030D-6E8A-4147-A177-3AD203B41FA5}">
                      <a16:colId xmlns:a16="http://schemas.microsoft.com/office/drawing/2014/main" val="2834448901"/>
                    </a:ext>
                  </a:extLst>
                </a:gridCol>
                <a:gridCol w="1045258">
                  <a:extLst>
                    <a:ext uri="{9D8B030D-6E8A-4147-A177-3AD203B41FA5}">
                      <a16:colId xmlns:a16="http://schemas.microsoft.com/office/drawing/2014/main" val="2477019585"/>
                    </a:ext>
                  </a:extLst>
                </a:gridCol>
                <a:gridCol w="2292106">
                  <a:extLst>
                    <a:ext uri="{9D8B030D-6E8A-4147-A177-3AD203B41FA5}">
                      <a16:colId xmlns:a16="http://schemas.microsoft.com/office/drawing/2014/main" val="716681536"/>
                    </a:ext>
                  </a:extLst>
                </a:gridCol>
                <a:gridCol w="2292106">
                  <a:extLst>
                    <a:ext uri="{9D8B030D-6E8A-4147-A177-3AD203B41FA5}">
                      <a16:colId xmlns:a16="http://schemas.microsoft.com/office/drawing/2014/main" val="4197361404"/>
                    </a:ext>
                  </a:extLst>
                </a:gridCol>
                <a:gridCol w="2292106">
                  <a:extLst>
                    <a:ext uri="{9D8B030D-6E8A-4147-A177-3AD203B41FA5}">
                      <a16:colId xmlns:a16="http://schemas.microsoft.com/office/drawing/2014/main" val="2915706603"/>
                    </a:ext>
                  </a:extLst>
                </a:gridCol>
              </a:tblGrid>
              <a:tr h="538878">
                <a:tc>
                  <a:txBody>
                    <a:bodyPr/>
                    <a:lstStyle/>
                    <a:p>
                      <a:pPr algn="ctr" latinLnBrk="1"/>
                      <a:r>
                        <a:rPr lang="ko-KR" altLang="en-US" sz="1200" b="1" dirty="0">
                          <a:latin typeface="맑은 고딕" panose="020B0503020000020004" pitchFamily="50" charset="-127"/>
                          <a:ea typeface="맑은 고딕" panose="020B0503020000020004" pitchFamily="50" charset="-127"/>
                        </a:rPr>
                        <a:t>구분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설계 및 모델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200" b="1" dirty="0" err="1">
                          <a:latin typeface="맑은 고딕" panose="020B0503020000020004" pitchFamily="50" charset="-127"/>
                          <a:ea typeface="맑은 고딕" panose="020B0503020000020004" pitchFamily="50" charset="-127"/>
                        </a:rPr>
                        <a:t>온디바이스</a:t>
                      </a:r>
                      <a:r>
                        <a:rPr lang="ko-KR" altLang="en-US" sz="1200" b="1" dirty="0">
                          <a:latin typeface="맑은 고딕" panose="020B0503020000020004" pitchFamily="50" charset="-127"/>
                          <a:ea typeface="맑은 고딕" panose="020B0503020000020004" pitchFamily="50" charset="-127"/>
                        </a:rPr>
                        <a:t> 모델 포팅 및 </a:t>
                      </a:r>
                      <a:r>
                        <a:rPr lang="en-US" altLang="ko-KR" sz="1200" b="1" dirty="0">
                          <a:latin typeface="맑은 고딕" panose="020B0503020000020004" pitchFamily="50" charset="-127"/>
                          <a:ea typeface="맑은 고딕" panose="020B0503020000020004" pitchFamily="50" charset="-127"/>
                        </a:rPr>
                        <a:t>Agent </a:t>
                      </a:r>
                      <a:r>
                        <a:rPr lang="ko-KR" altLang="en-US" sz="1200" b="1" dirty="0">
                          <a:latin typeface="맑은 고딕" panose="020B0503020000020004" pitchFamily="50" charset="-127"/>
                          <a:ea typeface="맑은 고딕" panose="020B0503020000020004" pitchFamily="50" charset="-127"/>
                        </a:rPr>
                        <a:t>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200" b="1"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07440024"/>
                  </a:ext>
                </a:extLst>
              </a:tr>
              <a:tr h="3397159">
                <a:tc rowSpan="2">
                  <a:txBody>
                    <a:bodyPr/>
                    <a:lstStyle/>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r>
                        <a:rPr lang="ko-KR" altLang="en-US" sz="1200" b="1" dirty="0">
                          <a:latin typeface="맑은 고딕" panose="020B0503020000020004" pitchFamily="50" charset="-127"/>
                          <a:ea typeface="맑은 고딕" panose="020B0503020000020004" pitchFamily="50" charset="-127"/>
                        </a:rPr>
                        <a:t> </a:t>
                      </a:r>
                      <a:r>
                        <a:rPr lang="en-US" altLang="ko-KR" sz="1200" b="1" dirty="0">
                          <a:latin typeface="맑은 고딕" panose="020B0503020000020004" pitchFamily="50" charset="-127"/>
                          <a:ea typeface="맑은 고딕" panose="020B0503020000020004" pitchFamily="50" charset="-127"/>
                        </a:rPr>
                        <a:t>Q&amp;A</a:t>
                      </a: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및</a:t>
                      </a:r>
                      <a:endParaRPr lang="en-US" altLang="ko-KR" sz="1200" b="1" dirty="0">
                        <a:latin typeface="맑은 고딕" panose="020B0503020000020004" pitchFamily="50" charset="-127"/>
                        <a:ea typeface="맑은 고딕" panose="020B0503020000020004" pitchFamily="50" charset="-127"/>
                      </a:endParaRPr>
                    </a:p>
                    <a:p>
                      <a:pPr algn="ctr" latinLnBrk="1">
                        <a:lnSpc>
                          <a:spcPct val="150000"/>
                        </a:lnSpc>
                      </a:pPr>
                      <a:r>
                        <a:rPr lang="en-US" altLang="ko-KR" sz="1200" b="1" dirty="0">
                          <a:latin typeface="맑은 고딕" panose="020B0503020000020004" pitchFamily="50" charset="-127"/>
                          <a:ea typeface="맑은 고딕" panose="020B0503020000020004" pitchFamily="50" charset="-127"/>
                        </a:rPr>
                        <a:t>Vehicle</a:t>
                      </a:r>
                    </a:p>
                    <a:p>
                      <a:pPr algn="ctr" latinLnBrk="1">
                        <a:lnSpc>
                          <a:spcPct val="150000"/>
                        </a:lnSpc>
                      </a:pPr>
                      <a:r>
                        <a:rPr lang="en-US" altLang="ko-KR" sz="1200" b="1" dirty="0">
                          <a:latin typeface="맑은 고딕" panose="020B0503020000020004" pitchFamily="50" charset="-127"/>
                          <a:ea typeface="맑은 고딕" panose="020B0503020000020004" pitchFamily="50" charset="-127"/>
                        </a:rPr>
                        <a:t>Control</a:t>
                      </a:r>
                    </a:p>
                    <a:p>
                      <a:pPr algn="ctr" latinLnBrk="1">
                        <a:lnSpc>
                          <a:spcPct val="150000"/>
                        </a:lnSpc>
                      </a:pPr>
                      <a:r>
                        <a:rPr lang="ko-KR" altLang="en-US" sz="1200" b="1" dirty="0">
                          <a:latin typeface="맑은 고딕" panose="020B0503020000020004" pitchFamily="50" charset="-127"/>
                          <a:ea typeface="맑은 고딕" panose="020B0503020000020004" pitchFamily="50" charset="-127"/>
                        </a:rPr>
                        <a:t>개발 </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37112956"/>
                  </a:ext>
                </a:extLst>
              </a:tr>
              <a:tr h="1368152">
                <a:tc vMerge="1">
                  <a:txBody>
                    <a:bodyPr/>
                    <a:lstStyle/>
                    <a:p>
                      <a:pPr latinLnBrk="1"/>
                      <a:endParaRPr lang="ko-KR" altLang="en-US"/>
                    </a:p>
                  </a:txBody>
                  <a:tcPr/>
                </a:tc>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6107719"/>
                  </a:ext>
                </a:extLst>
              </a:tr>
            </a:tbl>
          </a:graphicData>
        </a:graphic>
      </p:graphicFrame>
      <p:sp>
        <p:nvSpPr>
          <p:cNvPr id="17" name="모서리가 둥근 직사각형 1">
            <a:extLst>
              <a:ext uri="{FF2B5EF4-FFF2-40B4-BE49-F238E27FC236}">
                <a16:creationId xmlns:a16="http://schemas.microsoft.com/office/drawing/2014/main" id="{5CE7AAF1-444B-8AC6-A842-623085E27C9B}"/>
              </a:ext>
            </a:extLst>
          </p:cNvPr>
          <p:cNvSpPr/>
          <p:nvPr/>
        </p:nvSpPr>
        <p:spPr bwMode="auto">
          <a:xfrm>
            <a:off x="2487883" y="1868546"/>
            <a:ext cx="2091378" cy="503128"/>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Whisper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STT Service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34" name="모서리가 둥근 직사각형 1">
            <a:extLst>
              <a:ext uri="{FF2B5EF4-FFF2-40B4-BE49-F238E27FC236}">
                <a16:creationId xmlns:a16="http://schemas.microsoft.com/office/drawing/2014/main" id="{6806885F-D074-9B85-FB03-2D5746822A6E}"/>
              </a:ext>
            </a:extLst>
          </p:cNvPr>
          <p:cNvSpPr/>
          <p:nvPr/>
        </p:nvSpPr>
        <p:spPr bwMode="auto">
          <a:xfrm>
            <a:off x="2487883"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RAG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데이터 및 서비스</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구조 설계</a:t>
            </a:r>
          </a:p>
        </p:txBody>
      </p:sp>
      <p:sp>
        <p:nvSpPr>
          <p:cNvPr id="8200" name="AutoShape 761">
            <a:extLst>
              <a:ext uri="{FF2B5EF4-FFF2-40B4-BE49-F238E27FC236}">
                <a16:creationId xmlns:a16="http://schemas.microsoft.com/office/drawing/2014/main" id="{ECCD9078-4AC0-7DBD-2131-4AFC36C5F50F}"/>
              </a:ext>
            </a:extLst>
          </p:cNvPr>
          <p:cNvSpPr>
            <a:spLocks noChangeArrowheads="1"/>
          </p:cNvSpPr>
          <p:nvPr/>
        </p:nvSpPr>
        <p:spPr bwMode="auto">
          <a:xfrm>
            <a:off x="307975" y="723981"/>
            <a:ext cx="3960316"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Q&amp;A </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및 </a:t>
            </a: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Control</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sp>
        <p:nvSpPr>
          <p:cNvPr id="9" name="모서리가 둥근 직사각형 1">
            <a:extLst>
              <a:ext uri="{FF2B5EF4-FFF2-40B4-BE49-F238E27FC236}">
                <a16:creationId xmlns:a16="http://schemas.microsoft.com/office/drawing/2014/main" id="{B4009295-BB73-59B8-AA0C-85FE86CC23D5}"/>
              </a:ext>
            </a:extLst>
          </p:cNvPr>
          <p:cNvSpPr/>
          <p:nvPr/>
        </p:nvSpPr>
        <p:spPr bwMode="auto">
          <a:xfrm>
            <a:off x="2487883"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Semantic Router Orchestrator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9" name="모서리가 둥근 직사각형 1">
            <a:extLst>
              <a:ext uri="{FF2B5EF4-FFF2-40B4-BE49-F238E27FC236}">
                <a16:creationId xmlns:a16="http://schemas.microsoft.com/office/drawing/2014/main" id="{C5982E94-C23C-D689-6CB8-74BE2C07F0F2}"/>
              </a:ext>
            </a:extLst>
          </p:cNvPr>
          <p:cNvSpPr/>
          <p:nvPr/>
        </p:nvSpPr>
        <p:spPr bwMode="auto">
          <a:xfrm>
            <a:off x="4811774" y="1854000"/>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LLM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 </a:t>
            </a:r>
            <a:r>
              <a:rPr kumimoji="0" lang="ko-KR" altLang="en-US" sz="1000" b="0" i="0" u="none" strike="noStrike" kern="0" cap="none" spc="0" normalizeH="0" baseline="0" noProof="0" dirty="0" err="1">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온디바이스</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포팅</a:t>
            </a:r>
          </a:p>
        </p:txBody>
      </p:sp>
      <p:sp>
        <p:nvSpPr>
          <p:cNvPr id="21" name="모서리가 둥근 직사각형 1">
            <a:extLst>
              <a:ext uri="{FF2B5EF4-FFF2-40B4-BE49-F238E27FC236}">
                <a16:creationId xmlns:a16="http://schemas.microsoft.com/office/drawing/2014/main" id="{1F527311-A9C0-3D82-F875-E4734DC125C2}"/>
              </a:ext>
            </a:extLst>
          </p:cNvPr>
          <p:cNvSpPr/>
          <p:nvPr/>
        </p:nvSpPr>
        <p:spPr bwMode="auto">
          <a:xfrm>
            <a:off x="5891763" y="1854000"/>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디바이스 환경에서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기본 동작 확인</a:t>
            </a:r>
          </a:p>
        </p:txBody>
      </p:sp>
      <p:sp>
        <p:nvSpPr>
          <p:cNvPr id="8203" name="모서리가 둥근 직사각형 1">
            <a:extLst>
              <a:ext uri="{FF2B5EF4-FFF2-40B4-BE49-F238E27FC236}">
                <a16:creationId xmlns:a16="http://schemas.microsoft.com/office/drawing/2014/main" id="{D174568E-EC9A-177E-6720-805FA9B26E27}"/>
              </a:ext>
            </a:extLst>
          </p:cNvPr>
          <p:cNvSpPr/>
          <p:nvPr/>
        </p:nvSpPr>
        <p:spPr bwMode="auto">
          <a:xfrm>
            <a:off x="2501582"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이벤트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수신</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Prompt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구성 로직 개발</a:t>
            </a:r>
          </a:p>
        </p:txBody>
      </p:sp>
      <p:sp>
        <p:nvSpPr>
          <p:cNvPr id="8204" name="모서리가 둥근 직사각형 1">
            <a:extLst>
              <a:ext uri="{FF2B5EF4-FFF2-40B4-BE49-F238E27FC236}">
                <a16:creationId xmlns:a16="http://schemas.microsoft.com/office/drawing/2014/main" id="{84729824-CCEF-42F4-B3D6-814D7D1F6596}"/>
              </a:ext>
            </a:extLst>
          </p:cNvPr>
          <p:cNvSpPr/>
          <p:nvPr/>
        </p:nvSpPr>
        <p:spPr bwMode="auto">
          <a:xfrm>
            <a:off x="2487883" y="2479278"/>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차량 메뉴얼</a:t>
            </a:r>
            <a:r>
              <a:rPr lang="en-US" altLang="ko-KR" sz="1000" u="none" dirty="0">
                <a:solidFill>
                  <a:schemeClr val="tx1"/>
                </a:solidFill>
                <a:latin typeface="맑은 고딕" panose="020B0503020000020004" pitchFamily="50" charset="-127"/>
                <a:ea typeface="맑은 고딕" panose="020B0503020000020004" pitchFamily="50" charset="-127"/>
              </a:rPr>
              <a:t>/DTC </a:t>
            </a:r>
            <a:r>
              <a:rPr lang="ko-KR" altLang="en-US" sz="1000" u="none" dirty="0">
                <a:solidFill>
                  <a:schemeClr val="tx1"/>
                </a:solidFill>
                <a:latin typeface="맑은 고딕" panose="020B0503020000020004" pitchFamily="50" charset="-127"/>
                <a:ea typeface="맑은 고딕" panose="020B0503020000020004" pitchFamily="50" charset="-127"/>
              </a:rPr>
              <a:t>코드</a:t>
            </a:r>
            <a:r>
              <a:rPr lang="en-US" altLang="ko-KR" sz="1000" u="none" dirty="0">
                <a:solidFill>
                  <a:schemeClr val="tx1"/>
                </a:solidFill>
                <a:latin typeface="맑은 고딕" panose="020B0503020000020004" pitchFamily="50" charset="-127"/>
                <a:ea typeface="맑은 고딕" panose="020B0503020000020004" pitchFamily="50" charset="-127"/>
              </a:rPr>
              <a:t>/</a:t>
            </a:r>
            <a:r>
              <a:rPr lang="ko-KR" altLang="en-US" sz="1000" u="none" dirty="0">
                <a:solidFill>
                  <a:schemeClr val="tx1"/>
                </a:solidFill>
                <a:latin typeface="맑은 고딕" panose="020B0503020000020004" pitchFamily="50" charset="-127"/>
                <a:ea typeface="맑은 고딕" panose="020B0503020000020004" pitchFamily="50" charset="-127"/>
              </a:rPr>
              <a:t>자동차 정비 매뉴얼</a:t>
            </a:r>
            <a:r>
              <a:rPr lang="en-US" altLang="ko-KR" sz="1000" u="none" dirty="0">
                <a:solidFill>
                  <a:schemeClr val="tx1"/>
                </a:solidFill>
                <a:latin typeface="맑은 고딕" panose="020B0503020000020004" pitchFamily="50" charset="-127"/>
                <a:ea typeface="맑은 고딕" panose="020B0503020000020004" pitchFamily="50" charset="-127"/>
              </a:rPr>
              <a:t>/IVI </a:t>
            </a:r>
            <a:r>
              <a:rPr lang="ko-KR" altLang="en-US" sz="1000" u="none" dirty="0">
                <a:solidFill>
                  <a:schemeClr val="tx1"/>
                </a:solidFill>
                <a:latin typeface="맑은 고딕" panose="020B0503020000020004" pitchFamily="50" charset="-127"/>
                <a:ea typeface="맑은 고딕" panose="020B0503020000020004" pitchFamily="50" charset="-127"/>
              </a:rPr>
              <a:t>매뉴얼</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기반 질의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응답 형태 학습 데이터 구축</a:t>
            </a:r>
          </a:p>
        </p:txBody>
      </p:sp>
      <p:sp>
        <p:nvSpPr>
          <p:cNvPr id="8213" name="모서리가 둥근 직사각형 1">
            <a:extLst>
              <a:ext uri="{FF2B5EF4-FFF2-40B4-BE49-F238E27FC236}">
                <a16:creationId xmlns:a16="http://schemas.microsoft.com/office/drawing/2014/main" id="{90E14CB3-29F4-515C-B28B-8935A277D9CF}"/>
              </a:ext>
            </a:extLst>
          </p:cNvPr>
          <p:cNvSpPr/>
          <p:nvPr/>
        </p:nvSpPr>
        <p:spPr bwMode="auto">
          <a:xfrm>
            <a:off x="4802063" y="2492896"/>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err="1">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온디바이스</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SLM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모델과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Vector DB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기반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파이프라인 연동 구현</a:t>
            </a:r>
          </a:p>
        </p:txBody>
      </p:sp>
      <p:sp>
        <p:nvSpPr>
          <p:cNvPr id="8220" name="모서리가 둥근 직사각형 1">
            <a:extLst>
              <a:ext uri="{FF2B5EF4-FFF2-40B4-BE49-F238E27FC236}">
                <a16:creationId xmlns:a16="http://schemas.microsoft.com/office/drawing/2014/main" id="{E4CE4A99-4EF3-6FDE-0FB7-CCB41BE30495}"/>
              </a:ext>
            </a:extLst>
          </p:cNvPr>
          <p:cNvSpPr/>
          <p:nvPr/>
        </p:nvSpPr>
        <p:spPr bwMode="auto">
          <a:xfrm>
            <a:off x="2487883"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차량 제어 서비스 개발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28" name="모서리가 둥근 직사각형 1">
            <a:extLst>
              <a:ext uri="{FF2B5EF4-FFF2-40B4-BE49-F238E27FC236}">
                <a16:creationId xmlns:a16="http://schemas.microsoft.com/office/drawing/2014/main" id="{506C6AF7-16A9-A95C-831E-477727508AF4}"/>
              </a:ext>
            </a:extLst>
          </p:cNvPr>
          <p:cNvSpPr/>
          <p:nvPr/>
        </p:nvSpPr>
        <p:spPr bwMode="auto">
          <a:xfrm>
            <a:off x="4802063"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각 이벤트와 캐릭터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애니메이션 설계</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29" name="모서리가 둥근 직사각형 1">
            <a:extLst>
              <a:ext uri="{FF2B5EF4-FFF2-40B4-BE49-F238E27FC236}">
                <a16:creationId xmlns:a16="http://schemas.microsoft.com/office/drawing/2014/main" id="{9A6585BD-623F-AE03-3FEE-D25752561FB3}"/>
              </a:ext>
            </a:extLst>
          </p:cNvPr>
          <p:cNvSpPr/>
          <p:nvPr/>
        </p:nvSpPr>
        <p:spPr bwMode="auto">
          <a:xfrm>
            <a:off x="4802063"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이벤트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SLM Prompt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처리</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실행 명령</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Intent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매핑 등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전체 흐름 테스트</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0" name="모서리가 둥근 직사각형 1">
            <a:extLst>
              <a:ext uri="{FF2B5EF4-FFF2-40B4-BE49-F238E27FC236}">
                <a16:creationId xmlns:a16="http://schemas.microsoft.com/office/drawing/2014/main" id="{014CC5DC-55B9-ECF4-EBAC-F0FB4537FE65}"/>
              </a:ext>
            </a:extLst>
          </p:cNvPr>
          <p:cNvSpPr/>
          <p:nvPr/>
        </p:nvSpPr>
        <p:spPr bwMode="auto">
          <a:xfrm>
            <a:off x="4811774" y="5244637"/>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Query Routing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연동 기능 구현</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1" name="모서리가 둥근 직사각형 1">
            <a:extLst>
              <a:ext uri="{FF2B5EF4-FFF2-40B4-BE49-F238E27FC236}">
                <a16:creationId xmlns:a16="http://schemas.microsoft.com/office/drawing/2014/main" id="{9840E961-106D-91A7-DF5C-B000FB9D68A5}"/>
              </a:ext>
            </a:extLst>
          </p:cNvPr>
          <p:cNvSpPr/>
          <p:nvPr/>
        </p:nvSpPr>
        <p:spPr bwMode="auto">
          <a:xfrm>
            <a:off x="4802063"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Query Routing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도메인 포함 사용자 개인화 </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데이터 증분 구현</a:t>
            </a:r>
          </a:p>
        </p:txBody>
      </p:sp>
      <p:sp>
        <p:nvSpPr>
          <p:cNvPr id="8232" name="모서리가 둥근 직사각형 1">
            <a:extLst>
              <a:ext uri="{FF2B5EF4-FFF2-40B4-BE49-F238E27FC236}">
                <a16:creationId xmlns:a16="http://schemas.microsoft.com/office/drawing/2014/main" id="{794EBBC6-6BAD-4175-3447-090AECB47C1D}"/>
              </a:ext>
            </a:extLst>
          </p:cNvPr>
          <p:cNvSpPr/>
          <p:nvPr/>
        </p:nvSpPr>
        <p:spPr bwMode="auto">
          <a:xfrm>
            <a:off x="4811161"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리소스 사용량 및 추론 속도 기반</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SLM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모델</a:t>
            </a:r>
            <a:r>
              <a:rPr kumimoji="0" lang="en-US" altLang="ko-KR"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/RAG </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최적화</a:t>
            </a:r>
          </a:p>
        </p:txBody>
      </p:sp>
      <p:sp>
        <p:nvSpPr>
          <p:cNvPr id="8233" name="모서리가 둥근 직사각형 1">
            <a:extLst>
              <a:ext uri="{FF2B5EF4-FFF2-40B4-BE49-F238E27FC236}">
                <a16:creationId xmlns:a16="http://schemas.microsoft.com/office/drawing/2014/main" id="{16DE4054-E849-734C-FD22-0EB4D03CCCE2}"/>
              </a:ext>
            </a:extLst>
          </p:cNvPr>
          <p:cNvSpPr/>
          <p:nvPr/>
        </p:nvSpPr>
        <p:spPr bwMode="auto">
          <a:xfrm>
            <a:off x="7133593" y="1851324"/>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성능 기준 만족 여부 확인</a:t>
            </a:r>
          </a:p>
        </p:txBody>
      </p:sp>
      <p:sp>
        <p:nvSpPr>
          <p:cNvPr id="8234" name="모서리가 둥근 직사각형 1">
            <a:extLst>
              <a:ext uri="{FF2B5EF4-FFF2-40B4-BE49-F238E27FC236}">
                <a16:creationId xmlns:a16="http://schemas.microsoft.com/office/drawing/2014/main" id="{61E77630-E05A-DF31-D294-3F24146A76FD}"/>
              </a:ext>
            </a:extLst>
          </p:cNvPr>
          <p:cNvSpPr/>
          <p:nvPr/>
        </p:nvSpPr>
        <p:spPr bwMode="auto">
          <a:xfrm>
            <a:off x="8213582" y="1851324"/>
            <a:ext cx="951675"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최종 결과물 수합</a:t>
            </a: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 및 산출물 검토</a:t>
            </a:r>
          </a:p>
        </p:txBody>
      </p:sp>
      <p:sp>
        <p:nvSpPr>
          <p:cNvPr id="8235" name="모서리가 둥근 직사각형 1">
            <a:extLst>
              <a:ext uri="{FF2B5EF4-FFF2-40B4-BE49-F238E27FC236}">
                <a16:creationId xmlns:a16="http://schemas.microsoft.com/office/drawing/2014/main" id="{784CCDF8-8156-0C0F-12D8-041FDAF3F77C}"/>
              </a:ext>
            </a:extLst>
          </p:cNvPr>
          <p:cNvSpPr/>
          <p:nvPr/>
        </p:nvSpPr>
        <p:spPr bwMode="auto">
          <a:xfrm>
            <a:off x="7113240" y="2492896"/>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전체 기능 체크 리스트 기반 최종 통합 테스트 수행</a:t>
            </a:r>
          </a:p>
        </p:txBody>
      </p:sp>
      <p:sp>
        <p:nvSpPr>
          <p:cNvPr id="8236" name="모서리가 둥근 직사각형 1">
            <a:extLst>
              <a:ext uri="{FF2B5EF4-FFF2-40B4-BE49-F238E27FC236}">
                <a16:creationId xmlns:a16="http://schemas.microsoft.com/office/drawing/2014/main" id="{5BBDC25F-CAED-5DF3-6DC1-13A1B42F8729}"/>
              </a:ext>
            </a:extLst>
          </p:cNvPr>
          <p:cNvSpPr/>
          <p:nvPr/>
        </p:nvSpPr>
        <p:spPr bwMode="auto">
          <a:xfrm>
            <a:off x="7085831" y="312735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7" name="모서리가 둥근 직사각형 1">
            <a:extLst>
              <a:ext uri="{FF2B5EF4-FFF2-40B4-BE49-F238E27FC236}">
                <a16:creationId xmlns:a16="http://schemas.microsoft.com/office/drawing/2014/main" id="{05A421E5-AEFB-D4DC-65B4-19FAB1B2EF56}"/>
              </a:ext>
            </a:extLst>
          </p:cNvPr>
          <p:cNvSpPr/>
          <p:nvPr/>
        </p:nvSpPr>
        <p:spPr bwMode="auto">
          <a:xfrm>
            <a:off x="7085831" y="4437112"/>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38" name="모서리가 둥근 직사각형 1">
            <a:extLst>
              <a:ext uri="{FF2B5EF4-FFF2-40B4-BE49-F238E27FC236}">
                <a16:creationId xmlns:a16="http://schemas.microsoft.com/office/drawing/2014/main" id="{FA36E6A5-2AE9-2F7A-8D0E-33263D6BD0CF}"/>
              </a:ext>
            </a:extLst>
          </p:cNvPr>
          <p:cNvSpPr/>
          <p:nvPr/>
        </p:nvSpPr>
        <p:spPr bwMode="auto">
          <a:xfrm>
            <a:off x="7095542" y="5244637"/>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8239" name="모서리가 둥근 직사각형 1">
            <a:extLst>
              <a:ext uri="{FF2B5EF4-FFF2-40B4-BE49-F238E27FC236}">
                <a16:creationId xmlns:a16="http://schemas.microsoft.com/office/drawing/2014/main" id="{7950B7F2-3756-2BC5-C9F4-9D41A4952E49}"/>
              </a:ext>
            </a:extLst>
          </p:cNvPr>
          <p:cNvSpPr/>
          <p:nvPr/>
        </p:nvSpPr>
        <p:spPr bwMode="auto">
          <a:xfrm>
            <a:off x="7085831" y="5906869"/>
            <a:ext cx="2091378"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8240" name="모서리가 둥근 직사각형 1">
            <a:extLst>
              <a:ext uri="{FF2B5EF4-FFF2-40B4-BE49-F238E27FC236}">
                <a16:creationId xmlns:a16="http://schemas.microsoft.com/office/drawing/2014/main" id="{6EBA85FD-8EB4-D13E-B1D5-99692F59C861}"/>
              </a:ext>
            </a:extLst>
          </p:cNvPr>
          <p:cNvSpPr/>
          <p:nvPr/>
        </p:nvSpPr>
        <p:spPr bwMode="auto">
          <a:xfrm>
            <a:off x="7094929" y="3789040"/>
            <a:ext cx="2091378" cy="517674"/>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cxnSp>
        <p:nvCxnSpPr>
          <p:cNvPr id="8244" name="연결선: 꺾임 8243">
            <a:extLst>
              <a:ext uri="{FF2B5EF4-FFF2-40B4-BE49-F238E27FC236}">
                <a16:creationId xmlns:a16="http://schemas.microsoft.com/office/drawing/2014/main" id="{3F43ED1E-D4AE-0CF2-A04B-A8D25160155F}"/>
              </a:ext>
            </a:extLst>
          </p:cNvPr>
          <p:cNvCxnSpPr>
            <a:cxnSpLocks/>
            <a:stCxn id="19" idx="2"/>
            <a:endCxn id="8213" idx="0"/>
          </p:cNvCxnSpPr>
          <p:nvPr/>
        </p:nvCxnSpPr>
        <p:spPr>
          <a:xfrm rot="16200000" flipH="1">
            <a:off x="5507071" y="2152215"/>
            <a:ext cx="121222" cy="560140"/>
          </a:xfrm>
          <a:prstGeom prst="bentConnector3">
            <a:avLst>
              <a:gd name="adj1" fmla="val 20419"/>
            </a:avLst>
          </a:prstGeom>
          <a:ln>
            <a:solidFill>
              <a:schemeClr val="accent5">
                <a:lumMod val="10000"/>
              </a:schemeClr>
            </a:solidFill>
            <a:tailEnd type="triangle" w="med" len="s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46838117"/>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DB78-9A7A-10F3-9B88-3BEA33519857}"/>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4D99BFD5-B274-87A3-6E07-8CE48A547414}"/>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00" name="AutoShape 761">
            <a:extLst>
              <a:ext uri="{FF2B5EF4-FFF2-40B4-BE49-F238E27FC236}">
                <a16:creationId xmlns:a16="http://schemas.microsoft.com/office/drawing/2014/main" id="{EFBB124E-D21E-8CE3-3C44-0730066977B5}"/>
              </a:ext>
            </a:extLst>
          </p:cNvPr>
          <p:cNvSpPr>
            <a:spLocks noChangeArrowheads="1"/>
          </p:cNvSpPr>
          <p:nvPr/>
        </p:nvSpPr>
        <p:spPr bwMode="auto">
          <a:xfrm>
            <a:off x="307975" y="694050"/>
            <a:ext cx="3960316"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Q&amp;A </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및 </a:t>
            </a: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Vehicle Control</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graphicFrame>
        <p:nvGraphicFramePr>
          <p:cNvPr id="2" name="표 1">
            <a:extLst>
              <a:ext uri="{FF2B5EF4-FFF2-40B4-BE49-F238E27FC236}">
                <a16:creationId xmlns:a16="http://schemas.microsoft.com/office/drawing/2014/main" id="{3C66B839-F583-E8E2-9D57-9B8889391667}"/>
              </a:ext>
            </a:extLst>
          </p:cNvPr>
          <p:cNvGraphicFramePr>
            <a:graphicFrameLocks noGrp="1"/>
          </p:cNvGraphicFramePr>
          <p:nvPr>
            <p:extLst>
              <p:ext uri="{D42A27DB-BD31-4B8C-83A1-F6EECF244321}">
                <p14:modId xmlns:p14="http://schemas.microsoft.com/office/powerpoint/2010/main" val="3676106579"/>
              </p:ext>
            </p:extLst>
          </p:nvPr>
        </p:nvGraphicFramePr>
        <p:xfrm>
          <a:off x="272480" y="126876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latin typeface="맑은 고딕" panose="020B0503020000020004" pitchFamily="50" charset="-127"/>
                          <a:ea typeface="맑은 고딕" panose="020B0503020000020004" pitchFamily="50" charset="-127"/>
                        </a:rPr>
                        <a:t>설계 및 모델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 name="모서리가 둥근 직사각형 1">
            <a:extLst>
              <a:ext uri="{FF2B5EF4-FFF2-40B4-BE49-F238E27FC236}">
                <a16:creationId xmlns:a16="http://schemas.microsoft.com/office/drawing/2014/main" id="{EF6787B2-0982-9BEE-A7AE-58E22BCBEFB3}"/>
              </a:ext>
            </a:extLst>
          </p:cNvPr>
          <p:cNvSpPr/>
          <p:nvPr/>
        </p:nvSpPr>
        <p:spPr bwMode="auto">
          <a:xfrm>
            <a:off x="1712640"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defRPr/>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Whisper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기반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STT Service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p>
        </p:txBody>
      </p:sp>
      <p:sp>
        <p:nvSpPr>
          <p:cNvPr id="6" name="모서리가 둥근 직사각형 1">
            <a:extLst>
              <a:ext uri="{FF2B5EF4-FFF2-40B4-BE49-F238E27FC236}">
                <a16:creationId xmlns:a16="http://schemas.microsoft.com/office/drawing/2014/main" id="{1D88B6A2-572D-A66B-6EC9-2D15B3F62E0D}"/>
              </a:ext>
            </a:extLst>
          </p:cNvPr>
          <p:cNvSpPr/>
          <p:nvPr/>
        </p:nvSpPr>
        <p:spPr bwMode="auto">
          <a:xfrm>
            <a:off x="7041232"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RAG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데이터 및 서비스</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구조 설계</a:t>
            </a:r>
          </a:p>
        </p:txBody>
      </p:sp>
      <p:sp>
        <p:nvSpPr>
          <p:cNvPr id="8" name="모서리가 둥근 직사각형 1">
            <a:extLst>
              <a:ext uri="{FF2B5EF4-FFF2-40B4-BE49-F238E27FC236}">
                <a16:creationId xmlns:a16="http://schemas.microsoft.com/office/drawing/2014/main" id="{B2F9B0DC-8980-A10F-922F-A139A94A682A}"/>
              </a:ext>
            </a:extLst>
          </p:cNvPr>
          <p:cNvSpPr/>
          <p:nvPr/>
        </p:nvSpPr>
        <p:spPr bwMode="auto">
          <a:xfrm>
            <a:off x="1712640"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On-Device Semantic Router Orchestrator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개발</a:t>
            </a:r>
          </a:p>
        </p:txBody>
      </p:sp>
      <p:sp>
        <p:nvSpPr>
          <p:cNvPr id="12" name="모서리가 둥근 직사각형 1">
            <a:extLst>
              <a:ext uri="{FF2B5EF4-FFF2-40B4-BE49-F238E27FC236}">
                <a16:creationId xmlns:a16="http://schemas.microsoft.com/office/drawing/2014/main" id="{E793D1E6-ECF6-E35F-558E-A6B73B7A080C}"/>
              </a:ext>
            </a:extLst>
          </p:cNvPr>
          <p:cNvSpPr/>
          <p:nvPr/>
        </p:nvSpPr>
        <p:spPr bwMode="auto">
          <a:xfrm>
            <a:off x="4376936" y="1709160"/>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차량 메뉴얼</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/DTC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자동차 정비 매뉴얼</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/IVI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매뉴얼 기반 질의</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응답 형태 학습 데이터 구축</a:t>
            </a:r>
          </a:p>
        </p:txBody>
      </p:sp>
      <p:sp>
        <p:nvSpPr>
          <p:cNvPr id="14" name="모서리가 둥근 직사각형 1">
            <a:extLst>
              <a:ext uri="{FF2B5EF4-FFF2-40B4-BE49-F238E27FC236}">
                <a16:creationId xmlns:a16="http://schemas.microsoft.com/office/drawing/2014/main" id="{30A5D2F4-D7DA-0686-89C2-BDD6D42E36D7}"/>
              </a:ext>
            </a:extLst>
          </p:cNvPr>
          <p:cNvSpPr/>
          <p:nvPr/>
        </p:nvSpPr>
        <p:spPr bwMode="auto">
          <a:xfrm>
            <a:off x="4376936"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차량 제어 서비스 개발</a:t>
            </a:r>
          </a:p>
        </p:txBody>
      </p:sp>
      <p:sp>
        <p:nvSpPr>
          <p:cNvPr id="16" name="모서리가 둥근 직사각형 1">
            <a:extLst>
              <a:ext uri="{FF2B5EF4-FFF2-40B4-BE49-F238E27FC236}">
                <a16:creationId xmlns:a16="http://schemas.microsoft.com/office/drawing/2014/main" id="{90186548-AB8A-6E2C-CBA2-395F17E07251}"/>
              </a:ext>
            </a:extLst>
          </p:cNvPr>
          <p:cNvSpPr/>
          <p:nvPr/>
        </p:nvSpPr>
        <p:spPr bwMode="auto">
          <a:xfrm>
            <a:off x="7041232" y="227377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UX</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제공</a:t>
            </a:r>
          </a:p>
        </p:txBody>
      </p:sp>
      <p:graphicFrame>
        <p:nvGraphicFramePr>
          <p:cNvPr id="20" name="표 19">
            <a:extLst>
              <a:ext uri="{FF2B5EF4-FFF2-40B4-BE49-F238E27FC236}">
                <a16:creationId xmlns:a16="http://schemas.microsoft.com/office/drawing/2014/main" id="{487F81DC-3185-116A-89D7-252FDB5D5218}"/>
              </a:ext>
            </a:extLst>
          </p:cNvPr>
          <p:cNvGraphicFramePr>
            <a:graphicFrameLocks noGrp="1"/>
          </p:cNvGraphicFramePr>
          <p:nvPr>
            <p:extLst>
              <p:ext uri="{D42A27DB-BD31-4B8C-83A1-F6EECF244321}">
                <p14:modId xmlns:p14="http://schemas.microsoft.com/office/powerpoint/2010/main" val="1348999546"/>
              </p:ext>
            </p:extLst>
          </p:nvPr>
        </p:nvGraphicFramePr>
        <p:xfrm>
          <a:off x="272480" y="3083159"/>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err="1">
                          <a:latin typeface="맑은 고딕" panose="020B0503020000020004" pitchFamily="50" charset="-127"/>
                          <a:ea typeface="맑은 고딕" panose="020B0503020000020004" pitchFamily="50" charset="-127"/>
                        </a:rPr>
                        <a:t>온디바이스</a:t>
                      </a:r>
                      <a:r>
                        <a:rPr lang="ko-KR" altLang="en-US" sz="1400" dirty="0">
                          <a:latin typeface="맑은 고딕" panose="020B0503020000020004" pitchFamily="50" charset="-127"/>
                          <a:ea typeface="맑은 고딕" panose="020B0503020000020004" pitchFamily="50" charset="-127"/>
                        </a:rPr>
                        <a:t> 모델 포팅 및 기능 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22" name="화살표: 아래쪽 21">
            <a:extLst>
              <a:ext uri="{FF2B5EF4-FFF2-40B4-BE49-F238E27FC236}">
                <a16:creationId xmlns:a16="http://schemas.microsoft.com/office/drawing/2014/main" id="{8493FC00-9D37-9A45-CC57-B7AF89D88957}"/>
              </a:ext>
            </a:extLst>
          </p:cNvPr>
          <p:cNvSpPr/>
          <p:nvPr/>
        </p:nvSpPr>
        <p:spPr>
          <a:xfrm>
            <a:off x="5241032" y="2783265"/>
            <a:ext cx="397617" cy="327184"/>
          </a:xfrm>
          <a:prstGeom prst="downArrow">
            <a:avLst/>
          </a:prstGeom>
          <a:solidFill>
            <a:schemeClr val="accent1">
              <a:lumMod val="2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26" name="모서리가 둥근 직사각형 1">
            <a:extLst>
              <a:ext uri="{FF2B5EF4-FFF2-40B4-BE49-F238E27FC236}">
                <a16:creationId xmlns:a16="http://schemas.microsoft.com/office/drawing/2014/main" id="{F062E21B-AD51-F63F-F398-FD654C011F78}"/>
              </a:ext>
            </a:extLst>
          </p:cNvPr>
          <p:cNvSpPr/>
          <p:nvPr/>
        </p:nvSpPr>
        <p:spPr bwMode="auto">
          <a:xfrm>
            <a:off x="4376936" y="3480488"/>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활용한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Multi-turn </a:t>
            </a:r>
          </a:p>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기능 구현</a:t>
            </a:r>
          </a:p>
        </p:txBody>
      </p:sp>
      <p:sp>
        <p:nvSpPr>
          <p:cNvPr id="28" name="모서리가 둥근 직사각형 1">
            <a:extLst>
              <a:ext uri="{FF2B5EF4-FFF2-40B4-BE49-F238E27FC236}">
                <a16:creationId xmlns:a16="http://schemas.microsoft.com/office/drawing/2014/main" id="{8DF34EA7-E8C9-13FE-1DB5-5920F40FFCB8}"/>
              </a:ext>
            </a:extLst>
          </p:cNvPr>
          <p:cNvSpPr/>
          <p:nvPr/>
        </p:nvSpPr>
        <p:spPr bwMode="auto">
          <a:xfrm>
            <a:off x="4376936" y="4078530"/>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리소스 사용량에 다른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Lottie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애니메이션 최적화</a:t>
            </a:r>
          </a:p>
        </p:txBody>
      </p:sp>
      <p:sp>
        <p:nvSpPr>
          <p:cNvPr id="30" name="모서리가 둥근 직사각형 1">
            <a:extLst>
              <a:ext uri="{FF2B5EF4-FFF2-40B4-BE49-F238E27FC236}">
                <a16:creationId xmlns:a16="http://schemas.microsoft.com/office/drawing/2014/main" id="{DBF9DB5C-E67A-012F-4DD9-43D41D08A93F}"/>
              </a:ext>
            </a:extLst>
          </p:cNvPr>
          <p:cNvSpPr/>
          <p:nvPr/>
        </p:nvSpPr>
        <p:spPr bwMode="auto">
          <a:xfrm>
            <a:off x="7041232" y="4078530"/>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UI/UX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구현</a:t>
            </a:r>
          </a:p>
        </p:txBody>
      </p:sp>
      <p:sp>
        <p:nvSpPr>
          <p:cNvPr id="32" name="모서리가 둥근 직사각형 1">
            <a:extLst>
              <a:ext uri="{FF2B5EF4-FFF2-40B4-BE49-F238E27FC236}">
                <a16:creationId xmlns:a16="http://schemas.microsoft.com/office/drawing/2014/main" id="{073BF380-96F0-C4F5-FD45-21C2661EA2D1}"/>
              </a:ext>
            </a:extLst>
          </p:cNvPr>
          <p:cNvSpPr/>
          <p:nvPr/>
        </p:nvSpPr>
        <p:spPr bwMode="auto">
          <a:xfrm>
            <a:off x="1712640" y="3473038"/>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디바이스 환경에서 기본 동작 확인</a:t>
            </a:r>
          </a:p>
        </p:txBody>
      </p:sp>
      <p:sp>
        <p:nvSpPr>
          <p:cNvPr id="35" name="모서리가 둥근 직사각형 1">
            <a:extLst>
              <a:ext uri="{FF2B5EF4-FFF2-40B4-BE49-F238E27FC236}">
                <a16:creationId xmlns:a16="http://schemas.microsoft.com/office/drawing/2014/main" id="{D5DA2894-EE92-0BC1-0950-F64957EC147B}"/>
              </a:ext>
            </a:extLst>
          </p:cNvPr>
          <p:cNvSpPr/>
          <p:nvPr/>
        </p:nvSpPr>
        <p:spPr bwMode="auto">
          <a:xfrm>
            <a:off x="7041232" y="3489726"/>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연동 기능 구현</a:t>
            </a:r>
          </a:p>
        </p:txBody>
      </p:sp>
      <p:sp>
        <p:nvSpPr>
          <p:cNvPr id="37" name="모서리가 둥근 직사각형 1">
            <a:extLst>
              <a:ext uri="{FF2B5EF4-FFF2-40B4-BE49-F238E27FC236}">
                <a16:creationId xmlns:a16="http://schemas.microsoft.com/office/drawing/2014/main" id="{0AB48F3B-BB16-42D8-D89A-5B5ED3641128}"/>
              </a:ext>
            </a:extLst>
          </p:cNvPr>
          <p:cNvSpPr/>
          <p:nvPr/>
        </p:nvSpPr>
        <p:spPr bwMode="auto">
          <a:xfrm>
            <a:off x="1712640" y="4070186"/>
            <a:ext cx="2451722" cy="517674"/>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간의 데이터 공유를 위한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인터페이스 설계 및 기능 구현</a:t>
            </a:r>
          </a:p>
        </p:txBody>
      </p:sp>
      <p:graphicFrame>
        <p:nvGraphicFramePr>
          <p:cNvPr id="41" name="표 40">
            <a:extLst>
              <a:ext uri="{FF2B5EF4-FFF2-40B4-BE49-F238E27FC236}">
                <a16:creationId xmlns:a16="http://schemas.microsoft.com/office/drawing/2014/main" id="{2E672779-661B-08CD-0178-F794C2B68058}"/>
              </a:ext>
            </a:extLst>
          </p:cNvPr>
          <p:cNvGraphicFramePr>
            <a:graphicFrameLocks noGrp="1"/>
          </p:cNvGraphicFramePr>
          <p:nvPr>
            <p:extLst>
              <p:ext uri="{D42A27DB-BD31-4B8C-83A1-F6EECF244321}">
                <p14:modId xmlns:p14="http://schemas.microsoft.com/office/powerpoint/2010/main" val="1437495271"/>
              </p:ext>
            </p:extLst>
          </p:nvPr>
        </p:nvGraphicFramePr>
        <p:xfrm>
          <a:off x="272480" y="486916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3" name="모서리가 둥근 직사각형 1">
            <a:extLst>
              <a:ext uri="{FF2B5EF4-FFF2-40B4-BE49-F238E27FC236}">
                <a16:creationId xmlns:a16="http://schemas.microsoft.com/office/drawing/2014/main" id="{D64ADF00-1669-4789-F34A-009FCD3065D8}"/>
              </a:ext>
            </a:extLst>
          </p:cNvPr>
          <p:cNvSpPr/>
          <p:nvPr/>
        </p:nvSpPr>
        <p:spPr bwMode="auto">
          <a:xfrm>
            <a:off x="1712640"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rPr>
              <a:t>전체 기능 체크 리스트 기반 최종 통합 테스트 수행</a:t>
            </a:r>
          </a:p>
        </p:txBody>
      </p:sp>
      <p:sp>
        <p:nvSpPr>
          <p:cNvPr id="45" name="모서리가 둥근 직사각형 1">
            <a:extLst>
              <a:ext uri="{FF2B5EF4-FFF2-40B4-BE49-F238E27FC236}">
                <a16:creationId xmlns:a16="http://schemas.microsoft.com/office/drawing/2014/main" id="{302B25DE-0416-1EB9-00AE-67944152EA49}"/>
              </a:ext>
            </a:extLst>
          </p:cNvPr>
          <p:cNvSpPr/>
          <p:nvPr/>
        </p:nvSpPr>
        <p:spPr bwMode="auto">
          <a:xfrm>
            <a:off x="1712640" y="587046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47" name="모서리가 둥근 직사각형 1">
            <a:extLst>
              <a:ext uri="{FF2B5EF4-FFF2-40B4-BE49-F238E27FC236}">
                <a16:creationId xmlns:a16="http://schemas.microsoft.com/office/drawing/2014/main" id="{18B2CFE7-5A9D-70AD-FCDA-66636B154CD7}"/>
              </a:ext>
            </a:extLst>
          </p:cNvPr>
          <p:cNvSpPr/>
          <p:nvPr/>
        </p:nvSpPr>
        <p:spPr bwMode="auto">
          <a:xfrm>
            <a:off x="4377088"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49" name="모서리가 둥근 직사각형 1">
            <a:extLst>
              <a:ext uri="{FF2B5EF4-FFF2-40B4-BE49-F238E27FC236}">
                <a16:creationId xmlns:a16="http://schemas.microsoft.com/office/drawing/2014/main" id="{81B3F173-A64F-B9B7-AA26-C903BF78FE1A}"/>
              </a:ext>
            </a:extLst>
          </p:cNvPr>
          <p:cNvSpPr/>
          <p:nvPr/>
        </p:nvSpPr>
        <p:spPr bwMode="auto">
          <a:xfrm>
            <a:off x="7041232" y="587046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51" name="모서리가 둥근 직사각형 1">
            <a:extLst>
              <a:ext uri="{FF2B5EF4-FFF2-40B4-BE49-F238E27FC236}">
                <a16:creationId xmlns:a16="http://schemas.microsoft.com/office/drawing/2014/main" id="{52283CD8-49B6-81B5-F90F-8F6123B86BD0}"/>
              </a:ext>
            </a:extLst>
          </p:cNvPr>
          <p:cNvSpPr/>
          <p:nvPr/>
        </p:nvSpPr>
        <p:spPr bwMode="auto">
          <a:xfrm>
            <a:off x="4376936" y="5880545"/>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53" name="모서리가 둥근 직사각형 1">
            <a:extLst>
              <a:ext uri="{FF2B5EF4-FFF2-40B4-BE49-F238E27FC236}">
                <a16:creationId xmlns:a16="http://schemas.microsoft.com/office/drawing/2014/main" id="{1D7A0C98-A9F6-7441-6780-615BED137BB0}"/>
              </a:ext>
            </a:extLst>
          </p:cNvPr>
          <p:cNvSpPr/>
          <p:nvPr/>
        </p:nvSpPr>
        <p:spPr bwMode="auto">
          <a:xfrm>
            <a:off x="7041536" y="528759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000"/>
              </a:spcBef>
              <a:spcAft>
                <a:spcPts val="0"/>
              </a:spcAft>
              <a:buClrTx/>
              <a:buSzTx/>
              <a:buFontTx/>
              <a:buNone/>
              <a:tabLst/>
              <a:defRPr/>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b="0" i="0" u="none" strike="noStrike" kern="0" cap="none" spc="0" normalizeH="0" baseline="0" noProof="0" dirty="0">
              <a:ln>
                <a:solidFill>
                  <a:srgbClr val="FFFFFF">
                    <a:lumMod val="75000"/>
                    <a:alpha val="0"/>
                  </a:srgbClr>
                </a:solid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5" name="화살표: 아래쪽 14">
            <a:extLst>
              <a:ext uri="{FF2B5EF4-FFF2-40B4-BE49-F238E27FC236}">
                <a16:creationId xmlns:a16="http://schemas.microsoft.com/office/drawing/2014/main" id="{7159D141-56A1-FD04-8670-484F6A6FAE35}"/>
              </a:ext>
            </a:extLst>
          </p:cNvPr>
          <p:cNvSpPr/>
          <p:nvPr/>
        </p:nvSpPr>
        <p:spPr>
          <a:xfrm>
            <a:off x="5241032" y="4611647"/>
            <a:ext cx="397617" cy="327184"/>
          </a:xfrm>
          <a:prstGeom prst="downArrow">
            <a:avLst/>
          </a:prstGeom>
          <a:solidFill>
            <a:schemeClr val="accent6">
              <a:lumMod val="7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261033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E708C-E334-05F1-09A3-669D148FD389}"/>
            </a:ext>
          </a:extLst>
        </p:cNvPr>
        <p:cNvGrpSpPr/>
        <p:nvPr/>
      </p:nvGrpSpPr>
      <p:grpSpPr>
        <a:xfrm>
          <a:off x="0" y="0"/>
          <a:ext cx="0" cy="0"/>
          <a:chOff x="0" y="0"/>
          <a:chExt cx="0" cy="0"/>
        </a:xfrm>
      </p:grpSpPr>
      <p:sp>
        <p:nvSpPr>
          <p:cNvPr id="8195" name="Rectangle 6">
            <a:extLst>
              <a:ext uri="{FF2B5EF4-FFF2-40B4-BE49-F238E27FC236}">
                <a16:creationId xmlns:a16="http://schemas.microsoft.com/office/drawing/2014/main" id="{AAF4FF97-51D3-6681-ADE7-11848835A1DE}"/>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marR="0" lvl="0" indent="-508000" algn="l" defTabSz="914400" rtl="0" eaLnBrk="1" fontAlgn="base" latinLnBrk="1" hangingPunct="1">
              <a:lnSpc>
                <a:spcPct val="100000"/>
              </a:lnSpc>
              <a:spcBef>
                <a:spcPct val="0"/>
              </a:spcBef>
              <a:spcAft>
                <a:spcPct val="0"/>
              </a:spcAft>
              <a:buClrTx/>
              <a:buSzTx/>
              <a:buFontTx/>
              <a:buNone/>
              <a:tabLst/>
              <a:defRPr/>
            </a:pPr>
            <a:r>
              <a:rPr kumimoji="1" lang="en-US" altLang="ko-KR" sz="2400" u="none" dirty="0">
                <a:solidFill>
                  <a:srgbClr val="000000"/>
                </a:solidFill>
                <a:latin typeface="맑은 고딕" panose="020B0503020000020004" pitchFamily="50" charset="-127"/>
                <a:ea typeface="맑은 고딕" panose="020B0503020000020004" pitchFamily="50" charset="-127"/>
              </a:rPr>
              <a:t>2. </a:t>
            </a:r>
            <a:r>
              <a:rPr kumimoji="1" lang="ko-KR" altLang="en-US" sz="2400" u="none" dirty="0">
                <a:solidFill>
                  <a:srgbClr val="000000"/>
                </a:solidFill>
                <a:latin typeface="맑은 고딕" panose="020B0503020000020004" pitchFamily="50" charset="-127"/>
                <a:ea typeface="맑은 고딕" panose="020B0503020000020004" pitchFamily="50" charset="-127"/>
              </a:rPr>
              <a:t>업무별 수행 </a:t>
            </a:r>
            <a:r>
              <a:rPr lang="ko-KR" altLang="en-US" sz="2400" u="none" dirty="0">
                <a:solidFill>
                  <a:srgbClr val="000000"/>
                </a:solidFill>
                <a:latin typeface="맑은 고딕" panose="020B0503020000020004" pitchFamily="50" charset="-127"/>
                <a:ea typeface="맑은 고딕" panose="020B0503020000020004" pitchFamily="50" charset="-127"/>
              </a:rPr>
              <a:t>내용</a:t>
            </a:r>
            <a:r>
              <a:rPr kumimoji="1" lang="ko-KR" altLang="en-US" sz="2400" u="none" dirty="0">
                <a:solidFill>
                  <a:srgbClr val="000000"/>
                </a:solidFill>
                <a:latin typeface="맑은 고딕" panose="020B0503020000020004" pitchFamily="50" charset="-127"/>
                <a:ea typeface="맑은 고딕" panose="020B0503020000020004" pitchFamily="50" charset="-127"/>
              </a:rPr>
              <a:t> </a:t>
            </a:r>
            <a:r>
              <a:rPr kumimoji="1" lang="en-US" altLang="ko-KR" sz="2400" u="none" dirty="0">
                <a:solidFill>
                  <a:srgbClr val="000000"/>
                </a:solidFill>
                <a:latin typeface="맑은 고딕" panose="020B0503020000020004" pitchFamily="50" charset="-127"/>
                <a:ea typeface="맑은 고딕" panose="020B0503020000020004" pitchFamily="50" charset="-127"/>
              </a:rPr>
              <a:t>(</a:t>
            </a:r>
            <a:r>
              <a:rPr kumimoji="1" lang="ko-KR" altLang="en-US" sz="2400" u="none" dirty="0">
                <a:solidFill>
                  <a:srgbClr val="000000"/>
                </a:solidFill>
                <a:latin typeface="맑은 고딕" panose="020B0503020000020004" pitchFamily="50" charset="-127"/>
                <a:ea typeface="맑은 고딕" panose="020B0503020000020004" pitchFamily="50" charset="-127"/>
              </a:rPr>
              <a:t>검수</a:t>
            </a:r>
            <a:r>
              <a:rPr kumimoji="1" lang="en-US" altLang="ko-KR" sz="2400" u="none" dirty="0">
                <a:solidFill>
                  <a:srgbClr val="000000"/>
                </a:solidFill>
                <a:latin typeface="맑은 고딕" panose="020B0503020000020004" pitchFamily="50" charset="-127"/>
                <a:ea typeface="맑은 고딕" panose="020B0503020000020004" pitchFamily="50" charset="-127"/>
              </a:rPr>
              <a:t> </a:t>
            </a:r>
            <a:r>
              <a:rPr kumimoji="1" lang="ko-KR" altLang="en-US" sz="2400" u="none" dirty="0">
                <a:solidFill>
                  <a:srgbClr val="000000"/>
                </a:solidFill>
                <a:latin typeface="맑은 고딕" panose="020B0503020000020004" pitchFamily="50" charset="-127"/>
                <a:ea typeface="맑은 고딕" panose="020B0503020000020004" pitchFamily="50" charset="-127"/>
              </a:rPr>
              <a:t>포함</a:t>
            </a:r>
            <a:r>
              <a:rPr kumimoji="1" lang="en-US" altLang="ko-KR" sz="2400" u="none" dirty="0">
                <a:solidFill>
                  <a:srgbClr val="000000"/>
                </a:solidFill>
                <a:latin typeface="맑은 고딕" panose="020B0503020000020004" pitchFamily="50" charset="-127"/>
                <a:ea typeface="맑은 고딕" panose="020B0503020000020004" pitchFamily="50" charset="-127"/>
              </a:rPr>
              <a:t>)</a:t>
            </a:r>
            <a:endParaRPr kumimoji="1" lang="ko-KR" altLang="en-US" sz="1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8200" name="AutoShape 761">
            <a:extLst>
              <a:ext uri="{FF2B5EF4-FFF2-40B4-BE49-F238E27FC236}">
                <a16:creationId xmlns:a16="http://schemas.microsoft.com/office/drawing/2014/main" id="{83531854-E916-2BB0-A6AB-881F1724A97A}"/>
              </a:ext>
            </a:extLst>
          </p:cNvPr>
          <p:cNvSpPr>
            <a:spLocks noChangeArrowheads="1"/>
          </p:cNvSpPr>
          <p:nvPr/>
        </p:nvSpPr>
        <p:spPr bwMode="auto">
          <a:xfrm>
            <a:off x="307975" y="693861"/>
            <a:ext cx="1872208" cy="344487"/>
          </a:xfrm>
          <a:prstGeom prst="roundRect">
            <a:avLst>
              <a:gd name="adj" fmla="val 23787"/>
            </a:avLst>
          </a:prstGeom>
          <a:solidFill>
            <a:srgbClr val="003366"/>
          </a:solidFill>
          <a:ln w="19050" algn="ctr">
            <a:solidFill>
              <a:schemeClr val="bg1"/>
            </a:solidFill>
            <a:round/>
            <a:headEnd/>
            <a:tailEnd/>
          </a:ln>
          <a:effectLst>
            <a:outerShdw dist="28334" dir="3802190" algn="ctr" rotWithShape="0">
              <a:schemeClr val="bg2">
                <a:alpha val="50000"/>
              </a:schemeClr>
            </a:outerShdw>
          </a:effectLst>
        </p:spPr>
        <p:txBody>
          <a:bodyPr wrap="none" lIns="72000" tIns="0" rIns="0" bIns="0" anchor="ctr"/>
          <a:lstStyle/>
          <a:p>
            <a:pPr marL="0" marR="0" lvl="0" indent="0" algn="ctr" defTabSz="914400" rtl="0" eaLnBrk="1" fontAlgn="base" latinLnBrk="1" hangingPunct="1">
              <a:lnSpc>
                <a:spcPct val="9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LIVE AI DJ</a:t>
            </a:r>
            <a:r>
              <a:rPr kumimoji="1" lang="ko-KR" altLang="en-US" sz="1600" b="0" i="0" u="none" strike="noStrike" kern="1200" cap="none" spc="0" normalizeH="0" baseline="0" noProof="0" dirty="0">
                <a:ln>
                  <a:noFill/>
                </a:ln>
                <a:solidFill>
                  <a:srgbClr val="FFFFFF"/>
                </a:solidFill>
                <a:uLnTx/>
                <a:uFillTx/>
                <a:latin typeface="맑은 고딕" panose="020B0503020000020004" pitchFamily="50" charset="-127"/>
                <a:ea typeface="맑은 고딕" panose="020B0503020000020004" pitchFamily="50" charset="-127"/>
              </a:rPr>
              <a:t>개발</a:t>
            </a:r>
          </a:p>
        </p:txBody>
      </p:sp>
      <p:graphicFrame>
        <p:nvGraphicFramePr>
          <p:cNvPr id="2" name="표 1">
            <a:extLst>
              <a:ext uri="{FF2B5EF4-FFF2-40B4-BE49-F238E27FC236}">
                <a16:creationId xmlns:a16="http://schemas.microsoft.com/office/drawing/2014/main" id="{34648F46-6F8D-13CA-45A4-ECF9A83AB2B3}"/>
              </a:ext>
            </a:extLst>
          </p:cNvPr>
          <p:cNvGraphicFramePr>
            <a:graphicFrameLocks noGrp="1"/>
          </p:cNvGraphicFramePr>
          <p:nvPr>
            <p:extLst>
              <p:ext uri="{D42A27DB-BD31-4B8C-83A1-F6EECF244321}">
                <p14:modId xmlns:p14="http://schemas.microsoft.com/office/powerpoint/2010/main" val="4221490172"/>
              </p:ext>
            </p:extLst>
          </p:nvPr>
        </p:nvGraphicFramePr>
        <p:xfrm>
          <a:off x="272480" y="1196660"/>
          <a:ext cx="9361040" cy="1296144"/>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latin typeface="맑은 고딕" panose="020B0503020000020004" pitchFamily="50" charset="-127"/>
                          <a:ea typeface="맑은 고딕" panose="020B0503020000020004" pitchFamily="50" charset="-127"/>
                        </a:rPr>
                        <a:t>설계 및 개발</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956451">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14" name="모서리가 둥근 직사각형 1">
            <a:extLst>
              <a:ext uri="{FF2B5EF4-FFF2-40B4-BE49-F238E27FC236}">
                <a16:creationId xmlns:a16="http://schemas.microsoft.com/office/drawing/2014/main" id="{7FC2A64B-9986-4132-3C25-1988E7836F47}"/>
              </a:ext>
            </a:extLst>
          </p:cNvPr>
          <p:cNvSpPr/>
          <p:nvPr/>
        </p:nvSpPr>
        <p:spPr bwMode="auto">
          <a:xfrm>
            <a:off x="1712912"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AIDL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기반 개인화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DB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설계 및 개발</a:t>
            </a:r>
          </a:p>
        </p:txBody>
      </p:sp>
      <p:sp>
        <p:nvSpPr>
          <p:cNvPr id="16" name="모서리가 둥근 직사각형 1">
            <a:extLst>
              <a:ext uri="{FF2B5EF4-FFF2-40B4-BE49-F238E27FC236}">
                <a16:creationId xmlns:a16="http://schemas.microsoft.com/office/drawing/2014/main" id="{DBAD94F8-2A12-FE72-63E4-FC22A09CB365}"/>
              </a:ext>
            </a:extLst>
          </p:cNvPr>
          <p:cNvSpPr/>
          <p:nvPr/>
        </p:nvSpPr>
        <p:spPr bwMode="auto">
          <a:xfrm>
            <a:off x="7041504"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UX</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제공</a:t>
            </a:r>
          </a:p>
        </p:txBody>
      </p:sp>
      <p:graphicFrame>
        <p:nvGraphicFramePr>
          <p:cNvPr id="20" name="표 19">
            <a:extLst>
              <a:ext uri="{FF2B5EF4-FFF2-40B4-BE49-F238E27FC236}">
                <a16:creationId xmlns:a16="http://schemas.microsoft.com/office/drawing/2014/main" id="{7F1D5E0A-2312-E2D3-948F-65ECB31E6A94}"/>
              </a:ext>
            </a:extLst>
          </p:cNvPr>
          <p:cNvGraphicFramePr>
            <a:graphicFrameLocks noGrp="1"/>
          </p:cNvGraphicFramePr>
          <p:nvPr>
            <p:extLst>
              <p:ext uri="{D42A27DB-BD31-4B8C-83A1-F6EECF244321}">
                <p14:modId xmlns:p14="http://schemas.microsoft.com/office/powerpoint/2010/main" val="3301164646"/>
              </p:ext>
            </p:extLst>
          </p:nvPr>
        </p:nvGraphicFramePr>
        <p:xfrm>
          <a:off x="272480" y="270892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latin typeface="맑은 고딕" panose="020B0503020000020004" pitchFamily="50" charset="-127"/>
                          <a:ea typeface="맑은 고딕" panose="020B0503020000020004" pitchFamily="50" charset="-127"/>
                        </a:rPr>
                        <a:t>AIDL</a:t>
                      </a:r>
                      <a:r>
                        <a:rPr lang="ko-KR" altLang="en-US" sz="1400" dirty="0">
                          <a:latin typeface="맑은 고딕" panose="020B0503020000020004" pitchFamily="50" charset="-127"/>
                          <a:ea typeface="맑은 고딕" panose="020B0503020000020004" pitchFamily="50" charset="-127"/>
                        </a:rPr>
                        <a:t> 서비스 연결 및 기능 구현</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26" name="모서리가 둥근 직사각형 1">
            <a:extLst>
              <a:ext uri="{FF2B5EF4-FFF2-40B4-BE49-F238E27FC236}">
                <a16:creationId xmlns:a16="http://schemas.microsoft.com/office/drawing/2014/main" id="{931F2211-A387-0964-DB19-B747ECCB6942}"/>
              </a:ext>
            </a:extLst>
          </p:cNvPr>
          <p:cNvSpPr/>
          <p:nvPr/>
        </p:nvSpPr>
        <p:spPr bwMode="auto">
          <a:xfrm>
            <a:off x="4377208" y="3106249"/>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가사 조회 기능 구현</a:t>
            </a:r>
          </a:p>
        </p:txBody>
      </p:sp>
      <p:sp>
        <p:nvSpPr>
          <p:cNvPr id="28" name="모서리가 둥근 직사각형 1">
            <a:extLst>
              <a:ext uri="{FF2B5EF4-FFF2-40B4-BE49-F238E27FC236}">
                <a16:creationId xmlns:a16="http://schemas.microsoft.com/office/drawing/2014/main" id="{50863013-D36F-B378-0F1F-6E0D93FC57CF}"/>
              </a:ext>
            </a:extLst>
          </p:cNvPr>
          <p:cNvSpPr/>
          <p:nvPr/>
        </p:nvSpPr>
        <p:spPr bwMode="auto">
          <a:xfrm>
            <a:off x="4377208" y="3704291"/>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앱 성능을 위한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p>
        </p:txBody>
      </p:sp>
      <p:sp>
        <p:nvSpPr>
          <p:cNvPr id="30" name="모서리가 둥근 직사각형 1">
            <a:extLst>
              <a:ext uri="{FF2B5EF4-FFF2-40B4-BE49-F238E27FC236}">
                <a16:creationId xmlns:a16="http://schemas.microsoft.com/office/drawing/2014/main" id="{1A3AC310-FFE8-B641-4391-294438676905}"/>
              </a:ext>
            </a:extLst>
          </p:cNvPr>
          <p:cNvSpPr/>
          <p:nvPr/>
        </p:nvSpPr>
        <p:spPr bwMode="auto">
          <a:xfrm>
            <a:off x="7041504" y="3704291"/>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UI/UX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구현</a:t>
            </a:r>
          </a:p>
        </p:txBody>
      </p:sp>
      <p:sp>
        <p:nvSpPr>
          <p:cNvPr id="32" name="모서리가 둥근 직사각형 1">
            <a:extLst>
              <a:ext uri="{FF2B5EF4-FFF2-40B4-BE49-F238E27FC236}">
                <a16:creationId xmlns:a16="http://schemas.microsoft.com/office/drawing/2014/main" id="{324A1E3B-46C9-88FB-B96D-23AEB1E35E63}"/>
              </a:ext>
            </a:extLst>
          </p:cNvPr>
          <p:cNvSpPr/>
          <p:nvPr/>
        </p:nvSpPr>
        <p:spPr bwMode="auto">
          <a:xfrm>
            <a:off x="1712912" y="3098799"/>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개인화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DB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서비스 연결 및 조회</a:t>
            </a:r>
          </a:p>
        </p:txBody>
      </p:sp>
      <p:sp>
        <p:nvSpPr>
          <p:cNvPr id="35" name="모서리가 둥근 직사각형 1">
            <a:extLst>
              <a:ext uri="{FF2B5EF4-FFF2-40B4-BE49-F238E27FC236}">
                <a16:creationId xmlns:a16="http://schemas.microsoft.com/office/drawing/2014/main" id="{D5795625-D3D9-480F-AF88-27C59F53EF0E}"/>
              </a:ext>
            </a:extLst>
          </p:cNvPr>
          <p:cNvSpPr/>
          <p:nvPr/>
        </p:nvSpPr>
        <p:spPr bwMode="auto">
          <a:xfrm>
            <a:off x="7041504" y="3115487"/>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클라우드 </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LLM API</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활용한 </a:t>
            </a:r>
            <a:r>
              <a:rPr kumimoji="0" lang="en-US" altLang="ko-KR"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MusicRouter</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기능 구현</a:t>
            </a:r>
          </a:p>
        </p:txBody>
      </p:sp>
      <p:sp>
        <p:nvSpPr>
          <p:cNvPr id="37" name="모서리가 둥근 직사각형 1">
            <a:extLst>
              <a:ext uri="{FF2B5EF4-FFF2-40B4-BE49-F238E27FC236}">
                <a16:creationId xmlns:a16="http://schemas.microsoft.com/office/drawing/2014/main" id="{6A903010-8945-6000-BD7F-D96E89280316}"/>
              </a:ext>
            </a:extLst>
          </p:cNvPr>
          <p:cNvSpPr/>
          <p:nvPr/>
        </p:nvSpPr>
        <p:spPr bwMode="auto">
          <a:xfrm>
            <a:off x="1712912" y="3695947"/>
            <a:ext cx="2448000" cy="540000"/>
          </a:xfrm>
          <a:prstGeom prst="roundRect">
            <a:avLst>
              <a:gd name="adj" fmla="val 10000"/>
            </a:avLst>
          </a:prstGeom>
          <a:solidFill>
            <a:srgbClr val="E2E2F6"/>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간의 데이터 공유를 위한</a:t>
            </a:r>
            <a:endPar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endParaRPr>
          </a:p>
          <a:p>
            <a:pPr algn="ctr" fontAlgn="auto" latinLnBrk="0">
              <a:spcBef>
                <a:spcPts val="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인터페이스 설계 및 기능 구현</a:t>
            </a:r>
          </a:p>
        </p:txBody>
      </p:sp>
      <p:graphicFrame>
        <p:nvGraphicFramePr>
          <p:cNvPr id="41" name="표 40">
            <a:extLst>
              <a:ext uri="{FF2B5EF4-FFF2-40B4-BE49-F238E27FC236}">
                <a16:creationId xmlns:a16="http://schemas.microsoft.com/office/drawing/2014/main" id="{66E4CA0D-1EE7-9518-6BA5-79E59F235084}"/>
              </a:ext>
            </a:extLst>
          </p:cNvPr>
          <p:cNvGraphicFramePr>
            <a:graphicFrameLocks noGrp="1"/>
          </p:cNvGraphicFramePr>
          <p:nvPr>
            <p:extLst>
              <p:ext uri="{D42A27DB-BD31-4B8C-83A1-F6EECF244321}">
                <p14:modId xmlns:p14="http://schemas.microsoft.com/office/powerpoint/2010/main" val="1012189834"/>
              </p:ext>
            </p:extLst>
          </p:nvPr>
        </p:nvGraphicFramePr>
        <p:xfrm>
          <a:off x="272480" y="4509120"/>
          <a:ext cx="9361040" cy="1584176"/>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3387209753"/>
                    </a:ext>
                  </a:extLst>
                </a:gridCol>
                <a:gridCol w="8064896">
                  <a:extLst>
                    <a:ext uri="{9D8B030D-6E8A-4147-A177-3AD203B41FA5}">
                      <a16:colId xmlns:a16="http://schemas.microsoft.com/office/drawing/2014/main" val="3299766309"/>
                    </a:ext>
                  </a:extLst>
                </a:gridCol>
              </a:tblGrid>
              <a:tr h="339693">
                <a:tc>
                  <a:txBody>
                    <a:bodyPr/>
                    <a:lstStyle/>
                    <a:p>
                      <a:pPr algn="ctr" latinLnBrk="1"/>
                      <a:r>
                        <a:rPr lang="ko-KR" altLang="en-US" sz="1400" dirty="0">
                          <a:latin typeface="맑은 고딕" panose="020B0503020000020004" pitchFamily="50" charset="-127"/>
                          <a:ea typeface="맑은 고딕" panose="020B0503020000020004" pitchFamily="50" charset="-127"/>
                        </a:rPr>
                        <a:t>주체</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400" dirty="0">
                          <a:latin typeface="맑은 고딕" panose="020B0503020000020004" pitchFamily="50" charset="-127"/>
                          <a:ea typeface="맑은 고딕" panose="020B0503020000020004" pitchFamily="50" charset="-127"/>
                        </a:rPr>
                        <a:t>통합 검수 및 릴리즈</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8893879"/>
                  </a:ext>
                </a:extLst>
              </a:tr>
              <a:tr h="1244483">
                <a:tc>
                  <a:txBody>
                    <a:bodyPr/>
                    <a:lstStyle/>
                    <a:p>
                      <a:pPr algn="ctr" latinLnBrk="1"/>
                      <a:r>
                        <a:rPr lang="ko-KR" altLang="en-US" sz="1200" b="1" dirty="0">
                          <a:latin typeface="맑은 고딕" panose="020B0503020000020004" pitchFamily="50" charset="-127"/>
                          <a:ea typeface="맑은 고딕" panose="020B0503020000020004" pitchFamily="50" charset="-127"/>
                        </a:rPr>
                        <a:t>현대모비스</a:t>
                      </a:r>
                      <a:endParaRPr lang="en-US" altLang="ko-KR" sz="1200" b="1" dirty="0">
                        <a:latin typeface="맑은 고딕" panose="020B0503020000020004" pitchFamily="50" charset="-127"/>
                        <a:ea typeface="맑은 고딕" panose="020B0503020000020004" pitchFamily="50" charset="-127"/>
                      </a:endParaRPr>
                    </a:p>
                    <a:p>
                      <a:pPr algn="ctr" latinLnBrk="1"/>
                      <a:r>
                        <a:rPr lang="ko-KR" altLang="en-US" sz="1200" b="1" dirty="0" err="1">
                          <a:latin typeface="맑은 고딕" panose="020B0503020000020004" pitchFamily="50" charset="-127"/>
                          <a:ea typeface="맑은 고딕" panose="020B0503020000020004" pitchFamily="50" charset="-127"/>
                        </a:rPr>
                        <a:t>투비원솔루션즈</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18023664"/>
                  </a:ext>
                </a:extLst>
              </a:tr>
            </a:tbl>
          </a:graphicData>
        </a:graphic>
      </p:graphicFrame>
      <p:sp>
        <p:nvSpPr>
          <p:cNvPr id="43" name="모서리가 둥근 직사각형 1">
            <a:extLst>
              <a:ext uri="{FF2B5EF4-FFF2-40B4-BE49-F238E27FC236}">
                <a16:creationId xmlns:a16="http://schemas.microsoft.com/office/drawing/2014/main" id="{57BF777F-CC90-4EA3-0A3B-A8640887DD06}"/>
              </a:ext>
            </a:extLst>
          </p:cNvPr>
          <p:cNvSpPr/>
          <p:nvPr/>
        </p:nvSpPr>
        <p:spPr bwMode="auto">
          <a:xfrm>
            <a:off x="1712912"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전체 기능 체크 리스트 기반 최종 통합 테스트 수행</a:t>
            </a:r>
          </a:p>
        </p:txBody>
      </p:sp>
      <p:sp>
        <p:nvSpPr>
          <p:cNvPr id="45" name="모서리가 둥근 직사각형 1">
            <a:extLst>
              <a:ext uri="{FF2B5EF4-FFF2-40B4-BE49-F238E27FC236}">
                <a16:creationId xmlns:a16="http://schemas.microsoft.com/office/drawing/2014/main" id="{DD565B40-3C45-13F0-525E-2C3B9358268D}"/>
              </a:ext>
            </a:extLst>
          </p:cNvPr>
          <p:cNvSpPr/>
          <p:nvPr/>
        </p:nvSpPr>
        <p:spPr bwMode="auto">
          <a:xfrm>
            <a:off x="1712912" y="551042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실제 차량 기능</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타앱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연동에 대한 </a:t>
            </a: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엔드투엔드</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검수 및 디버깅</a:t>
            </a:r>
          </a:p>
        </p:txBody>
      </p:sp>
      <p:sp>
        <p:nvSpPr>
          <p:cNvPr id="47" name="모서리가 둥근 직사각형 1">
            <a:extLst>
              <a:ext uri="{FF2B5EF4-FFF2-40B4-BE49-F238E27FC236}">
                <a16:creationId xmlns:a16="http://schemas.microsoft.com/office/drawing/2014/main" id="{1E8DC7A9-36A9-183C-988C-773A8FBF531B}"/>
              </a:ext>
            </a:extLst>
          </p:cNvPr>
          <p:cNvSpPr/>
          <p:nvPr/>
        </p:nvSpPr>
        <p:spPr bwMode="auto">
          <a:xfrm>
            <a:off x="4377208"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릴리즈 노트</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소스 코드</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학습 데이터 등 전체 문서 패키지 작성 및 제출</a:t>
            </a:r>
          </a:p>
        </p:txBody>
      </p:sp>
      <p:sp>
        <p:nvSpPr>
          <p:cNvPr id="49" name="모서리가 둥근 직사각형 1">
            <a:extLst>
              <a:ext uri="{FF2B5EF4-FFF2-40B4-BE49-F238E27FC236}">
                <a16:creationId xmlns:a16="http://schemas.microsoft.com/office/drawing/2014/main" id="{505EF636-2DA2-0C60-3F95-599A842F49A9}"/>
              </a:ext>
            </a:extLst>
          </p:cNvPr>
          <p:cNvSpPr/>
          <p:nvPr/>
        </p:nvSpPr>
        <p:spPr bwMode="auto">
          <a:xfrm>
            <a:off x="7041504" y="5510423"/>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산출물 전체 패키징 및 납품 완료</a:t>
            </a:r>
          </a:p>
        </p:txBody>
      </p:sp>
      <p:sp>
        <p:nvSpPr>
          <p:cNvPr id="51" name="모서리가 둥근 직사각형 1">
            <a:extLst>
              <a:ext uri="{FF2B5EF4-FFF2-40B4-BE49-F238E27FC236}">
                <a16:creationId xmlns:a16="http://schemas.microsoft.com/office/drawing/2014/main" id="{D5E60DA6-AF7E-52B8-F641-2989296F9CCC}"/>
              </a:ext>
            </a:extLst>
          </p:cNvPr>
          <p:cNvSpPr/>
          <p:nvPr/>
        </p:nvSpPr>
        <p:spPr bwMode="auto">
          <a:xfrm>
            <a:off x="4377208" y="5520505"/>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모비스 검수 피드백 반영 후 최종본 확정 및 이관</a:t>
            </a:r>
          </a:p>
        </p:txBody>
      </p:sp>
      <p:sp>
        <p:nvSpPr>
          <p:cNvPr id="53" name="모서리가 둥근 직사각형 1">
            <a:extLst>
              <a:ext uri="{FF2B5EF4-FFF2-40B4-BE49-F238E27FC236}">
                <a16:creationId xmlns:a16="http://schemas.microsoft.com/office/drawing/2014/main" id="{792303A1-283C-C4B4-3D4E-F9CFBFEFB2D7}"/>
              </a:ext>
            </a:extLst>
          </p:cNvPr>
          <p:cNvSpPr/>
          <p:nvPr/>
        </p:nvSpPr>
        <p:spPr bwMode="auto">
          <a:xfrm>
            <a:off x="7041504" y="4927550"/>
            <a:ext cx="2448000" cy="540000"/>
          </a:xfrm>
          <a:prstGeom prst="roundRect">
            <a:avLst>
              <a:gd name="adj" fmla="val 10000"/>
            </a:avLst>
          </a:prstGeom>
          <a:solidFill>
            <a:schemeClr val="bg1">
              <a:lumMod val="95000"/>
            </a:schemeClr>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err="1">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온디바이스</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실행 환경에서 성능 튜닝</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모델 최적화</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 </a:t>
            </a: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로딩 시간 개선 등</a:t>
            </a:r>
            <a:r>
              <a:rPr kumimoji="0" lang="en-US" altLang="ko-KR"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a:t>
            </a:r>
            <a:endPar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endParaRPr>
          </a:p>
        </p:txBody>
      </p:sp>
      <p:sp>
        <p:nvSpPr>
          <p:cNvPr id="5" name="모서리가 둥근 직사각형 1">
            <a:extLst>
              <a:ext uri="{FF2B5EF4-FFF2-40B4-BE49-F238E27FC236}">
                <a16:creationId xmlns:a16="http://schemas.microsoft.com/office/drawing/2014/main" id="{C0880B94-DEFF-2DF8-10F7-F22AE15B0719}"/>
              </a:ext>
            </a:extLst>
          </p:cNvPr>
          <p:cNvSpPr/>
          <p:nvPr/>
        </p:nvSpPr>
        <p:spPr bwMode="auto">
          <a:xfrm>
            <a:off x="4377208" y="1723815"/>
            <a:ext cx="2448000" cy="540000"/>
          </a:xfrm>
          <a:prstGeom prst="roundRect">
            <a:avLst>
              <a:gd name="adj" fmla="val 10000"/>
            </a:avLst>
          </a:prstGeom>
          <a:solidFill>
            <a:schemeClr val="accent5"/>
          </a:solidFill>
          <a:ln w="3175">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latinLnBrk="0">
              <a:spcBef>
                <a:spcPts val="1000"/>
              </a:spcBef>
              <a:spcAft>
                <a:spcPts val="0"/>
              </a:spcAft>
            </a:pPr>
            <a:r>
              <a:rPr kumimoji="0" lang="ko-KR" altLang="en-US" sz="1000" u="none" kern="0" dirty="0">
                <a:ln>
                  <a:solidFill>
                    <a:srgbClr val="FFFFFF">
                      <a:lumMod val="75000"/>
                      <a:alpha val="0"/>
                    </a:srgbClr>
                  </a:solidFill>
                </a:ln>
                <a:solidFill>
                  <a:srgbClr val="000000"/>
                </a:solidFill>
                <a:latin typeface="맑은 고딕" panose="020B0503020000020004" pitchFamily="50" charset="-127"/>
                <a:ea typeface="맑은 고딕" panose="020B0503020000020004" pitchFamily="50" charset="-127"/>
              </a:rPr>
              <a:t>가사 조회 서비스 설계 및 개발</a:t>
            </a:r>
          </a:p>
        </p:txBody>
      </p:sp>
      <p:sp>
        <p:nvSpPr>
          <p:cNvPr id="10" name="화살표: 아래쪽 9">
            <a:extLst>
              <a:ext uri="{FF2B5EF4-FFF2-40B4-BE49-F238E27FC236}">
                <a16:creationId xmlns:a16="http://schemas.microsoft.com/office/drawing/2014/main" id="{65122D7F-9C85-1902-E6E4-A1D5324764BB}"/>
              </a:ext>
            </a:extLst>
          </p:cNvPr>
          <p:cNvSpPr/>
          <p:nvPr/>
        </p:nvSpPr>
        <p:spPr>
          <a:xfrm>
            <a:off x="5241032" y="2423225"/>
            <a:ext cx="397617" cy="327184"/>
          </a:xfrm>
          <a:prstGeom prst="downArrow">
            <a:avLst/>
          </a:prstGeom>
          <a:solidFill>
            <a:schemeClr val="accent1">
              <a:lumMod val="2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12" name="화살표: 아래쪽 11">
            <a:extLst>
              <a:ext uri="{FF2B5EF4-FFF2-40B4-BE49-F238E27FC236}">
                <a16:creationId xmlns:a16="http://schemas.microsoft.com/office/drawing/2014/main" id="{E309E093-2007-F9B4-4DE9-0CDC2F86EDEB}"/>
              </a:ext>
            </a:extLst>
          </p:cNvPr>
          <p:cNvSpPr/>
          <p:nvPr/>
        </p:nvSpPr>
        <p:spPr>
          <a:xfrm>
            <a:off x="5241032" y="4223425"/>
            <a:ext cx="397617" cy="327184"/>
          </a:xfrm>
          <a:prstGeom prst="downArrow">
            <a:avLst/>
          </a:prstGeom>
          <a:solidFill>
            <a:schemeClr val="accent6">
              <a:lumMod val="75000"/>
            </a:schemeClr>
          </a:solid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4271947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8F615331-AF97-66F4-6E33-5FBC8B6A4ED4}"/>
              </a:ext>
            </a:extLst>
          </p:cNvPr>
          <p:cNvGraphicFramePr>
            <a:graphicFrameLocks noGrp="1"/>
          </p:cNvGraphicFramePr>
          <p:nvPr>
            <p:extLst>
              <p:ext uri="{D42A27DB-BD31-4B8C-83A1-F6EECF244321}">
                <p14:modId xmlns:p14="http://schemas.microsoft.com/office/powerpoint/2010/main" val="935527752"/>
              </p:ext>
            </p:extLst>
          </p:nvPr>
        </p:nvGraphicFramePr>
        <p:xfrm>
          <a:off x="307975" y="808232"/>
          <a:ext cx="9360594" cy="3160824"/>
        </p:xfrm>
        <a:graphic>
          <a:graphicData uri="http://schemas.openxmlformats.org/drawingml/2006/table">
            <a:tbl>
              <a:tblPr firstRow="1" bandRow="1">
                <a:tableStyleId>{5940675A-B579-460E-94D1-54222C63F5DA}</a:tableStyleId>
              </a:tblPr>
              <a:tblGrid>
                <a:gridCol w="1128250">
                  <a:extLst>
                    <a:ext uri="{9D8B030D-6E8A-4147-A177-3AD203B41FA5}">
                      <a16:colId xmlns:a16="http://schemas.microsoft.com/office/drawing/2014/main" val="20000"/>
                    </a:ext>
                  </a:extLst>
                </a:gridCol>
                <a:gridCol w="2129962">
                  <a:extLst>
                    <a:ext uri="{9D8B030D-6E8A-4147-A177-3AD203B41FA5}">
                      <a16:colId xmlns:a16="http://schemas.microsoft.com/office/drawing/2014/main" val="20001"/>
                    </a:ext>
                  </a:extLst>
                </a:gridCol>
                <a:gridCol w="3654556">
                  <a:extLst>
                    <a:ext uri="{9D8B030D-6E8A-4147-A177-3AD203B41FA5}">
                      <a16:colId xmlns:a16="http://schemas.microsoft.com/office/drawing/2014/main" val="20002"/>
                    </a:ext>
                  </a:extLst>
                </a:gridCol>
                <a:gridCol w="1367706">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tblGrid>
              <a:tr h="395103">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분 류</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항 목</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제출 </a:t>
                      </a:r>
                      <a:r>
                        <a:rPr lang="ko-KR" altLang="en-US" sz="1600" i="0" kern="1200" dirty="0">
                          <a:solidFill>
                            <a:schemeClr val="tx1"/>
                          </a:solidFill>
                          <a:latin typeface="맑은 고딕" panose="020B0503020000020004" pitchFamily="50" charset="-127"/>
                          <a:ea typeface="맑은 고딕" panose="020B0503020000020004" pitchFamily="50" charset="-127"/>
                          <a:cs typeface="+mn-cs"/>
                        </a:rPr>
                        <a:t>형</a:t>
                      </a:r>
                      <a:r>
                        <a:rPr lang="ko-KR" altLang="en-US" sz="1600" kern="1200" dirty="0">
                          <a:solidFill>
                            <a:schemeClr val="tx1"/>
                          </a:solidFill>
                          <a:latin typeface="맑은 고딕" panose="020B0503020000020004" pitchFamily="50" charset="-127"/>
                          <a:ea typeface="맑은 고딕" panose="020B0503020000020004" pitchFamily="50" charset="-127"/>
                          <a:cs typeface="+mn-cs"/>
                        </a:rPr>
                        <a:t>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제출 기한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tc>
                  <a:txBody>
                    <a:bodyPr/>
                    <a:lstStyle/>
                    <a:p>
                      <a:pPr marL="0" algn="ctr" defTabSz="914400" rtl="0" eaLnBrk="1" latinLnBrk="1" hangingPunct="1"/>
                      <a:r>
                        <a:rPr lang="ko-KR" altLang="en-US" sz="1600" kern="1200" dirty="0">
                          <a:solidFill>
                            <a:schemeClr val="tx1"/>
                          </a:solidFill>
                          <a:latin typeface="맑은 고딕" panose="020B0503020000020004" pitchFamily="50" charset="-127"/>
                          <a:ea typeface="맑은 고딕" panose="020B0503020000020004" pitchFamily="50" charset="-127"/>
                          <a:cs typeface="+mn-cs"/>
                        </a:rPr>
                        <a:t>비 고</a:t>
                      </a: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50000"/>
                      </a:schemeClr>
                    </a:solidFill>
                  </a:tcPr>
                </a:tc>
                <a:extLst>
                  <a:ext uri="{0D108BD9-81ED-4DB2-BD59-A6C34878D82A}">
                    <a16:rowId xmlns:a16="http://schemas.microsoft.com/office/drawing/2014/main" val="10000"/>
                  </a:ext>
                </a:extLst>
              </a:tr>
              <a:tr h="395103">
                <a:tc rowSpan="3">
                  <a:txBody>
                    <a:bodyPr/>
                    <a:lstStyle/>
                    <a:p>
                      <a:pPr algn="ctr" latinLnBrk="1"/>
                      <a:r>
                        <a:rPr lang="ko-KR" altLang="en-US" sz="1200" b="1" dirty="0">
                          <a:latin typeface="맑은 고딕" panose="020B0503020000020004" pitchFamily="50" charset="-127"/>
                          <a:ea typeface="맑은 고딕" panose="020B0503020000020004" pitchFamily="50" charset="-127"/>
                        </a:rPr>
                        <a:t>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중간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중간 개발 결과 및 검수 내역 포함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2026.08.31.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95103">
                <a:tc vMerge="1">
                  <a:txBody>
                    <a:bodyPr/>
                    <a:lstStyle/>
                    <a:p>
                      <a:pPr latinLnBrk="1"/>
                      <a:endParaRPr lang="ko-KR" altLang="en-US"/>
                    </a:p>
                  </a:txBody>
                  <a:tcPr/>
                </a:tc>
                <a:tc>
                  <a:txBody>
                    <a:bodyPr/>
                    <a:lstStyle/>
                    <a:p>
                      <a:pPr algn="ctr" latinLnBrk="1"/>
                      <a:r>
                        <a:rPr lang="ko-KR" altLang="en-US" sz="1200" dirty="0">
                          <a:latin typeface="맑은 고딕" panose="020B0503020000020004" pitchFamily="50" charset="-127"/>
                          <a:ea typeface="맑은 고딕" panose="020B0503020000020004" pitchFamily="50" charset="-127"/>
                        </a:rPr>
                        <a:t>완료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최종 개발 결과 및 검수 내역 포함 보고서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9495658"/>
                  </a:ext>
                </a:extLst>
              </a:tr>
              <a:tr h="395103">
                <a:tc vMerge="1">
                  <a:txBody>
                    <a:bodyPr/>
                    <a:lstStyle/>
                    <a:p>
                      <a:pPr algn="ctr" latinLnBrk="1"/>
                      <a:endParaRPr lang="ko-KR" altLang="en-US" sz="1200" b="1"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기능 구현 체크리스트</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기능 구현 체크리스트</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7563293"/>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사양서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200" dirty="0">
                          <a:latin typeface="맑은 고딕" panose="020B0503020000020004" pitchFamily="50" charset="-127"/>
                          <a:ea typeface="맑은 고딕" panose="020B0503020000020004" pitchFamily="50" charset="-127"/>
                        </a:rPr>
                        <a:t>SADS</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dirty="0">
                          <a:latin typeface="맑은 고딕" panose="020B0503020000020004" pitchFamily="50" charset="-127"/>
                          <a:ea typeface="맑은 고딕" panose="020B0503020000020004" pitchFamily="50" charset="-127"/>
                        </a:rPr>
                        <a:t>시스템 아키텍처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8183836"/>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소스코드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소스 코드 및 바이너리</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ko-KR" altLang="en-US" sz="1200" baseline="0" dirty="0">
                          <a:latin typeface="맑은 고딕" panose="020B0503020000020004" pitchFamily="50" charset="-127"/>
                          <a:ea typeface="맑은 고딕" panose="020B0503020000020004" pitchFamily="50" charset="-127"/>
                        </a:rPr>
                        <a:t>전체 기능 소스 코드 및 실행 바이너리</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2261361"/>
                  </a:ext>
                </a:extLst>
              </a:tr>
              <a:tr h="395103">
                <a:tc>
                  <a:txBody>
                    <a:bodyPr/>
                    <a:lstStyle/>
                    <a:p>
                      <a:pPr algn="ctr" latinLnBrk="1"/>
                      <a:r>
                        <a:rPr lang="en-US" altLang="ko-KR" sz="1200" b="1" dirty="0">
                          <a:latin typeface="맑은 고딕" panose="020B0503020000020004" pitchFamily="50" charset="-127"/>
                          <a:ea typeface="맑은 고딕" panose="020B0503020000020004" pitchFamily="50" charset="-127"/>
                        </a:rPr>
                        <a:t>SW</a:t>
                      </a:r>
                      <a:r>
                        <a:rPr lang="ko-KR" altLang="en-US" sz="1200" b="1" dirty="0">
                          <a:latin typeface="맑은 고딕" panose="020B0503020000020004" pitchFamily="50" charset="-127"/>
                          <a:ea typeface="맑은 고딕" panose="020B0503020000020004" pitchFamily="50" charset="-127"/>
                        </a:rPr>
                        <a:t>관련문서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소스코드 설명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ko-KR" altLang="en-US" sz="1200" dirty="0">
                          <a:latin typeface="맑은 고딕" panose="020B0503020000020004" pitchFamily="50" charset="-127"/>
                          <a:ea typeface="맑은 고딕" panose="020B0503020000020004" pitchFamily="50" charset="-127"/>
                        </a:rPr>
                        <a:t>소스코드 설명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6923257"/>
                  </a:ext>
                </a:extLst>
              </a:tr>
              <a:tr h="395103">
                <a:tc>
                  <a:txBody>
                    <a:bodyPr/>
                    <a:lstStyle/>
                    <a:p>
                      <a:pPr algn="ctr" latinLnBrk="1"/>
                      <a:r>
                        <a:rPr lang="ko-KR" altLang="en-US" sz="1200" b="1" dirty="0">
                          <a:latin typeface="맑은 고딕" panose="020B0503020000020004" pitchFamily="50" charset="-127"/>
                          <a:ea typeface="맑은 고딕" panose="020B0503020000020004" pitchFamily="50" charset="-127"/>
                        </a:rPr>
                        <a:t>설계문서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1200" dirty="0">
                          <a:latin typeface="맑은 고딕" panose="020B0503020000020004" pitchFamily="50" charset="-127"/>
                          <a:ea typeface="맑은 고딕" panose="020B0503020000020004" pitchFamily="50" charset="-127"/>
                        </a:rPr>
                        <a:t>지식관리 모듈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pPr>
                      <a:r>
                        <a:rPr lang="ko-KR" altLang="en-US" sz="1200" dirty="0">
                          <a:latin typeface="맑은 고딕" panose="020B0503020000020004" pitchFamily="50" charset="-127"/>
                          <a:ea typeface="맑은 고딕" panose="020B0503020000020004" pitchFamily="50" charset="-127"/>
                        </a:rPr>
                        <a:t>지식관리 모듈 설계 문서</a:t>
                      </a: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r>
                        <a:rPr lang="en-US" altLang="ko-KR" sz="1200" dirty="0">
                          <a:latin typeface="맑은 고딕" panose="020B0503020000020004" pitchFamily="50" charset="-127"/>
                          <a:ea typeface="맑은 고딕" panose="020B0503020000020004" pitchFamily="50" charset="-127"/>
                        </a:rPr>
                        <a:t>~ 2026.12.31</a:t>
                      </a: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latinLnBrk="1">
                        <a:buFont typeface="Wingdings" pitchFamily="2" charset="2"/>
                        <a:buNone/>
                      </a:pPr>
                      <a:endParaRPr lang="ko-KR" altLang="en-US" sz="1200" dirty="0">
                        <a:latin typeface="맑은 고딕" panose="020B0503020000020004" pitchFamily="50" charset="-127"/>
                        <a:ea typeface="맑은 고딕" panose="020B0503020000020004" pitchFamily="50" charset="-127"/>
                      </a:endParaRPr>
                    </a:p>
                  </a:txBody>
                  <a:tcPr marL="72000" marR="72000" marT="35986" marB="35986" anchor="ctr">
                    <a:lnL w="6350"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63716011"/>
                  </a:ext>
                </a:extLst>
              </a:tr>
            </a:tbl>
          </a:graphicData>
        </a:graphic>
      </p:graphicFrame>
      <p:sp>
        <p:nvSpPr>
          <p:cNvPr id="9287"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3.</a:t>
            </a:r>
            <a:r>
              <a:rPr lang="ko-KR" altLang="en-US" sz="2400" u="none" dirty="0">
                <a:solidFill>
                  <a:schemeClr val="tx1"/>
                </a:solidFill>
                <a:latin typeface="맑은 고딕" panose="020B0503020000020004" pitchFamily="50" charset="-127"/>
                <a:ea typeface="맑은 고딕" panose="020B0503020000020004" pitchFamily="50" charset="-127"/>
              </a:rPr>
              <a:t> 용역산출물</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9" name="Rectangle 4">
            <a:extLst>
              <a:ext uri="{FF2B5EF4-FFF2-40B4-BE49-F238E27FC236}">
                <a16:creationId xmlns:a16="http://schemas.microsoft.com/office/drawing/2014/main" id="{2BE55453-B88C-A8C1-1AB2-F655FBA7A663}"/>
              </a:ext>
            </a:extLst>
          </p:cNvPr>
          <p:cNvSpPr>
            <a:spLocks noChangeArrowheads="1"/>
          </p:cNvSpPr>
          <p:nvPr/>
        </p:nvSpPr>
        <p:spPr bwMode="auto">
          <a:xfrm>
            <a:off x="324725" y="4072244"/>
            <a:ext cx="4567523" cy="2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p>
            <a:pPr marL="342900" indent="-342900">
              <a:spcBef>
                <a:spcPct val="20000"/>
              </a:spcBef>
            </a:pPr>
            <a:r>
              <a:rPr lang="en-US" altLang="ko-KR" sz="1200" u="none" dirty="0">
                <a:latin typeface="맑은 고딕" panose="020B0503020000020004" pitchFamily="50" charset="-127"/>
                <a:ea typeface="맑은 고딕" panose="020B0503020000020004" pitchFamily="50" charset="-127"/>
              </a:rPr>
              <a:t>※ </a:t>
            </a:r>
            <a:r>
              <a:rPr lang="ko-KR" altLang="en-US" sz="1200" u="none" dirty="0">
                <a:latin typeface="맑은 고딕" panose="020B0503020000020004" pitchFamily="50" charset="-127"/>
                <a:ea typeface="맑은 고딕" panose="020B0503020000020004" pitchFamily="50" charset="-127"/>
              </a:rPr>
              <a:t>상기 용역산출물은 본 계약에 따라 현대모비스의 소유로 한다</a:t>
            </a:r>
            <a:r>
              <a:rPr lang="en-US" altLang="ko-KR" sz="1200" u="none" dirty="0">
                <a:latin typeface="맑은 고딕" panose="020B0503020000020004" pitchFamily="50" charset="-127"/>
                <a:ea typeface="맑은 고딕" panose="020B0503020000020004" pitchFamily="50" charset="-127"/>
              </a:rPr>
              <a:t>.</a:t>
            </a:r>
            <a:r>
              <a:rPr lang="ko-KR" altLang="en-US" sz="1200" u="none" dirty="0">
                <a:latin typeface="맑은 고딕" panose="020B0503020000020004" pitchFamily="50" charset="-127"/>
                <a:ea typeface="맑은 고딕" panose="020B0503020000020004" pitchFamily="50" charset="-127"/>
              </a:rPr>
              <a:t> </a:t>
            </a:r>
            <a:endParaRPr lang="en-US" altLang="ko-KR" sz="1200" u="none" dirty="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239027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4.</a:t>
            </a:r>
            <a:r>
              <a:rPr lang="ko-KR" altLang="en-US" sz="2400" u="none" dirty="0">
                <a:solidFill>
                  <a:schemeClr val="tx1"/>
                </a:solidFill>
                <a:latin typeface="맑은 고딕" panose="020B0503020000020004" pitchFamily="50" charset="-127"/>
                <a:ea typeface="맑은 고딕" panose="020B0503020000020004" pitchFamily="50" charset="-127"/>
              </a:rPr>
              <a:t> 수행 이력</a:t>
            </a:r>
            <a:endParaRPr lang="ko-KR" altLang="en-US" u="none" dirty="0">
              <a:solidFill>
                <a:schemeClr val="tx1"/>
              </a:solidFill>
              <a:latin typeface="맑은 고딕" panose="020B0503020000020004" pitchFamily="50" charset="-127"/>
              <a:ea typeface="맑은 고딕" panose="020B0503020000020004" pitchFamily="50" charset="-127"/>
            </a:endParaRPr>
          </a:p>
        </p:txBody>
      </p:sp>
      <p:graphicFrame>
        <p:nvGraphicFramePr>
          <p:cNvPr id="33" name="표 32">
            <a:extLst>
              <a:ext uri="{FF2B5EF4-FFF2-40B4-BE49-F238E27FC236}">
                <a16:creationId xmlns:a16="http://schemas.microsoft.com/office/drawing/2014/main" id="{86955070-7EEB-336A-986A-B57A331CD10B}"/>
              </a:ext>
            </a:extLst>
          </p:cNvPr>
          <p:cNvGraphicFramePr>
            <a:graphicFrameLocks noGrp="1"/>
          </p:cNvGraphicFramePr>
          <p:nvPr>
            <p:extLst>
              <p:ext uri="{D42A27DB-BD31-4B8C-83A1-F6EECF244321}">
                <p14:modId xmlns:p14="http://schemas.microsoft.com/office/powerpoint/2010/main" val="3834886149"/>
              </p:ext>
            </p:extLst>
          </p:nvPr>
        </p:nvGraphicFramePr>
        <p:xfrm>
          <a:off x="488504" y="1157720"/>
          <a:ext cx="8911738" cy="5295616"/>
        </p:xfrm>
        <a:graphic>
          <a:graphicData uri="http://schemas.openxmlformats.org/drawingml/2006/table">
            <a:tbl>
              <a:tblPr firstRow="1" bandRow="1">
                <a:tableStyleId>{5940675A-B579-460E-94D1-54222C63F5DA}</a:tableStyleId>
              </a:tblPr>
              <a:tblGrid>
                <a:gridCol w="1589888">
                  <a:extLst>
                    <a:ext uri="{9D8B030D-6E8A-4147-A177-3AD203B41FA5}">
                      <a16:colId xmlns:a16="http://schemas.microsoft.com/office/drawing/2014/main" val="20000"/>
                    </a:ext>
                  </a:extLst>
                </a:gridCol>
                <a:gridCol w="1464370">
                  <a:extLst>
                    <a:ext uri="{9D8B030D-6E8A-4147-A177-3AD203B41FA5}">
                      <a16:colId xmlns:a16="http://schemas.microsoft.com/office/drawing/2014/main" val="20001"/>
                    </a:ext>
                  </a:extLst>
                </a:gridCol>
                <a:gridCol w="1464370">
                  <a:extLst>
                    <a:ext uri="{9D8B030D-6E8A-4147-A177-3AD203B41FA5}">
                      <a16:colId xmlns:a16="http://schemas.microsoft.com/office/drawing/2014/main" val="20006"/>
                    </a:ext>
                  </a:extLst>
                </a:gridCol>
                <a:gridCol w="1464370">
                  <a:extLst>
                    <a:ext uri="{9D8B030D-6E8A-4147-A177-3AD203B41FA5}">
                      <a16:colId xmlns:a16="http://schemas.microsoft.com/office/drawing/2014/main" val="20007"/>
                    </a:ext>
                  </a:extLst>
                </a:gridCol>
                <a:gridCol w="1464370">
                  <a:extLst>
                    <a:ext uri="{9D8B030D-6E8A-4147-A177-3AD203B41FA5}">
                      <a16:colId xmlns:a16="http://schemas.microsoft.com/office/drawing/2014/main" val="20008"/>
                    </a:ext>
                  </a:extLst>
                </a:gridCol>
                <a:gridCol w="1464370">
                  <a:extLst>
                    <a:ext uri="{9D8B030D-6E8A-4147-A177-3AD203B41FA5}">
                      <a16:colId xmlns:a16="http://schemas.microsoft.com/office/drawing/2014/main" val="20009"/>
                    </a:ext>
                  </a:extLst>
                </a:gridCol>
              </a:tblGrid>
              <a:tr h="304776">
                <a:tc rowSpan="2">
                  <a:txBody>
                    <a:bodyPr/>
                    <a:lstStyle/>
                    <a:p>
                      <a:pPr algn="ctr" latinLnBrk="1"/>
                      <a:r>
                        <a:rPr lang="ko-KR" altLang="en-US" sz="1400" dirty="0">
                          <a:latin typeface="맑은 고딕" panose="020B0503020000020004" pitchFamily="50" charset="-127"/>
                          <a:ea typeface="맑은 고딕" panose="020B0503020000020004" pitchFamily="50" charset="-127"/>
                        </a:rPr>
                        <a:t>투입 개월</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gridSpan="5">
                  <a:txBody>
                    <a:bodyPr/>
                    <a:lstStyle/>
                    <a:p>
                      <a:pPr algn="ctr" latinLnBrk="1"/>
                      <a:r>
                        <a:rPr lang="en-US" altLang="ko-KR" sz="1400" dirty="0">
                          <a:latin typeface="맑은 고딕" panose="020B0503020000020004" pitchFamily="50" charset="-127"/>
                          <a:ea typeface="맑은 고딕" panose="020B0503020000020004" pitchFamily="50" charset="-127"/>
                        </a:rPr>
                        <a:t>‘26</a:t>
                      </a:r>
                      <a:r>
                        <a:rPr lang="ko-KR" altLang="en-US" sz="1400" dirty="0">
                          <a:latin typeface="맑은 고딕" panose="020B0503020000020004" pitchFamily="50" charset="-127"/>
                          <a:ea typeface="맑은 고딕" panose="020B0503020000020004" pitchFamily="50" charset="-127"/>
                        </a:rPr>
                        <a:t>년</a:t>
                      </a: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dirty="0"/>
                    </a:p>
                  </a:txBody>
                  <a:tcPr>
                    <a:lnL w="12700" cap="flat" cmpd="sng" algn="ctr">
                      <a:solidFill>
                        <a:schemeClr val="tx1">
                          <a:lumMod val="50000"/>
                          <a:lumOff val="50000"/>
                        </a:schemeClr>
                      </a:solidFill>
                      <a:prstDash val="solid"/>
                      <a:round/>
                      <a:headEnd type="none" w="med" len="med"/>
                      <a:tailEnd type="none" w="med" len="med"/>
                    </a:lnL>
                  </a:tcPr>
                </a:tc>
                <a:tc hMerge="1">
                  <a:txBody>
                    <a:bodyPr/>
                    <a:lstStyle/>
                    <a:p>
                      <a:pPr algn="ctr" latinLnBrk="1"/>
                      <a:endParaRPr lang="ko-KR" altLang="en-US" sz="1400" dirty="0">
                        <a:latin typeface="현대하모니 L" pitchFamily="18" charset="-127"/>
                        <a:ea typeface="현대하모니 L" pitchFamily="18"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dirty="0"/>
                    </a:p>
                  </a:txBody>
                  <a:tcPr/>
                </a:tc>
                <a:tc hMerge="1">
                  <a:txBody>
                    <a:bodyPr/>
                    <a:lstStyle/>
                    <a:p>
                      <a:pPr latinLnBrk="1"/>
                      <a:endParaRPr lang="ko-KR" altLang="en-US" dirty="0"/>
                    </a:p>
                  </a:txBody>
                  <a:tcPr/>
                </a:tc>
                <a:extLst>
                  <a:ext uri="{0D108BD9-81ED-4DB2-BD59-A6C34878D82A}">
                    <a16:rowId xmlns:a16="http://schemas.microsoft.com/office/drawing/2014/main" val="10000"/>
                  </a:ext>
                </a:extLst>
              </a:tr>
              <a:tr h="304776">
                <a:tc vMerge="1">
                  <a:txBody>
                    <a:bodyPr/>
                    <a:lstStyle/>
                    <a:p>
                      <a:pPr latinLnBrk="1"/>
                      <a:endParaRPr lang="ko-KR" altLang="en-US"/>
                    </a:p>
                  </a:txBody>
                  <a:tcPr/>
                </a:tc>
                <a:tc>
                  <a:txBody>
                    <a:bodyPr/>
                    <a:lstStyle/>
                    <a:p>
                      <a:pPr algn="ctr" latinLnBrk="1"/>
                      <a:r>
                        <a:rPr lang="en-US" altLang="ko-KR" sz="1400" dirty="0">
                          <a:latin typeface="맑은 고딕" panose="020B0503020000020004" pitchFamily="50" charset="-127"/>
                          <a:ea typeface="맑은 고딕" panose="020B0503020000020004" pitchFamily="50" charset="-127"/>
                        </a:rPr>
                        <a:t>5</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6</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7</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8</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9</a:t>
                      </a:r>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321995">
                <a:tc>
                  <a:txBody>
                    <a:bodyPr/>
                    <a:lstStyle/>
                    <a:p>
                      <a:pPr algn="ctr" latinLnBrk="1"/>
                      <a:r>
                        <a:rPr lang="ko-KR" altLang="en-US" sz="1200" b="1" dirty="0">
                          <a:latin typeface="맑은 고딕" panose="020B0503020000020004" pitchFamily="50" charset="-127"/>
                          <a:ea typeface="맑은 고딕" panose="020B0503020000020004" pitchFamily="50" charset="-127"/>
                        </a:rPr>
                        <a:t>용역</a:t>
                      </a:r>
                      <a:r>
                        <a:rPr lang="en-US" altLang="ko-KR" sz="1200" b="1" dirty="0">
                          <a:latin typeface="맑은 고딕" panose="020B0503020000020004" pitchFamily="50" charset="-127"/>
                          <a:ea typeface="맑은 고딕" panose="020B0503020000020004" pitchFamily="50" charset="-127"/>
                        </a:rPr>
                        <a:t> </a:t>
                      </a:r>
                      <a:r>
                        <a:rPr lang="ko-KR" altLang="en-US" sz="1200" b="1" dirty="0">
                          <a:latin typeface="맑은 고딕" panose="020B0503020000020004" pitchFamily="50" charset="-127"/>
                          <a:ea typeface="맑은 고딕" panose="020B0503020000020004" pitchFamily="50" charset="-127"/>
                        </a:rPr>
                        <a:t>일정</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2211941">
                <a:tc>
                  <a:txBody>
                    <a:bodyPr/>
                    <a:lstStyle/>
                    <a:p>
                      <a:pPr algn="ctr" latinLnBrk="1"/>
                      <a:r>
                        <a:rPr lang="en-US" altLang="ko-KR" sz="1200" b="1" dirty="0">
                          <a:latin typeface="맑은 고딕" panose="020B0503020000020004" pitchFamily="50" charset="-127"/>
                          <a:ea typeface="맑은 고딕" panose="020B0503020000020004" pitchFamily="50" charset="-127"/>
                        </a:rPr>
                        <a:t>S/W</a:t>
                      </a:r>
                      <a:r>
                        <a:rPr lang="en-US" altLang="ko-KR" sz="1200" b="1" baseline="0" dirty="0">
                          <a:latin typeface="맑은 고딕" panose="020B0503020000020004" pitchFamily="50" charset="-127"/>
                          <a:ea typeface="맑은 고딕" panose="020B0503020000020004" pitchFamily="50" charset="-127"/>
                        </a:rPr>
                        <a:t> </a:t>
                      </a:r>
                      <a:r>
                        <a:rPr lang="ko-KR" altLang="en-US" sz="1200" b="1" baseline="0" dirty="0">
                          <a:latin typeface="맑은 고딕" panose="020B0503020000020004" pitchFamily="50" charset="-127"/>
                          <a:ea typeface="맑은 고딕" panose="020B0503020000020004" pitchFamily="50" charset="-127"/>
                        </a:rPr>
                        <a:t>개발</a:t>
                      </a:r>
                      <a:endParaRPr lang="ko-KR" altLang="en-US" sz="1200" b="1" dirty="0">
                        <a:latin typeface="맑은 고딕" panose="020B0503020000020004" pitchFamily="50" charset="-127"/>
                        <a:ea typeface="맑은 고딕" panose="020B0503020000020004" pitchFamily="50" charset="-127"/>
                      </a:endParaRP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1152128">
                <a:tc>
                  <a:txBody>
                    <a:bodyPr/>
                    <a:lstStyle/>
                    <a:p>
                      <a:pPr algn="ctr" latinLnBrk="1"/>
                      <a:r>
                        <a:rPr lang="ko-KR" altLang="en-US" sz="1200" b="1" dirty="0">
                          <a:latin typeface="맑은 고딕" panose="020B0503020000020004" pitchFamily="50" charset="-127"/>
                          <a:ea typeface="맑은 고딕" panose="020B0503020000020004" pitchFamily="50" charset="-127"/>
                        </a:rPr>
                        <a:t>기타</a:t>
                      </a:r>
                    </a:p>
                  </a:txBody>
                  <a:tcPr marL="91447" marR="91447" marT="45708" marB="45708"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latinLnBrk="1"/>
                      <a:endParaRPr lang="ko-KR" altLang="en-US" sz="1400" dirty="0">
                        <a:latin typeface="맑은 고딕" panose="020B0503020000020004" pitchFamily="50" charset="-127"/>
                        <a:ea typeface="맑은 고딕" panose="020B0503020000020004" pitchFamily="50" charset="-127"/>
                      </a:endParaRPr>
                    </a:p>
                  </a:txBody>
                  <a:tcPr marL="91447" marR="91447" marT="45708" marB="45708">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4" name="타원 33">
            <a:extLst>
              <a:ext uri="{FF2B5EF4-FFF2-40B4-BE49-F238E27FC236}">
                <a16:creationId xmlns:a16="http://schemas.microsoft.com/office/drawing/2014/main" id="{E232A124-E44A-3F28-C1EF-F8280D6D4FD5}"/>
              </a:ext>
            </a:extLst>
          </p:cNvPr>
          <p:cNvSpPr/>
          <p:nvPr/>
        </p:nvSpPr>
        <p:spPr bwMode="auto">
          <a:xfrm>
            <a:off x="2072680"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36" name="TextBox 5">
            <a:extLst>
              <a:ext uri="{FF2B5EF4-FFF2-40B4-BE49-F238E27FC236}">
                <a16:creationId xmlns:a16="http://schemas.microsoft.com/office/drawing/2014/main" id="{A3DB4186-8685-F076-7421-2716E0FFD4CE}"/>
              </a:ext>
            </a:extLst>
          </p:cNvPr>
          <p:cNvSpPr txBox="1">
            <a:spLocks noChangeArrowheads="1"/>
          </p:cNvSpPr>
          <p:nvPr/>
        </p:nvSpPr>
        <p:spPr bwMode="auto">
          <a:xfrm>
            <a:off x="2036676" y="1890505"/>
            <a:ext cx="79861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용역</a:t>
            </a:r>
            <a:r>
              <a:rPr lang="en-US" altLang="ko-KR" sz="1100" b="1" u="none" dirty="0">
                <a:solidFill>
                  <a:schemeClr val="tx1"/>
                </a:solidFill>
                <a:latin typeface="맑은 고딕" panose="020B0503020000020004" pitchFamily="50" charset="-127"/>
                <a:ea typeface="맑은 고딕" panose="020B0503020000020004" pitchFamily="50" charset="-127"/>
              </a:rPr>
              <a:t> </a:t>
            </a:r>
            <a:r>
              <a:rPr lang="ko-KR" altLang="en-US" sz="1100" b="1" u="none" dirty="0">
                <a:solidFill>
                  <a:schemeClr val="tx1"/>
                </a:solidFill>
                <a:latin typeface="맑은 고딕" panose="020B0503020000020004" pitchFamily="50" charset="-127"/>
                <a:ea typeface="맑은 고딕" panose="020B0503020000020004" pitchFamily="50" charset="-127"/>
              </a:rPr>
              <a:t>착수</a:t>
            </a:r>
          </a:p>
        </p:txBody>
      </p:sp>
      <p:sp>
        <p:nvSpPr>
          <p:cNvPr id="37" name="TextBox 18">
            <a:extLst>
              <a:ext uri="{FF2B5EF4-FFF2-40B4-BE49-F238E27FC236}">
                <a16:creationId xmlns:a16="http://schemas.microsoft.com/office/drawing/2014/main" id="{1CBE28C3-3E09-97CC-31B2-78D5DFC03C62}"/>
              </a:ext>
            </a:extLst>
          </p:cNvPr>
          <p:cNvSpPr txBox="1">
            <a:spLocks noChangeArrowheads="1"/>
          </p:cNvSpPr>
          <p:nvPr/>
        </p:nvSpPr>
        <p:spPr bwMode="auto">
          <a:xfrm>
            <a:off x="8193360" y="1772816"/>
            <a:ext cx="7489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중간보고</a:t>
            </a:r>
            <a:endParaRPr lang="en-US" altLang="ko-KR" sz="1100" b="1" u="none" dirty="0">
              <a:solidFill>
                <a:schemeClr val="tx1"/>
              </a:solidFill>
              <a:latin typeface="맑은 고딕" panose="020B0503020000020004" pitchFamily="50" charset="-127"/>
              <a:ea typeface="맑은 고딕" panose="020B0503020000020004" pitchFamily="50" charset="-127"/>
            </a:endParaRPr>
          </a:p>
          <a:p>
            <a:pPr algn="ctr" eaLnBrk="1" hangingPunct="1"/>
            <a:r>
              <a:rPr lang="en-US" altLang="ko-KR" sz="1100" b="1" u="none" dirty="0">
                <a:solidFill>
                  <a:schemeClr val="tx1"/>
                </a:solidFill>
                <a:latin typeface="맑은 고딕" panose="020B0503020000020004" pitchFamily="50" charset="-127"/>
                <a:ea typeface="맑은 고딕" panose="020B0503020000020004" pitchFamily="50" charset="-127"/>
              </a:rPr>
              <a:t>Offline</a:t>
            </a:r>
            <a:endParaRPr lang="ko-KR" altLang="en-US" sz="1100" b="1" u="none" dirty="0">
              <a:solidFill>
                <a:schemeClr val="tx1"/>
              </a:solidFill>
              <a:latin typeface="맑은 고딕" panose="020B0503020000020004" pitchFamily="50" charset="-127"/>
              <a:ea typeface="맑은 고딕" panose="020B0503020000020004" pitchFamily="50" charset="-127"/>
            </a:endParaRPr>
          </a:p>
        </p:txBody>
      </p:sp>
      <p:sp>
        <p:nvSpPr>
          <p:cNvPr id="38" name="TextBox 20">
            <a:extLst>
              <a:ext uri="{FF2B5EF4-FFF2-40B4-BE49-F238E27FC236}">
                <a16:creationId xmlns:a16="http://schemas.microsoft.com/office/drawing/2014/main" id="{664613D9-F387-0211-E9B0-25A686D0E763}"/>
              </a:ext>
            </a:extLst>
          </p:cNvPr>
          <p:cNvSpPr txBox="1">
            <a:spLocks noChangeArrowheads="1"/>
          </p:cNvSpPr>
          <p:nvPr/>
        </p:nvSpPr>
        <p:spPr bwMode="auto">
          <a:xfrm>
            <a:off x="2036676" y="2096852"/>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5/1</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39" name="TextBox 22">
            <a:extLst>
              <a:ext uri="{FF2B5EF4-FFF2-40B4-BE49-F238E27FC236}">
                <a16:creationId xmlns:a16="http://schemas.microsoft.com/office/drawing/2014/main" id="{02CD6F14-5A15-47B4-2A84-B42F41E1E4A3}"/>
              </a:ext>
            </a:extLst>
          </p:cNvPr>
          <p:cNvSpPr txBox="1">
            <a:spLocks noChangeArrowheads="1"/>
          </p:cNvSpPr>
          <p:nvPr/>
        </p:nvSpPr>
        <p:spPr bwMode="auto">
          <a:xfrm>
            <a:off x="6290834" y="1772816"/>
            <a:ext cx="8899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서비스통합</a:t>
            </a:r>
          </a:p>
        </p:txBody>
      </p:sp>
      <p:sp>
        <p:nvSpPr>
          <p:cNvPr id="41" name="TextBox 23">
            <a:extLst>
              <a:ext uri="{FF2B5EF4-FFF2-40B4-BE49-F238E27FC236}">
                <a16:creationId xmlns:a16="http://schemas.microsoft.com/office/drawing/2014/main" id="{5801C938-8611-3663-0A24-2722423BA701}"/>
              </a:ext>
            </a:extLst>
          </p:cNvPr>
          <p:cNvSpPr txBox="1">
            <a:spLocks noChangeArrowheads="1"/>
          </p:cNvSpPr>
          <p:nvPr/>
        </p:nvSpPr>
        <p:spPr bwMode="auto">
          <a:xfrm>
            <a:off x="6537176" y="2060848"/>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8/7</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42" name="타원 41">
            <a:extLst>
              <a:ext uri="{FF2B5EF4-FFF2-40B4-BE49-F238E27FC236}">
                <a16:creationId xmlns:a16="http://schemas.microsoft.com/office/drawing/2014/main" id="{7F1C552F-D894-7AB3-7C74-C1C81DFF2D46}"/>
              </a:ext>
            </a:extLst>
          </p:cNvPr>
          <p:cNvSpPr/>
          <p:nvPr/>
        </p:nvSpPr>
        <p:spPr bwMode="auto">
          <a:xfrm>
            <a:off x="9273729"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cxnSp>
        <p:nvCxnSpPr>
          <p:cNvPr id="43" name="직선 연결선 42">
            <a:extLst>
              <a:ext uri="{FF2B5EF4-FFF2-40B4-BE49-F238E27FC236}">
                <a16:creationId xmlns:a16="http://schemas.microsoft.com/office/drawing/2014/main" id="{2EBAB43A-51E4-8812-9393-48F9E29F21C4}"/>
              </a:ext>
            </a:extLst>
          </p:cNvPr>
          <p:cNvCxnSpPr>
            <a:stCxn id="34" idx="6"/>
            <a:endCxn id="42" idx="2"/>
          </p:cNvCxnSpPr>
          <p:nvPr/>
        </p:nvCxnSpPr>
        <p:spPr bwMode="auto">
          <a:xfrm>
            <a:off x="2252067" y="2436441"/>
            <a:ext cx="7021662" cy="0"/>
          </a:xfrm>
          <a:prstGeom prst="line">
            <a:avLst/>
          </a:prstGeom>
          <a:ln w="31750">
            <a:solidFill>
              <a:srgbClr val="003366"/>
            </a:solidFill>
          </a:ln>
        </p:spPr>
        <p:style>
          <a:lnRef idx="1">
            <a:schemeClr val="accent1"/>
          </a:lnRef>
          <a:fillRef idx="0">
            <a:schemeClr val="accent1"/>
          </a:fillRef>
          <a:effectRef idx="0">
            <a:schemeClr val="accent1"/>
          </a:effectRef>
          <a:fontRef idx="minor">
            <a:schemeClr val="tx1"/>
          </a:fontRef>
        </p:style>
      </p:cxnSp>
      <p:sp>
        <p:nvSpPr>
          <p:cNvPr id="44" name="타원 43">
            <a:extLst>
              <a:ext uri="{FF2B5EF4-FFF2-40B4-BE49-F238E27FC236}">
                <a16:creationId xmlns:a16="http://schemas.microsoft.com/office/drawing/2014/main" id="{AA915A11-054A-2403-A00A-1207E71BAD88}"/>
              </a:ext>
            </a:extLst>
          </p:cNvPr>
          <p:cNvSpPr/>
          <p:nvPr/>
        </p:nvSpPr>
        <p:spPr bwMode="auto">
          <a:xfrm>
            <a:off x="8456303" y="2345953"/>
            <a:ext cx="179388" cy="180975"/>
          </a:xfrm>
          <a:prstGeom prst="ellipse">
            <a:avLst/>
          </a:prstGeom>
          <a:solidFill>
            <a:schemeClr val="accent6">
              <a:lumMod val="7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45" name="직사각형 44">
            <a:extLst>
              <a:ext uri="{FF2B5EF4-FFF2-40B4-BE49-F238E27FC236}">
                <a16:creationId xmlns:a16="http://schemas.microsoft.com/office/drawing/2014/main" id="{71E41A7A-6A33-5501-0983-5F7FE586F5EA}"/>
              </a:ext>
            </a:extLst>
          </p:cNvPr>
          <p:cNvSpPr/>
          <p:nvPr/>
        </p:nvSpPr>
        <p:spPr bwMode="auto">
          <a:xfrm>
            <a:off x="6825208" y="2600908"/>
            <a:ext cx="1764196" cy="333375"/>
          </a:xfrm>
          <a:prstGeom prst="rect">
            <a:avLst/>
          </a:prstGeom>
          <a:solidFill>
            <a:schemeClr val="bg1">
              <a:lumMod val="95000"/>
            </a:schemeClr>
          </a:solid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ko-KR" altLang="en-US" sz="1050" u="none" dirty="0">
                <a:solidFill>
                  <a:schemeClr val="tx1"/>
                </a:solidFill>
                <a:latin typeface="맑은 고딕" panose="020B0503020000020004" pitchFamily="50" charset="-127"/>
                <a:ea typeface="맑은 고딕" panose="020B0503020000020004" pitchFamily="50" charset="-127"/>
              </a:rPr>
              <a:t>최적화 및 오류개선</a:t>
            </a:r>
          </a:p>
        </p:txBody>
      </p:sp>
      <p:sp>
        <p:nvSpPr>
          <p:cNvPr id="46" name="타원 45">
            <a:extLst>
              <a:ext uri="{FF2B5EF4-FFF2-40B4-BE49-F238E27FC236}">
                <a16:creationId xmlns:a16="http://schemas.microsoft.com/office/drawing/2014/main" id="{69F635C4-6852-ABA2-EA74-F08F9AFF64AF}"/>
              </a:ext>
            </a:extLst>
          </p:cNvPr>
          <p:cNvSpPr/>
          <p:nvPr/>
        </p:nvSpPr>
        <p:spPr bwMode="auto">
          <a:xfrm>
            <a:off x="6645821" y="2345953"/>
            <a:ext cx="179387" cy="180975"/>
          </a:xfrm>
          <a:prstGeom prst="ellipse">
            <a:avLst/>
          </a:prstGeom>
          <a:solidFill>
            <a:schemeClr val="bg1">
              <a:lumMod val="9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47" name="TextBox 25">
            <a:extLst>
              <a:ext uri="{FF2B5EF4-FFF2-40B4-BE49-F238E27FC236}">
                <a16:creationId xmlns:a16="http://schemas.microsoft.com/office/drawing/2014/main" id="{24E57528-E820-D1B0-B19E-03775594D888}"/>
              </a:ext>
            </a:extLst>
          </p:cNvPr>
          <p:cNvSpPr txBox="1">
            <a:spLocks noChangeArrowheads="1"/>
          </p:cNvSpPr>
          <p:nvPr/>
        </p:nvSpPr>
        <p:spPr bwMode="auto">
          <a:xfrm>
            <a:off x="2000672" y="3068960"/>
            <a:ext cx="13533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시스템 상세 설계</a:t>
            </a:r>
          </a:p>
        </p:txBody>
      </p:sp>
      <p:sp>
        <p:nvSpPr>
          <p:cNvPr id="50" name="TextBox 9">
            <a:extLst>
              <a:ext uri="{FF2B5EF4-FFF2-40B4-BE49-F238E27FC236}">
                <a16:creationId xmlns:a16="http://schemas.microsoft.com/office/drawing/2014/main" id="{D17E7099-B646-305F-97E6-0EE0C7A5ACD4}"/>
              </a:ext>
            </a:extLst>
          </p:cNvPr>
          <p:cNvSpPr txBox="1">
            <a:spLocks noChangeArrowheads="1"/>
          </p:cNvSpPr>
          <p:nvPr/>
        </p:nvSpPr>
        <p:spPr bwMode="auto">
          <a:xfrm>
            <a:off x="272480" y="764704"/>
            <a:ext cx="42851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용역 기간 </a:t>
            </a:r>
            <a:r>
              <a:rPr lang="en-US" altLang="ko-KR" u="none" dirty="0">
                <a:solidFill>
                  <a:schemeClr val="tx1"/>
                </a:solidFill>
                <a:latin typeface="맑은 고딕" panose="020B0503020000020004" pitchFamily="50" charset="-127"/>
                <a:ea typeface="맑은 고딕" panose="020B0503020000020004" pitchFamily="50" charset="-127"/>
              </a:rPr>
              <a:t>: 2026.05.1 ~ 2026.12.31 (</a:t>
            </a:r>
            <a:r>
              <a:rPr lang="ko-KR" altLang="en-US" u="none" dirty="0">
                <a:solidFill>
                  <a:schemeClr val="tx1"/>
                </a:solidFill>
                <a:latin typeface="맑은 고딕" panose="020B0503020000020004" pitchFamily="50" charset="-127"/>
                <a:ea typeface="맑은 고딕" panose="020B0503020000020004" pitchFamily="50" charset="-127"/>
              </a:rPr>
              <a:t>총 </a:t>
            </a:r>
            <a:r>
              <a:rPr lang="en-US" altLang="ko-KR" u="none" dirty="0">
                <a:solidFill>
                  <a:schemeClr val="tx1"/>
                </a:solidFill>
                <a:latin typeface="맑은 고딕" panose="020B0503020000020004" pitchFamily="50" charset="-127"/>
                <a:ea typeface="맑은 고딕" panose="020B0503020000020004" pitchFamily="50" charset="-127"/>
              </a:rPr>
              <a:t>8</a:t>
            </a:r>
            <a:r>
              <a:rPr lang="ko-KR" altLang="en-US" u="none" dirty="0">
                <a:solidFill>
                  <a:schemeClr val="tx1"/>
                </a:solidFill>
                <a:latin typeface="맑은 고딕" panose="020B0503020000020004" pitchFamily="50" charset="-127"/>
                <a:ea typeface="맑은 고딕" panose="020B0503020000020004" pitchFamily="50" charset="-127"/>
              </a:rPr>
              <a:t>개월</a:t>
            </a:r>
            <a:r>
              <a:rPr lang="en-US" altLang="ko-KR" u="none" dirty="0">
                <a:solidFill>
                  <a:schemeClr val="tx1"/>
                </a:solidFill>
                <a:latin typeface="맑은 고딕" panose="020B0503020000020004" pitchFamily="50" charset="-127"/>
                <a:ea typeface="맑은 고딕" panose="020B0503020000020004" pitchFamily="50" charset="-127"/>
              </a:rPr>
              <a:t>)</a:t>
            </a:r>
          </a:p>
        </p:txBody>
      </p:sp>
      <p:sp>
        <p:nvSpPr>
          <p:cNvPr id="51" name="TextBox 25">
            <a:extLst>
              <a:ext uri="{FF2B5EF4-FFF2-40B4-BE49-F238E27FC236}">
                <a16:creationId xmlns:a16="http://schemas.microsoft.com/office/drawing/2014/main" id="{30720FC7-727C-A3C6-225B-78F497049F4D}"/>
              </a:ext>
            </a:extLst>
          </p:cNvPr>
          <p:cNvSpPr txBox="1">
            <a:spLocks noChangeArrowheads="1"/>
          </p:cNvSpPr>
          <p:nvPr/>
        </p:nvSpPr>
        <p:spPr bwMode="auto">
          <a:xfrm>
            <a:off x="3364082" y="5942448"/>
            <a:ext cx="131157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BU</a:t>
            </a:r>
            <a:r>
              <a:rPr lang="ko-KR" altLang="en-US" sz="1100" u="none" dirty="0">
                <a:solidFill>
                  <a:schemeClr val="tx1"/>
                </a:solidFill>
                <a:latin typeface="맑은 고딕" panose="020B0503020000020004" pitchFamily="50" charset="-127"/>
                <a:ea typeface="맑은 고딕" panose="020B0503020000020004" pitchFamily="50" charset="-127"/>
              </a:rPr>
              <a:t>장님 보고 준비</a:t>
            </a:r>
          </a:p>
        </p:txBody>
      </p:sp>
      <p:sp>
        <p:nvSpPr>
          <p:cNvPr id="52" name="TextBox 25">
            <a:extLst>
              <a:ext uri="{FF2B5EF4-FFF2-40B4-BE49-F238E27FC236}">
                <a16:creationId xmlns:a16="http://schemas.microsoft.com/office/drawing/2014/main" id="{D3550473-BCD3-65DB-1008-A66E1D831A26}"/>
              </a:ext>
            </a:extLst>
          </p:cNvPr>
          <p:cNvSpPr txBox="1">
            <a:spLocks noChangeArrowheads="1"/>
          </p:cNvSpPr>
          <p:nvPr/>
        </p:nvSpPr>
        <p:spPr bwMode="auto">
          <a:xfrm>
            <a:off x="5625951" y="4031486"/>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Music Router </a:t>
            </a:r>
            <a:r>
              <a:rPr lang="ko-KR" altLang="en-US" sz="1100" u="none" dirty="0">
                <a:solidFill>
                  <a:schemeClr val="tx1"/>
                </a:solidFill>
                <a:latin typeface="맑은 고딕" panose="020B0503020000020004" pitchFamily="50" charset="-127"/>
                <a:ea typeface="맑은 고딕" panose="020B0503020000020004" pitchFamily="50" charset="-127"/>
              </a:rPr>
              <a:t>개발</a:t>
            </a:r>
          </a:p>
        </p:txBody>
      </p:sp>
      <p:sp>
        <p:nvSpPr>
          <p:cNvPr id="53" name="TextBox 25">
            <a:extLst>
              <a:ext uri="{FF2B5EF4-FFF2-40B4-BE49-F238E27FC236}">
                <a16:creationId xmlns:a16="http://schemas.microsoft.com/office/drawing/2014/main" id="{D8C43BC3-FD69-3378-6881-D292E330FD80}"/>
              </a:ext>
            </a:extLst>
          </p:cNvPr>
          <p:cNvSpPr txBox="1">
            <a:spLocks noChangeArrowheads="1"/>
          </p:cNvSpPr>
          <p:nvPr/>
        </p:nvSpPr>
        <p:spPr bwMode="auto">
          <a:xfrm>
            <a:off x="5878603" y="4966723"/>
            <a:ext cx="89479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UI/UX </a:t>
            </a:r>
            <a:r>
              <a:rPr lang="ko-KR" altLang="en-US" sz="1100" u="none" dirty="0">
                <a:solidFill>
                  <a:schemeClr val="tx1"/>
                </a:solidFill>
                <a:latin typeface="맑은 고딕" panose="020B0503020000020004" pitchFamily="50" charset="-127"/>
                <a:ea typeface="맑은 고딕" panose="020B0503020000020004" pitchFamily="50" charset="-127"/>
              </a:rPr>
              <a:t>구현</a:t>
            </a:r>
          </a:p>
        </p:txBody>
      </p:sp>
      <p:sp>
        <p:nvSpPr>
          <p:cNvPr id="54" name="TextBox 25">
            <a:extLst>
              <a:ext uri="{FF2B5EF4-FFF2-40B4-BE49-F238E27FC236}">
                <a16:creationId xmlns:a16="http://schemas.microsoft.com/office/drawing/2014/main" id="{9A3DD0A3-4EAD-4577-95D4-00E728506046}"/>
              </a:ext>
            </a:extLst>
          </p:cNvPr>
          <p:cNvSpPr txBox="1">
            <a:spLocks noChangeArrowheads="1"/>
          </p:cNvSpPr>
          <p:nvPr/>
        </p:nvSpPr>
        <p:spPr bwMode="auto">
          <a:xfrm>
            <a:off x="6753200" y="5607239"/>
            <a:ext cx="127631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오류 및 </a:t>
            </a:r>
            <a:r>
              <a:rPr lang="en-US" altLang="ko-KR" sz="1100" u="none" dirty="0">
                <a:solidFill>
                  <a:schemeClr val="tx1"/>
                </a:solidFill>
                <a:latin typeface="맑은 고딕" panose="020B0503020000020004" pitchFamily="50" charset="-127"/>
                <a:ea typeface="맑은 고딕" panose="020B0503020000020004" pitchFamily="50" charset="-127"/>
              </a:rPr>
              <a:t>GUI </a:t>
            </a:r>
            <a:r>
              <a:rPr lang="ko-KR" altLang="en-US" sz="1100" u="none" dirty="0">
                <a:solidFill>
                  <a:schemeClr val="tx1"/>
                </a:solidFill>
                <a:latin typeface="맑은 고딕" panose="020B0503020000020004" pitchFamily="50" charset="-127"/>
                <a:ea typeface="맑은 고딕" panose="020B0503020000020004" pitchFamily="50" charset="-127"/>
              </a:rPr>
              <a:t>개선</a:t>
            </a:r>
          </a:p>
        </p:txBody>
      </p:sp>
      <p:sp>
        <p:nvSpPr>
          <p:cNvPr id="55" name="TextBox 25">
            <a:extLst>
              <a:ext uri="{FF2B5EF4-FFF2-40B4-BE49-F238E27FC236}">
                <a16:creationId xmlns:a16="http://schemas.microsoft.com/office/drawing/2014/main" id="{78CFF8D9-2537-24DB-51CC-7B0BA3E18ABF}"/>
              </a:ext>
            </a:extLst>
          </p:cNvPr>
          <p:cNvSpPr txBox="1">
            <a:spLocks noChangeArrowheads="1"/>
          </p:cNvSpPr>
          <p:nvPr/>
        </p:nvSpPr>
        <p:spPr bwMode="auto">
          <a:xfrm>
            <a:off x="4905871" y="4412997"/>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Multi-Turn </a:t>
            </a:r>
            <a:r>
              <a:rPr lang="ko-KR" altLang="en-US" sz="1100" u="none" dirty="0">
                <a:solidFill>
                  <a:schemeClr val="tx1"/>
                </a:solidFill>
                <a:latin typeface="맑은 고딕" panose="020B0503020000020004" pitchFamily="50" charset="-127"/>
                <a:ea typeface="맑은 고딕" panose="020B0503020000020004" pitchFamily="50" charset="-127"/>
              </a:rPr>
              <a:t>기능 개발</a:t>
            </a:r>
          </a:p>
        </p:txBody>
      </p:sp>
      <p:sp>
        <p:nvSpPr>
          <p:cNvPr id="56" name="TextBox 25">
            <a:extLst>
              <a:ext uri="{FF2B5EF4-FFF2-40B4-BE49-F238E27FC236}">
                <a16:creationId xmlns:a16="http://schemas.microsoft.com/office/drawing/2014/main" id="{C0C2CFC0-E728-ED86-88E9-13EB10FD7AA9}"/>
              </a:ext>
            </a:extLst>
          </p:cNvPr>
          <p:cNvSpPr txBox="1">
            <a:spLocks noChangeArrowheads="1"/>
          </p:cNvSpPr>
          <p:nvPr/>
        </p:nvSpPr>
        <p:spPr bwMode="auto">
          <a:xfrm>
            <a:off x="2432720" y="5388657"/>
            <a:ext cx="13533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err="1">
                <a:solidFill>
                  <a:schemeClr val="tx1"/>
                </a:solidFill>
                <a:latin typeface="맑은 고딕" panose="020B0503020000020004" pitchFamily="50" charset="-127"/>
                <a:ea typeface="맑은 고딕" panose="020B0503020000020004" pitchFamily="50" charset="-127"/>
              </a:rPr>
              <a:t>남양테크쇼</a:t>
            </a:r>
            <a:r>
              <a:rPr lang="ko-KR" altLang="en-US" sz="1100" u="none" dirty="0">
                <a:solidFill>
                  <a:schemeClr val="tx1"/>
                </a:solidFill>
                <a:latin typeface="맑은 고딕" panose="020B0503020000020004" pitchFamily="50" charset="-127"/>
                <a:ea typeface="맑은 고딕" panose="020B0503020000020004" pitchFamily="50" charset="-127"/>
              </a:rPr>
              <a:t> 준비</a:t>
            </a:r>
          </a:p>
        </p:txBody>
      </p:sp>
      <p:cxnSp>
        <p:nvCxnSpPr>
          <p:cNvPr id="59" name="직선 연결선 58">
            <a:extLst>
              <a:ext uri="{FF2B5EF4-FFF2-40B4-BE49-F238E27FC236}">
                <a16:creationId xmlns:a16="http://schemas.microsoft.com/office/drawing/2014/main" id="{3F74EDB8-FF05-362B-B56B-8CDBB16A132D}"/>
              </a:ext>
            </a:extLst>
          </p:cNvPr>
          <p:cNvCxnSpPr>
            <a:cxnSpLocks/>
          </p:cNvCxnSpPr>
          <p:nvPr/>
        </p:nvCxnSpPr>
        <p:spPr bwMode="auto">
          <a:xfrm>
            <a:off x="2199193" y="3429000"/>
            <a:ext cx="722474"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9EB1841E-3AEB-4087-6846-7A4A18C1830A}"/>
              </a:ext>
            </a:extLst>
          </p:cNvPr>
          <p:cNvCxnSpPr>
            <a:cxnSpLocks/>
          </p:cNvCxnSpPr>
          <p:nvPr/>
        </p:nvCxnSpPr>
        <p:spPr bwMode="auto">
          <a:xfrm>
            <a:off x="2863571" y="5740040"/>
            <a:ext cx="649269"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09EEDB36-9248-7F41-123B-404C17652934}"/>
              </a:ext>
            </a:extLst>
          </p:cNvPr>
          <p:cNvCxnSpPr>
            <a:cxnSpLocks/>
          </p:cNvCxnSpPr>
          <p:nvPr/>
        </p:nvCxnSpPr>
        <p:spPr bwMode="auto">
          <a:xfrm>
            <a:off x="3584848" y="6237312"/>
            <a:ext cx="756084"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0" name="직선 연결선 69">
            <a:extLst>
              <a:ext uri="{FF2B5EF4-FFF2-40B4-BE49-F238E27FC236}">
                <a16:creationId xmlns:a16="http://schemas.microsoft.com/office/drawing/2014/main" id="{DA076083-D5FB-8CF1-C763-78A94CE6D39E}"/>
              </a:ext>
            </a:extLst>
          </p:cNvPr>
          <p:cNvCxnSpPr>
            <a:cxnSpLocks/>
          </p:cNvCxnSpPr>
          <p:nvPr/>
        </p:nvCxnSpPr>
        <p:spPr bwMode="auto">
          <a:xfrm>
            <a:off x="3224808" y="4711694"/>
            <a:ext cx="1025615"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3" name="TextBox 25">
            <a:extLst>
              <a:ext uri="{FF2B5EF4-FFF2-40B4-BE49-F238E27FC236}">
                <a16:creationId xmlns:a16="http://schemas.microsoft.com/office/drawing/2014/main" id="{ACF4D7F9-8218-4100-0DF4-5F8BC6153A6E}"/>
              </a:ext>
            </a:extLst>
          </p:cNvPr>
          <p:cNvSpPr txBox="1">
            <a:spLocks noChangeArrowheads="1"/>
          </p:cNvSpPr>
          <p:nvPr/>
        </p:nvSpPr>
        <p:spPr bwMode="auto">
          <a:xfrm>
            <a:off x="2364511" y="4398715"/>
            <a:ext cx="24561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STT, Orchestrator, GPT Service </a:t>
            </a:r>
            <a:r>
              <a:rPr lang="ko-KR" altLang="en-US" sz="1100" u="none" dirty="0">
                <a:solidFill>
                  <a:schemeClr val="tx1"/>
                </a:solidFill>
                <a:latin typeface="맑은 고딕" panose="020B0503020000020004" pitchFamily="50" charset="-127"/>
                <a:ea typeface="맑은 고딕" panose="020B0503020000020004" pitchFamily="50" charset="-127"/>
              </a:rPr>
              <a:t>연동</a:t>
            </a:r>
          </a:p>
        </p:txBody>
      </p:sp>
      <p:cxnSp>
        <p:nvCxnSpPr>
          <p:cNvPr id="76" name="직선 연결선 75">
            <a:extLst>
              <a:ext uri="{FF2B5EF4-FFF2-40B4-BE49-F238E27FC236}">
                <a16:creationId xmlns:a16="http://schemas.microsoft.com/office/drawing/2014/main" id="{FAF62549-E49B-0596-FA3C-47DBF06B5F45}"/>
              </a:ext>
            </a:extLst>
          </p:cNvPr>
          <p:cNvCxnSpPr>
            <a:cxnSpLocks/>
          </p:cNvCxnSpPr>
          <p:nvPr/>
        </p:nvCxnSpPr>
        <p:spPr bwMode="auto">
          <a:xfrm>
            <a:off x="4389695" y="5222416"/>
            <a:ext cx="3479629"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B3B4A21A-2776-A3A7-089B-68D89FBE62A1}"/>
              </a:ext>
            </a:extLst>
          </p:cNvPr>
          <p:cNvCxnSpPr>
            <a:cxnSpLocks/>
          </p:cNvCxnSpPr>
          <p:nvPr/>
        </p:nvCxnSpPr>
        <p:spPr bwMode="auto">
          <a:xfrm>
            <a:off x="5025008" y="4710892"/>
            <a:ext cx="1404156"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직선 연결선 83">
            <a:extLst>
              <a:ext uri="{FF2B5EF4-FFF2-40B4-BE49-F238E27FC236}">
                <a16:creationId xmlns:a16="http://schemas.microsoft.com/office/drawing/2014/main" id="{C0314093-2FE2-7E8B-3E17-A6810020657F}"/>
              </a:ext>
            </a:extLst>
          </p:cNvPr>
          <p:cNvCxnSpPr>
            <a:cxnSpLocks/>
          </p:cNvCxnSpPr>
          <p:nvPr/>
        </p:nvCxnSpPr>
        <p:spPr bwMode="auto">
          <a:xfrm>
            <a:off x="5897044" y="4325435"/>
            <a:ext cx="1216196"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7" name="직선 연결선 86">
            <a:extLst>
              <a:ext uri="{FF2B5EF4-FFF2-40B4-BE49-F238E27FC236}">
                <a16:creationId xmlns:a16="http://schemas.microsoft.com/office/drawing/2014/main" id="{BC05DFEA-534B-39F9-21B5-FA8098FAD517}"/>
              </a:ext>
            </a:extLst>
          </p:cNvPr>
          <p:cNvCxnSpPr>
            <a:cxnSpLocks/>
          </p:cNvCxnSpPr>
          <p:nvPr/>
        </p:nvCxnSpPr>
        <p:spPr bwMode="auto">
          <a:xfrm>
            <a:off x="7023729" y="5946694"/>
            <a:ext cx="881599" cy="0"/>
          </a:xfrm>
          <a:prstGeom prst="line">
            <a:avLst/>
          </a:prstGeom>
          <a:ln w="31750" cap="rnd">
            <a:solidFill>
              <a:schemeClr val="accent1">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2" name="직선 연결선 91">
            <a:extLst>
              <a:ext uri="{FF2B5EF4-FFF2-40B4-BE49-F238E27FC236}">
                <a16:creationId xmlns:a16="http://schemas.microsoft.com/office/drawing/2014/main" id="{1EB1945C-DD8B-6110-8D8B-A20B2BDDC19C}"/>
              </a:ext>
            </a:extLst>
          </p:cNvPr>
          <p:cNvCxnSpPr>
            <a:cxnSpLocks/>
          </p:cNvCxnSpPr>
          <p:nvPr/>
        </p:nvCxnSpPr>
        <p:spPr bwMode="auto">
          <a:xfrm>
            <a:off x="3052705" y="3802104"/>
            <a:ext cx="722474"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TextBox 25">
            <a:extLst>
              <a:ext uri="{FF2B5EF4-FFF2-40B4-BE49-F238E27FC236}">
                <a16:creationId xmlns:a16="http://schemas.microsoft.com/office/drawing/2014/main" id="{B9A54300-D6B5-B712-0CDD-B5F0131DD9DC}"/>
              </a:ext>
            </a:extLst>
          </p:cNvPr>
          <p:cNvSpPr txBox="1">
            <a:spLocks noChangeArrowheads="1"/>
          </p:cNvSpPr>
          <p:nvPr/>
        </p:nvSpPr>
        <p:spPr bwMode="auto">
          <a:xfrm>
            <a:off x="2432720" y="3499240"/>
            <a:ext cx="20062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외부</a:t>
            </a:r>
            <a:r>
              <a:rPr lang="en-US" altLang="ko-KR" sz="1100" u="none" dirty="0">
                <a:solidFill>
                  <a:schemeClr val="tx1"/>
                </a:solidFill>
                <a:latin typeface="맑은 고딕" panose="020B0503020000020004" pitchFamily="50" charset="-127"/>
                <a:ea typeface="맑은 고딕" panose="020B0503020000020004" pitchFamily="50" charset="-127"/>
              </a:rPr>
              <a:t>API </a:t>
            </a:r>
            <a:r>
              <a:rPr lang="ko-KR" altLang="en-US" sz="1100" u="none" dirty="0">
                <a:solidFill>
                  <a:schemeClr val="tx1"/>
                </a:solidFill>
                <a:latin typeface="맑은 고딕" panose="020B0503020000020004" pitchFamily="50" charset="-127"/>
                <a:ea typeface="맑은 고딕" panose="020B0503020000020004" pitchFamily="50" charset="-127"/>
              </a:rPr>
              <a:t>계정 생성 및 테스트</a:t>
            </a:r>
          </a:p>
        </p:txBody>
      </p:sp>
      <p:cxnSp>
        <p:nvCxnSpPr>
          <p:cNvPr id="97" name="직선 연결선 96">
            <a:extLst>
              <a:ext uri="{FF2B5EF4-FFF2-40B4-BE49-F238E27FC236}">
                <a16:creationId xmlns:a16="http://schemas.microsoft.com/office/drawing/2014/main" id="{7B67B97E-FE02-34AC-CF2B-5A2A933520F3}"/>
              </a:ext>
            </a:extLst>
          </p:cNvPr>
          <p:cNvCxnSpPr>
            <a:cxnSpLocks/>
          </p:cNvCxnSpPr>
          <p:nvPr/>
        </p:nvCxnSpPr>
        <p:spPr bwMode="auto">
          <a:xfrm>
            <a:off x="5538713" y="3860143"/>
            <a:ext cx="1520022"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TextBox 25">
            <a:extLst>
              <a:ext uri="{FF2B5EF4-FFF2-40B4-BE49-F238E27FC236}">
                <a16:creationId xmlns:a16="http://schemas.microsoft.com/office/drawing/2014/main" id="{96C47CC4-D716-DE37-A2CD-A135F5841951}"/>
              </a:ext>
            </a:extLst>
          </p:cNvPr>
          <p:cNvSpPr txBox="1">
            <a:spLocks noChangeArrowheads="1"/>
          </p:cNvSpPr>
          <p:nvPr/>
        </p:nvSpPr>
        <p:spPr bwMode="auto">
          <a:xfrm>
            <a:off x="5323021" y="3527430"/>
            <a:ext cx="20062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Intent Interface</a:t>
            </a:r>
            <a:r>
              <a:rPr lang="ko-KR" altLang="en-US" sz="1100" u="none" dirty="0">
                <a:solidFill>
                  <a:schemeClr val="tx1"/>
                </a:solidFill>
                <a:latin typeface="맑은 고딕" panose="020B0503020000020004" pitchFamily="50" charset="-127"/>
                <a:ea typeface="맑은 고딕" panose="020B0503020000020004" pitchFamily="50" charset="-127"/>
              </a:rPr>
              <a:t> 설계 및 구현</a:t>
            </a:r>
          </a:p>
        </p:txBody>
      </p:sp>
      <p:cxnSp>
        <p:nvCxnSpPr>
          <p:cNvPr id="108" name="직선 연결선 107">
            <a:extLst>
              <a:ext uri="{FF2B5EF4-FFF2-40B4-BE49-F238E27FC236}">
                <a16:creationId xmlns:a16="http://schemas.microsoft.com/office/drawing/2014/main" id="{90B7FD26-7709-3FD8-5AEF-94754DF2FC70}"/>
              </a:ext>
            </a:extLst>
          </p:cNvPr>
          <p:cNvCxnSpPr>
            <a:cxnSpLocks/>
          </p:cNvCxnSpPr>
          <p:nvPr/>
        </p:nvCxnSpPr>
        <p:spPr bwMode="auto">
          <a:xfrm>
            <a:off x="6949645" y="4868818"/>
            <a:ext cx="1549250" cy="0"/>
          </a:xfrm>
          <a:prstGeom prst="line">
            <a:avLst/>
          </a:prstGeom>
          <a:ln w="31750" cap="rnd">
            <a:solidFill>
              <a:srgbClr val="4D81C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7" name="TextBox 25">
            <a:extLst>
              <a:ext uri="{FF2B5EF4-FFF2-40B4-BE49-F238E27FC236}">
                <a16:creationId xmlns:a16="http://schemas.microsoft.com/office/drawing/2014/main" id="{FCD24728-873F-D8EF-A656-73D8285E30BB}"/>
              </a:ext>
            </a:extLst>
          </p:cNvPr>
          <p:cNvSpPr txBox="1">
            <a:spLocks noChangeArrowheads="1"/>
          </p:cNvSpPr>
          <p:nvPr/>
        </p:nvSpPr>
        <p:spPr bwMode="auto">
          <a:xfrm>
            <a:off x="6850087" y="4581128"/>
            <a:ext cx="1775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u="none" dirty="0">
                <a:solidFill>
                  <a:schemeClr val="tx1"/>
                </a:solidFill>
                <a:latin typeface="맑은 고딕" panose="020B0503020000020004" pitchFamily="50" charset="-127"/>
                <a:ea typeface="맑은 고딕" panose="020B0503020000020004" pitchFamily="50" charset="-127"/>
              </a:rPr>
              <a:t>노래 추천 알고리즘 개발</a:t>
            </a:r>
          </a:p>
        </p:txBody>
      </p:sp>
      <p:sp>
        <p:nvSpPr>
          <p:cNvPr id="12307" name="타원 12306">
            <a:extLst>
              <a:ext uri="{FF2B5EF4-FFF2-40B4-BE49-F238E27FC236}">
                <a16:creationId xmlns:a16="http://schemas.microsoft.com/office/drawing/2014/main" id="{F54783DF-195D-F7D2-0A46-26E7DB44E699}"/>
              </a:ext>
            </a:extLst>
          </p:cNvPr>
          <p:cNvSpPr/>
          <p:nvPr/>
        </p:nvSpPr>
        <p:spPr bwMode="auto">
          <a:xfrm>
            <a:off x="7617296" y="2348880"/>
            <a:ext cx="179388" cy="180975"/>
          </a:xfrm>
          <a:prstGeom prst="ellipse">
            <a:avLst/>
          </a:prstGeom>
          <a:solidFill>
            <a:schemeClr val="accent6">
              <a:lumMod val="75000"/>
            </a:schemeClr>
          </a:solidFill>
          <a:ln w="190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100" u="none" dirty="0">
              <a:latin typeface="맑은 고딕" panose="020B0503020000020004" pitchFamily="50" charset="-127"/>
              <a:ea typeface="맑은 고딕" panose="020B0503020000020004" pitchFamily="50" charset="-127"/>
            </a:endParaRPr>
          </a:p>
        </p:txBody>
      </p:sp>
      <p:sp>
        <p:nvSpPr>
          <p:cNvPr id="12309" name="TextBox 18">
            <a:extLst>
              <a:ext uri="{FF2B5EF4-FFF2-40B4-BE49-F238E27FC236}">
                <a16:creationId xmlns:a16="http://schemas.microsoft.com/office/drawing/2014/main" id="{925B51A9-B5E2-D12D-CD49-FDE7AA1C5725}"/>
              </a:ext>
            </a:extLst>
          </p:cNvPr>
          <p:cNvSpPr txBox="1">
            <a:spLocks noChangeArrowheads="1"/>
          </p:cNvSpPr>
          <p:nvPr/>
        </p:nvSpPr>
        <p:spPr bwMode="auto">
          <a:xfrm>
            <a:off x="7329264" y="1772816"/>
            <a:ext cx="7489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algn="ctr" eaLnBrk="1" hangingPunct="1"/>
            <a:r>
              <a:rPr lang="ko-KR" altLang="en-US" sz="1100" b="1" u="none" dirty="0">
                <a:solidFill>
                  <a:schemeClr val="tx1"/>
                </a:solidFill>
                <a:latin typeface="맑은 고딕" panose="020B0503020000020004" pitchFamily="50" charset="-127"/>
                <a:ea typeface="맑은 고딕" panose="020B0503020000020004" pitchFamily="50" charset="-127"/>
              </a:rPr>
              <a:t>중간보고</a:t>
            </a:r>
            <a:endParaRPr lang="en-US" altLang="ko-KR" sz="1100" b="1" u="none" dirty="0">
              <a:solidFill>
                <a:schemeClr val="tx1"/>
              </a:solidFill>
              <a:latin typeface="맑은 고딕" panose="020B0503020000020004" pitchFamily="50" charset="-127"/>
              <a:ea typeface="맑은 고딕" panose="020B0503020000020004" pitchFamily="50" charset="-127"/>
            </a:endParaRPr>
          </a:p>
          <a:p>
            <a:pPr algn="ctr" eaLnBrk="1" hangingPunct="1"/>
            <a:r>
              <a:rPr lang="en-US" altLang="ko-KR" sz="1100" b="1" u="none" dirty="0">
                <a:solidFill>
                  <a:schemeClr val="tx1"/>
                </a:solidFill>
                <a:latin typeface="맑은 고딕" panose="020B0503020000020004" pitchFamily="50" charset="-127"/>
                <a:ea typeface="맑은 고딕" panose="020B0503020000020004" pitchFamily="50" charset="-127"/>
              </a:rPr>
              <a:t>Online</a:t>
            </a:r>
            <a:endParaRPr lang="ko-KR" altLang="en-US" sz="1100" b="1" u="none" dirty="0">
              <a:solidFill>
                <a:schemeClr val="tx1"/>
              </a:solidFill>
              <a:latin typeface="맑은 고딕" panose="020B0503020000020004" pitchFamily="50" charset="-127"/>
              <a:ea typeface="맑은 고딕" panose="020B0503020000020004" pitchFamily="50" charset="-127"/>
            </a:endParaRPr>
          </a:p>
        </p:txBody>
      </p:sp>
      <p:sp>
        <p:nvSpPr>
          <p:cNvPr id="12311" name="TextBox 23">
            <a:extLst>
              <a:ext uri="{FF2B5EF4-FFF2-40B4-BE49-F238E27FC236}">
                <a16:creationId xmlns:a16="http://schemas.microsoft.com/office/drawing/2014/main" id="{DDA033EC-4F13-5881-F40B-469DF972578A}"/>
              </a:ext>
            </a:extLst>
          </p:cNvPr>
          <p:cNvSpPr txBox="1">
            <a:spLocks noChangeArrowheads="1"/>
          </p:cNvSpPr>
          <p:nvPr/>
        </p:nvSpPr>
        <p:spPr bwMode="auto">
          <a:xfrm>
            <a:off x="7473280" y="2132856"/>
            <a:ext cx="4716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8/25</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
        <p:nvSpPr>
          <p:cNvPr id="12313" name="TextBox 23">
            <a:extLst>
              <a:ext uri="{FF2B5EF4-FFF2-40B4-BE49-F238E27FC236}">
                <a16:creationId xmlns:a16="http://schemas.microsoft.com/office/drawing/2014/main" id="{26F61F75-8BF8-E25A-8285-8EF2B07183D5}"/>
              </a:ext>
            </a:extLst>
          </p:cNvPr>
          <p:cNvSpPr txBox="1">
            <a:spLocks noChangeArrowheads="1"/>
          </p:cNvSpPr>
          <p:nvPr/>
        </p:nvSpPr>
        <p:spPr bwMode="auto">
          <a:xfrm>
            <a:off x="8370491" y="2096852"/>
            <a:ext cx="3946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en-US" altLang="ko-KR" sz="1100" u="none" dirty="0">
                <a:solidFill>
                  <a:schemeClr val="tx1"/>
                </a:solidFill>
                <a:latin typeface="맑은 고딕" panose="020B0503020000020004" pitchFamily="50" charset="-127"/>
                <a:ea typeface="맑은 고딕" panose="020B0503020000020004" pitchFamily="50" charset="-127"/>
              </a:rPr>
              <a:t>9/7</a:t>
            </a:r>
            <a:endParaRPr lang="ko-KR" altLang="en-US" sz="1100" u="none" dirty="0">
              <a:solidFill>
                <a:schemeClr val="tx1"/>
              </a:solidFill>
              <a:latin typeface="맑은 고딕" panose="020B0503020000020004" pitchFamily="50" charset="-127"/>
              <a:ea typeface="맑은 고딕" panose="020B0503020000020004" pitchFamily="50" charset="-127"/>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FCF7-8CA7-D754-CCFF-61F9F9BCAB74}"/>
            </a:ext>
          </a:extLst>
        </p:cNvPr>
        <p:cNvGrpSpPr/>
        <p:nvPr/>
      </p:nvGrpSpPr>
      <p:grpSpPr>
        <a:xfrm>
          <a:off x="0" y="0"/>
          <a:ext cx="0" cy="0"/>
          <a:chOff x="0" y="0"/>
          <a:chExt cx="0" cy="0"/>
        </a:xfrm>
      </p:grpSpPr>
      <p:sp>
        <p:nvSpPr>
          <p:cNvPr id="2" name="사각형: 둥근 모서리 1">
            <a:extLst>
              <a:ext uri="{FF2B5EF4-FFF2-40B4-BE49-F238E27FC236}">
                <a16:creationId xmlns:a16="http://schemas.microsoft.com/office/drawing/2014/main" id="{08D4E8AD-3267-03B4-6A82-56D3D069EF45}"/>
              </a:ext>
            </a:extLst>
          </p:cNvPr>
          <p:cNvSpPr/>
          <p:nvPr/>
        </p:nvSpPr>
        <p:spPr>
          <a:xfrm>
            <a:off x="272480" y="1200514"/>
            <a:ext cx="6478494" cy="5432842"/>
          </a:xfrm>
          <a:prstGeom prst="roundRect">
            <a:avLst>
              <a:gd name="adj" fmla="val 1994"/>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sp>
        <p:nvSpPr>
          <p:cNvPr id="63" name="사각형: 둥근 모서리 62">
            <a:extLst>
              <a:ext uri="{FF2B5EF4-FFF2-40B4-BE49-F238E27FC236}">
                <a16:creationId xmlns:a16="http://schemas.microsoft.com/office/drawing/2014/main" id="{32AE49F1-2D1F-8AEF-427D-B36504FEE66B}"/>
              </a:ext>
            </a:extLst>
          </p:cNvPr>
          <p:cNvSpPr/>
          <p:nvPr/>
        </p:nvSpPr>
        <p:spPr>
          <a:xfrm>
            <a:off x="560512" y="4401108"/>
            <a:ext cx="5832648" cy="1152128"/>
          </a:xfrm>
          <a:prstGeom prst="roundRect">
            <a:avLst>
              <a:gd name="adj" fmla="val 5462"/>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FFF9F53F-F6A2-0EE3-2943-A3CB3AF0ACDA}"/>
              </a:ext>
            </a:extLst>
          </p:cNvPr>
          <p:cNvSpPr/>
          <p:nvPr/>
        </p:nvSpPr>
        <p:spPr>
          <a:xfrm>
            <a:off x="560512" y="2672916"/>
            <a:ext cx="5832648" cy="1656184"/>
          </a:xfrm>
          <a:prstGeom prst="roundRect">
            <a:avLst>
              <a:gd name="adj" fmla="val 6815"/>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61" name="사각형: 둥근 모서리 60">
            <a:extLst>
              <a:ext uri="{FF2B5EF4-FFF2-40B4-BE49-F238E27FC236}">
                <a16:creationId xmlns:a16="http://schemas.microsoft.com/office/drawing/2014/main" id="{CC480DA9-6C75-925B-7587-3602F7CB2713}"/>
              </a:ext>
            </a:extLst>
          </p:cNvPr>
          <p:cNvSpPr/>
          <p:nvPr/>
        </p:nvSpPr>
        <p:spPr>
          <a:xfrm>
            <a:off x="1496616" y="3897052"/>
            <a:ext cx="4824536" cy="360040"/>
          </a:xfrm>
          <a:prstGeom prst="roundRect">
            <a:avLst>
              <a:gd name="adj" fmla="val 16666"/>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ActionAgent</a:t>
            </a:r>
            <a:endParaRPr lang="ko-KR" altLang="en-US" sz="1000" b="1" u="none" dirty="0">
              <a:latin typeface="맑은 고딕" panose="020B0503020000020004" pitchFamily="50" charset="-127"/>
              <a:ea typeface="맑은 고딕" panose="020B0503020000020004" pitchFamily="50" charset="-127"/>
            </a:endParaRPr>
          </a:p>
        </p:txBody>
      </p:sp>
      <p:sp>
        <p:nvSpPr>
          <p:cNvPr id="57" name="사각형: 둥근 모서리 56">
            <a:extLst>
              <a:ext uri="{FF2B5EF4-FFF2-40B4-BE49-F238E27FC236}">
                <a16:creationId xmlns:a16="http://schemas.microsoft.com/office/drawing/2014/main" id="{E096D892-1244-B82F-D43F-40A6CDB30FDC}"/>
              </a:ext>
            </a:extLst>
          </p:cNvPr>
          <p:cNvSpPr/>
          <p:nvPr/>
        </p:nvSpPr>
        <p:spPr>
          <a:xfrm>
            <a:off x="1496616" y="3491920"/>
            <a:ext cx="4824536" cy="360040"/>
          </a:xfrm>
          <a:prstGeom prst="roundRect">
            <a:avLst>
              <a:gd name="adj" fmla="val 16666"/>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LLMAgent</a:t>
            </a:r>
            <a:endParaRPr lang="ko-KR" altLang="en-US" sz="1000" b="1" u="none" dirty="0">
              <a:latin typeface="맑은 고딕" panose="020B0503020000020004" pitchFamily="50" charset="-127"/>
              <a:ea typeface="맑은 고딕" panose="020B0503020000020004" pitchFamily="50" charset="-127"/>
            </a:endParaRPr>
          </a:p>
        </p:txBody>
      </p:sp>
      <p:sp>
        <p:nvSpPr>
          <p:cNvPr id="55" name="사각형: 둥근 모서리 54">
            <a:extLst>
              <a:ext uri="{FF2B5EF4-FFF2-40B4-BE49-F238E27FC236}">
                <a16:creationId xmlns:a16="http://schemas.microsoft.com/office/drawing/2014/main" id="{3A32ACA1-BEFF-8E6C-9DB0-D4F087E3AF8E}"/>
              </a:ext>
            </a:extLst>
          </p:cNvPr>
          <p:cNvSpPr/>
          <p:nvPr/>
        </p:nvSpPr>
        <p:spPr>
          <a:xfrm>
            <a:off x="1496616" y="2744924"/>
            <a:ext cx="4824536" cy="720080"/>
          </a:xfrm>
          <a:prstGeom prst="roundRect">
            <a:avLst>
              <a:gd name="adj" fmla="val 11687"/>
            </a:avLst>
          </a:prstGeom>
          <a:solidFill>
            <a:srgbClr val="FFF3F3"/>
          </a:solidFill>
        </p:spPr>
        <p:txBody>
          <a:bodyPr rtlCol="0" anchor="ctr">
            <a:noAutofit/>
          </a:bodyPr>
          <a:lstStyle/>
          <a:p>
            <a:r>
              <a:rPr lang="en-US" altLang="ko-KR" sz="1000" b="1" u="none" dirty="0" err="1">
                <a:latin typeface="맑은 고딕" panose="020B0503020000020004" pitchFamily="50" charset="-127"/>
                <a:ea typeface="맑은 고딕" panose="020B0503020000020004" pitchFamily="50" charset="-127"/>
              </a:rPr>
              <a:t>ContextAgent</a:t>
            </a:r>
            <a:endParaRPr lang="ko-KR" altLang="en-US" sz="1000" b="1" u="none" dirty="0">
              <a:latin typeface="맑은 고딕" panose="020B0503020000020004" pitchFamily="50" charset="-127"/>
              <a:ea typeface="맑은 고딕" panose="020B0503020000020004" pitchFamily="50" charset="-127"/>
            </a:endParaRPr>
          </a:p>
        </p:txBody>
      </p:sp>
      <p:sp>
        <p:nvSpPr>
          <p:cNvPr id="51" name="사각형: 둥근 모서리 50">
            <a:extLst>
              <a:ext uri="{FF2B5EF4-FFF2-40B4-BE49-F238E27FC236}">
                <a16:creationId xmlns:a16="http://schemas.microsoft.com/office/drawing/2014/main" id="{ED9AC3AE-7977-FAA3-6A67-86DFC43F83A2}"/>
              </a:ext>
            </a:extLst>
          </p:cNvPr>
          <p:cNvSpPr/>
          <p:nvPr/>
        </p:nvSpPr>
        <p:spPr>
          <a:xfrm>
            <a:off x="560512" y="1412776"/>
            <a:ext cx="5832648" cy="1008112"/>
          </a:xfrm>
          <a:prstGeom prst="roundRect">
            <a:avLst>
              <a:gd name="adj" fmla="val 7241"/>
            </a:avLst>
          </a:prstGeom>
          <a:solidFill>
            <a:schemeClr val="bg1"/>
          </a:solidFill>
        </p:spPr>
        <p:txBody>
          <a:bodyPr rtlCol="0" anchor="ctr">
            <a:noAutofit/>
          </a:bodyPr>
          <a:lstStyle/>
          <a:p>
            <a:pPr algn="ctr"/>
            <a:endParaRPr lang="ko-KR" altLang="en-US" sz="10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sp>
        <p:nvSpPr>
          <p:cNvPr id="13314" name="Rectangle 6">
            <a:extLst>
              <a:ext uri="{FF2B5EF4-FFF2-40B4-BE49-F238E27FC236}">
                <a16:creationId xmlns:a16="http://schemas.microsoft.com/office/drawing/2014/main" id="{820CFCD0-D6E6-B2C6-43BC-D9462109BB31}"/>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5.</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SW </a:t>
            </a:r>
            <a:r>
              <a:rPr lang="ko-KR" altLang="en-US" sz="2400" u="none" dirty="0">
                <a:solidFill>
                  <a:schemeClr val="tx1"/>
                </a:solidFill>
                <a:latin typeface="맑은 고딕" panose="020B0503020000020004" pitchFamily="50" charset="-127"/>
                <a:ea typeface="맑은 고딕" panose="020B0503020000020004" pitchFamily="50" charset="-127"/>
              </a:rPr>
              <a:t>구조도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TextBox 9">
            <a:extLst>
              <a:ext uri="{FF2B5EF4-FFF2-40B4-BE49-F238E27FC236}">
                <a16:creationId xmlns:a16="http://schemas.microsoft.com/office/drawing/2014/main" id="{C7904584-09A4-5AB9-69A1-B0C70F04C422}"/>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AIMO</a:t>
            </a:r>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1.0</a:t>
            </a:r>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err="1">
                <a:solidFill>
                  <a:schemeClr val="tx1"/>
                </a:solidFill>
                <a:latin typeface="맑은 고딕" panose="020B0503020000020004" pitchFamily="50" charset="-127"/>
                <a:ea typeface="맑은 고딕" panose="020B0503020000020004" pitchFamily="50" charset="-127"/>
              </a:rPr>
              <a:t>AIAgent</a:t>
            </a:r>
            <a:r>
              <a:rPr lang="en-US" altLang="ko-KR" u="none" dirty="0">
                <a:solidFill>
                  <a:schemeClr val="tx1"/>
                </a:solidFill>
                <a:latin typeface="맑은 고딕" panose="020B0503020000020004" pitchFamily="50" charset="-127"/>
                <a:ea typeface="맑은 고딕" panose="020B0503020000020004" pitchFamily="50" charset="-127"/>
              </a:rPr>
              <a:t> App </a:t>
            </a:r>
            <a:r>
              <a:rPr lang="ko-KR" altLang="en-US" u="none" dirty="0">
                <a:solidFill>
                  <a:schemeClr val="tx1"/>
                </a:solidFill>
                <a:latin typeface="맑은 고딕" panose="020B0503020000020004" pitchFamily="50" charset="-127"/>
                <a:ea typeface="맑은 고딕" panose="020B0503020000020004" pitchFamily="50" charset="-127"/>
              </a:rPr>
              <a:t>소프트웨어 구조</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
        <p:nvSpPr>
          <p:cNvPr id="8" name="TextBox 7">
            <a:extLst>
              <a:ext uri="{FF2B5EF4-FFF2-40B4-BE49-F238E27FC236}">
                <a16:creationId xmlns:a16="http://schemas.microsoft.com/office/drawing/2014/main" id="{5D0DE645-7878-F7B1-3237-9C670DCCCFEF}"/>
              </a:ext>
            </a:extLst>
          </p:cNvPr>
          <p:cNvSpPr txBox="1"/>
          <p:nvPr/>
        </p:nvSpPr>
        <p:spPr>
          <a:xfrm>
            <a:off x="560512" y="1752057"/>
            <a:ext cx="1478918" cy="261610"/>
          </a:xfrm>
          <a:prstGeom prst="rect">
            <a:avLst/>
          </a:prstGeom>
          <a:noFill/>
        </p:spPr>
        <p:txBody>
          <a:bodyPr wrap="square" rtlCol="0">
            <a:spAutoFit/>
          </a:bodyPr>
          <a:lstStyle/>
          <a:p>
            <a:r>
              <a:rPr lang="en-US" altLang="ko-KR" sz="1100" b="1" u="none" dirty="0">
                <a:latin typeface="맑은 고딕" panose="020B0503020000020004" pitchFamily="50" charset="-127"/>
                <a:ea typeface="맑은 고딕" panose="020B0503020000020004" pitchFamily="50" charset="-127"/>
              </a:rPr>
              <a:t>Application</a:t>
            </a:r>
          </a:p>
        </p:txBody>
      </p:sp>
      <p:sp>
        <p:nvSpPr>
          <p:cNvPr id="9" name="사각형: 둥근 모서리 8">
            <a:extLst>
              <a:ext uri="{FF2B5EF4-FFF2-40B4-BE49-F238E27FC236}">
                <a16:creationId xmlns:a16="http://schemas.microsoft.com/office/drawing/2014/main" id="{D2656CBF-C732-39E1-B898-2F98B3F1F479}"/>
              </a:ext>
            </a:extLst>
          </p:cNvPr>
          <p:cNvSpPr/>
          <p:nvPr/>
        </p:nvSpPr>
        <p:spPr>
          <a:xfrm>
            <a:off x="1604628" y="144998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AI Agent HMI</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0" name="사각형: 둥근 모서리 9">
            <a:extLst>
              <a:ext uri="{FF2B5EF4-FFF2-40B4-BE49-F238E27FC236}">
                <a16:creationId xmlns:a16="http://schemas.microsoft.com/office/drawing/2014/main" id="{5383DB82-D299-FEFB-1347-BCF1EB05BCC4}"/>
              </a:ext>
            </a:extLst>
          </p:cNvPr>
          <p:cNvSpPr/>
          <p:nvPr/>
        </p:nvSpPr>
        <p:spPr>
          <a:xfrm>
            <a:off x="1604628" y="1790186"/>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History Msg</a:t>
            </a:r>
          </a:p>
        </p:txBody>
      </p:sp>
      <p:sp>
        <p:nvSpPr>
          <p:cNvPr id="11" name="사각형: 둥근 모서리 10">
            <a:extLst>
              <a:ext uri="{FF2B5EF4-FFF2-40B4-BE49-F238E27FC236}">
                <a16:creationId xmlns:a16="http://schemas.microsoft.com/office/drawing/2014/main" id="{75E5C31C-4D01-BD37-7380-967F18A6C2CC}"/>
              </a:ext>
            </a:extLst>
          </p:cNvPr>
          <p:cNvSpPr/>
          <p:nvPr/>
        </p:nvSpPr>
        <p:spPr>
          <a:xfrm>
            <a:off x="1604628" y="2109778"/>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Contextual Feedback via TTS </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2" name="사각형: 둥근 모서리 11">
            <a:extLst>
              <a:ext uri="{FF2B5EF4-FFF2-40B4-BE49-F238E27FC236}">
                <a16:creationId xmlns:a16="http://schemas.microsoft.com/office/drawing/2014/main" id="{EA5D0491-2194-2036-978D-A5B2F18C889F}"/>
              </a:ext>
            </a:extLst>
          </p:cNvPr>
          <p:cNvSpPr/>
          <p:nvPr/>
        </p:nvSpPr>
        <p:spPr>
          <a:xfrm>
            <a:off x="3982170" y="144998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Voice </a:t>
            </a:r>
            <a:r>
              <a:rPr lang="en-US" altLang="ko-KR" sz="900" u="none" dirty="0" err="1">
                <a:solidFill>
                  <a:schemeClr val="tx1"/>
                </a:solidFill>
                <a:latin typeface="맑은 고딕" panose="020B0503020000020004" pitchFamily="50" charset="-127"/>
                <a:ea typeface="맑은 고딕" panose="020B0503020000020004" pitchFamily="50" charset="-127"/>
              </a:rPr>
              <a:t>Cmd</a:t>
            </a:r>
            <a:r>
              <a:rPr lang="en-US" altLang="ko-KR" sz="900" u="none" dirty="0">
                <a:solidFill>
                  <a:schemeClr val="tx1"/>
                </a:solidFill>
                <a:latin typeface="맑은 고딕" panose="020B0503020000020004" pitchFamily="50" charset="-127"/>
                <a:ea typeface="맑은 고딕" panose="020B0503020000020004" pitchFamily="50" charset="-127"/>
              </a:rPr>
              <a:t> Handling / QA</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3" name="사각형: 둥근 모서리 12">
            <a:extLst>
              <a:ext uri="{FF2B5EF4-FFF2-40B4-BE49-F238E27FC236}">
                <a16:creationId xmlns:a16="http://schemas.microsoft.com/office/drawing/2014/main" id="{F23A4785-8625-3EB6-C895-EF488491BF23}"/>
              </a:ext>
            </a:extLst>
          </p:cNvPr>
          <p:cNvSpPr/>
          <p:nvPr/>
        </p:nvSpPr>
        <p:spPr>
          <a:xfrm>
            <a:off x="3982170" y="1781618"/>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Vehicle Status Summary</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4" name="사각형: 둥근 모서리 13">
            <a:extLst>
              <a:ext uri="{FF2B5EF4-FFF2-40B4-BE49-F238E27FC236}">
                <a16:creationId xmlns:a16="http://schemas.microsoft.com/office/drawing/2014/main" id="{DD961BCC-0977-199D-1B38-5398797192BC}"/>
              </a:ext>
            </a:extLst>
          </p:cNvPr>
          <p:cNvSpPr/>
          <p:nvPr/>
        </p:nvSpPr>
        <p:spPr>
          <a:xfrm>
            <a:off x="3982170" y="2107179"/>
            <a:ext cx="2160240" cy="269857"/>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Response Caching</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6" name="TextBox 15">
            <a:extLst>
              <a:ext uri="{FF2B5EF4-FFF2-40B4-BE49-F238E27FC236}">
                <a16:creationId xmlns:a16="http://schemas.microsoft.com/office/drawing/2014/main" id="{AE044D35-C47D-E54D-D85B-B79CD1CDB210}"/>
              </a:ext>
            </a:extLst>
          </p:cNvPr>
          <p:cNvSpPr txBox="1"/>
          <p:nvPr/>
        </p:nvSpPr>
        <p:spPr>
          <a:xfrm>
            <a:off x="560512" y="4758404"/>
            <a:ext cx="1478918" cy="423193"/>
          </a:xfrm>
          <a:prstGeom prst="rect">
            <a:avLst/>
          </a:prstGeom>
          <a:noFill/>
        </p:spPr>
        <p:txBody>
          <a:bodyPr wrap="square" rtlCol="0">
            <a:spAutoFit/>
          </a:bodyPr>
          <a:lstStyle/>
          <a:p>
            <a:r>
              <a:rPr lang="en-US" altLang="ko-KR" sz="1050" b="1" u="none" dirty="0">
                <a:latin typeface="맑은 고딕" panose="020B0503020000020004" pitchFamily="50" charset="-127"/>
                <a:ea typeface="맑은 고딕" panose="020B0503020000020004" pitchFamily="50" charset="-127"/>
              </a:rPr>
              <a:t>Interaction </a:t>
            </a:r>
          </a:p>
          <a:p>
            <a:r>
              <a:rPr lang="en-US" altLang="ko-KR" sz="1100" b="1" u="none" dirty="0">
                <a:latin typeface="맑은 고딕" panose="020B0503020000020004" pitchFamily="50" charset="-127"/>
                <a:ea typeface="맑은 고딕" panose="020B0503020000020004" pitchFamily="50" charset="-127"/>
              </a:rPr>
              <a:t>I/O Interface</a:t>
            </a:r>
            <a:endParaRPr lang="ko-KR" altLang="en-US" sz="1100" b="1" u="none" dirty="0">
              <a:latin typeface="맑은 고딕" panose="020B0503020000020004" pitchFamily="50" charset="-127"/>
              <a:ea typeface="맑은 고딕" panose="020B0503020000020004" pitchFamily="50" charset="-127"/>
            </a:endParaRPr>
          </a:p>
        </p:txBody>
      </p:sp>
      <p:sp>
        <p:nvSpPr>
          <p:cNvPr id="18" name="사각형: 둥근 모서리 17">
            <a:extLst>
              <a:ext uri="{FF2B5EF4-FFF2-40B4-BE49-F238E27FC236}">
                <a16:creationId xmlns:a16="http://schemas.microsoft.com/office/drawing/2014/main" id="{55348CFE-300D-F74B-BF44-2911041B5437}"/>
              </a:ext>
            </a:extLst>
          </p:cNvPr>
          <p:cNvSpPr/>
          <p:nvPr/>
        </p:nvSpPr>
        <p:spPr>
          <a:xfrm>
            <a:off x="2547605" y="4818573"/>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err="1">
                <a:solidFill>
                  <a:schemeClr val="tx1"/>
                </a:solidFill>
                <a:latin typeface="맑은 고딕" panose="020B0503020000020004" pitchFamily="50" charset="-127"/>
                <a:ea typeface="맑은 고딕" panose="020B0503020000020004" pitchFamily="50" charset="-127"/>
              </a:rPr>
              <a:t>Pleos</a:t>
            </a:r>
            <a:r>
              <a:rPr lang="en-US" altLang="ko-KR" sz="900" u="none" dirty="0">
                <a:solidFill>
                  <a:schemeClr val="tx1"/>
                </a:solidFill>
                <a:latin typeface="맑은 고딕" panose="020B0503020000020004" pitchFamily="50" charset="-127"/>
                <a:ea typeface="맑은 고딕" panose="020B0503020000020004" pitchFamily="50" charset="-127"/>
              </a:rPr>
              <a:t> TTS</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19" name="사각형: 둥근 모서리 18">
            <a:extLst>
              <a:ext uri="{FF2B5EF4-FFF2-40B4-BE49-F238E27FC236}">
                <a16:creationId xmlns:a16="http://schemas.microsoft.com/office/drawing/2014/main" id="{0138FFAB-B6B7-0795-53E4-CC4E671A1F54}"/>
              </a:ext>
            </a:extLst>
          </p:cNvPr>
          <p:cNvSpPr/>
          <p:nvPr/>
        </p:nvSpPr>
        <p:spPr>
          <a:xfrm>
            <a:off x="2547605" y="5188314"/>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User Input</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0" name="사각형: 둥근 모서리 19">
            <a:extLst>
              <a:ext uri="{FF2B5EF4-FFF2-40B4-BE49-F238E27FC236}">
                <a16:creationId xmlns:a16="http://schemas.microsoft.com/office/drawing/2014/main" id="{EF0BCF38-E6E5-BF7B-9D40-E5BDADAB6780}"/>
              </a:ext>
            </a:extLst>
          </p:cNvPr>
          <p:cNvSpPr/>
          <p:nvPr/>
        </p:nvSpPr>
        <p:spPr>
          <a:xfrm>
            <a:off x="2547605" y="4454576"/>
            <a:ext cx="1858462" cy="269857"/>
          </a:xfrm>
          <a:prstGeom prst="roundRect">
            <a:avLst>
              <a:gd name="adj" fmla="val 5000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Mobis STT</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2" name="TextBox 21">
            <a:extLst>
              <a:ext uri="{FF2B5EF4-FFF2-40B4-BE49-F238E27FC236}">
                <a16:creationId xmlns:a16="http://schemas.microsoft.com/office/drawing/2014/main" id="{BAF4EC99-8CEA-9484-2671-510CA4E7E9FB}"/>
              </a:ext>
            </a:extLst>
          </p:cNvPr>
          <p:cNvSpPr txBox="1"/>
          <p:nvPr/>
        </p:nvSpPr>
        <p:spPr>
          <a:xfrm>
            <a:off x="560512" y="3248980"/>
            <a:ext cx="961041" cy="415498"/>
          </a:xfrm>
          <a:prstGeom prst="rect">
            <a:avLst/>
          </a:prstGeom>
          <a:noFill/>
        </p:spPr>
        <p:txBody>
          <a:bodyPr wrap="square" rtlCol="0">
            <a:spAutoFit/>
          </a:bodyPr>
          <a:lstStyle/>
          <a:p>
            <a:r>
              <a:rPr lang="en-US" altLang="ko-KR" sz="1050" b="1" u="none" dirty="0">
                <a:latin typeface="맑은 고딕" panose="020B0503020000020004" pitchFamily="50" charset="-127"/>
                <a:ea typeface="맑은 고딕" panose="020B0503020000020004" pitchFamily="50" charset="-127"/>
              </a:rPr>
              <a:t>AI Agent</a:t>
            </a:r>
          </a:p>
          <a:p>
            <a:r>
              <a:rPr lang="en-US" altLang="ko-KR" sz="1050" b="1" u="none" dirty="0">
                <a:latin typeface="맑은 고딕" panose="020B0503020000020004" pitchFamily="50" charset="-127"/>
                <a:ea typeface="맑은 고딕" panose="020B0503020000020004" pitchFamily="50" charset="-127"/>
              </a:rPr>
              <a:t>Framework</a:t>
            </a:r>
            <a:endParaRPr lang="ko-KR" altLang="en-US" sz="1100" b="1" u="none" dirty="0">
              <a:latin typeface="맑은 고딕" panose="020B0503020000020004" pitchFamily="50" charset="-127"/>
              <a:ea typeface="맑은 고딕" panose="020B0503020000020004" pitchFamily="50" charset="-127"/>
            </a:endParaRPr>
          </a:p>
        </p:txBody>
      </p:sp>
      <p:sp>
        <p:nvSpPr>
          <p:cNvPr id="23" name="사각형: 둥근 모서리 22">
            <a:extLst>
              <a:ext uri="{FF2B5EF4-FFF2-40B4-BE49-F238E27FC236}">
                <a16:creationId xmlns:a16="http://schemas.microsoft.com/office/drawing/2014/main" id="{B89C1D20-7598-FC35-7867-714EB8B580FD}"/>
              </a:ext>
            </a:extLst>
          </p:cNvPr>
          <p:cNvSpPr/>
          <p:nvPr/>
        </p:nvSpPr>
        <p:spPr>
          <a:xfrm>
            <a:off x="4539308" y="2769694"/>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Intent Analysis</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5" name="사각형: 둥근 모서리 24">
            <a:extLst>
              <a:ext uri="{FF2B5EF4-FFF2-40B4-BE49-F238E27FC236}">
                <a16:creationId xmlns:a16="http://schemas.microsoft.com/office/drawing/2014/main" id="{9AB9F901-8401-998D-BF88-67D1AD662B63}"/>
              </a:ext>
            </a:extLst>
          </p:cNvPr>
          <p:cNvSpPr/>
          <p:nvPr/>
        </p:nvSpPr>
        <p:spPr>
          <a:xfrm>
            <a:off x="2792760" y="2769694"/>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Intent Receiver</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7" name="사각형: 둥근 모서리 26">
            <a:extLst>
              <a:ext uri="{FF2B5EF4-FFF2-40B4-BE49-F238E27FC236}">
                <a16:creationId xmlns:a16="http://schemas.microsoft.com/office/drawing/2014/main" id="{ECAF1CDD-203E-DCD1-D43A-DD1151D868D6}"/>
              </a:ext>
            </a:extLst>
          </p:cNvPr>
          <p:cNvSpPr/>
          <p:nvPr/>
        </p:nvSpPr>
        <p:spPr>
          <a:xfrm>
            <a:off x="2792760" y="3113494"/>
            <a:ext cx="3349650"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Prompt Generator (context + query)</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28" name="사각형: 둥근 모서리 27">
            <a:extLst>
              <a:ext uri="{FF2B5EF4-FFF2-40B4-BE49-F238E27FC236}">
                <a16:creationId xmlns:a16="http://schemas.microsoft.com/office/drawing/2014/main" id="{DB006535-1E3B-5E35-00BB-EAF8F8A1FB97}"/>
              </a:ext>
            </a:extLst>
          </p:cNvPr>
          <p:cNvSpPr/>
          <p:nvPr/>
        </p:nvSpPr>
        <p:spPr>
          <a:xfrm>
            <a:off x="4539308" y="3537012"/>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RAG(Vector DB)</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0" name="사각형: 둥근 모서리 29">
            <a:extLst>
              <a:ext uri="{FF2B5EF4-FFF2-40B4-BE49-F238E27FC236}">
                <a16:creationId xmlns:a16="http://schemas.microsoft.com/office/drawing/2014/main" id="{AC0237B7-4DF8-728D-8CAE-7F748F0D506D}"/>
              </a:ext>
            </a:extLst>
          </p:cNvPr>
          <p:cNvSpPr/>
          <p:nvPr/>
        </p:nvSpPr>
        <p:spPr>
          <a:xfrm>
            <a:off x="2792760" y="3537012"/>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SLM</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2" name="사각형: 둥근 모서리 31">
            <a:extLst>
              <a:ext uri="{FF2B5EF4-FFF2-40B4-BE49-F238E27FC236}">
                <a16:creationId xmlns:a16="http://schemas.microsoft.com/office/drawing/2014/main" id="{2DCB62D4-AC83-AEC7-5E5D-D26D6F6DBC99}"/>
              </a:ext>
            </a:extLst>
          </p:cNvPr>
          <p:cNvSpPr/>
          <p:nvPr/>
        </p:nvSpPr>
        <p:spPr>
          <a:xfrm>
            <a:off x="4539308" y="3932680"/>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IBD MCP Service</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4" name="사각형: 둥근 모서리 33">
            <a:extLst>
              <a:ext uri="{FF2B5EF4-FFF2-40B4-BE49-F238E27FC236}">
                <a16:creationId xmlns:a16="http://schemas.microsoft.com/office/drawing/2014/main" id="{1EF6DEA8-4E14-AD75-E79E-C72B46FEFDE0}"/>
              </a:ext>
            </a:extLst>
          </p:cNvPr>
          <p:cNvSpPr/>
          <p:nvPr/>
        </p:nvSpPr>
        <p:spPr>
          <a:xfrm>
            <a:off x="2792760" y="3932680"/>
            <a:ext cx="1603102" cy="269857"/>
          </a:xfrm>
          <a:prstGeom prst="roundRect">
            <a:avLst>
              <a:gd name="adj" fmla="val 50000"/>
            </a:avLst>
          </a:prstGeom>
          <a:solidFill>
            <a:srgbClr val="FFB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u="none" dirty="0">
                <a:solidFill>
                  <a:schemeClr val="tx1"/>
                </a:solidFill>
                <a:latin typeface="맑은 고딕" panose="020B0503020000020004" pitchFamily="50" charset="-127"/>
                <a:ea typeface="맑은 고딕" panose="020B0503020000020004" pitchFamily="50" charset="-127"/>
              </a:rPr>
              <a:t>Query Routing</a:t>
            </a:r>
            <a:endParaRPr lang="ko-KR" altLang="en-US" sz="900" u="none" dirty="0">
              <a:solidFill>
                <a:schemeClr val="tx1"/>
              </a:solidFill>
              <a:latin typeface="맑은 고딕" panose="020B0503020000020004" pitchFamily="50" charset="-127"/>
              <a:ea typeface="맑은 고딕" panose="020B0503020000020004" pitchFamily="50" charset="-127"/>
            </a:endParaRPr>
          </a:p>
        </p:txBody>
      </p:sp>
      <p:sp>
        <p:nvSpPr>
          <p:cNvPr id="36" name="화살표: 위쪽/아래쪽 35">
            <a:extLst>
              <a:ext uri="{FF2B5EF4-FFF2-40B4-BE49-F238E27FC236}">
                <a16:creationId xmlns:a16="http://schemas.microsoft.com/office/drawing/2014/main" id="{51144EE1-D269-8483-4530-F2AA64FE6898}"/>
              </a:ext>
            </a:extLst>
          </p:cNvPr>
          <p:cNvSpPr/>
          <p:nvPr/>
        </p:nvSpPr>
        <p:spPr>
          <a:xfrm>
            <a:off x="3368824" y="2420888"/>
            <a:ext cx="152869" cy="211339"/>
          </a:xfrm>
          <a:prstGeom prst="upDownArrow">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pic>
        <p:nvPicPr>
          <p:cNvPr id="40" name="Picture 2" descr="클라우드 서버 - 무료 여러 가지 잡다한개 아이콘">
            <a:extLst>
              <a:ext uri="{FF2B5EF4-FFF2-40B4-BE49-F238E27FC236}">
                <a16:creationId xmlns:a16="http://schemas.microsoft.com/office/drawing/2014/main" id="{2A5AE5FD-B4C1-02C7-3FE2-D11472D1A8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4274" y="2592456"/>
            <a:ext cx="1883905" cy="1883905"/>
          </a:xfrm>
          <a:prstGeom prst="rect">
            <a:avLst/>
          </a:prstGeom>
          <a:noFill/>
          <a:extLst>
            <a:ext uri="{909E8E84-426E-40DD-AFC4-6F175D3DCCD1}">
              <a14:hiddenFill xmlns:a14="http://schemas.microsoft.com/office/drawing/2010/main">
                <a:solidFill>
                  <a:srgbClr val="FFFFFF"/>
                </a:solidFill>
              </a14:hiddenFill>
            </a:ext>
          </a:extLst>
        </p:spPr>
      </p:pic>
      <p:sp>
        <p:nvSpPr>
          <p:cNvPr id="41" name="화살표: 왼쪽/오른쪽 40">
            <a:extLst>
              <a:ext uri="{FF2B5EF4-FFF2-40B4-BE49-F238E27FC236}">
                <a16:creationId xmlns:a16="http://schemas.microsoft.com/office/drawing/2014/main" id="{73D1EB86-3688-9E5A-1D4A-998A383AB22B}"/>
              </a:ext>
            </a:extLst>
          </p:cNvPr>
          <p:cNvSpPr/>
          <p:nvPr/>
        </p:nvSpPr>
        <p:spPr>
          <a:xfrm>
            <a:off x="6393160" y="3429000"/>
            <a:ext cx="1354232" cy="299678"/>
          </a:xfrm>
          <a:prstGeom prst="leftRightArrow">
            <a:avLst/>
          </a:prstGeom>
          <a:solidFill>
            <a:srgbClr val="4D81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u="none" dirty="0">
                <a:solidFill>
                  <a:schemeClr val="bg1"/>
                </a:solidFill>
                <a:latin typeface="맑은 고딕" panose="020B0503020000020004" pitchFamily="50" charset="-127"/>
                <a:ea typeface="맑은 고딕" panose="020B0503020000020004" pitchFamily="50" charset="-127"/>
              </a:rPr>
              <a:t>Online</a:t>
            </a:r>
            <a:endParaRPr lang="ko-KR" altLang="en-US" sz="1000" u="none" dirty="0">
              <a:solidFill>
                <a:schemeClr val="bg1"/>
              </a:solidFill>
              <a:latin typeface="맑은 고딕" panose="020B0503020000020004" pitchFamily="50" charset="-127"/>
              <a:ea typeface="맑은 고딕" panose="020B0503020000020004" pitchFamily="50" charset="-127"/>
            </a:endParaRPr>
          </a:p>
        </p:txBody>
      </p:sp>
      <p:sp>
        <p:nvSpPr>
          <p:cNvPr id="3" name="사각형: 둥근 모서리 2">
            <a:extLst>
              <a:ext uri="{FF2B5EF4-FFF2-40B4-BE49-F238E27FC236}">
                <a16:creationId xmlns:a16="http://schemas.microsoft.com/office/drawing/2014/main" id="{3DC6F445-11AE-5B27-5EF8-997F4804DEA2}"/>
              </a:ext>
            </a:extLst>
          </p:cNvPr>
          <p:cNvSpPr/>
          <p:nvPr/>
        </p:nvSpPr>
        <p:spPr>
          <a:xfrm>
            <a:off x="3656856" y="2494005"/>
            <a:ext cx="648072" cy="137112"/>
          </a:xfrm>
          <a:prstGeom prst="roundRect">
            <a:avLst>
              <a:gd name="adj" fmla="val 50000"/>
            </a:avLst>
          </a:prstGeom>
          <a:solidFill>
            <a:schemeClr val="accent5">
              <a:lumMod val="25000"/>
            </a:schemeClr>
          </a:solidFill>
        </p:spPr>
        <p:txBody>
          <a:bodyPr wrap="square" rtlCol="0" anchor="ctr">
            <a:noAutofit/>
          </a:bodyPr>
          <a:lstStyle/>
          <a:p>
            <a:pPr algn="ctr"/>
            <a:r>
              <a:rPr lang="en-US" altLang="ko-KR" sz="800" u="none" dirty="0">
                <a:solidFill>
                  <a:schemeClr val="bg1"/>
                </a:solidFill>
                <a:latin typeface="맑은 고딕" panose="020B0503020000020004" pitchFamily="50" charset="-127"/>
                <a:ea typeface="맑은 고딕" panose="020B0503020000020004" pitchFamily="50" charset="-127"/>
              </a:rPr>
              <a:t>offline</a:t>
            </a:r>
            <a:endParaRPr lang="ko-KR" altLang="en-US" sz="800" u="none" dirty="0">
              <a:solidFill>
                <a:schemeClr val="bg1"/>
              </a:solidFill>
              <a:latin typeface="맑은 고딕" panose="020B0503020000020004" pitchFamily="50" charset="-127"/>
              <a:ea typeface="맑은 고딕" panose="020B0503020000020004" pitchFamily="50" charset="-127"/>
            </a:endParaRPr>
          </a:p>
        </p:txBody>
      </p:sp>
      <p:sp>
        <p:nvSpPr>
          <p:cNvPr id="44" name="사각형: 둥근 모서리 43">
            <a:extLst>
              <a:ext uri="{FF2B5EF4-FFF2-40B4-BE49-F238E27FC236}">
                <a16:creationId xmlns:a16="http://schemas.microsoft.com/office/drawing/2014/main" id="{78DE0021-CA21-B330-99E7-084DD282D4F6}"/>
              </a:ext>
            </a:extLst>
          </p:cNvPr>
          <p:cNvSpPr/>
          <p:nvPr/>
        </p:nvSpPr>
        <p:spPr>
          <a:xfrm>
            <a:off x="3728864" y="5626353"/>
            <a:ext cx="648072" cy="137112"/>
          </a:xfrm>
          <a:prstGeom prst="roundRect">
            <a:avLst>
              <a:gd name="adj" fmla="val 50000"/>
            </a:avLst>
          </a:prstGeom>
          <a:solidFill>
            <a:schemeClr val="accent5">
              <a:lumMod val="25000"/>
            </a:schemeClr>
          </a:solidFill>
        </p:spPr>
        <p:txBody>
          <a:bodyPr wrap="square" rtlCol="0" anchor="ctr">
            <a:noAutofit/>
          </a:bodyPr>
          <a:lstStyle/>
          <a:p>
            <a:pPr algn="ctr"/>
            <a:r>
              <a:rPr lang="en-US" altLang="ko-KR" sz="800" u="none" dirty="0">
                <a:solidFill>
                  <a:schemeClr val="bg1"/>
                </a:solidFill>
                <a:latin typeface="맑은 고딕" panose="020B0503020000020004" pitchFamily="50" charset="-127"/>
                <a:ea typeface="맑은 고딕" panose="020B0503020000020004" pitchFamily="50" charset="-127"/>
              </a:rPr>
              <a:t>offline</a:t>
            </a:r>
            <a:endParaRPr lang="ko-KR" altLang="en-US" sz="800" u="none" dirty="0">
              <a:solidFill>
                <a:schemeClr val="bg1"/>
              </a:solidFill>
              <a:latin typeface="맑은 고딕" panose="020B0503020000020004" pitchFamily="50" charset="-127"/>
              <a:ea typeface="맑은 고딕" panose="020B0503020000020004" pitchFamily="50" charset="-127"/>
            </a:endParaRPr>
          </a:p>
        </p:txBody>
      </p:sp>
      <p:sp>
        <p:nvSpPr>
          <p:cNvPr id="47" name="화살표: 위쪽/아래쪽 46">
            <a:extLst>
              <a:ext uri="{FF2B5EF4-FFF2-40B4-BE49-F238E27FC236}">
                <a16:creationId xmlns:a16="http://schemas.microsoft.com/office/drawing/2014/main" id="{E18AC3E3-A670-E631-A818-FFF7E7160FB4}"/>
              </a:ext>
            </a:extLst>
          </p:cNvPr>
          <p:cNvSpPr/>
          <p:nvPr/>
        </p:nvSpPr>
        <p:spPr>
          <a:xfrm>
            <a:off x="3440832" y="5589240"/>
            <a:ext cx="152869" cy="211339"/>
          </a:xfrm>
          <a:prstGeom prst="upDownArrow">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u="none" dirty="0">
              <a:latin typeface="맑은 고딕" panose="020B0503020000020004" pitchFamily="50" charset="-127"/>
              <a:ea typeface="맑은 고딕" panose="020B0503020000020004" pitchFamily="50" charset="-127"/>
            </a:endParaRPr>
          </a:p>
        </p:txBody>
      </p:sp>
      <p:sp>
        <p:nvSpPr>
          <p:cNvPr id="48" name="사각형: 둥근 모서리 47">
            <a:extLst>
              <a:ext uri="{FF2B5EF4-FFF2-40B4-BE49-F238E27FC236}">
                <a16:creationId xmlns:a16="http://schemas.microsoft.com/office/drawing/2014/main" id="{7B5F8934-028C-AFB5-0EE1-159A228459EA}"/>
              </a:ext>
            </a:extLst>
          </p:cNvPr>
          <p:cNvSpPr/>
          <p:nvPr/>
        </p:nvSpPr>
        <p:spPr>
          <a:xfrm>
            <a:off x="2540732" y="1052736"/>
            <a:ext cx="2016224" cy="281129"/>
          </a:xfrm>
          <a:prstGeom prst="roundRect">
            <a:avLst>
              <a:gd name="adj" fmla="val 18112"/>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IVI Device</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
        <p:nvSpPr>
          <p:cNvPr id="50" name="사각형: 둥근 모서리 49">
            <a:extLst>
              <a:ext uri="{FF2B5EF4-FFF2-40B4-BE49-F238E27FC236}">
                <a16:creationId xmlns:a16="http://schemas.microsoft.com/office/drawing/2014/main" id="{D2E7A768-CF0A-3897-6177-C961476E8E3F}"/>
              </a:ext>
            </a:extLst>
          </p:cNvPr>
          <p:cNvSpPr/>
          <p:nvPr/>
        </p:nvSpPr>
        <p:spPr>
          <a:xfrm>
            <a:off x="7977336" y="4437112"/>
            <a:ext cx="1080120" cy="209121"/>
          </a:xfrm>
          <a:prstGeom prst="roundRect">
            <a:avLst>
              <a:gd name="adj" fmla="val 50000"/>
            </a:avLst>
          </a:prstGeom>
          <a:solidFill>
            <a:srgbClr val="4D81C2"/>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Cloud API</a:t>
            </a:r>
            <a:endParaRPr lang="ko-KR" altLang="en-US" sz="1050" b="1" u="none" dirty="0">
              <a:solidFill>
                <a:schemeClr val="bg1"/>
              </a:solidFill>
              <a:latin typeface="맑은 고딕" panose="020B0503020000020004" pitchFamily="50" charset="-127"/>
              <a:ea typeface="맑은 고딕" panose="020B0503020000020004" pitchFamily="50" charset="-127"/>
            </a:endParaRPr>
          </a:p>
        </p:txBody>
      </p:sp>
      <p:sp>
        <p:nvSpPr>
          <p:cNvPr id="13312" name="사각형: 둥근 모서리 13311">
            <a:extLst>
              <a:ext uri="{FF2B5EF4-FFF2-40B4-BE49-F238E27FC236}">
                <a16:creationId xmlns:a16="http://schemas.microsoft.com/office/drawing/2014/main" id="{595FD3F5-55DA-2CA3-EEC8-6DA82FA1AB18}"/>
              </a:ext>
            </a:extLst>
          </p:cNvPr>
          <p:cNvSpPr/>
          <p:nvPr/>
        </p:nvSpPr>
        <p:spPr>
          <a:xfrm>
            <a:off x="560512" y="5805264"/>
            <a:ext cx="5832648" cy="360040"/>
          </a:xfrm>
          <a:prstGeom prst="roundRect">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Android OS</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
        <p:nvSpPr>
          <p:cNvPr id="13315" name="사각형: 둥근 모서리 13314">
            <a:extLst>
              <a:ext uri="{FF2B5EF4-FFF2-40B4-BE49-F238E27FC236}">
                <a16:creationId xmlns:a16="http://schemas.microsoft.com/office/drawing/2014/main" id="{5F2E3D62-3033-17AB-CD97-D2E043137114}"/>
              </a:ext>
            </a:extLst>
          </p:cNvPr>
          <p:cNvSpPr/>
          <p:nvPr/>
        </p:nvSpPr>
        <p:spPr>
          <a:xfrm>
            <a:off x="560512" y="6201308"/>
            <a:ext cx="5832648" cy="360040"/>
          </a:xfrm>
          <a:prstGeom prst="roundRect">
            <a:avLst/>
          </a:prstGeom>
          <a:solidFill>
            <a:srgbClr val="003366"/>
          </a:solidFill>
        </p:spPr>
        <p:txBody>
          <a:bodyPr rtlCol="0" anchor="ctr">
            <a:noAutofit/>
          </a:bodyPr>
          <a:lstStyle/>
          <a:p>
            <a:pPr algn="ctr"/>
            <a:r>
              <a:rPr lang="en-US" altLang="ko-KR" sz="1000" b="1" u="none" dirty="0">
                <a:solidFill>
                  <a:schemeClr val="bg1"/>
                </a:solidFill>
                <a:latin typeface="맑은 고딕" panose="020B0503020000020004" pitchFamily="50" charset="-127"/>
                <a:ea typeface="맑은 고딕" panose="020B0503020000020004" pitchFamily="50" charset="-127"/>
              </a:rPr>
              <a:t>Hardware</a:t>
            </a:r>
          </a:p>
          <a:p>
            <a:pPr algn="ctr"/>
            <a:r>
              <a:rPr lang="en-US" altLang="ko-KR" sz="1000" b="1" u="none" dirty="0">
                <a:solidFill>
                  <a:schemeClr val="bg1"/>
                </a:solidFill>
                <a:latin typeface="맑은 고딕" panose="020B0503020000020004" pitchFamily="50" charset="-127"/>
                <a:ea typeface="맑은 고딕" panose="020B0503020000020004" pitchFamily="50" charset="-127"/>
              </a:rPr>
              <a:t>(CPU, NPU, RAM, Storage, Sensors, ...)</a:t>
            </a:r>
            <a:endParaRPr lang="ko-KR" altLang="en-US" sz="1000" b="1" u="none" dirty="0">
              <a:solidFill>
                <a:schemeClr val="bg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5069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443B-1C73-588C-5D11-7690E28C0FB2}"/>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EC29D42-616D-7A28-DF2F-21785E24DAAB}"/>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6.</a:t>
            </a:r>
            <a:r>
              <a:rPr lang="ko-KR" altLang="en-US" sz="2400" u="none" dirty="0">
                <a:solidFill>
                  <a:schemeClr val="tx1"/>
                </a:solidFill>
                <a:latin typeface="맑은 고딕" panose="020B0503020000020004" pitchFamily="50" charset="-127"/>
                <a:ea typeface="맑은 고딕" panose="020B0503020000020004" pitchFamily="50" charset="-127"/>
              </a:rPr>
              <a:t> 개발 내용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46" name="TextBox 9">
            <a:extLst>
              <a:ext uri="{FF2B5EF4-FFF2-40B4-BE49-F238E27FC236}">
                <a16:creationId xmlns:a16="http://schemas.microsoft.com/office/drawing/2014/main" id="{9934DEC4-AC53-3E50-8DE3-45E787F1D7DB}"/>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전체 모듈간 연동관계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
        <p:nvSpPr>
          <p:cNvPr id="44" name="텍스트 상자 2">
            <a:extLst>
              <a:ext uri="{FF2B5EF4-FFF2-40B4-BE49-F238E27FC236}">
                <a16:creationId xmlns:a16="http://schemas.microsoft.com/office/drawing/2014/main" id="{A05423B6-F57A-684D-6739-FA60485D9098}"/>
              </a:ext>
            </a:extLst>
          </p:cNvPr>
          <p:cNvSpPr txBox="1">
            <a:spLocks/>
          </p:cNvSpPr>
          <p:nvPr/>
        </p:nvSpPr>
        <p:spPr>
          <a:xfrm>
            <a:off x="5667911" y="1000473"/>
            <a:ext cx="4073841" cy="5299528"/>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음성 질의를 통해 사용자 질의를 받습니다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차량에 대한 질문은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답변을 생성하고 그 외의 질문은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모델</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Gemini, Claude)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활용하여 질문에 대한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Semantic 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역할을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질문의 맥락을 판단하여 답변을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On-Device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통하여 생성할지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생성할지를 결정합니다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또한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차량제어 요청을 실행하는 역할도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 STT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사용자의 음성데이터를 텍스트로 반환하여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음성 발화 기능을 제공하여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답변을 사용자에게 음성으로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 Weather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날씨 관련 질문에 대한 정보를 제공하며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Current Weather Data</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5 Day/3 Hour Forecast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사용자의 날씨 요청에 응답합니다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API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geocoding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기능을 통해 위치 및 장소 기반 질문에 대한 정보를 처리합니다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 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음악에 대한 요청을 입력 받아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축적된 사용자의 노래 데이터베이스를 참고하여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4" name="그림 3">
            <a:extLst>
              <a:ext uri="{FF2B5EF4-FFF2-40B4-BE49-F238E27FC236}">
                <a16:creationId xmlns:a16="http://schemas.microsoft.com/office/drawing/2014/main" id="{2E73546E-1EA3-C186-A8D3-0FE1B3FF2F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412776"/>
            <a:ext cx="5040560" cy="5040560"/>
          </a:xfrm>
          <a:prstGeom prst="rect">
            <a:avLst/>
          </a:prstGeom>
        </p:spPr>
      </p:pic>
    </p:spTree>
    <p:extLst>
      <p:ext uri="{BB962C8B-B14F-4D97-AF65-F5344CB8AC3E}">
        <p14:creationId xmlns:p14="http://schemas.microsoft.com/office/powerpoint/2010/main" val="108577595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BA0B-7835-5027-82F7-0EF9E1620C2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FCC61A43-6F70-AB7F-BFF7-20B8966B6C27}"/>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987C46F8-8EB6-01A0-A900-E7B5AE4D975E}"/>
              </a:ext>
            </a:extLst>
          </p:cNvPr>
          <p:cNvSpPr txBox="1">
            <a:spLocks/>
          </p:cNvSpPr>
          <p:nvPr/>
        </p:nvSpPr>
        <p:spPr>
          <a:xfrm>
            <a:off x="5141640" y="1570135"/>
            <a:ext cx="4575247" cy="3288272"/>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 질의가 입력되면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질문을 분석합니다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 관련된 질문은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 Service</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GPT Service</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답변을 생성하고 전달합니다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 관련된 답변은 일반형과 절차형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2</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가지 유형으로 분류됩니다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일반형 답변은 이미지와 텍스트 스트리밍으로 구성됩니다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절차형 답변은 단계별로 이미지와 텍스트가 전달됩니다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차량과 관련 없는 질문은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통하여 답변을 생성합니다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이를 통해 차량 도메인은 온 디바이스에서 안전하게 처리하고</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그 외의 정보는 외부 </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API</a:t>
            </a:r>
            <a:r>
              <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와 연동하여 정확도와 확장성을 동시에 확보했습니다</a:t>
            </a:r>
            <a:r>
              <a:rPr lang="en-US" altLang="ko-KR"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2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5" name="그림 4">
            <a:extLst>
              <a:ext uri="{FF2B5EF4-FFF2-40B4-BE49-F238E27FC236}">
                <a16:creationId xmlns:a16="http://schemas.microsoft.com/office/drawing/2014/main" id="{719C0406-7505-5188-4DE4-A2D3FFAD7A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245494"/>
            <a:ext cx="4653136" cy="4653136"/>
          </a:xfrm>
          <a:prstGeom prst="rect">
            <a:avLst/>
          </a:prstGeom>
        </p:spPr>
      </p:pic>
      <p:sp>
        <p:nvSpPr>
          <p:cNvPr id="4" name="TextBox 9">
            <a:extLst>
              <a:ext uri="{FF2B5EF4-FFF2-40B4-BE49-F238E27FC236}">
                <a16:creationId xmlns:a16="http://schemas.microsoft.com/office/drawing/2014/main" id="{D1B87453-2F3B-5F9E-11EF-315DF57B0786}"/>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Q&amp;A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341537849"/>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980CF-F2F8-3574-63E2-60A4FF3B370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BF49C4F-FCFA-AECF-6033-924F1C40A161}"/>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FA3A534D-061E-B9E1-9559-64ECFF64757B}"/>
              </a:ext>
            </a:extLst>
          </p:cNvPr>
          <p:cNvSpPr txBox="1">
            <a:spLocks/>
          </p:cNvSpPr>
          <p:nvPr/>
        </p:nvSpPr>
        <p:spPr>
          <a:xfrm>
            <a:off x="5313040" y="2132856"/>
            <a:ext cx="4289865" cy="2083263"/>
          </a:xfrm>
          <a:prstGeom prst="rect">
            <a:avLst/>
          </a:prstGeom>
          <a:noFill/>
        </p:spPr>
        <p:txBody>
          <a:bodyPr vert="horz" wrap="square" lIns="0" tIns="0" rIns="0" bIns="0" anchor="t">
            <a:spAutoFit/>
          </a:bodyPr>
          <a:lstStyle/>
          <a:p>
            <a:pPr marL="180000" indent="-180000">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입력되면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통해 요청을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지원하는 차량제어목록에 해당되면</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a:lnSpc>
                <a:spcPct val="150000"/>
              </a:lnSpc>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AIDL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서비스를 통하여 차량을 제어합니다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지원하는 차량제어목록은 볼륨</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온도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밝기 총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3</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가지입니다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온도제어 기능을 사용하기위해서는 타겟 디바이스 초기 스크립트 설정이 필요합니다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차량제어가 완료된 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제어완료 문구를 사용자에게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57481040-B8A2-29C6-920A-2FEC1E8CC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248" y="1340768"/>
            <a:ext cx="4913784" cy="4913784"/>
          </a:xfrm>
          <a:prstGeom prst="rect">
            <a:avLst/>
          </a:prstGeom>
        </p:spPr>
      </p:pic>
      <p:sp>
        <p:nvSpPr>
          <p:cNvPr id="4" name="TextBox 9">
            <a:extLst>
              <a:ext uri="{FF2B5EF4-FFF2-40B4-BE49-F238E27FC236}">
                <a16:creationId xmlns:a16="http://schemas.microsoft.com/office/drawing/2014/main" id="{EDC20D24-0DDB-D8FA-8153-004153D93823}"/>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Control</a:t>
            </a:r>
            <a:r>
              <a:rPr lang="ko-KR" altLang="en-US" u="none" dirty="0">
                <a:solidFill>
                  <a:schemeClr val="tx1"/>
                </a:solidFill>
                <a:latin typeface="맑은 고딕" panose="020B0503020000020004" pitchFamily="50" charset="-127"/>
                <a:ea typeface="맑은 고딕" panose="020B0503020000020004" pitchFamily="50" charset="-127"/>
              </a:rPr>
              <a:t> 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560951547"/>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F60A7-2AAD-111F-1152-AB1C5D40268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A89865CA-AE07-D297-9464-B8850A529BD0}"/>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7708037E-FE46-B11E-0AC4-BD1C236CE38F}"/>
              </a:ext>
            </a:extLst>
          </p:cNvPr>
          <p:cNvSpPr txBox="1">
            <a:spLocks/>
          </p:cNvSpPr>
          <p:nvPr/>
        </p:nvSpPr>
        <p:spPr>
          <a:xfrm>
            <a:off x="5601072" y="1700808"/>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개인화</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반영하여 사용자 친화적인 음악 추천서비스를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음악요청을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Music 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카테고리를 분류합니다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요청을 분석하여 키워드를 추출하고 개인화된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추천이 필요할 경우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사용자의 플레이리스트 이력을 참고하여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단순 키워드로 분류될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조회하지 않고 바로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추천 곡을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 곡 생성방식을 참고하여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으로 추천사유 문구를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추천사유 문구는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사용자에게 음성으로 전달됩니다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71450" indent="-171450">
              <a:lnSpc>
                <a:spcPct val="150000"/>
              </a:lnSpc>
              <a:buFont typeface="Arial" panose="020B0604020202020204"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추천 곡은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노래를 재생할 수 있습니다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6518643F-81C7-C244-1084-EA373CAF2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245494"/>
            <a:ext cx="5057800" cy="5057800"/>
          </a:xfrm>
          <a:prstGeom prst="rect">
            <a:avLst/>
          </a:prstGeom>
        </p:spPr>
      </p:pic>
      <p:sp>
        <p:nvSpPr>
          <p:cNvPr id="4" name="TextBox 9">
            <a:extLst>
              <a:ext uri="{FF2B5EF4-FFF2-40B4-BE49-F238E27FC236}">
                <a16:creationId xmlns:a16="http://schemas.microsoft.com/office/drawing/2014/main" id="{4DBB5302-9D59-C5D7-FD00-D4A13D58122E}"/>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Live AI DJ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43699536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C315-3550-B7A9-7933-58078115AA4D}"/>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60F5596-4FBE-20CA-977A-92A706B4B307}"/>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pic>
        <p:nvPicPr>
          <p:cNvPr id="3" name="Picture 2">
            <a:extLst>
              <a:ext uri="{FF2B5EF4-FFF2-40B4-BE49-F238E27FC236}">
                <a16:creationId xmlns:a16="http://schemas.microsoft.com/office/drawing/2014/main" id="{AD1BDB86-BE9C-C030-8453-507AA91B92D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472" y="1000473"/>
            <a:ext cx="5491061" cy="4012703"/>
          </a:xfrm>
          <a:prstGeom prst="rect">
            <a:avLst/>
          </a:prstGeom>
          <a:noFill/>
          <a:extLst>
            <a:ext uri="{909E8E84-426E-40DD-AFC4-6F175D3DCCD1}">
              <a14:hiddenFill xmlns:a14="http://schemas.microsoft.com/office/drawing/2010/main">
                <a:solidFill>
                  <a:srgbClr val="FFFFFF"/>
                </a:solidFill>
              </a14:hiddenFill>
            </a:ext>
          </a:extLst>
        </p:spPr>
      </p:pic>
      <p:sp>
        <p:nvSpPr>
          <p:cNvPr id="2" name="텍스트 상자 2">
            <a:extLst>
              <a:ext uri="{FF2B5EF4-FFF2-40B4-BE49-F238E27FC236}">
                <a16:creationId xmlns:a16="http://schemas.microsoft.com/office/drawing/2014/main" id="{6A445321-BFA0-7A67-899D-ADA776B37005}"/>
              </a:ext>
            </a:extLst>
          </p:cNvPr>
          <p:cNvSpPr txBox="1">
            <a:spLocks/>
          </p:cNvSpPr>
          <p:nvPr/>
        </p:nvSpPr>
        <p:spPr>
          <a:xfrm>
            <a:off x="5691533" y="1772816"/>
            <a:ext cx="4073841" cy="2252540"/>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질의가 들어오면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쪽으로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라우팅됩니다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이때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질의에서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지역명</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장소명</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장소 카테고리 정보 등을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지역명의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geocoding API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카테고리 기준 검색을 시도하기 위해 위도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경도 데이터를 가져오고 위도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경도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카테고리를 기준으로 타겟 지역 주변 장소를 검색합니다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검색된 주변 장소 데이터를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입력받아</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적절한 자연어 응답을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sp>
        <p:nvSpPr>
          <p:cNvPr id="5" name="TextBox 9">
            <a:extLst>
              <a:ext uri="{FF2B5EF4-FFF2-40B4-BE49-F238E27FC236}">
                <a16:creationId xmlns:a16="http://schemas.microsoft.com/office/drawing/2014/main" id="{9344C805-AA87-E83B-9207-BF0921DE3D6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Function Calling(</a:t>
            </a:r>
            <a:r>
              <a:rPr lang="ko-KR" altLang="en-US" u="none" dirty="0">
                <a:solidFill>
                  <a:schemeClr val="tx1"/>
                </a:solidFill>
                <a:latin typeface="맑은 고딕" panose="020B0503020000020004" pitchFamily="50" charset="-127"/>
                <a:ea typeface="맑은 고딕" panose="020B0503020000020004" pitchFamily="50" charset="-127"/>
              </a:rPr>
              <a:t>장소 질의</a:t>
            </a:r>
            <a:r>
              <a:rPr lang="en-US" altLang="ko-KR" u="none" dirty="0">
                <a:solidFill>
                  <a:schemeClr val="tx1"/>
                </a:solidFill>
                <a:latin typeface="맑은 고딕" panose="020B0503020000020004" pitchFamily="50" charset="-127"/>
                <a:ea typeface="맑은 고딕" panose="020B0503020000020004" pitchFamily="50" charset="-127"/>
              </a:rPr>
              <a:t>)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70200963"/>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2EFA0-9E2C-FA7E-EF67-886ACC0373C9}"/>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8164A3B-F4C8-9B20-2E23-57BF183BD2C0}"/>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7.</a:t>
            </a:r>
            <a:r>
              <a:rPr lang="ko-KR" altLang="en-US" sz="2400" u="none" dirty="0">
                <a:solidFill>
                  <a:schemeClr val="tx1"/>
                </a:solidFill>
                <a:latin typeface="맑은 고딕" panose="020B0503020000020004" pitchFamily="50" charset="-127"/>
                <a:ea typeface="맑은 고딕" panose="020B0503020000020004" pitchFamily="50" charset="-127"/>
              </a:rPr>
              <a:t> </a:t>
            </a:r>
            <a:r>
              <a:rPr lang="en-US" altLang="ko-KR" sz="2400" u="none" dirty="0">
                <a:solidFill>
                  <a:schemeClr val="tx1"/>
                </a:solidFill>
                <a:latin typeface="맑은 고딕" panose="020B0503020000020004" pitchFamily="50" charset="-127"/>
                <a:ea typeface="맑은 고딕" panose="020B0503020000020004" pitchFamily="50" charset="-127"/>
              </a:rPr>
              <a:t>AI Agent SW </a:t>
            </a:r>
            <a:r>
              <a:rPr lang="ko-KR" altLang="en-US" sz="2400" u="none" dirty="0">
                <a:solidFill>
                  <a:schemeClr val="tx1"/>
                </a:solidFill>
                <a:latin typeface="맑은 고딕" panose="020B0503020000020004" pitchFamily="50" charset="-127"/>
                <a:ea typeface="맑은 고딕" panose="020B0503020000020004" pitchFamily="50" charset="-127"/>
              </a:rPr>
              <a:t>흐름도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pic>
        <p:nvPicPr>
          <p:cNvPr id="2" name="Picture 6">
            <a:extLst>
              <a:ext uri="{FF2B5EF4-FFF2-40B4-BE49-F238E27FC236}">
                <a16:creationId xmlns:a16="http://schemas.microsoft.com/office/drawing/2014/main" id="{61C7E788-F199-A5F0-6F6B-2FCD2DBE172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589" y="1000473"/>
            <a:ext cx="5472483" cy="3154725"/>
          </a:xfrm>
          <a:prstGeom prst="rect">
            <a:avLst/>
          </a:prstGeom>
          <a:noFill/>
          <a:extLst>
            <a:ext uri="{909E8E84-426E-40DD-AFC4-6F175D3DCCD1}">
              <a14:hiddenFill xmlns:a14="http://schemas.microsoft.com/office/drawing/2010/main">
                <a:solidFill>
                  <a:srgbClr val="FFFFFF"/>
                </a:solidFill>
              </a14:hiddenFill>
            </a:ext>
          </a:extLst>
        </p:spPr>
      </p:pic>
      <p:sp>
        <p:nvSpPr>
          <p:cNvPr id="3" name="텍스트 상자 2">
            <a:extLst>
              <a:ext uri="{FF2B5EF4-FFF2-40B4-BE49-F238E27FC236}">
                <a16:creationId xmlns:a16="http://schemas.microsoft.com/office/drawing/2014/main" id="{3543A403-036E-8E90-DAB7-FD1A8E489A58}"/>
              </a:ext>
            </a:extLst>
          </p:cNvPr>
          <p:cNvSpPr txBox="1">
            <a:spLocks/>
          </p:cNvSpPr>
          <p:nvPr/>
        </p:nvSpPr>
        <p:spPr>
          <a:xfrm>
            <a:off x="5643045" y="1160109"/>
            <a:ext cx="4073841" cy="3522118"/>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날씨 질의로 분류되면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반환하고 클라우드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입력된 정보에 따라 날씨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발생되어 질의에서 사용자가 물어보는 날짜</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지역 정보를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추출된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JSON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결과를 바탕으로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OpenWeather</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시간별 기온</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습도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강수 가능성</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강수량과 같은 데이터를 받아오고 해당 결과를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prompt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포함시켜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모델 답변을 요청합니다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즉</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OpenAI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2</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번 호출이 되며 첫번째 호출에서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발생시키고</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두번째 호출에서는 날씨 정보를 토대로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답변은 앱으로 전달되어 사용자에게 전달됩니다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sp>
        <p:nvSpPr>
          <p:cNvPr id="5" name="TextBox 9">
            <a:extLst>
              <a:ext uri="{FF2B5EF4-FFF2-40B4-BE49-F238E27FC236}">
                <a16:creationId xmlns:a16="http://schemas.microsoft.com/office/drawing/2014/main" id="{95890138-8A88-743F-C6DD-1E73641383D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Function Calling(</a:t>
            </a:r>
            <a:r>
              <a:rPr lang="ko-KR" altLang="en-US" u="none" dirty="0">
                <a:solidFill>
                  <a:schemeClr val="tx1"/>
                </a:solidFill>
                <a:latin typeface="맑은 고딕" panose="020B0503020000020004" pitchFamily="50" charset="-127"/>
                <a:ea typeface="맑은 고딕" panose="020B0503020000020004" pitchFamily="50" charset="-127"/>
              </a:rPr>
              <a:t>날씨 질의</a:t>
            </a:r>
            <a:r>
              <a:rPr lang="en-US" altLang="ko-KR" u="none" dirty="0">
                <a:solidFill>
                  <a:schemeClr val="tx1"/>
                </a:solidFill>
                <a:latin typeface="맑은 고딕" panose="020B0503020000020004" pitchFamily="50" charset="-127"/>
                <a:ea typeface="맑은 고딕" panose="020B0503020000020004" pitchFamily="50" charset="-127"/>
              </a:rPr>
              <a:t>) </a:t>
            </a:r>
            <a:r>
              <a:rPr lang="ko-KR" altLang="en-US" u="none" dirty="0">
                <a:solidFill>
                  <a:schemeClr val="tx1"/>
                </a:solidFill>
                <a:latin typeface="맑은 고딕" panose="020B0503020000020004" pitchFamily="50" charset="-127"/>
                <a:ea typeface="맑은 고딕" panose="020B0503020000020004" pitchFamily="50" charset="-127"/>
              </a:rPr>
              <a:t>흐름도</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736020813"/>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A119-FD7C-1C51-FABC-FB37CAD1F84C}"/>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57B350D2-09EB-0112-BCD5-70E9722D84A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019F4E86-E0E2-85AE-6B20-09A0E5D1D547}"/>
              </a:ext>
            </a:extLst>
          </p:cNvPr>
          <p:cNvSpPr txBox="1">
            <a:spLocks/>
          </p:cNvSpPr>
          <p:nvPr/>
        </p:nvSpPr>
        <p:spPr>
          <a:xfrm>
            <a:off x="5643045" y="1772816"/>
            <a:ext cx="4073841" cy="4283865"/>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질문을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질문을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먼저</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질문을 분석하여 차량 질문인지 그 외 질문인지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적절한 답변과 이미지가 존재할 경우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매뉴얼 데이터에서 적절한 답변을 찾지 못할 경우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Cloud LLM(OpenAI,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Gemini,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Claude)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호출하여 최종 답변을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답변은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이를 음성으로 변환하여 사용자에게 제공합니다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각 답변 생성과정을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Voice Chrome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과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AIMO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캐릭터 애니메이션을 통하여 사용자에게 알려줍니다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전체 흐름은 질문 입력 → 카테고리 분류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RAG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검색</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선택</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 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응답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6" name="그림 5">
            <a:extLst>
              <a:ext uri="{FF2B5EF4-FFF2-40B4-BE49-F238E27FC236}">
                <a16:creationId xmlns:a16="http://schemas.microsoft.com/office/drawing/2014/main" id="{2E1D759C-EB3C-8809-4195-114B1A0083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924" y="1160108"/>
            <a:ext cx="4805108" cy="5302189"/>
          </a:xfrm>
          <a:prstGeom prst="rect">
            <a:avLst/>
          </a:prstGeom>
        </p:spPr>
      </p:pic>
      <p:sp>
        <p:nvSpPr>
          <p:cNvPr id="4" name="TextBox 9">
            <a:extLst>
              <a:ext uri="{FF2B5EF4-FFF2-40B4-BE49-F238E27FC236}">
                <a16:creationId xmlns:a16="http://schemas.microsoft.com/office/drawing/2014/main" id="{85FABAC0-F5F9-7592-B905-1FF19C83F032}"/>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Vehicle Q&amp;A</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4230843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3B24-DD25-0F7C-4850-B258E7D5DB31}"/>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172C7919-CACF-E992-4303-0733A69D6E2C}"/>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F0BBF537-745E-A693-EEA2-B91D25AA83BD}"/>
              </a:ext>
            </a:extLst>
          </p:cNvPr>
          <p:cNvSpPr txBox="1">
            <a:spLocks/>
          </p:cNvSpPr>
          <p:nvPr/>
        </p:nvSpPr>
        <p:spPr>
          <a:xfrm>
            <a:off x="5631687" y="1988840"/>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요청을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요청을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Query Rewriter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미완성된 문장도 이전 대화내역을 참고하여 완성된 요청으로 인식되도록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요청이 현재 제공되는 차량제어목록에 해당되는지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온도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밝기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볼륨제어에 해당된다면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AIDL</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서비스를 통하여 차량을 제어합니다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차량제어가 완료된 이후</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차량제어완료 문구를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차량제어완료 문구를</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통하여 음성으로 사용자에게 전달합니다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제공하는 차량제어 목록이 아닐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반환합니다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전체 흐름은 요청 입력 → 카테고리 분류 → 차량제어→ 제어 완료 문구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13" name="그림 12">
            <a:extLst>
              <a:ext uri="{FF2B5EF4-FFF2-40B4-BE49-F238E27FC236}">
                <a16:creationId xmlns:a16="http://schemas.microsoft.com/office/drawing/2014/main" id="{0AC25A3D-4B49-2991-EDEE-1DA70BC8B0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88" y="1160109"/>
            <a:ext cx="4968552" cy="5133966"/>
          </a:xfrm>
          <a:prstGeom prst="rect">
            <a:avLst/>
          </a:prstGeom>
        </p:spPr>
      </p:pic>
      <p:sp>
        <p:nvSpPr>
          <p:cNvPr id="4" name="TextBox 9">
            <a:extLst>
              <a:ext uri="{FF2B5EF4-FFF2-40B4-BE49-F238E27FC236}">
                <a16:creationId xmlns:a16="http://schemas.microsoft.com/office/drawing/2014/main" id="{187D2148-9D3C-5A5E-EA55-DFB3510CC8FF}"/>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Vehicle Control</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375761866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262C6-A194-8099-00A8-02BE40C907C6}"/>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0536E879-A40D-D93A-BBE9-70677C2E019B}"/>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81DE392C-2AAA-1082-9631-C666F6B90D09}"/>
              </a:ext>
            </a:extLst>
          </p:cNvPr>
          <p:cNvSpPr txBox="1">
            <a:spLocks/>
          </p:cNvSpPr>
          <p:nvPr/>
        </p:nvSpPr>
        <p:spPr>
          <a:xfrm>
            <a:off x="5559679" y="1775315"/>
            <a:ext cx="4073841" cy="4029949"/>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요청을 입력하면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해당 요청을 이전의 대화내역을 참조하여 요청을 재구성합니다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Query Rewriter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미완성된 문장도 이전 대화내역을 참고하여 완성된 요청으로 인식되도록 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Orchestrator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NO_AGENT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반환될 경우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GPT 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 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실행 요청인지 판단합니다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Live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DJ</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실행이라면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MusicRouter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사용자의 요청을 분석합니다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개인화된 요청이라면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조회하여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Search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사용자의 요청이 개인화된 요청이 아니라면 바로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Spotify Search API</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호출합니다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Cloud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사용하여 추천 사유를 생성한다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endPar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를 사용하여 추천 사유를 음성으로 출력한다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이 전체 흐름은 요청 입력 → 요청 분석 → 개인화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DB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조회→ 노래 검색 → 추천사유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endPar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endParaRPr>
          </a:p>
        </p:txBody>
      </p:sp>
      <p:pic>
        <p:nvPicPr>
          <p:cNvPr id="8" name="그림 7">
            <a:extLst>
              <a:ext uri="{FF2B5EF4-FFF2-40B4-BE49-F238E27FC236}">
                <a16:creationId xmlns:a16="http://schemas.microsoft.com/office/drawing/2014/main" id="{1E57D62B-4516-F9FB-2B73-4E6B126E5F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588" y="1681062"/>
            <a:ext cx="5210784" cy="3789257"/>
          </a:xfrm>
          <a:prstGeom prst="rect">
            <a:avLst/>
          </a:prstGeom>
        </p:spPr>
      </p:pic>
      <p:sp>
        <p:nvSpPr>
          <p:cNvPr id="4" name="TextBox 9">
            <a:extLst>
              <a:ext uri="{FF2B5EF4-FFF2-40B4-BE49-F238E27FC236}">
                <a16:creationId xmlns:a16="http://schemas.microsoft.com/office/drawing/2014/main" id="{A9B09D47-6EEC-0F5C-843A-8279013D6D95}"/>
              </a:ext>
            </a:extLst>
          </p:cNvPr>
          <p:cNvSpPr txBox="1">
            <a:spLocks noChangeArrowheads="1"/>
          </p:cNvSpPr>
          <p:nvPr/>
        </p:nvSpPr>
        <p:spPr bwMode="auto">
          <a:xfrm>
            <a:off x="272480" y="692696"/>
            <a:ext cx="5040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Live AI DJ</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2891535963"/>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821F-A057-E995-3986-F819608E4B32}"/>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40121ECA-4E38-FBCA-1F18-B70CFD1D854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E33DEFEC-2283-50DF-9D17-2A87249123E8}"/>
              </a:ext>
            </a:extLst>
          </p:cNvPr>
          <p:cNvSpPr txBox="1">
            <a:spLocks/>
          </p:cNvSpPr>
          <p:nvPr/>
        </p:nvSpPr>
        <p:spPr>
          <a:xfrm>
            <a:off x="5643045" y="1160109"/>
            <a:ext cx="4073841" cy="5553443"/>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사용자가 질의를 하면</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해당 요청 문장을 쿼리 </a:t>
            </a:r>
            <a:r>
              <a:rPr lang="ko-KR" altLang="en-US"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리라이팅</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이후에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로 전달합니다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사용자의 요청이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날씨</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일 경우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NO_AGENT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를 반환하여 클라우드 답변 요청으로 분류합니다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클라우드 요청일 경우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OrchestratorManager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Cloud LLM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으로 답변 생성 요청을 보냅니다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 API</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사전에 정의된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조건에 따라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실행 여부를 판단하고</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필요한 파라미터를 분석하여 반환합니다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반환된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function calling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정보에 따라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getWeather</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를 호출하여 실제 날씨 데이터를 조회합니다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OpenWeather</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실시간 날씨 정보를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JSON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형태로 반환하며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GPS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기반 위치 정보가 필요할 경우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KakaoLocation</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API</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의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getCurrentLocation</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또는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findPositionByPlaceName</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을 통해 위</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경도 값을 조회합니다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p>
          <a:p>
            <a:pPr marL="180000" indent="-180000">
              <a:lnSpc>
                <a:spcPct val="150000"/>
              </a:lnSpc>
              <a:buFont typeface="Arial" pitchFamily="34" charset="0"/>
              <a:buChar char="•"/>
            </a:pP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OpenAIClient</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는 수집된 날씨 정보와 함께 답변 생성 요청을 보냄으로써</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사용자에게 전달할 최종 답변을 전달 받습니다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최종 답변은 </a:t>
            </a:r>
            <a:r>
              <a:rPr lang="en-US" altLang="ko-KR" sz="1100" u="none" dirty="0" err="1">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 TTS</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가 이를 음성으로 출력하여 사용자에게 제공합니다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전체 흐름은 기능 요청 →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의미 해석 → 기능 호출 판단 → 외부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API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연동 → 최종 답변 생성 → </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출력의 순서로 진행됩니다</a:t>
            </a:r>
            <a:r>
              <a:rPr lang="en-US" altLang="ko-KR" sz="1100" u="none" dirty="0">
                <a:solidFill>
                  <a:schemeClr val="tx1"/>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9335C0CC-61C6-8BC7-F314-AAF8D87248E3}"/>
              </a:ext>
            </a:extLst>
          </p:cNvPr>
          <p:cNvPicPr>
            <a:picLocks noChangeAspect="1"/>
          </p:cNvPicPr>
          <p:nvPr/>
        </p:nvPicPr>
        <p:blipFill>
          <a:blip r:embed="rId4"/>
          <a:stretch>
            <a:fillRect/>
          </a:stretch>
        </p:blipFill>
        <p:spPr>
          <a:xfrm>
            <a:off x="128588" y="1628800"/>
            <a:ext cx="5248833" cy="3838736"/>
          </a:xfrm>
          <a:prstGeom prst="rect">
            <a:avLst/>
          </a:prstGeom>
        </p:spPr>
      </p:pic>
      <p:sp>
        <p:nvSpPr>
          <p:cNvPr id="4" name="TextBox 9">
            <a:extLst>
              <a:ext uri="{FF2B5EF4-FFF2-40B4-BE49-F238E27FC236}">
                <a16:creationId xmlns:a16="http://schemas.microsoft.com/office/drawing/2014/main" id="{46CC5839-1F97-564F-98E1-2570E210DCDD}"/>
              </a:ext>
            </a:extLst>
          </p:cNvPr>
          <p:cNvSpPr txBox="1">
            <a:spLocks noChangeArrowheads="1"/>
          </p:cNvSpPr>
          <p:nvPr/>
        </p:nvSpPr>
        <p:spPr bwMode="auto">
          <a:xfrm>
            <a:off x="272480" y="692696"/>
            <a:ext cx="7020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Function Calling </a:t>
            </a:r>
            <a:r>
              <a:rPr lang="ko-KR" altLang="en-US" u="none" dirty="0">
                <a:solidFill>
                  <a:schemeClr val="tx1"/>
                </a:solidFill>
                <a:latin typeface="맑은 고딕" panose="020B0503020000020004" pitchFamily="50" charset="-127"/>
                <a:ea typeface="맑은 고딕" panose="020B0503020000020004" pitchFamily="50" charset="-127"/>
              </a:rPr>
              <a:t>과정을 포함한 </a:t>
            </a:r>
            <a:r>
              <a:rPr lang="en-US" altLang="ko-KR" u="none" dirty="0">
                <a:solidFill>
                  <a:schemeClr val="tx1"/>
                </a:solidFill>
                <a:latin typeface="맑은 고딕" panose="020B0503020000020004" pitchFamily="50" charset="-127"/>
                <a:ea typeface="맑은 고딕" panose="020B0503020000020004" pitchFamily="50" charset="-127"/>
              </a:rPr>
              <a:t>Cloud LLM </a:t>
            </a:r>
            <a:r>
              <a:rPr lang="ko-KR" altLang="en-US" u="none" dirty="0">
                <a:solidFill>
                  <a:schemeClr val="tx1"/>
                </a:solidFill>
                <a:latin typeface="맑은 고딕" panose="020B0503020000020004" pitchFamily="50" charset="-127"/>
                <a:ea typeface="맑은 고딕" panose="020B0503020000020004" pitchFamily="50" charset="-127"/>
              </a:rPr>
              <a:t>호출</a:t>
            </a:r>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spTree>
    <p:extLst>
      <p:ext uri="{BB962C8B-B14F-4D97-AF65-F5344CB8AC3E}">
        <p14:creationId xmlns:p14="http://schemas.microsoft.com/office/powerpoint/2010/main" val="1153230485"/>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399C-BD9F-E6E3-2650-C6163A6EABC3}"/>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83FC0365-1CB9-D0FB-6E51-354B6772BD6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8.</a:t>
            </a:r>
            <a:r>
              <a:rPr lang="ko-KR" altLang="en-US" sz="2400" u="none" dirty="0">
                <a:solidFill>
                  <a:schemeClr val="tx1"/>
                </a:solidFill>
                <a:latin typeface="맑은 고딕" panose="020B0503020000020004" pitchFamily="50" charset="-127"/>
                <a:ea typeface="맑은 고딕" panose="020B0503020000020004" pitchFamily="50" charset="-127"/>
              </a:rPr>
              <a:t> 앱 시퀀스 다이어그램</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텍스트 상자 2">
            <a:extLst>
              <a:ext uri="{FF2B5EF4-FFF2-40B4-BE49-F238E27FC236}">
                <a16:creationId xmlns:a16="http://schemas.microsoft.com/office/drawing/2014/main" id="{B7C999F4-720B-47AA-7183-2C49B22698F3}"/>
              </a:ext>
            </a:extLst>
          </p:cNvPr>
          <p:cNvSpPr txBox="1">
            <a:spLocks/>
          </p:cNvSpPr>
          <p:nvPr/>
        </p:nvSpPr>
        <p:spPr>
          <a:xfrm>
            <a:off x="272481" y="998328"/>
            <a:ext cx="9444406" cy="1997406"/>
          </a:xfrm>
          <a:prstGeom prst="rect">
            <a:avLst/>
          </a:prstGeom>
          <a:noFill/>
        </p:spPr>
        <p:txBody>
          <a:bodyPr vert="horz" wrap="square" lIns="0" tIns="0" rIns="0" bIns="0" anchor="t">
            <a:spAutoFit/>
          </a:bodyPr>
          <a:lstStyle/>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음악 플레이어에서 곡이 재생되거나 새로운 곡으로 변경되면</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MediaSession</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통해 해당 정보를 가져옵니다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모듈은 현재 재생 중인 곡 정보를 기반으로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멘트 생성을 위해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Android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시스템을 통해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Broadcast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형태로 인텐트를 전송합니다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AI Agent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BroadcastReceiver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인텐트를 수신하여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의 내부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상태값을</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갱신한 뒤 곡 정보를 추출합니다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MobisGPTManager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singleTurnChat</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호출하여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현재 재생 중인 곡의 가사가 존재할 경우 가사 요약 요청을 보냅니다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MobisGPTManager</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Local LLM</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을 사용하여 곡 제목</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아티스트</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가사</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날씨 등을 활용한 자연스러운 멘트를 생성합니다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생성된 멘트는 다시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로 전달되며</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FloatingViewService</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는 이를 </a:t>
            </a:r>
            <a:r>
              <a:rPr lang="en-US" altLang="ko-KR"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PleosTTS</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에 넘겨 음성으로 출력합니다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최종적으로 사용자에게 재생 중인 음악과 어울리는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DJ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멘트가 자연스럽게 음성으로 안내됩니다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a:p>
            <a:pPr marL="180000" indent="-180000">
              <a:lnSpc>
                <a:spcPct val="150000"/>
              </a:lnSpc>
              <a:buFont typeface="Arial" pitchFamily="34" charset="0"/>
              <a:buChar char="•"/>
            </a:pP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전체 과정은 곡 재생 이벤트 → </a:t>
            </a:r>
            <a:r>
              <a:rPr lang="ko-KR" altLang="en-US" sz="1100" u="none" dirty="0" err="1">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인텐트</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 전달 → 곡 정보 업데이트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LLM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기반 멘트 생성 → </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TTS </a:t>
            </a:r>
            <a:r>
              <a:rPr lang="ko-KR" altLang="en-US"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음성 출력 순서로 이루어집니다</a:t>
            </a:r>
            <a:r>
              <a:rPr lang="en-US" altLang="ko-KR" sz="1100" u="none" dirty="0">
                <a:solidFill>
                  <a:srgbClr val="000000"/>
                </a:solidFill>
                <a:latin typeface="맑은 고딕" panose="020B0503020000020004" pitchFamily="50" charset="-127"/>
                <a:ea typeface="맑은 고딕" panose="020B0503020000020004" pitchFamily="50" charset="-127"/>
                <a:cs typeface="맑은 고딕 Semilight" panose="020B0502040204020203" pitchFamily="50" charset="-127"/>
              </a:rPr>
              <a:t>.</a:t>
            </a:r>
          </a:p>
        </p:txBody>
      </p:sp>
      <p:pic>
        <p:nvPicPr>
          <p:cNvPr id="5" name="그림 4">
            <a:extLst>
              <a:ext uri="{FF2B5EF4-FFF2-40B4-BE49-F238E27FC236}">
                <a16:creationId xmlns:a16="http://schemas.microsoft.com/office/drawing/2014/main" id="{4B5BC2FE-D398-A5C8-8137-E3DD9BD19D12}"/>
              </a:ext>
            </a:extLst>
          </p:cNvPr>
          <p:cNvPicPr>
            <a:picLocks noChangeAspect="1"/>
          </p:cNvPicPr>
          <p:nvPr/>
        </p:nvPicPr>
        <p:blipFill>
          <a:blip r:embed="rId4"/>
          <a:stretch>
            <a:fillRect/>
          </a:stretch>
        </p:blipFill>
        <p:spPr>
          <a:xfrm>
            <a:off x="1712640" y="3140968"/>
            <a:ext cx="6312007" cy="3456384"/>
          </a:xfrm>
          <a:prstGeom prst="rect">
            <a:avLst/>
          </a:prstGeom>
        </p:spPr>
      </p:pic>
      <p:sp>
        <p:nvSpPr>
          <p:cNvPr id="4" name="TextBox 9">
            <a:extLst>
              <a:ext uri="{FF2B5EF4-FFF2-40B4-BE49-F238E27FC236}">
                <a16:creationId xmlns:a16="http://schemas.microsoft.com/office/drawing/2014/main" id="{1335BFC6-4C88-825A-50E0-8C5DC5DE7B92}"/>
              </a:ext>
            </a:extLst>
          </p:cNvPr>
          <p:cNvSpPr txBox="1">
            <a:spLocks noChangeArrowheads="1"/>
          </p:cNvSpPr>
          <p:nvPr/>
        </p:nvSpPr>
        <p:spPr bwMode="auto">
          <a:xfrm>
            <a:off x="272480" y="692696"/>
            <a:ext cx="57246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앱 시퀀스 다이어그램 </a:t>
            </a:r>
            <a:r>
              <a:rPr lang="en-US" altLang="ko-KR" u="none" dirty="0">
                <a:solidFill>
                  <a:schemeClr val="tx1"/>
                </a:solidFill>
                <a:latin typeface="맑은 고딕" panose="020B0503020000020004" pitchFamily="50" charset="-127"/>
                <a:ea typeface="맑은 고딕" panose="020B0503020000020004" pitchFamily="50" charset="-127"/>
              </a:rPr>
              <a:t>– AI DJ</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50103572"/>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2" name="TextBox 9">
            <a:extLst>
              <a:ext uri="{FF2B5EF4-FFF2-40B4-BE49-F238E27FC236}">
                <a16:creationId xmlns:a16="http://schemas.microsoft.com/office/drawing/2014/main" id="{6BD3AF29-20C0-D45F-A4C8-37E3256EB282}"/>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Voice Chrome</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4" name="그림 3">
            <a:extLst>
              <a:ext uri="{FF2B5EF4-FFF2-40B4-BE49-F238E27FC236}">
                <a16:creationId xmlns:a16="http://schemas.microsoft.com/office/drawing/2014/main" id="{650D7EA0-7E0D-AC9C-731A-2F43552C2F90}"/>
              </a:ext>
            </a:extLst>
          </p:cNvPr>
          <p:cNvPicPr>
            <a:picLocks noChangeAspect="1"/>
          </p:cNvPicPr>
          <p:nvPr/>
        </p:nvPicPr>
        <p:blipFill>
          <a:blip r:embed="rId4"/>
          <a:stretch>
            <a:fillRect/>
          </a:stretch>
        </p:blipFill>
        <p:spPr>
          <a:xfrm>
            <a:off x="308484" y="1274948"/>
            <a:ext cx="4155393" cy="2334093"/>
          </a:xfrm>
          <a:prstGeom prst="rect">
            <a:avLst/>
          </a:prstGeom>
        </p:spPr>
      </p:pic>
      <p:pic>
        <p:nvPicPr>
          <p:cNvPr id="8" name="그림 7">
            <a:extLst>
              <a:ext uri="{FF2B5EF4-FFF2-40B4-BE49-F238E27FC236}">
                <a16:creationId xmlns:a16="http://schemas.microsoft.com/office/drawing/2014/main" id="{C53AB518-09DF-2E8B-5C8D-456E5D4ADB3F}"/>
              </a:ext>
            </a:extLst>
          </p:cNvPr>
          <p:cNvPicPr>
            <a:picLocks noChangeAspect="1"/>
          </p:cNvPicPr>
          <p:nvPr/>
        </p:nvPicPr>
        <p:blipFill>
          <a:blip r:embed="rId5"/>
          <a:stretch>
            <a:fillRect/>
          </a:stretch>
        </p:blipFill>
        <p:spPr>
          <a:xfrm>
            <a:off x="304177" y="3969060"/>
            <a:ext cx="4159700" cy="2334093"/>
          </a:xfrm>
          <a:prstGeom prst="rect">
            <a:avLst/>
          </a:prstGeom>
        </p:spPr>
      </p:pic>
      <p:pic>
        <p:nvPicPr>
          <p:cNvPr id="12" name="그림 11">
            <a:extLst>
              <a:ext uri="{FF2B5EF4-FFF2-40B4-BE49-F238E27FC236}">
                <a16:creationId xmlns:a16="http://schemas.microsoft.com/office/drawing/2014/main" id="{5B1564D6-3155-5262-B2FA-57AABE82F066}"/>
              </a:ext>
            </a:extLst>
          </p:cNvPr>
          <p:cNvPicPr>
            <a:picLocks noChangeAspect="1"/>
          </p:cNvPicPr>
          <p:nvPr/>
        </p:nvPicPr>
        <p:blipFill>
          <a:blip r:embed="rId6"/>
          <a:stretch>
            <a:fillRect/>
          </a:stretch>
        </p:blipFill>
        <p:spPr>
          <a:xfrm>
            <a:off x="5371841" y="3957417"/>
            <a:ext cx="4193137" cy="2345736"/>
          </a:xfrm>
          <a:prstGeom prst="rect">
            <a:avLst/>
          </a:prstGeom>
        </p:spPr>
      </p:pic>
      <p:pic>
        <p:nvPicPr>
          <p:cNvPr id="14" name="그림 13">
            <a:extLst>
              <a:ext uri="{FF2B5EF4-FFF2-40B4-BE49-F238E27FC236}">
                <a16:creationId xmlns:a16="http://schemas.microsoft.com/office/drawing/2014/main" id="{CD2FF9F9-DCC8-72F1-7332-12D4D57F7303}"/>
              </a:ext>
            </a:extLst>
          </p:cNvPr>
          <p:cNvPicPr>
            <a:picLocks noChangeAspect="1"/>
          </p:cNvPicPr>
          <p:nvPr/>
        </p:nvPicPr>
        <p:blipFill>
          <a:blip r:embed="rId7"/>
          <a:stretch>
            <a:fillRect/>
          </a:stretch>
        </p:blipFill>
        <p:spPr>
          <a:xfrm>
            <a:off x="5371840" y="1274948"/>
            <a:ext cx="4193137" cy="2358640"/>
          </a:xfrm>
          <a:prstGeom prst="rect">
            <a:avLst/>
          </a:prstGeom>
        </p:spPr>
      </p:pic>
    </p:spTree>
    <p:extLst>
      <p:ext uri="{BB962C8B-B14F-4D97-AF65-F5344CB8AC3E}">
        <p14:creationId xmlns:p14="http://schemas.microsoft.com/office/powerpoint/2010/main" val="3664684219"/>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2" name="TextBox 9">
            <a:extLst>
              <a:ext uri="{FF2B5EF4-FFF2-40B4-BE49-F238E27FC236}">
                <a16:creationId xmlns:a16="http://schemas.microsoft.com/office/drawing/2014/main" id="{4C189E32-DB25-7668-9991-1EEB93F40B37}"/>
              </a:ext>
            </a:extLst>
          </p:cNvPr>
          <p:cNvSpPr txBox="1">
            <a:spLocks noChangeArrowheads="1"/>
          </p:cNvSpPr>
          <p:nvPr/>
        </p:nvSpPr>
        <p:spPr bwMode="auto">
          <a:xfrm>
            <a:off x="128588"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Q&amp;A</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11" name="그림 10">
            <a:extLst>
              <a:ext uri="{FF2B5EF4-FFF2-40B4-BE49-F238E27FC236}">
                <a16:creationId xmlns:a16="http://schemas.microsoft.com/office/drawing/2014/main" id="{49BB13D3-E85E-9A40-C43E-B5D488BF5563}"/>
              </a:ext>
            </a:extLst>
          </p:cNvPr>
          <p:cNvPicPr>
            <a:picLocks noChangeAspect="1"/>
          </p:cNvPicPr>
          <p:nvPr/>
        </p:nvPicPr>
        <p:blipFill>
          <a:blip r:embed="rId4"/>
          <a:stretch>
            <a:fillRect/>
          </a:stretch>
        </p:blipFill>
        <p:spPr>
          <a:xfrm>
            <a:off x="379240" y="1124744"/>
            <a:ext cx="9089010" cy="5112568"/>
          </a:xfrm>
          <a:prstGeom prst="rect">
            <a:avLst/>
          </a:prstGeom>
        </p:spPr>
      </p:pic>
    </p:spTree>
    <p:extLst>
      <p:ext uri="{BB962C8B-B14F-4D97-AF65-F5344CB8AC3E}">
        <p14:creationId xmlns:p14="http://schemas.microsoft.com/office/powerpoint/2010/main" val="1434980624"/>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928F-B07F-3FC3-3B69-123E3E8D3D50}"/>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9F4959F2-D51E-322C-3DE3-A5570B2D8619}"/>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TextBox 9">
            <a:extLst>
              <a:ext uri="{FF2B5EF4-FFF2-40B4-BE49-F238E27FC236}">
                <a16:creationId xmlns:a16="http://schemas.microsoft.com/office/drawing/2014/main" id="{2348B291-BDB1-10A8-33F9-17AD62FA3BC3}"/>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Vehicle Control</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4" name="그림 3">
            <a:extLst>
              <a:ext uri="{FF2B5EF4-FFF2-40B4-BE49-F238E27FC236}">
                <a16:creationId xmlns:a16="http://schemas.microsoft.com/office/drawing/2014/main" id="{6FB2D77C-88C5-3C5D-8721-417DBC644A0C}"/>
              </a:ext>
            </a:extLst>
          </p:cNvPr>
          <p:cNvPicPr>
            <a:picLocks noChangeAspect="1"/>
          </p:cNvPicPr>
          <p:nvPr/>
        </p:nvPicPr>
        <p:blipFill>
          <a:blip r:embed="rId4"/>
          <a:stretch>
            <a:fillRect/>
          </a:stretch>
        </p:blipFill>
        <p:spPr>
          <a:xfrm>
            <a:off x="380491" y="1191358"/>
            <a:ext cx="9032027" cy="5045954"/>
          </a:xfrm>
          <a:prstGeom prst="rect">
            <a:avLst/>
          </a:prstGeom>
        </p:spPr>
      </p:pic>
    </p:spTree>
    <p:extLst>
      <p:ext uri="{BB962C8B-B14F-4D97-AF65-F5344CB8AC3E}">
        <p14:creationId xmlns:p14="http://schemas.microsoft.com/office/powerpoint/2010/main" val="1544866731"/>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12767-85B2-FD36-79B4-383D9ECC64E5}"/>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416DD5DB-E8D7-10D0-AF80-1ED927537825}"/>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9. </a:t>
            </a:r>
            <a:r>
              <a:rPr lang="ko-KR" altLang="en-US" sz="2400" u="none" dirty="0">
                <a:solidFill>
                  <a:schemeClr val="tx1"/>
                </a:solidFill>
                <a:latin typeface="맑은 고딕" panose="020B0503020000020004" pitchFamily="50" charset="-127"/>
                <a:ea typeface="맑은 고딕" panose="020B0503020000020004" pitchFamily="50" charset="-127"/>
              </a:rPr>
              <a:t>주요 개발 화면</a:t>
            </a:r>
            <a:endParaRPr lang="ko-KR" altLang="en-US" u="none" dirty="0">
              <a:solidFill>
                <a:schemeClr val="tx1"/>
              </a:solidFill>
              <a:latin typeface="맑은 고딕" panose="020B0503020000020004" pitchFamily="50" charset="-127"/>
              <a:ea typeface="맑은 고딕" panose="020B0503020000020004" pitchFamily="50" charset="-127"/>
            </a:endParaRPr>
          </a:p>
        </p:txBody>
      </p:sp>
      <p:sp>
        <p:nvSpPr>
          <p:cNvPr id="3" name="TextBox 9">
            <a:extLst>
              <a:ext uri="{FF2B5EF4-FFF2-40B4-BE49-F238E27FC236}">
                <a16:creationId xmlns:a16="http://schemas.microsoft.com/office/drawing/2014/main" id="{60EE904B-5D47-96D2-0ABD-902CC9D758CD}"/>
              </a:ext>
            </a:extLst>
          </p:cNvPr>
          <p:cNvSpPr txBox="1">
            <a:spLocks noChangeArrowheads="1"/>
          </p:cNvSpPr>
          <p:nvPr/>
        </p:nvSpPr>
        <p:spPr bwMode="auto">
          <a:xfrm>
            <a:off x="200472" y="692696"/>
            <a:ext cx="61926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1400" u="sng">
                <a:solidFill>
                  <a:schemeClr val="tx2"/>
                </a:solidFill>
                <a:latin typeface="HY헤드라인M" pitchFamily="18" charset="-127"/>
                <a:ea typeface="HY헤드라인M" pitchFamily="18" charset="-127"/>
              </a:defRPr>
            </a:lvl1pPr>
            <a:lvl2pPr marL="742950" indent="-285750" eaLnBrk="0" hangingPunct="0">
              <a:defRPr kumimoji="1" sz="1400" u="sng">
                <a:solidFill>
                  <a:schemeClr val="tx2"/>
                </a:solidFill>
                <a:latin typeface="HY헤드라인M" pitchFamily="18" charset="-127"/>
                <a:ea typeface="HY헤드라인M" pitchFamily="18" charset="-127"/>
              </a:defRPr>
            </a:lvl2pPr>
            <a:lvl3pPr marL="1143000" indent="-228600" eaLnBrk="0" hangingPunct="0">
              <a:defRPr kumimoji="1" sz="1400" u="sng">
                <a:solidFill>
                  <a:schemeClr val="tx2"/>
                </a:solidFill>
                <a:latin typeface="HY헤드라인M" pitchFamily="18" charset="-127"/>
                <a:ea typeface="HY헤드라인M" pitchFamily="18" charset="-127"/>
              </a:defRPr>
            </a:lvl3pPr>
            <a:lvl4pPr marL="1600200" indent="-228600" eaLnBrk="0" hangingPunct="0">
              <a:defRPr kumimoji="1" sz="1400" u="sng">
                <a:solidFill>
                  <a:schemeClr val="tx2"/>
                </a:solidFill>
                <a:latin typeface="HY헤드라인M" pitchFamily="18" charset="-127"/>
                <a:ea typeface="HY헤드라인M" pitchFamily="18" charset="-127"/>
              </a:defRPr>
            </a:lvl4pPr>
            <a:lvl5pPr marL="2057400" indent="-228600" eaLnBrk="0" hangingPunct="0">
              <a:defRPr kumimoji="1" sz="1400" u="sng">
                <a:solidFill>
                  <a:schemeClr val="tx2"/>
                </a:solidFill>
                <a:latin typeface="HY헤드라인M" pitchFamily="18" charset="-127"/>
                <a:ea typeface="HY헤드라인M" pitchFamily="18" charset="-127"/>
              </a:defRPr>
            </a:lvl5pPr>
            <a:lvl6pPr marL="25146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6pPr>
            <a:lvl7pPr marL="29718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7pPr>
            <a:lvl8pPr marL="34290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8pPr>
            <a:lvl9pPr marL="3886200" indent="-228600" eaLnBrk="0" fontAlgn="base" hangingPunct="0">
              <a:spcBef>
                <a:spcPct val="0"/>
              </a:spcBef>
              <a:spcAft>
                <a:spcPct val="0"/>
              </a:spcAft>
              <a:defRPr kumimoji="1" sz="1400" u="sng">
                <a:solidFill>
                  <a:schemeClr val="tx2"/>
                </a:solidFill>
                <a:latin typeface="HY헤드라인M" pitchFamily="18" charset="-127"/>
                <a:ea typeface="HY헤드라인M" pitchFamily="18" charset="-127"/>
              </a:defRPr>
            </a:lvl9pPr>
          </a:lstStyle>
          <a:p>
            <a:pPr eaLnBrk="1" hangingPunct="1"/>
            <a:r>
              <a:rPr lang="ko-KR" altLang="en-US" u="none" dirty="0">
                <a:solidFill>
                  <a:schemeClr val="tx1"/>
                </a:solidFill>
                <a:latin typeface="맑은 고딕" panose="020B0503020000020004" pitchFamily="50" charset="-127"/>
                <a:ea typeface="맑은 고딕" panose="020B0503020000020004" pitchFamily="50" charset="-127"/>
              </a:rPr>
              <a:t>▣ </a:t>
            </a:r>
            <a:r>
              <a:rPr lang="en-US" altLang="ko-KR" u="none" dirty="0">
                <a:solidFill>
                  <a:schemeClr val="tx1"/>
                </a:solidFill>
                <a:latin typeface="맑은 고딕" panose="020B0503020000020004" pitchFamily="50" charset="-127"/>
                <a:ea typeface="맑은 고딕" panose="020B0503020000020004" pitchFamily="50" charset="-127"/>
              </a:rPr>
              <a:t>Live AI DJ</a:t>
            </a:r>
            <a:endParaRPr lang="ko-KR" altLang="en-US" u="none" dirty="0">
              <a:solidFill>
                <a:schemeClr val="tx1"/>
              </a:solidFill>
              <a:latin typeface="맑은 고딕" panose="020B0503020000020004" pitchFamily="50" charset="-127"/>
              <a:ea typeface="맑은 고딕" panose="020B0503020000020004" pitchFamily="50" charset="-127"/>
            </a:endParaRPr>
          </a:p>
          <a:p>
            <a:pPr eaLnBrk="1" hangingPunct="1"/>
            <a:endParaRPr kumimoji="0" lang="en-US" altLang="ko-KR" u="none" kern="0" dirty="0">
              <a:solidFill>
                <a:sysClr val="windowText" lastClr="000000"/>
              </a:solidFill>
              <a:latin typeface="맑은 고딕" panose="020B0503020000020004" pitchFamily="50" charset="-127"/>
              <a:ea typeface="맑은 고딕" panose="020B0503020000020004" pitchFamily="50" charset="-127"/>
              <a:sym typeface="Wingdings" pitchFamily="2" charset="2"/>
            </a:endParaRPr>
          </a:p>
        </p:txBody>
      </p:sp>
      <p:pic>
        <p:nvPicPr>
          <p:cNvPr id="5" name="그림 4">
            <a:extLst>
              <a:ext uri="{FF2B5EF4-FFF2-40B4-BE49-F238E27FC236}">
                <a16:creationId xmlns:a16="http://schemas.microsoft.com/office/drawing/2014/main" id="{BDED84DF-82A6-EE72-3D37-5200C6C843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975" y="1268761"/>
            <a:ext cx="9253537" cy="5040560"/>
          </a:xfrm>
          <a:prstGeom prst="rect">
            <a:avLst/>
          </a:prstGeom>
        </p:spPr>
      </p:pic>
    </p:spTree>
    <p:extLst>
      <p:ext uri="{BB962C8B-B14F-4D97-AF65-F5344CB8AC3E}">
        <p14:creationId xmlns:p14="http://schemas.microsoft.com/office/powerpoint/2010/main" val="2793875596"/>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76305-98BE-8DDC-F866-CF7DA787A308}"/>
            </a:ext>
          </a:extLst>
        </p:cNvPr>
        <p:cNvGrpSpPr/>
        <p:nvPr/>
      </p:nvGrpSpPr>
      <p:grpSpPr>
        <a:xfrm>
          <a:off x="0" y="0"/>
          <a:ext cx="0" cy="0"/>
          <a:chOff x="0" y="0"/>
          <a:chExt cx="0" cy="0"/>
        </a:xfrm>
      </p:grpSpPr>
      <p:sp>
        <p:nvSpPr>
          <p:cNvPr id="13314" name="Rectangle 6">
            <a:extLst>
              <a:ext uri="{FF2B5EF4-FFF2-40B4-BE49-F238E27FC236}">
                <a16:creationId xmlns:a16="http://schemas.microsoft.com/office/drawing/2014/main" id="{1D2F6EAB-A150-09AB-C933-458713765D83}"/>
              </a:ext>
            </a:extLst>
          </p:cNvPr>
          <p:cNvSpPr>
            <a:spLocks noChangeArrowheads="1"/>
          </p:cNvSpPr>
          <p:nvPr/>
        </p:nvSpPr>
        <p:spPr bwMode="auto">
          <a:xfrm>
            <a:off x="128588" y="20638"/>
            <a:ext cx="86852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508000" indent="-508000"/>
            <a:r>
              <a:rPr lang="en-US" altLang="ko-KR" sz="2400" u="none" dirty="0">
                <a:solidFill>
                  <a:schemeClr val="tx1"/>
                </a:solidFill>
                <a:latin typeface="맑은 고딕" panose="020B0503020000020004" pitchFamily="50" charset="-127"/>
                <a:ea typeface="맑은 고딕" panose="020B0503020000020004" pitchFamily="50" charset="-127"/>
              </a:rPr>
              <a:t>10.</a:t>
            </a:r>
            <a:r>
              <a:rPr lang="ko-KR" altLang="en-US" sz="2400" u="none" dirty="0">
                <a:solidFill>
                  <a:schemeClr val="tx1"/>
                </a:solidFill>
                <a:latin typeface="맑은 고딕" panose="020B0503020000020004" pitchFamily="50" charset="-127"/>
                <a:ea typeface="맑은 고딕" panose="020B0503020000020004" pitchFamily="50" charset="-127"/>
              </a:rPr>
              <a:t> 주요 개발 </a:t>
            </a:r>
            <a:r>
              <a:rPr lang="en-US" altLang="ko-KR" sz="2400" u="none" dirty="0">
                <a:solidFill>
                  <a:schemeClr val="tx1"/>
                </a:solidFill>
                <a:latin typeface="맑은 고딕" panose="020B0503020000020004" pitchFamily="50" charset="-127"/>
                <a:ea typeface="맑은 고딕" panose="020B0503020000020004" pitchFamily="50" charset="-127"/>
              </a:rPr>
              <a:t>Jira Task</a:t>
            </a:r>
            <a:r>
              <a:rPr lang="ko-KR" altLang="en-US" sz="2400" u="none" dirty="0">
                <a:solidFill>
                  <a:schemeClr val="tx1"/>
                </a:solidFill>
                <a:latin typeface="맑은 고딕" panose="020B0503020000020004" pitchFamily="50" charset="-127"/>
                <a:ea typeface="맑은 고딕" panose="020B0503020000020004" pitchFamily="50" charset="-127"/>
              </a:rPr>
              <a:t> 내역 </a:t>
            </a:r>
            <a:endParaRPr lang="ko-KR" altLang="en-US" u="none" dirty="0">
              <a:solidFill>
                <a:schemeClr val="tx1"/>
              </a:solidFill>
              <a:latin typeface="맑은 고딕" panose="020B0503020000020004" pitchFamily="50" charset="-127"/>
              <a:ea typeface="맑은 고딕" panose="020B0503020000020004" pitchFamily="50" charset="-127"/>
            </a:endParaRPr>
          </a:p>
        </p:txBody>
      </p:sp>
      <p:graphicFrame>
        <p:nvGraphicFramePr>
          <p:cNvPr id="44" name="Table 5">
            <a:extLst>
              <a:ext uri="{FF2B5EF4-FFF2-40B4-BE49-F238E27FC236}">
                <a16:creationId xmlns:a16="http://schemas.microsoft.com/office/drawing/2014/main" id="{DBFA6387-542A-C42A-2C9D-699D562F05EA}"/>
              </a:ext>
            </a:extLst>
          </p:cNvPr>
          <p:cNvGraphicFramePr>
            <a:graphicFrameLocks noGrp="1"/>
          </p:cNvGraphicFramePr>
          <p:nvPr>
            <p:extLst>
              <p:ext uri="{D42A27DB-BD31-4B8C-83A1-F6EECF244321}">
                <p14:modId xmlns:p14="http://schemas.microsoft.com/office/powerpoint/2010/main" val="4125642079"/>
              </p:ext>
            </p:extLst>
          </p:nvPr>
        </p:nvGraphicFramePr>
        <p:xfrm>
          <a:off x="225430" y="665523"/>
          <a:ext cx="9528170" cy="5993130"/>
        </p:xfrm>
        <a:graphic>
          <a:graphicData uri="http://schemas.openxmlformats.org/drawingml/2006/table">
            <a:tbl>
              <a:tblPr>
                <a:tableStyleId>{00000000-0000-0000-0000-000000000000}</a:tableStyleId>
              </a:tblPr>
              <a:tblGrid>
                <a:gridCol w="1608150">
                  <a:extLst>
                    <a:ext uri="{9D8B030D-6E8A-4147-A177-3AD203B41FA5}">
                      <a16:colId xmlns:a16="http://schemas.microsoft.com/office/drawing/2014/main" val="20000"/>
                    </a:ext>
                  </a:extLst>
                </a:gridCol>
                <a:gridCol w="5567692">
                  <a:extLst>
                    <a:ext uri="{9D8B030D-6E8A-4147-A177-3AD203B41FA5}">
                      <a16:colId xmlns:a16="http://schemas.microsoft.com/office/drawing/2014/main" val="20001"/>
                    </a:ext>
                  </a:extLst>
                </a:gridCol>
                <a:gridCol w="1179039">
                  <a:extLst>
                    <a:ext uri="{9D8B030D-6E8A-4147-A177-3AD203B41FA5}">
                      <a16:colId xmlns:a16="http://schemas.microsoft.com/office/drawing/2014/main" val="20002"/>
                    </a:ext>
                  </a:extLst>
                </a:gridCol>
                <a:gridCol w="1173289">
                  <a:extLst>
                    <a:ext uri="{9D8B030D-6E8A-4147-A177-3AD203B41FA5}">
                      <a16:colId xmlns:a16="http://schemas.microsoft.com/office/drawing/2014/main" val="20003"/>
                    </a:ext>
                  </a:extLst>
                </a:gridCol>
              </a:tblGrid>
              <a:tr h="211688">
                <a:tc>
                  <a:txBody>
                    <a:bodyPr/>
                    <a:lstStyle/>
                    <a:p>
                      <a:pPr marL="0" lvl="1" indent="0" algn="ctr">
                        <a:lnSpc>
                          <a:spcPct val="100000"/>
                        </a:lnSpc>
                        <a:buFontTx/>
                        <a:buNone/>
                      </a:pPr>
                      <a:r>
                        <a:rPr lang="ko-KR" altLang="en-US" sz="1000" b="1" i="0" strike="noStrike" kern="1200" dirty="0">
                          <a:solidFill>
                            <a:schemeClr val="tx1"/>
                          </a:solidFill>
                          <a:latin typeface="맑은 고딕" panose="020B0503020000020004" pitchFamily="50" charset="-127"/>
                          <a:ea typeface="맑은 고딕" panose="020B0503020000020004" pitchFamily="50" charset="-127"/>
                        </a:rPr>
                        <a:t>분류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sz="1000" b="1" i="0" strike="noStrike" kern="1200" dirty="0">
                          <a:solidFill>
                            <a:srgbClr val="000000"/>
                          </a:solidFill>
                          <a:latin typeface="맑은 고딕" panose="020B0503020000020004" pitchFamily="50" charset="-127"/>
                          <a:ea typeface="맑은 고딕" panose="020B0503020000020004" pitchFamily="50" charset="-127"/>
                        </a:rPr>
                        <a:t>내 용</a:t>
                      </a:r>
                      <a:endParaRPr lang="ko-KR" altLang="en-US" sz="1000" b="1" i="0" strike="noStrike" kern="1200" dirty="0">
                        <a:solidFill>
                          <a:srgbClr val="000000"/>
                        </a:solidFill>
                        <a:latin typeface="맑은 고딕" panose="020B0503020000020004" pitchFamily="50" charset="-127"/>
                        <a:ea typeface="맑은 고딕" panose="020B0503020000020004"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altLang="en-US" sz="1000" b="1" i="0" strike="noStrike" kern="1200" dirty="0">
                          <a:solidFill>
                            <a:srgbClr val="000000"/>
                          </a:solidFill>
                          <a:latin typeface="맑은 고딕" panose="020B0503020000020004" pitchFamily="50" charset="-127"/>
                          <a:ea typeface="맑은 고딕" panose="020B0503020000020004" pitchFamily="50" charset="-127"/>
                        </a:rPr>
                        <a:t>처리 일자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lvl="1" indent="0" algn="ctr">
                        <a:lnSpc>
                          <a:spcPct val="100000"/>
                        </a:lnSpc>
                        <a:buFontTx/>
                        <a:buNone/>
                      </a:pPr>
                      <a:r>
                        <a:rPr lang="ko-KR" sz="1000" b="1" i="0" strike="noStrike" kern="1200" dirty="0">
                          <a:solidFill>
                            <a:srgbClr val="000000"/>
                          </a:solidFill>
                          <a:latin typeface="맑은 고딕" panose="020B0503020000020004" pitchFamily="50" charset="-127"/>
                          <a:ea typeface="맑은 고딕" panose="020B0503020000020004" pitchFamily="50" charset="-127"/>
                        </a:rPr>
                        <a:t>비 고</a:t>
                      </a:r>
                      <a:endParaRPr lang="ko-KR" altLang="en-US" sz="1000" b="1" i="0" strike="noStrike" kern="1200" dirty="0">
                        <a:solidFill>
                          <a:srgbClr val="000000"/>
                        </a:solidFill>
                        <a:latin typeface="맑은 고딕" panose="020B0503020000020004" pitchFamily="50" charset="-127"/>
                        <a:ea typeface="맑은 고딕" panose="020B0503020000020004"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0"/>
                  </a:ext>
                </a:extLst>
              </a:tr>
              <a:tr h="211688">
                <a:tc rowSpan="2">
                  <a:txBody>
                    <a:bodyPr/>
                    <a:lstStyle/>
                    <a:p>
                      <a:pPr marL="0" lvl="1" indent="0" algn="ctr">
                        <a:tabLst>
                          <a:tab pos="0" algn="l"/>
                        </a:tabLst>
                      </a:pPr>
                      <a:r>
                        <a:rPr lang="en-US" sz="1000" b="0" i="0" strike="noStrike" kern="1200" dirty="0">
                          <a:solidFill>
                            <a:schemeClr val="tx1"/>
                          </a:solidFill>
                          <a:latin typeface="맑은 고딕" panose="020B0503020000020004" pitchFamily="50" charset="-127"/>
                          <a:ea typeface="맑은 고딕" panose="020B0503020000020004" pitchFamily="50" charset="-127"/>
                        </a:rPr>
                        <a:t> </a:t>
                      </a:r>
                      <a:r>
                        <a:rPr lang="ko-KR" altLang="en-US" sz="1000" b="0" i="0" strike="noStrike" kern="1200" dirty="0">
                          <a:solidFill>
                            <a:schemeClr val="tx1"/>
                          </a:solidFill>
                          <a:latin typeface="맑은 고딕" panose="020B0503020000020004" pitchFamily="50" charset="-127"/>
                          <a:ea typeface="맑은 고딕" panose="020B0503020000020004" pitchFamily="50" charset="-127"/>
                        </a:rPr>
                        <a:t>개발 준비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1" indent="-168910" algn="l" defTabSz="914400" rtl="0" eaLnBrk="1" fontAlgn="auto" latinLnBrk="1" hangingPunct="1">
                        <a:lnSpc>
                          <a:spcPct val="100000"/>
                        </a:lnSpc>
                        <a:spcBef>
                          <a:spcPts val="0"/>
                        </a:spcBef>
                        <a:spcAft>
                          <a:spcPts val="0"/>
                        </a:spcAft>
                        <a:buClrTx/>
                        <a:buSzTx/>
                        <a:buFontTx/>
                        <a:buNone/>
                        <a:tabLst/>
                        <a:defRPr/>
                      </a:pP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 MAIAGENT-666 [AIAGENT]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키오스크 및 최신 버전 점검</a:t>
                      </a:r>
                      <a:endParaRPr lang="ko-KR" altLang="ko-KR" sz="1000" b="0" i="0" u="none" kern="1200" dirty="0">
                        <a:solidFill>
                          <a:schemeClr val="tx1"/>
                        </a:solidFill>
                        <a:effectLst/>
                        <a:latin typeface="맑은 고딕" panose="020B0503020000020004" pitchFamily="50" charset="-127"/>
                        <a:ea typeface="HY중고딕" panose="02030600000101010101" pitchFamily="18" charset="-127"/>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lvl="1" indent="-168910" algn="ctr">
                        <a:lnSpc>
                          <a:spcPct val="100000"/>
                        </a:lnSpc>
                        <a:buFontTx/>
                        <a:buNone/>
                      </a:pPr>
                      <a:r>
                        <a:rPr sz="1000" b="0" kern="1200" dirty="0">
                          <a:solidFill>
                            <a:srgbClr val="000000"/>
                          </a:solidFill>
                          <a:latin typeface="맑은 고딕" panose="020B0503020000020004" pitchFamily="50" charset="-127"/>
                          <a:ea typeface="HY중고딕" panose="02030600000101010101" pitchFamily="18" charset="-127"/>
                        </a:rPr>
                        <a:t>2</a:t>
                      </a:r>
                      <a:r>
                        <a:rPr lang="en-US" sz="1000" b="0" kern="1200" dirty="0">
                          <a:solidFill>
                            <a:srgbClr val="000000"/>
                          </a:solidFill>
                          <a:latin typeface="맑은 고딕" panose="020B0503020000020004" pitchFamily="50" charset="-127"/>
                          <a:ea typeface="HY중고딕" panose="02030600000101010101" pitchFamily="18" charset="-127"/>
                        </a:rPr>
                        <a:t>6</a:t>
                      </a:r>
                      <a:r>
                        <a:rPr sz="1000" b="0" kern="1200" dirty="0">
                          <a:solidFill>
                            <a:srgbClr val="000000"/>
                          </a:solidFill>
                          <a:latin typeface="맑은 고딕" panose="020B0503020000020004" pitchFamily="50" charset="-127"/>
                          <a:ea typeface="HY중고딕" panose="02030600000101010101" pitchFamily="18" charset="-127"/>
                        </a:rPr>
                        <a:t>.</a:t>
                      </a:r>
                      <a:r>
                        <a:rPr lang="en-US" sz="1000" b="0" kern="1200" dirty="0">
                          <a:solidFill>
                            <a:srgbClr val="000000"/>
                          </a:solidFill>
                          <a:latin typeface="맑은 고딕" panose="020B0503020000020004" pitchFamily="50" charset="-127"/>
                          <a:ea typeface="HY중고딕" panose="02030600000101010101" pitchFamily="18" charset="-127"/>
                        </a:rPr>
                        <a:t>05.12</a:t>
                      </a:r>
                      <a:endParaRPr lang="ko-KR" altLang="en-US" sz="1000" b="0" i="0" strike="noStrike" kern="1200" dirty="0">
                        <a:solidFill>
                          <a:srgbClr val="000000"/>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11688">
                <a:tc vMerge="1">
                  <a:txBody>
                    <a:bodyPr/>
                    <a:lstStyle/>
                    <a:p>
                      <a:pPr marL="0" lvl="1" indent="0" algn="ctr">
                        <a:tabLst>
                          <a:tab pos="0" algn="l"/>
                        </a:tabLst>
                      </a:pPr>
                      <a:endParaRPr lang="ko-KR" altLang="en-US" sz="1000" b="0" i="0" strike="noStrike" kern="1200" dirty="0">
                        <a:solidFill>
                          <a:schemeClr val="tx1"/>
                        </a:solidFill>
                        <a:latin typeface="현대하모니 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1" indent="-168910" algn="l" defTabSz="914400" rtl="0" eaLnBrk="1" fontAlgn="auto" latinLnBrk="1" hangingPunct="1">
                        <a:lnSpc>
                          <a:spcPct val="100000"/>
                        </a:lnSpc>
                        <a:spcBef>
                          <a:spcPts val="0"/>
                        </a:spcBef>
                        <a:spcAft>
                          <a:spcPts val="0"/>
                        </a:spcAft>
                        <a:buClrTx/>
                        <a:buSzTx/>
                        <a:buFontTx/>
                        <a:buNone/>
                        <a:tabLst/>
                        <a:defRPr/>
                      </a:pP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 MAIAGENT-805 [SRS-AIP-1101]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클라우드 </a:t>
                      </a: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LLM API Key </a:t>
                      </a:r>
                      <a:r>
                        <a:rPr lang="ko-KR" altLang="en-US" sz="1000" b="0" i="0" u="none" kern="1200" dirty="0">
                          <a:solidFill>
                            <a:schemeClr val="tx1"/>
                          </a:solidFill>
                          <a:effectLst/>
                          <a:latin typeface="맑은 고딕" panose="020B0503020000020004" pitchFamily="50" charset="-127"/>
                          <a:ea typeface="HY중고딕" panose="02030600000101010101" pitchFamily="18" charset="-127"/>
                          <a:cs typeface="+mn-cs"/>
                        </a:rPr>
                        <a:t>발급 및 </a:t>
                      </a:r>
                      <a:r>
                        <a:rPr lang="en-US" altLang="ko-KR" sz="1000" b="0" i="0" u="none" kern="1200" dirty="0">
                          <a:solidFill>
                            <a:schemeClr val="tx1"/>
                          </a:solidFill>
                          <a:effectLst/>
                          <a:latin typeface="맑은 고딕" panose="020B0503020000020004" pitchFamily="50" charset="-127"/>
                          <a:ea typeface="HY중고딕" panose="02030600000101010101" pitchFamily="18" charset="-127"/>
                          <a:cs typeface="+mn-cs"/>
                        </a:rPr>
                        <a:t>Test</a:t>
                      </a:r>
                      <a:endParaRPr lang="ko-KR" altLang="ko-KR" sz="1000" b="0" i="0" u="none" kern="1200" dirty="0">
                        <a:solidFill>
                          <a:schemeClr val="tx1"/>
                        </a:solidFill>
                        <a:effectLst/>
                        <a:latin typeface="맑은 고딕" panose="020B0503020000020004" pitchFamily="50" charset="-127"/>
                        <a:ea typeface="HY중고딕" panose="02030600000101010101" pitchFamily="18" charset="-127"/>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26.05.28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37500345"/>
                  </a:ext>
                </a:extLst>
              </a:tr>
              <a:tr h="211688">
                <a:tc rowSpan="5">
                  <a:txBody>
                    <a:bodyPr/>
                    <a:lstStyle/>
                    <a:p>
                      <a:pPr marL="0" lvl="1" indent="0" algn="ctr">
                        <a:tabLst>
                          <a:tab pos="0" algn="l"/>
                        </a:tabLst>
                      </a:pPr>
                      <a:r>
                        <a:rPr lang="en-US" sz="1000" b="0" i="0" strike="noStrike" kern="1200" dirty="0">
                          <a:solidFill>
                            <a:schemeClr val="tx1"/>
                          </a:solidFill>
                          <a:latin typeface="맑은 고딕" panose="020B0503020000020004" pitchFamily="50" charset="-127"/>
                          <a:ea typeface="맑은 고딕" panose="020B0503020000020004" pitchFamily="50" charset="-127"/>
                        </a:rPr>
                        <a:t>UI </a:t>
                      </a:r>
                      <a:r>
                        <a:rPr lang="ko-KR" altLang="en-US" sz="1000" b="0" i="0" strike="noStrike" kern="1200" dirty="0">
                          <a:solidFill>
                            <a:schemeClr val="tx1"/>
                          </a:solidFill>
                          <a:latin typeface="맑은 고딕" panose="020B0503020000020004" pitchFamily="50" charset="-127"/>
                          <a:ea typeface="맑은 고딕" panose="020B0503020000020004" pitchFamily="50" charset="-127"/>
                        </a:rPr>
                        <a:t>개발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MAIAGENT-945 Vehicle Q&amp;A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답변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플로팅뷰</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latinLnBrk="1">
                        <a:buFontTx/>
                        <a:buNone/>
                      </a:pPr>
                      <a:endParaRPr lang="ko-KR" altLang="en-US" sz="1000" b="0" i="0"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11688">
                <a:tc vMerge="1">
                  <a:txBody>
                    <a:bodyPr/>
                    <a:lstStyle/>
                    <a:p>
                      <a:endParaRPr lang="ko-KR" altLang="en-US" kern="1200"/>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MAIAGENT-1033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Vehicle</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Q&amp;A 와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Control</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답변 GUI 사양 반영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MAIAGENT-935 [26</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년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투비원</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4.2.2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자연어 차량 제어</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_ Vehicle Control UI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021712"/>
                  </a:ext>
                </a:extLst>
              </a:tr>
              <a:tr h="211688">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MAIAGENT-974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플로팅뷰</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개발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26.08.11</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75998388"/>
                  </a:ext>
                </a:extLst>
              </a:tr>
              <a:tr h="211688">
                <a:tc vMerge="1">
                  <a:txBody>
                    <a:bodyPr/>
                    <a:lstStyle/>
                    <a:p>
                      <a:pPr marL="0" lvl="1" indent="0" algn="ctr">
                        <a:tabLst>
                          <a:tab pos="0" algn="l"/>
                        </a:tabLst>
                      </a:pPr>
                      <a:endParaRPr lang="ko-KR" altLang="en-US" sz="1000" b="0" i="0" strike="noStrike" kern="1200" dirty="0">
                        <a:solidFill>
                          <a:schemeClr val="tx1"/>
                        </a:solidFill>
                        <a:latin typeface="현대하모니 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MAIAGENT-980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보이스 크롬 작업</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25217347"/>
                  </a:ext>
                </a:extLst>
              </a:tr>
              <a:tr h="211688">
                <a:tc rowSpan="16">
                  <a:txBody>
                    <a:bodyPr/>
                    <a:lstStyle/>
                    <a:p>
                      <a:pPr marL="0" lvl="1" indent="0" algn="ctr" latinLnBrk="1">
                        <a:buFontTx/>
                        <a:buNone/>
                      </a:pPr>
                      <a:r>
                        <a:rPr lang="ko-KR" altLang="en-US" sz="1000" b="0" i="0" kern="1200" dirty="0" err="1">
                          <a:solidFill>
                            <a:schemeClr val="tx1"/>
                          </a:solidFill>
                          <a:latin typeface="맑은 고딕" panose="020B0503020000020004" pitchFamily="50" charset="-127"/>
                          <a:ea typeface="맑은 고딕" panose="020B0503020000020004" pitchFamily="50" charset="-127"/>
                        </a:rPr>
                        <a:t>비즈니스로직</a:t>
                      </a:r>
                      <a:r>
                        <a:rPr lang="ko-KR" altLang="en-US" sz="1000" b="0" i="0" kern="1200" dirty="0">
                          <a:solidFill>
                            <a:schemeClr val="tx1"/>
                          </a:solidFill>
                          <a:latin typeface="맑은 고딕" panose="020B0503020000020004" pitchFamily="50" charset="-127"/>
                          <a:ea typeface="맑은 고딕" panose="020B0503020000020004" pitchFamily="50" charset="-127"/>
                        </a:rPr>
                        <a:t> 개발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MAIAGENT-833 [SRS-AIP-0401]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Agent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에</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따른 명령을 처리해야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26.05.29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latinLnBrk="1">
                        <a:buFontTx/>
                        <a:buNone/>
                      </a:pPr>
                      <a:endParaRPr lang="ko-KR" altLang="en-US" sz="1000" b="0" i="0"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211688">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MAIAGENT-834 [SRS-AIP-0501]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APP은</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제어 명령을 차량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APP에</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전달해야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06440836"/>
                  </a:ext>
                </a:extLst>
              </a:tr>
              <a:tr h="211688">
                <a:tc vMerge="1">
                  <a:txBody>
                    <a:bodyPr/>
                    <a:lstStyle/>
                    <a:p>
                      <a:endParaRPr lang="ko-KR" altLang="en-US" kern="1200"/>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MAIAGENT-819 [SRS-AIP-0401]</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Agent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에 따른 명령을 처리해야 한다.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5"/>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MAIAGENT-820 [SRS-AIP-0501]APP</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은 제어 명령을 차량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APP</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에 전달해야 한다</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15709868"/>
                  </a:ext>
                </a:extLst>
              </a:tr>
              <a:tr h="272879">
                <a:tc vMerge="1">
                  <a:txBody>
                    <a:bodyPr/>
                    <a:lstStyle/>
                    <a:p>
                      <a:pPr latinLnBrk="1"/>
                      <a:endParaRPr lang="ko-KR" altLang="en-US"/>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MAIAGENT-821 [SRS-AIP-0601]시스템은 제어 완료 후 사용자에게 음성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or</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Text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로 결과를 안내해야 한다.</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86697596"/>
                  </a:ext>
                </a:extLst>
              </a:tr>
              <a:tr h="211688">
                <a:tc vMerge="1">
                  <a:txBody>
                    <a:bodyPr/>
                    <a:lstStyle/>
                    <a:p>
                      <a:endParaRPr dirty="0"/>
                    </a:p>
                  </a:txBody>
                  <a:tcPr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MAIAGENT-844 26` 6/15(</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월</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)~19(</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금</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주간내</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BU</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장님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데모건</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20802853"/>
                  </a:ext>
                </a:extLst>
              </a:tr>
              <a:tr h="272879">
                <a:tc vMerge="1">
                  <a:txBody>
                    <a:bodyPr/>
                    <a:lstStyle/>
                    <a:p>
                      <a:endParaRPr lang="ko-KR" altLang="en-US" kern="1200"/>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MAIAGENT-799 [SRS-AIP-0802]</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도메인 추출을 기존과 같이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LLM</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을 통해서 분류 할지</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별도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Semantic Router</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를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임베딩할지</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검토 필요</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0891025"/>
                  </a:ext>
                </a:extLst>
              </a:tr>
              <a:tr h="211688">
                <a:tc vMerge="1">
                  <a:txBody>
                    <a:bodyPr/>
                    <a:lstStyle/>
                    <a:p>
                      <a:endParaRPr lang="ko-KR" altLang="en-US" kern="1200"/>
                    </a:p>
                  </a:txBody>
                  <a:tcPr>
                    <a:lnT w="6350" cap="flat" cmpd="sng" algn="ctr">
                      <a:solidFill>
                        <a:schemeClr val="tx1">
                          <a:lumMod val="50000"/>
                          <a:lumOff val="50000"/>
                        </a:schemeClr>
                      </a:solidFill>
                      <a:prstDash val="solid"/>
                      <a:round/>
                      <a:headEnd type="none" w="med" len="med"/>
                      <a:tailEnd type="none" w="med" len="med"/>
                    </a:lnT>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MAIAGENT-800 [SRS-AIP-0901]사용자 지정 LLM 호출 및 답변 생성</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37970240"/>
                  </a:ext>
                </a:extLst>
              </a:tr>
              <a:tr h="211688">
                <a:tc vMerge="1">
                  <a:txBody>
                    <a:bodyPr/>
                    <a:lstStyle/>
                    <a:p>
                      <a:endParaRPr dirty="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MAIAGENT-920 </a:t>
                      </a:r>
                      <a:r>
                        <a:rPr lang="en-US" altLang="ko-KR" sz="1000" b="0" i="0" u="none" strike="noStrike" dirty="0" err="1">
                          <a:solidFill>
                            <a:schemeClr val="tx1"/>
                          </a:solidFill>
                          <a:effectLst/>
                          <a:latin typeface="맑은 고딕" panose="020B0503020000020004" pitchFamily="50" charset="-127"/>
                          <a:ea typeface="HY중고딕" panose="02030600000101010101" pitchFamily="18" charset="-127"/>
                        </a:rPr>
                        <a:t>AIAgent</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세팅을 위한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shell script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작업</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1740460"/>
                  </a:ext>
                </a:extLst>
              </a:tr>
              <a:tr h="211688">
                <a:tc vMerge="1">
                  <a:txBody>
                    <a:bodyPr/>
                    <a:lstStyle/>
                    <a:p>
                      <a:pPr latinLnBrk="1"/>
                      <a:endParaRPr lang="ko-KR" altLang="en-US" dirty="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MAIAGENT-931 [SRS-AIP-0803]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Cloud</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LLM API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Prompt</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표준화</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73802452"/>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MAIAGENT-979 [AI DJ]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가사 표시 기능</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_Lyrics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건</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88313242"/>
                  </a:ext>
                </a:extLst>
              </a:tr>
              <a:tr h="211688">
                <a:tc vMerge="1">
                  <a:txBody>
                    <a:bodyPr/>
                    <a:lstStyle/>
                    <a:p>
                      <a:pPr latinLnBrk="1"/>
                      <a:endParaRPr lang="ko-KR" altLang="en-US" dirty="0"/>
                    </a:p>
                  </a:txBody>
                  <a:tcPr anchor="ctr">
                    <a:lnL w="6350" cap="flat" cmpd="sng" algn="ctr">
                      <a:solidFill>
                        <a:schemeClr val="tx1">
                          <a:lumMod val="50000"/>
                          <a:lumOff val="50000"/>
                        </a:schemeClr>
                      </a:solidFill>
                      <a:prstDash val="solid"/>
                      <a:round/>
                      <a:headEnd type="none" w="med" len="med"/>
                      <a:tailEnd type="none" w="med" len="med"/>
                    </a:lnL>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ko-KR" sz="1000" b="0" i="0" u="none" strike="noStrike" dirty="0">
                          <a:solidFill>
                            <a:schemeClr val="tx1"/>
                          </a:solidFill>
                          <a:effectLst/>
                          <a:latin typeface="맑은 고딕" panose="020B0503020000020004" pitchFamily="50" charset="-127"/>
                          <a:ea typeface="HY중고딕" panose="02030600000101010101" pitchFamily="18" charset="-127"/>
                        </a:rPr>
                        <a:t>MAIAGENT-972 라이브 AI DJ_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Spotify</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t>
                      </a:r>
                      <a:r>
                        <a:rPr lang="ko-KR" sz="1000" b="0" i="0" u="none" strike="noStrike" dirty="0" err="1">
                          <a:solidFill>
                            <a:schemeClr val="tx1"/>
                          </a:solidFill>
                          <a:effectLst/>
                          <a:latin typeface="맑은 고딕" panose="020B0503020000020004" pitchFamily="50" charset="-127"/>
                          <a:ea typeface="HY중고딕" panose="02030600000101010101" pitchFamily="18" charset="-127"/>
                        </a:rPr>
                        <a:t>Web</a:t>
                      </a:r>
                      <a:r>
                        <a:rPr lang="ko-KR" sz="1000" b="0" i="0" u="none" strike="noStrike" dirty="0">
                          <a:solidFill>
                            <a:schemeClr val="tx1"/>
                          </a:solidFill>
                          <a:effectLst/>
                          <a:latin typeface="맑은 고딕" panose="020B0503020000020004" pitchFamily="50" charset="-127"/>
                          <a:ea typeface="HY중고딕" panose="02030600000101010101" pitchFamily="18" charset="-127"/>
                        </a:rPr>
                        <a:t> API 연동</a:t>
                      </a: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8425201"/>
                  </a:ext>
                </a:extLst>
              </a:tr>
              <a:tr h="211688">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MAIAGENT-975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개인화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DB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연동</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26.08.05</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10163242"/>
                  </a:ext>
                </a:extLst>
              </a:tr>
              <a:tr h="211688">
                <a:tc vMerge="1">
                  <a:txBody>
                    <a:bodyPr/>
                    <a:lstStyle/>
                    <a:p>
                      <a:pPr latinLnBrk="1"/>
                      <a:endParaRPr lang="ko-KR" altLang="en-US"/>
                    </a:p>
                  </a:txBody>
                  <a:tcPr/>
                </a:tc>
                <a:tc>
                  <a:txBody>
                    <a:bodyPr/>
                    <a:lstStyle/>
                    <a:p>
                      <a:pPr algn="l" fontAlgn="ctr">
                        <a:buNone/>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MAIAGENT-1107 [</a:t>
                      </a:r>
                      <a:r>
                        <a:rPr lang="en-US" altLang="ko-KR" sz="1000" b="0" i="0" u="none" strike="noStrike" dirty="0" err="1">
                          <a:solidFill>
                            <a:schemeClr val="tx1"/>
                          </a:solidFill>
                          <a:effectLst/>
                          <a:latin typeface="맑은 고딕" panose="020B0503020000020004" pitchFamily="50" charset="-127"/>
                          <a:ea typeface="HY중고딕" panose="02030600000101010101" pitchFamily="18" charset="-127"/>
                        </a:rPr>
                        <a:t>AIAgent</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 SOS</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키 </a:t>
                      </a:r>
                      <a:r>
                        <a:rPr lang="ko-KR" altLang="en-US" sz="1000" b="0" i="0" u="none" strike="noStrike" dirty="0" err="1">
                          <a:solidFill>
                            <a:schemeClr val="tx1"/>
                          </a:solidFill>
                          <a:effectLst/>
                          <a:latin typeface="맑은 고딕" panose="020B0503020000020004" pitchFamily="50" charset="-127"/>
                          <a:ea typeface="HY중고딕" panose="02030600000101010101" pitchFamily="18" charset="-127"/>
                        </a:rPr>
                        <a:t>입력시</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STT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호출</a:t>
                      </a:r>
                      <a:endParaRPr 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맑은 고딕" panose="020B0503020000020004" pitchFamily="50" charset="-127"/>
                          <a:ea typeface="HY중고딕" panose="02030600000101010101" pitchFamily="18" charset="-127"/>
                        </a:rPr>
                        <a:t>26.08.12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79010246"/>
                  </a:ext>
                </a:extLst>
              </a:tr>
              <a:tr h="211688">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MAIAGENT-971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검색 쿼리 및 추천 문구 생성</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26.08.18</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55114197"/>
                  </a:ext>
                </a:extLst>
              </a:tr>
              <a:tr h="220536">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MAIAGENT-973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라이브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DJ_ Spotify Streaming Background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재생</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정지 및 </a:t>
                      </a:r>
                      <a:r>
                        <a:rPr lang="en-US" altLang="ko-KR" sz="1000" b="0" i="0" u="none" strike="noStrike" dirty="0">
                          <a:solidFill>
                            <a:schemeClr val="tx1"/>
                          </a:solidFill>
                          <a:effectLst/>
                          <a:latin typeface="맑은 고딕" panose="020B0503020000020004" pitchFamily="50" charset="-127"/>
                          <a:ea typeface="HY중고딕" panose="02030600000101010101" pitchFamily="18" charset="-127"/>
                        </a:rPr>
                        <a:t>AI Chat </a:t>
                      </a:r>
                      <a:r>
                        <a:rPr lang="ko-KR" altLang="en-US" sz="1000" b="0" i="0" u="none" strike="noStrike" dirty="0">
                          <a:solidFill>
                            <a:schemeClr val="tx1"/>
                          </a:solidFill>
                          <a:effectLst/>
                          <a:latin typeface="맑은 고딕" panose="020B0503020000020004" pitchFamily="50" charset="-127"/>
                          <a:ea typeface="HY중고딕" panose="02030600000101010101" pitchFamily="18" charset="-127"/>
                        </a:rPr>
                        <a:t>연동</a:t>
                      </a:r>
                      <a:endParaRPr lang="ko-KR" altLang="ko-KR" sz="1000" b="0" i="0" u="none" strike="noStrike" dirty="0">
                        <a:solidFill>
                          <a:schemeClr val="tx1"/>
                        </a:solidFill>
                        <a:effectLst/>
                        <a:latin typeface="맑은 고딕" panose="020B0503020000020004" pitchFamily="50" charset="-127"/>
                        <a:ea typeface="HY중고딕" panose="02030600000101010101" pitchFamily="18" charset="-127"/>
                      </a:endParaRPr>
                    </a:p>
                  </a:txBody>
                  <a:tcPr marL="14287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맑은 고딕" panose="020B0503020000020004" pitchFamily="50" charset="-127"/>
                          <a:ea typeface="HY중고딕" panose="02030600000101010101" pitchFamily="18" charset="-127"/>
                        </a:rPr>
                        <a:t>26.08.20</a:t>
                      </a:r>
                      <a:endParaRPr lang="ko-KR" sz="1000" b="0" i="0" u="none" strike="noStrike" dirty="0">
                        <a:solidFill>
                          <a:srgbClr val="000000"/>
                        </a:solidFill>
                        <a:effectLst/>
                        <a:latin typeface="맑은 고딕" panose="020B0503020000020004" pitchFamily="50" charset="-127"/>
                        <a:ea typeface="HY중고딕" panose="0203060000010101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tabLst>
                          <a:tab pos="0" algn="l"/>
                        </a:tabLst>
                      </a:pPr>
                      <a:endParaRPr lang="ko-KR" altLang="en-US" sz="1000" b="0" i="0" strike="noStrike" kern="1200" dirty="0">
                        <a:solidFill>
                          <a:schemeClr val="tx1"/>
                        </a:solidFill>
                        <a:latin typeface="맑은 고딕" panose="020B0503020000020004" pitchFamily="50" charset="-127"/>
                        <a:ea typeface="HY중고딕" panose="02030600000101010101" pitchFamily="18"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90785205"/>
                  </a:ext>
                </a:extLst>
              </a:tr>
            </a:tbl>
          </a:graphicData>
        </a:graphic>
      </p:graphicFrame>
    </p:spTree>
    <p:extLst>
      <p:ext uri="{BB962C8B-B14F-4D97-AF65-F5344CB8AC3E}">
        <p14:creationId xmlns:p14="http://schemas.microsoft.com/office/powerpoint/2010/main" val="2354023065"/>
      </p:ext>
    </p:extLst>
  </p:cSld>
  <p:clrMapOvr>
    <a:masterClrMapping/>
  </p:clrMapOvr>
</p:sld>
</file>

<file path=ppt/theme/theme1.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spAutoFit/>
      </a:bodyPr>
      <a:lstStyle>
        <a:defPPr>
          <a:defRPr sz="1000" dirty="0">
            <a:solidFill>
              <a:schemeClr val="tx1">
                <a:lumMod val="50000"/>
                <a:lumOff val="50000"/>
              </a:schemeClr>
            </a:solidFill>
          </a:defRPr>
        </a:defPPr>
      </a:lstStyle>
    </a:sp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spAutoFit/>
      </a:bodyPr>
      <a:lstStyle>
        <a:defPPr>
          <a:defRPr sz="1000" dirty="0">
            <a:solidFill>
              <a:schemeClr val="tx1">
                <a:lumMod val="50000"/>
                <a:lumOff val="50000"/>
              </a:schemeClr>
            </a:solidFill>
          </a:defRPr>
        </a:defPPr>
      </a:lstStyle>
    </a:sp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d0bc021-0c43-4029-a072-964d39f3070b}" enabled="1" method="Privileged" siteId="{7cf932c0-bced-4490-b11f-48d23b1fe0d9}" contentBits="0" removed="0"/>
</clbl:labelList>
</file>

<file path=docProps/app.xml><?xml version="1.0" encoding="utf-8"?>
<Properties xmlns="http://schemas.openxmlformats.org/officeDocument/2006/extended-properties" xmlns:vt="http://schemas.openxmlformats.org/officeDocument/2006/docPropsVTypes">
  <Template/>
  <TotalTime>194078301</TotalTime>
  <Words>3012</Words>
  <Application>Microsoft Office PowerPoint</Application>
  <PresentationFormat>A4 용지(210x297mm)</PresentationFormat>
  <Paragraphs>440</Paragraphs>
  <Slides>25</Slides>
  <Notes>23</Notes>
  <HiddenSlides>0</HiddenSlides>
  <MMClips>0</MMClips>
  <ScaleCrop>false</ScaleCrop>
  <HeadingPairs>
    <vt:vector size="6" baseType="variant">
      <vt:variant>
        <vt:lpstr>사용한 글꼴</vt:lpstr>
      </vt:variant>
      <vt:variant>
        <vt:i4>5</vt:i4>
      </vt:variant>
      <vt:variant>
        <vt:lpstr>테마</vt:lpstr>
      </vt:variant>
      <vt:variant>
        <vt:i4>3</vt:i4>
      </vt:variant>
      <vt:variant>
        <vt:lpstr>슬라이드 제목</vt:lpstr>
      </vt:variant>
      <vt:variant>
        <vt:i4>25</vt:i4>
      </vt:variant>
    </vt:vector>
  </HeadingPairs>
  <TitlesOfParts>
    <vt:vector size="33" baseType="lpstr">
      <vt:lpstr>HY헤드라인M</vt:lpstr>
      <vt:lpstr>굴림</vt:lpstr>
      <vt:lpstr>맑은 고딕</vt:lpstr>
      <vt:lpstr>Arial</vt:lpstr>
      <vt:lpstr>Wingdings</vt:lpstr>
      <vt:lpstr>1_기본 디자인</vt:lpstr>
      <vt:lpstr>디자인 사용자 지정</vt:lpstr>
      <vt:lpstr>2_기본 디자인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Mobis</dc:creator>
  <cp:lastModifiedBy>부재식 (주)투비원솔루션즈</cp:lastModifiedBy>
  <cp:revision>1444</cp:revision>
  <cp:lastPrinted>2014-02-11T08:53:40Z</cp:lastPrinted>
  <dcterms:created xsi:type="dcterms:W3CDTF">2008-08-28T07:58:34Z</dcterms:created>
  <dcterms:modified xsi:type="dcterms:W3CDTF">2026-08-21T06:38:12Z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000800aa7c0000000000010243100207e6000400038000</vt:lpwstr>
  </property>
  <property fmtid="{D5CDD505-2E9C-101B-9397-08002B2CF9AE}" pid="3" name="MSIP_Label_6c8052f8-6d20-481e-a88c-2a23f34d153f_SiteId">
    <vt:lpwstr>7cf932c0-bced-4490-b11f-48d23b1fe0d9</vt:lpwstr>
  </property>
  <property fmtid="{D5CDD505-2E9C-101B-9397-08002B2CF9AE}" pid="4" name="MSIP_Label_6c8052f8-6d20-481e-a88c-2a23f34d153f_SetDate">
    <vt:lpwstr>2024-05-07T04:44:04Z</vt:lpwstr>
  </property>
  <property fmtid="{D5CDD505-2E9C-101B-9397-08002B2CF9AE}" pid="5" name="MSIP_Label_6c8052f8-6d20-481e-a88c-2a23f34d153f_Name">
    <vt:lpwstr>내부직원 사용</vt:lpwstr>
  </property>
  <property fmtid="{D5CDD505-2E9C-101B-9397-08002B2CF9AE}" pid="6" name="MSIP_Label_6c8052f8-6d20-481e-a88c-2a23f34d153f_Method">
    <vt:lpwstr>Standard</vt:lpwstr>
  </property>
  <property fmtid="{D5CDD505-2E9C-101B-9397-08002B2CF9AE}" pid="7" name="MSIP_Label_6c8052f8-6d20-481e-a88c-2a23f34d153f_Enabled">
    <vt:lpwstr>true</vt:lpwstr>
  </property>
  <property fmtid="{D5CDD505-2E9C-101B-9397-08002B2CF9AE}" pid="8" name="MSIP_Label_6c8052f8-6d20-481e-a88c-2a23f34d153f_ContentBits">
    <vt:lpwstr>8</vt:lpwstr>
  </property>
  <property fmtid="{D5CDD505-2E9C-101B-9397-08002B2CF9AE}" pid="9" name="MSIP_Label_6c8052f8-6d20-481e-a88c-2a23f34d153f_ActionId">
    <vt:lpwstr>94bd5dad-6687-4329-be00-13394449cb7c</vt:lpwstr>
  </property>
</Properties>
</file>