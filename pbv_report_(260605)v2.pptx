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1"/>
  </p:notesMasterIdLst>
  <p:sldIdLst>
    <p:sldId id="258" r:id="rId2"/>
    <p:sldId id="266" r:id="rId3"/>
    <p:sldId id="330" r:id="rId4"/>
    <p:sldId id="746" r:id="rId5"/>
    <p:sldId id="749" r:id="rId6"/>
    <p:sldId id="784" r:id="rId7"/>
    <p:sldId id="794" r:id="rId8"/>
    <p:sldId id="795" r:id="rId9"/>
    <p:sldId id="796" r:id="rId10"/>
    <p:sldId id="797" r:id="rId11"/>
    <p:sldId id="754" r:id="rId12"/>
    <p:sldId id="756" r:id="rId13"/>
    <p:sldId id="758" r:id="rId14"/>
    <p:sldId id="764" r:id="rId15"/>
    <p:sldId id="791" r:id="rId16"/>
    <p:sldId id="798" r:id="rId17"/>
    <p:sldId id="792" r:id="rId18"/>
    <p:sldId id="802" r:id="rId19"/>
    <p:sldId id="803" r:id="rId20"/>
    <p:sldId id="793" r:id="rId21"/>
    <p:sldId id="804" r:id="rId22"/>
    <p:sldId id="799" r:id="rId23"/>
    <p:sldId id="790" r:id="rId24"/>
    <p:sldId id="786" r:id="rId25"/>
    <p:sldId id="787" r:id="rId26"/>
    <p:sldId id="751" r:id="rId27"/>
    <p:sldId id="271" r:id="rId28"/>
    <p:sldId id="269" r:id="rId29"/>
    <p:sldId id="785" r:id="rId30"/>
  </p:sldIdLst>
  <p:sldSz cx="9906000" cy="6858000" type="A4"/>
  <p:notesSz cx="6865938" cy="99980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6" orient="horz" pos="822" userDrawn="1">
          <p15:clr>
            <a:srgbClr val="A4A3A4"/>
          </p15:clr>
        </p15:guide>
        <p15:guide id="7" orient="horz" pos="618" userDrawn="1">
          <p15:clr>
            <a:srgbClr val="A4A3A4"/>
          </p15:clr>
        </p15:guide>
        <p15:guide id="10" pos="5955" userDrawn="1">
          <p15:clr>
            <a:srgbClr val="A4A3A4"/>
          </p15:clr>
        </p15:guide>
        <p15:guide id="11" pos="11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7EC6"/>
    <a:srgbClr val="0066FF"/>
    <a:srgbClr val="D4233F"/>
    <a:srgbClr val="CDACE6"/>
    <a:srgbClr val="B381D9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3" autoAdjust="0"/>
    <p:restoredTop sz="94660"/>
  </p:normalViewPr>
  <p:slideViewPr>
    <p:cSldViewPr snapToGrid="0" showGuides="1">
      <p:cViewPr varScale="1">
        <p:scale>
          <a:sx n="165" d="100"/>
          <a:sy n="165" d="100"/>
        </p:scale>
        <p:origin x="1164" y="132"/>
      </p:cViewPr>
      <p:guideLst>
        <p:guide orient="horz" pos="4065"/>
        <p:guide orient="horz" pos="822"/>
        <p:guide orient="horz" pos="618"/>
        <p:guide pos="5955"/>
        <p:guide pos="11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501640"/>
          </a:xfrm>
          <a:prstGeom prst="rect">
            <a:avLst/>
          </a:prstGeom>
        </p:spPr>
        <p:txBody>
          <a:bodyPr vert="horz" lIns="96359" tIns="48180" rIns="96359" bIns="48180" rtlCol="0"/>
          <a:lstStyle>
            <a:lvl1pPr algn="r">
              <a:defRPr sz="1300"/>
            </a:lvl1pPr>
          </a:lstStyle>
          <a:p>
            <a:fld id="{E3FD1BB9-5AFF-4149-8A32-8E0459EA3C9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6950" y="1249363"/>
            <a:ext cx="4872038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359" tIns="48180" rIns="96359" bIns="4818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6594" y="4811574"/>
            <a:ext cx="5492750" cy="3936742"/>
          </a:xfrm>
          <a:prstGeom prst="rect">
            <a:avLst/>
          </a:prstGeom>
        </p:spPr>
        <p:txBody>
          <a:bodyPr vert="horz" lIns="96359" tIns="48180" rIns="96359" bIns="4818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9109" y="9496437"/>
            <a:ext cx="2975240" cy="501639"/>
          </a:xfrm>
          <a:prstGeom prst="rect">
            <a:avLst/>
          </a:prstGeom>
        </p:spPr>
        <p:txBody>
          <a:bodyPr vert="horz" lIns="96359" tIns="48180" rIns="96359" bIns="48180" rtlCol="0" anchor="b"/>
          <a:lstStyle>
            <a:lvl1pPr algn="r">
              <a:defRPr sz="1300"/>
            </a:lvl1pPr>
          </a:lstStyle>
          <a:p>
            <a:fld id="{65019F86-69AA-418A-A76F-9CD404E523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502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72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55" y="55679"/>
            <a:ext cx="8543925" cy="408844"/>
          </a:xfrm>
        </p:spPr>
        <p:txBody>
          <a:bodyPr>
            <a:normAutofit/>
          </a:bodyPr>
          <a:lstStyle>
            <a:lvl1pPr>
              <a:defRPr sz="2400" b="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772" y="674703"/>
            <a:ext cx="9074458" cy="57438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pic>
        <p:nvPicPr>
          <p:cNvPr id="9" name="Picture 2" descr="현대모비스에 대한 이미지 검색결과">
            <a:extLst>
              <a:ext uri="{FF2B5EF4-FFF2-40B4-BE49-F238E27FC236}">
                <a16:creationId xmlns:a16="http://schemas.microsoft.com/office/drawing/2014/main" id="{62B38A06-4786-4AD1-8B66-F093F0DAA3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42329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25BB533-3888-49BB-9B22-C069045E28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611105"/>
            <a:ext cx="692707" cy="24244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5356C21-E82F-4766-BF9E-E5C304B3262F}"/>
              </a:ext>
            </a:extLst>
          </p:cNvPr>
          <p:cNvSpPr/>
          <p:nvPr userDrawn="1"/>
        </p:nvSpPr>
        <p:spPr>
          <a:xfrm>
            <a:off x="0" y="470508"/>
            <a:ext cx="9900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254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589E92D6-3EA9-46F2-8917-A1950E2B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10423" y="6613392"/>
            <a:ext cx="685154" cy="237875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4" name="바닥글 개체 틀 1">
            <a:extLst>
              <a:ext uri="{FF2B5EF4-FFF2-40B4-BE49-F238E27FC236}">
                <a16:creationId xmlns:a16="http://schemas.microsoft.com/office/drawing/2014/main" id="{625B9CFD-C91D-F800-2122-D8E475A04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>
            <a:lvl1pPr algn="l">
              <a:defRPr sz="1000"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57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204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681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299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629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744649" y="6574361"/>
            <a:ext cx="3343275" cy="27799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380134" y="6568714"/>
            <a:ext cx="2228850" cy="289286"/>
          </a:xfrm>
        </p:spPr>
        <p:txBody>
          <a:bodyPr/>
          <a:lstStyle>
            <a:lvl1pPr algn="ctr">
              <a:defRPr/>
            </a:lvl1pPr>
          </a:lstStyle>
          <a:p>
            <a:fld id="{DC80BF6F-0142-4830-87E7-2F6C4BE8B07D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26" name="Picture 2" descr="현대모비스에 대한 이미지 검색결과">
            <a:extLst>
              <a:ext uri="{FF2B5EF4-FFF2-40B4-BE49-F238E27FC236}">
                <a16:creationId xmlns:a16="http://schemas.microsoft.com/office/drawing/2014/main" id="{ECD54C1E-7642-4FA1-88DD-B4E665F72B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2" y="6623357"/>
            <a:ext cx="522727" cy="1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A4C1A52-0237-44F5-9A61-4395B0136C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473" y="6592133"/>
            <a:ext cx="692707" cy="242448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A304D04-D1F9-4B96-B6AA-3D7EC97B9D44}"/>
              </a:ext>
            </a:extLst>
          </p:cNvPr>
          <p:cNvSpPr/>
          <p:nvPr userDrawn="1"/>
        </p:nvSpPr>
        <p:spPr>
          <a:xfrm>
            <a:off x="0" y="710214"/>
            <a:ext cx="9906000" cy="4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D98E841-BF8E-42AC-A16B-9A49C238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32" y="183198"/>
            <a:ext cx="8543925" cy="550416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69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00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899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371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51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ko-KR"/>
              <a:t>24</a:t>
            </a:r>
            <a:r>
              <a:rPr lang="ko-KR" altLang="en-US"/>
              <a:t>년도 표준형 </a:t>
            </a:r>
            <a:r>
              <a:rPr lang="en-US" altLang="ko-KR"/>
              <a:t>5</a:t>
            </a:r>
            <a:r>
              <a:rPr lang="ko-KR" altLang="en-US"/>
              <a:t>세대 </a:t>
            </a:r>
            <a:r>
              <a:rPr lang="en-US" altLang="ko-KR"/>
              <a:t>WIDE_WIDE NH AVN </a:t>
            </a:r>
            <a:r>
              <a:rPr lang="ko-KR" altLang="en-US"/>
              <a:t>뮤직스트리밍 유지보수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0BF6F-0142-4830-87E7-2F6C4BE8B0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09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jira.mobis.co.kr/browse/TCIEXTORG-7776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jira.mobis.co.kr/browse/MPI-95796?src=confmacro" TargetMode="External"/><Relationship Id="rId3" Type="http://schemas.openxmlformats.org/officeDocument/2006/relationships/hyperlink" Target="https://jira.mobis.co.kr/browse/MPI-98623" TargetMode="External"/><Relationship Id="rId7" Type="http://schemas.openxmlformats.org/officeDocument/2006/relationships/hyperlink" Target="https://jira.mobis.co.kr/browse/MPI-96918?src=confmacro" TargetMode="External"/><Relationship Id="rId12" Type="http://schemas.openxmlformats.org/officeDocument/2006/relationships/hyperlink" Target="https://jira.mobis.co.kr/browse/TCIEXTORG-8583" TargetMode="External"/><Relationship Id="rId2" Type="http://schemas.openxmlformats.org/officeDocument/2006/relationships/hyperlink" Target="https://jira.mobis.co.kr/browse/MPI-9849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ira.mobis.co.kr/browse/MPI-97580" TargetMode="External"/><Relationship Id="rId11" Type="http://schemas.openxmlformats.org/officeDocument/2006/relationships/hyperlink" Target="https://jira.mobis.co.kr/browse/MPI-93973" TargetMode="External"/><Relationship Id="rId5" Type="http://schemas.openxmlformats.org/officeDocument/2006/relationships/hyperlink" Target="https://jira.mobis.co.kr/browse/MPI-97557" TargetMode="External"/><Relationship Id="rId10" Type="http://schemas.openxmlformats.org/officeDocument/2006/relationships/hyperlink" Target="https://jira.mobis.co.kr/browse/MPI-94714" TargetMode="External"/><Relationship Id="rId4" Type="http://schemas.openxmlformats.org/officeDocument/2006/relationships/hyperlink" Target="https://jira.mobis.co.kr/browse/MPI-98392" TargetMode="External"/><Relationship Id="rId9" Type="http://schemas.openxmlformats.org/officeDocument/2006/relationships/hyperlink" Target="https://jira.mobis.co.kr/browse/MPI-94833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ira.mobis.co.kr/browse/TCI-72214" TargetMode="External"/><Relationship Id="rId7" Type="http://schemas.openxmlformats.org/officeDocument/2006/relationships/hyperlink" Target="https://jira.mobis.co.kr/browse/TCI-75754" TargetMode="External"/><Relationship Id="rId2" Type="http://schemas.openxmlformats.org/officeDocument/2006/relationships/hyperlink" Target="https://jira.mobis.co.kr/browse/MPI-9182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ira.mobis.co.kr/browse/TCI-76364" TargetMode="External"/><Relationship Id="rId5" Type="http://schemas.openxmlformats.org/officeDocument/2006/relationships/hyperlink" Target="https://jira.mobis.co.kr/browse/TCI-76157" TargetMode="External"/><Relationship Id="rId4" Type="http://schemas.openxmlformats.org/officeDocument/2006/relationships/hyperlink" Target="https://jira.mobis.co.kr/browse/TCI-71923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jira.mobis.co.kr/browse/TCI-76472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jira.mobis.co.kr/browse/MPI-95767" TargetMode="External"/><Relationship Id="rId13" Type="http://schemas.openxmlformats.org/officeDocument/2006/relationships/hyperlink" Target="https://jira.mobis.co.kr/browse/MPI-89649" TargetMode="External"/><Relationship Id="rId3" Type="http://schemas.openxmlformats.org/officeDocument/2006/relationships/hyperlink" Target="https://jira.mobis.co.kr/browse/MPI-97572" TargetMode="External"/><Relationship Id="rId7" Type="http://schemas.openxmlformats.org/officeDocument/2006/relationships/hyperlink" Target="https://jira.mobis.co.kr/browse/MPI-95806?src=confmacro" TargetMode="External"/><Relationship Id="rId12" Type="http://schemas.openxmlformats.org/officeDocument/2006/relationships/hyperlink" Target="https://jira.mobis.co.kr/browse/MPI-93299" TargetMode="External"/><Relationship Id="rId2" Type="http://schemas.openxmlformats.org/officeDocument/2006/relationships/hyperlink" Target="https://jira.mobis.co.kr/browse/MPI-9839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ira.mobis.co.kr/browse/MPI-95932?src=confmacro" TargetMode="External"/><Relationship Id="rId11" Type="http://schemas.openxmlformats.org/officeDocument/2006/relationships/hyperlink" Target="https://jira.mobis.co.kr/browse/MPI-93424" TargetMode="External"/><Relationship Id="rId5" Type="http://schemas.openxmlformats.org/officeDocument/2006/relationships/hyperlink" Target="https://jira.mobis.co.kr/browse/MPI-96267?src=confmacro" TargetMode="External"/><Relationship Id="rId10" Type="http://schemas.openxmlformats.org/officeDocument/2006/relationships/hyperlink" Target="https://jira.mobis.co.kr/browse/MPI-94106" TargetMode="External"/><Relationship Id="rId4" Type="http://schemas.openxmlformats.org/officeDocument/2006/relationships/hyperlink" Target="https://jira.mobis.co.kr/browse/MPI-96465" TargetMode="External"/><Relationship Id="rId9" Type="http://schemas.openxmlformats.org/officeDocument/2006/relationships/hyperlink" Target="https://jira.mobis.co.kr/browse/MPI-94994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jira.mobis.co.kr/browse/MPI-90313" TargetMode="External"/><Relationship Id="rId2" Type="http://schemas.openxmlformats.org/officeDocument/2006/relationships/hyperlink" Target="https://jira.mobis.co.kr/browse/MPI-90308?src=confmacro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ira.mobis.co.kr/browse/MPI-91982?src=confmacro" TargetMode="External"/><Relationship Id="rId5" Type="http://schemas.openxmlformats.org/officeDocument/2006/relationships/hyperlink" Target="https://jira.mobis.co.kr/browse/MPI-91809" TargetMode="External"/><Relationship Id="rId4" Type="http://schemas.openxmlformats.org/officeDocument/2006/relationships/hyperlink" Target="https://jira.mobis.co.kr/browse/MPI-91275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jira.mobis.co.kr/browse/TCI-70725" TargetMode="External"/><Relationship Id="rId3" Type="http://schemas.openxmlformats.org/officeDocument/2006/relationships/hyperlink" Target="https://jira.mobis.co.kr/browse/TCI-71722" TargetMode="External"/><Relationship Id="rId7" Type="http://schemas.openxmlformats.org/officeDocument/2006/relationships/hyperlink" Target="https://jira.mobis.co.kr/browse/TCI-70714" TargetMode="External"/><Relationship Id="rId2" Type="http://schemas.openxmlformats.org/officeDocument/2006/relationships/hyperlink" Target="https://jira.mobis.co.kr/browse/TCI-7056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ira.mobis.co.kr/browse/TCI-70745" TargetMode="External"/><Relationship Id="rId5" Type="http://schemas.openxmlformats.org/officeDocument/2006/relationships/hyperlink" Target="https://jira.mobis.co.kr/browse/TCI-71735" TargetMode="External"/><Relationship Id="rId4" Type="http://schemas.openxmlformats.org/officeDocument/2006/relationships/hyperlink" Target="https://jira.mobis.co.kr/browse/TCI-71012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jira.mobis.co.kr/browse/TCI-71911" TargetMode="External"/><Relationship Id="rId3" Type="http://schemas.openxmlformats.org/officeDocument/2006/relationships/hyperlink" Target="https://jira.mobis.co.kr/browse/TCI-74998" TargetMode="External"/><Relationship Id="rId7" Type="http://schemas.openxmlformats.org/officeDocument/2006/relationships/hyperlink" Target="https://jira.mobis.co.kr/browse/TCI-72557" TargetMode="External"/><Relationship Id="rId2" Type="http://schemas.openxmlformats.org/officeDocument/2006/relationships/hyperlink" Target="https://jira.mobis.co.kr/browse/TCI-76609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ira.mobis.co.kr/browse/TCI-74396" TargetMode="External"/><Relationship Id="rId5" Type="http://schemas.openxmlformats.org/officeDocument/2006/relationships/hyperlink" Target="https://jira.mobis.co.kr/browse/TCI-74397" TargetMode="External"/><Relationship Id="rId4" Type="http://schemas.openxmlformats.org/officeDocument/2006/relationships/hyperlink" Target="https://jira.mobis.co.kr/browse/TCI-74997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jira.mobis.co.kr/browse/MPI-92214" TargetMode="External"/><Relationship Id="rId2" Type="http://schemas.openxmlformats.org/officeDocument/2006/relationships/hyperlink" Target="https://jira.mobis.co.kr/browse/MPI-9221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ira.mobis.co.kr/browse/MPI-92222" TargetMode="External"/><Relationship Id="rId4" Type="http://schemas.openxmlformats.org/officeDocument/2006/relationships/hyperlink" Target="https://jira.mobis.co.kr/browse/MPI-92216" TargetMode="Externa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jira.mobis.co.kr/browse/TCI-71916" TargetMode="External"/><Relationship Id="rId3" Type="http://schemas.openxmlformats.org/officeDocument/2006/relationships/hyperlink" Target="https://jira.mobis.co.kr/browse/MPI-92215" TargetMode="External"/><Relationship Id="rId7" Type="http://schemas.openxmlformats.org/officeDocument/2006/relationships/hyperlink" Target="https://jira.mobis.co.kr/browse/TCI-72567" TargetMode="External"/><Relationship Id="rId2" Type="http://schemas.openxmlformats.org/officeDocument/2006/relationships/hyperlink" Target="https://jira.mobis.co.kr/browse/MPI-9221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ira.mobis.co.kr/browse/TCI-70715" TargetMode="External"/><Relationship Id="rId5" Type="http://schemas.openxmlformats.org/officeDocument/2006/relationships/hyperlink" Target="https://jira.mobis.co.kr/browse/MPI-92228" TargetMode="External"/><Relationship Id="rId10" Type="http://schemas.openxmlformats.org/officeDocument/2006/relationships/hyperlink" Target="https://jira.mobis.co.kr/browse/TCI-71913" TargetMode="External"/><Relationship Id="rId4" Type="http://schemas.openxmlformats.org/officeDocument/2006/relationships/hyperlink" Target="https://jira.mobis.co.kr/browse/MPI-92217" TargetMode="External"/><Relationship Id="rId9" Type="http://schemas.openxmlformats.org/officeDocument/2006/relationships/hyperlink" Target="https://jira.mobis.co.kr/browse/TCI-71915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jira.mobis.co.kr/browse/TCI-72774" TargetMode="External"/><Relationship Id="rId2" Type="http://schemas.openxmlformats.org/officeDocument/2006/relationships/hyperlink" Target="https://jira.mobis.co.kr/browse/TCI-71013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s://jira.mobis.co.kr/browse/MPI-98619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jira.mobis.co.kr/browse/MPI-91825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luence.mobis.co.kr/pages/viewpage.action?pageId=1107927830" TargetMode="External"/><Relationship Id="rId2" Type="http://schemas.openxmlformats.org/officeDocument/2006/relationships/hyperlink" Target="https://confluence.mobis.co.kr/pages/viewpage.action?pageId=1107927822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nfluence.mobis.co.kr/pages/viewpage.action?pageId=1098019176" TargetMode="External"/><Relationship Id="rId4" Type="http://schemas.openxmlformats.org/officeDocument/2006/relationships/hyperlink" Target="https://confluence.mobis.co.kr/pages/viewpage.action?pageId=1098018970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bucket.mobis.co.kr/projects/M_HMI/repos/platform.vendor.mobis.packages.apps.dmb/browse" TargetMode="External"/><Relationship Id="rId2" Type="http://schemas.openxmlformats.org/officeDocument/2006/relationships/hyperlink" Target="https://bitbucket.mobis.co.kr/projects/M_HMI/repos/platform.vendor.mobis.packages.apps.radio/brows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tbucket.mobis.co.kr/projects/M_HMI/repos/platform.vendor.mobis.packages.apps.rearcaremode/browse" TargetMode="External"/><Relationship Id="rId4" Type="http://schemas.openxmlformats.org/officeDocument/2006/relationships/hyperlink" Target="https://bitbucket.mobis.co.kr/projects/M_HMI/repos/platform.vendor.mobis.packages.apps.miniplayer/browse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4638D2-83EE-436E-B2E1-9FB01937BC08}"/>
              </a:ext>
            </a:extLst>
          </p:cNvPr>
          <p:cNvSpPr/>
          <p:nvPr/>
        </p:nvSpPr>
        <p:spPr>
          <a:xfrm>
            <a:off x="507166" y="1403684"/>
            <a:ext cx="8891668" cy="2279316"/>
          </a:xfrm>
          <a:prstGeom prst="roundRect">
            <a:avLst>
              <a:gd name="adj" fmla="val 772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+mn-ea"/>
              </a:rPr>
              <a:t>완료보고서</a:t>
            </a:r>
            <a:endParaRPr lang="en-US" altLang="ko-KR" sz="2800" b="1" dirty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 26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–</a:t>
            </a:r>
            <a:b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</a:b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내수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Radio, </a:t>
            </a:r>
            <a:r>
              <a:rPr lang="ko-KR" altLang="en-US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유럽 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Radio, DMB,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MiniPlayer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, </a:t>
            </a:r>
            <a:r>
              <a:rPr lang="en-US" altLang="ko-KR" sz="2000" b="1" dirty="0" err="1">
                <a:solidFill>
                  <a:schemeClr val="bg1">
                    <a:lumMod val="50000"/>
                  </a:schemeClr>
                </a:solidFill>
                <a:latin typeface="+mn-ea"/>
              </a:rPr>
              <a:t>RearCareMode</a:t>
            </a:r>
            <a:r>
              <a:rPr lang="en-US" altLang="ko-KR" sz="2000" b="1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76EC9-AFEB-4064-B908-975D3696E9B3}"/>
              </a:ext>
            </a:extLst>
          </p:cNvPr>
          <p:cNvSpPr txBox="1"/>
          <p:nvPr/>
        </p:nvSpPr>
        <p:spPr>
          <a:xfrm>
            <a:off x="3616737" y="4740442"/>
            <a:ext cx="2672526" cy="991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dirty="0"/>
              <a:t>2026. 06. 03</a:t>
            </a:r>
          </a:p>
          <a:p>
            <a:pPr algn="ctr">
              <a:lnSpc>
                <a:spcPct val="150000"/>
              </a:lnSpc>
            </a:pPr>
            <a:r>
              <a:rPr lang="ko-KR" altLang="en-US" sz="2600" dirty="0"/>
              <a:t>㈜</a:t>
            </a:r>
            <a:r>
              <a:rPr lang="ko-KR" altLang="en-US" sz="2400" dirty="0"/>
              <a:t>투비원솔루션즈</a:t>
            </a:r>
            <a:endParaRPr lang="ko-KR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15877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703D92B-D50B-4B52-99AF-73CF257EB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000" b="0" dirty="0">
                <a:latin typeface="+mn-ea"/>
                <a:ea typeface="+mn-ea"/>
              </a:rPr>
              <a:t>1. </a:t>
            </a:r>
            <a:r>
              <a:rPr lang="ko-KR" altLang="en-US" sz="2000" b="0" dirty="0">
                <a:latin typeface="+mn-ea"/>
                <a:ea typeface="+mn-ea"/>
              </a:rPr>
              <a:t>용역 개요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03FB9-76B8-44EA-9F63-BFAF943FC40E}"/>
              </a:ext>
            </a:extLst>
          </p:cNvPr>
          <p:cNvSpPr txBox="1"/>
          <p:nvPr/>
        </p:nvSpPr>
        <p:spPr>
          <a:xfrm>
            <a:off x="408373" y="705818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용역 개요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9652271-F034-47DA-8827-31B852787E9A}"/>
              </a:ext>
            </a:extLst>
          </p:cNvPr>
          <p:cNvGrpSpPr/>
          <p:nvPr/>
        </p:nvGrpSpPr>
        <p:grpSpPr>
          <a:xfrm>
            <a:off x="488950" y="1075150"/>
            <a:ext cx="8928100" cy="779076"/>
            <a:chOff x="488950" y="1150566"/>
            <a:chExt cx="8928100" cy="59833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FEBA316-0EE4-491A-97BA-37C131532D37}"/>
                </a:ext>
              </a:extLst>
            </p:cNvPr>
            <p:cNvSpPr/>
            <p:nvPr/>
          </p:nvSpPr>
          <p:spPr>
            <a:xfrm>
              <a:off x="488950" y="1150566"/>
              <a:ext cx="1077681" cy="5983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tx1"/>
                  </a:solidFill>
                </a:rPr>
                <a:t>용역 목적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FF5BCDA-EAAD-4919-93DF-1CCE25146ED7}"/>
                </a:ext>
              </a:extLst>
            </p:cNvPr>
            <p:cNvSpPr/>
            <p:nvPr/>
          </p:nvSpPr>
          <p:spPr>
            <a:xfrm>
              <a:off x="1640264" y="1150566"/>
              <a:ext cx="7776786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en-US" altLang="ko-KR" sz="1600" dirty="0">
                  <a:solidFill>
                    <a:schemeClr val="tx1"/>
                  </a:solidFill>
                </a:rPr>
                <a:t>2026</a:t>
              </a:r>
              <a:r>
                <a:rPr lang="ko-KR" altLang="en-US" sz="1600" dirty="0">
                  <a:solidFill>
                    <a:schemeClr val="tx1"/>
                  </a:solidFill>
                </a:rPr>
                <a:t>년도 </a:t>
              </a:r>
              <a:r>
                <a:rPr lang="en-US" altLang="ko-KR" sz="1600" dirty="0">
                  <a:solidFill>
                    <a:schemeClr val="tx1"/>
                  </a:solidFill>
                </a:rPr>
                <a:t>PBV</a:t>
              </a:r>
              <a:r>
                <a:rPr lang="ko-KR" altLang="en-US" sz="1600" dirty="0">
                  <a:solidFill>
                    <a:schemeClr val="tx1"/>
                  </a:solidFill>
                </a:rPr>
                <a:t> </a:t>
              </a:r>
              <a:r>
                <a:rPr lang="en-US" altLang="ko-KR" sz="1600" dirty="0">
                  <a:solidFill>
                    <a:schemeClr val="tx1"/>
                  </a:solidFill>
                </a:rPr>
                <a:t>IVI</a:t>
              </a:r>
              <a:r>
                <a:rPr lang="ko-KR" altLang="en-US" sz="1600" dirty="0">
                  <a:solidFill>
                    <a:schemeClr val="tx1"/>
                  </a:solidFill>
                </a:rPr>
                <a:t> 유지보수 개발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60246DC-B2F9-4F71-8B7A-E5A1277142CC}"/>
              </a:ext>
            </a:extLst>
          </p:cNvPr>
          <p:cNvGrpSpPr/>
          <p:nvPr/>
        </p:nvGrpSpPr>
        <p:grpSpPr>
          <a:xfrm>
            <a:off x="488950" y="1952718"/>
            <a:ext cx="8928099" cy="779076"/>
            <a:chOff x="488950" y="1797667"/>
            <a:chExt cx="8928099" cy="598335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0D1E369-55FF-4EED-A1FE-A4372BDE2FD9}"/>
                </a:ext>
              </a:extLst>
            </p:cNvPr>
            <p:cNvSpPr/>
            <p:nvPr/>
          </p:nvSpPr>
          <p:spPr>
            <a:xfrm>
              <a:off x="488950" y="1810797"/>
              <a:ext cx="1077681" cy="5852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용역 기간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557C8EE-921D-4189-BCF4-3EADA5CB1A61}"/>
                </a:ext>
              </a:extLst>
            </p:cNvPr>
            <p:cNvSpPr/>
            <p:nvPr/>
          </p:nvSpPr>
          <p:spPr>
            <a:xfrm>
              <a:off x="1640265" y="1797667"/>
              <a:ext cx="7776784" cy="59833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</a:rPr>
                <a:t>총 </a:t>
              </a:r>
              <a:r>
                <a:rPr lang="en-US" altLang="ko-KR" sz="1600" dirty="0">
                  <a:solidFill>
                    <a:schemeClr val="tx1"/>
                  </a:solidFill>
                </a:rPr>
                <a:t>6</a:t>
              </a:r>
              <a:r>
                <a:rPr lang="ko-KR" altLang="en-US" sz="1600" dirty="0">
                  <a:solidFill>
                    <a:schemeClr val="tx1"/>
                  </a:solidFill>
                </a:rPr>
                <a:t>개월 </a:t>
              </a:r>
              <a:r>
                <a:rPr lang="en-US" altLang="ko-KR" sz="1600" dirty="0">
                  <a:solidFill>
                    <a:schemeClr val="tx1"/>
                  </a:solidFill>
                </a:rPr>
                <a:t>(2026.01.01 ~ 2026.06.30)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189007EB-1895-4CA0-9913-A4EA473276EC}"/>
              </a:ext>
            </a:extLst>
          </p:cNvPr>
          <p:cNvGrpSpPr/>
          <p:nvPr/>
        </p:nvGrpSpPr>
        <p:grpSpPr>
          <a:xfrm>
            <a:off x="488951" y="2830286"/>
            <a:ext cx="8928096" cy="3561636"/>
            <a:chOff x="488951" y="3104998"/>
            <a:chExt cx="8928096" cy="328692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D10B44D-193D-4C91-A287-4ACB6146B048}"/>
                </a:ext>
              </a:extLst>
            </p:cNvPr>
            <p:cNvSpPr/>
            <p:nvPr/>
          </p:nvSpPr>
          <p:spPr>
            <a:xfrm>
              <a:off x="488951" y="3104999"/>
              <a:ext cx="1077680" cy="32869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solidFill>
                    <a:schemeClr val="tx1"/>
                  </a:solidFill>
                </a:rPr>
                <a:t>기술 개요</a:t>
              </a:r>
              <a:endParaRPr lang="ko-KR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2645413-CF40-489D-81FA-7B705605D607}"/>
                </a:ext>
              </a:extLst>
            </p:cNvPr>
            <p:cNvSpPr/>
            <p:nvPr/>
          </p:nvSpPr>
          <p:spPr>
            <a:xfrm>
              <a:off x="1640265" y="3104999"/>
              <a:ext cx="4099476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  <a:latin typeface="+mn-ea"/>
                </a:rPr>
                <a:t>기술 개요</a:t>
              </a:r>
              <a:endParaRPr lang="en-US" altLang="ko-KR" sz="1400" dirty="0">
                <a:solidFill>
                  <a:schemeClr val="tx1"/>
                </a:solidFill>
                <a:latin typeface="+mn-ea"/>
              </a:endParaRP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PBV IVI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플랫폼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내수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Radio,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유럽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Radio, DMB,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MiniPlayer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en-US" altLang="ko-KR" sz="1200" dirty="0" err="1">
                  <a:solidFill>
                    <a:schemeClr val="tx1"/>
                  </a:solidFill>
                  <a:latin typeface="+mn-ea"/>
                </a:rPr>
                <a:t>RearCareMode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앱에 대한 유지보수 수행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Android Application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레벨의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GUI,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다국어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UI /Logic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전체 어플리케이션 개발 및 유지보수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고객사 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CR(Change Request) 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대응 및 신규 기능 개발 수행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지역별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(PBV 10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, PBV Lite 3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 모델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 </a:t>
              </a: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정기업데이트에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 따른 성능 육성 및 안정화 지원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.</a:t>
              </a:r>
            </a:p>
            <a:p>
              <a:pPr marL="360000" lvl="1" indent="-180000">
                <a:lnSpc>
                  <a:spcPts val="2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개발 언어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: Kotlin 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주력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), Java.</a:t>
              </a:r>
            </a:p>
            <a:p>
              <a:pPr marL="180000" lvl="1">
                <a:lnSpc>
                  <a:spcPct val="150000"/>
                </a:lnSpc>
              </a:pP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2C5D8B4-B079-43BB-8EA8-319C310E1155}"/>
                </a:ext>
              </a:extLst>
            </p:cNvPr>
            <p:cNvSpPr/>
            <p:nvPr/>
          </p:nvSpPr>
          <p:spPr>
            <a:xfrm>
              <a:off x="5739740" y="3104998"/>
              <a:ext cx="3677307" cy="328692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t"/>
            <a:lstStyle/>
            <a:p>
              <a:pPr marL="108000" indent="-108000">
                <a:buFont typeface="Arial" panose="020B0604020202020204" pitchFamily="34" charset="0"/>
                <a:buChar char="•"/>
              </a:pPr>
              <a:r>
                <a:rPr lang="ko-KR" altLang="en-US" sz="1400" dirty="0">
                  <a:solidFill>
                    <a:schemeClr val="tx1"/>
                  </a:solidFill>
                </a:rPr>
                <a:t>시스템 구성</a:t>
              </a:r>
              <a:endParaRPr lang="en-US" altLang="ko-KR" sz="1400" dirty="0">
                <a:solidFill>
                  <a:schemeClr val="tx1"/>
                </a:solidFill>
              </a:endParaRPr>
            </a:p>
            <a:p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" name="바닥글 개체 틀 8">
            <a:extLst>
              <a:ext uri="{FF2B5EF4-FFF2-40B4-BE49-F238E27FC236}">
                <a16:creationId xmlns:a16="http://schemas.microsoft.com/office/drawing/2014/main" id="{D19FE606-709D-442F-8D17-21253E1E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14034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B5A81FE-784D-0C5B-3B8D-323D3CF0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176" y="3385595"/>
            <a:ext cx="3318988" cy="262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9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2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용역 내용 및 범위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유지보수 내용 및 범위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5CB9E22-3771-029D-AE57-0E43EEA8B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8367844"/>
              </p:ext>
            </p:extLst>
          </p:nvPr>
        </p:nvGraphicFramePr>
        <p:xfrm>
          <a:off x="401902" y="1187224"/>
          <a:ext cx="9102196" cy="5246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502833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3696659">
                  <a:extLst>
                    <a:ext uri="{9D8B030D-6E8A-4147-A177-3AD203B41FA5}">
                      <a16:colId xmlns:a16="http://schemas.microsoft.com/office/drawing/2014/main" val="4245680493"/>
                    </a:ext>
                  </a:extLst>
                </a:gridCol>
                <a:gridCol w="2467604">
                  <a:extLst>
                    <a:ext uri="{9D8B030D-6E8A-4147-A177-3AD203B41FA5}">
                      <a16:colId xmlns:a16="http://schemas.microsoft.com/office/drawing/2014/main" val="2161846362"/>
                    </a:ext>
                  </a:extLst>
                </a:gridCol>
              </a:tblGrid>
              <a:tr h="3618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항 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구 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내 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비 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내수</a:t>
                      </a:r>
                      <a:r>
                        <a:rPr lang="en-US" altLang="ko-KR" sz="1400" dirty="0"/>
                        <a:t> Radio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내수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56915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내수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343609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400" dirty="0"/>
                        <a:t>유럽 </a:t>
                      </a:r>
                      <a:r>
                        <a:rPr lang="en-US" altLang="ko-KR" sz="1400" dirty="0"/>
                        <a:t>Radio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및 다국어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유럽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및 다국어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66983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735662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유럽</a:t>
                      </a:r>
                      <a:r>
                        <a:rPr lang="en-US" altLang="ko-KR" sz="1200" dirty="0"/>
                        <a:t> Radio</a:t>
                      </a:r>
                      <a:r>
                        <a:rPr lang="ko-KR" altLang="en-US" sz="1200" dirty="0"/>
                        <a:t> 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709597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DMB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115002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DMB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729234"/>
                  </a:ext>
                </a:extLst>
              </a:tr>
              <a:tr h="348909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MiniPlayer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및 다국어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MiniPlayer </a:t>
                      </a:r>
                      <a:r>
                        <a:rPr lang="ko-KR" altLang="en-US" sz="1200" dirty="0"/>
                        <a:t>앱 </a:t>
                      </a:r>
                      <a:r>
                        <a:rPr lang="en-US" altLang="ko-KR" sz="1200" dirty="0"/>
                        <a:t>GUI</a:t>
                      </a:r>
                      <a:r>
                        <a:rPr lang="ko-KR" altLang="en-US" sz="1200" dirty="0"/>
                        <a:t> 변경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고객사 제공 </a:t>
                      </a:r>
                      <a:r>
                        <a:rPr lang="en-US" altLang="ko-KR" sz="1200" dirty="0"/>
                        <a:t>MMI/GUI </a:t>
                      </a:r>
                      <a:r>
                        <a:rPr lang="ko-KR" altLang="en-US" sz="1200" dirty="0"/>
                        <a:t>가이드 준수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61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UI </a:t>
                      </a:r>
                      <a:r>
                        <a:rPr lang="ko-KR" altLang="en-US" sz="1200" dirty="0"/>
                        <a:t>및 </a:t>
                      </a: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064880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/>
                        <a:t>MiniPlayer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626879"/>
                  </a:ext>
                </a:extLst>
              </a:tr>
              <a:tr h="34890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400" dirty="0" err="1"/>
                        <a:t>RearCareMod</a:t>
                      </a:r>
                      <a:endParaRPr lang="ko-KR" altLang="en-US" sz="1400" dirty="0"/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Logic </a:t>
                      </a:r>
                      <a:r>
                        <a:rPr lang="ko-KR" altLang="en-US" sz="1200" dirty="0"/>
                        <a:t>이슈 처리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dirty="0"/>
                        <a:t>예외 케이스 예방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적응 및 서비스 완전화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ko-KR" altLang="en-US" sz="1200" dirty="0"/>
                        <a:t>시험 결과서 및 </a:t>
                      </a:r>
                      <a:r>
                        <a:rPr lang="en-US" altLang="ko-KR" sz="1200" dirty="0"/>
                        <a:t>Jira </a:t>
                      </a:r>
                      <a:r>
                        <a:rPr lang="ko-KR" altLang="en-US" sz="1200" dirty="0"/>
                        <a:t>이슈 우선 반영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3176728"/>
                  </a:ext>
                </a:extLst>
              </a:tr>
              <a:tr h="348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신규 기능 개발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dirty="0" err="1"/>
                        <a:t>RearCare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마이너 기능 설계 변경 및 수정 개발</a:t>
                      </a:r>
                      <a:endParaRPr lang="en-US" altLang="ko-KR" sz="1200" dirty="0"/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200" dirty="0"/>
                        <a:t>M/Car </a:t>
                      </a:r>
                      <a:r>
                        <a:rPr lang="ko-KR" altLang="en-US" sz="1200" dirty="0"/>
                        <a:t>이후 </a:t>
                      </a:r>
                      <a:r>
                        <a:rPr lang="en-US" altLang="ko-KR" sz="1200" dirty="0"/>
                        <a:t>CR </a:t>
                      </a:r>
                      <a:r>
                        <a:rPr lang="ko-KR" altLang="en-US" sz="1200" dirty="0"/>
                        <a:t>기준</a:t>
                      </a:r>
                    </a:p>
                  </a:txBody>
                  <a:tcPr marL="36000" marR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635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31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3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업무 절차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0ED32E4-564E-5021-AB3D-B03917FB2ECC}"/>
              </a:ext>
            </a:extLst>
          </p:cNvPr>
          <p:cNvGrpSpPr/>
          <p:nvPr/>
        </p:nvGrpSpPr>
        <p:grpSpPr>
          <a:xfrm>
            <a:off x="750804" y="732147"/>
            <a:ext cx="8157410" cy="5613621"/>
            <a:chOff x="796802" y="826933"/>
            <a:chExt cx="8157410" cy="5613621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BA821B1-CDF9-B93F-DB9E-8845E68FD176}"/>
                </a:ext>
              </a:extLst>
            </p:cNvPr>
            <p:cNvSpPr/>
            <p:nvPr/>
          </p:nvSpPr>
          <p:spPr>
            <a:xfrm>
              <a:off x="796802" y="826933"/>
              <a:ext cx="8157410" cy="5613621"/>
            </a:xfrm>
            <a:prstGeom prst="roundRect">
              <a:avLst>
                <a:gd name="adj" fmla="val 167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FD453D6-3777-3169-E7FA-4650660962DF}"/>
                </a:ext>
              </a:extLst>
            </p:cNvPr>
            <p:cNvCxnSpPr>
              <a:cxnSpLocks/>
              <a:stCxn id="65" idx="2"/>
              <a:endCxn id="75" idx="0"/>
            </p:cNvCxnSpPr>
            <p:nvPr/>
          </p:nvCxnSpPr>
          <p:spPr>
            <a:xfrm flipH="1">
              <a:off x="5829453" y="1805392"/>
              <a:ext cx="8585" cy="380233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9D1DE98F-DA2F-C073-4E2C-414C712338C0}"/>
                </a:ext>
              </a:extLst>
            </p:cNvPr>
            <p:cNvCxnSpPr>
              <a:cxnSpLocks/>
              <a:stCxn id="69" idx="3"/>
              <a:endCxn id="70" idx="1"/>
            </p:cNvCxnSpPr>
            <p:nvPr/>
          </p:nvCxnSpPr>
          <p:spPr>
            <a:xfrm>
              <a:off x="2387935" y="1493946"/>
              <a:ext cx="757475" cy="0"/>
            </a:xfrm>
            <a:prstGeom prst="straightConnector1">
              <a:avLst/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E185C40-4339-3A96-1C14-A3AC133F2F61}"/>
                </a:ext>
              </a:extLst>
            </p:cNvPr>
            <p:cNvSpPr txBox="1"/>
            <p:nvPr/>
          </p:nvSpPr>
          <p:spPr>
            <a:xfrm>
              <a:off x="2484543" y="1215070"/>
              <a:ext cx="564258" cy="261610"/>
            </a:xfrm>
            <a:prstGeom prst="rect">
              <a:avLst/>
            </a:prstGeom>
            <a:noFill/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>
                  <a:solidFill>
                    <a:srgbClr val="C00000"/>
                  </a:solidFill>
                </a:rPr>
                <a:t>사양협의</a:t>
              </a:r>
              <a:endParaRPr lang="ko-KR" altLang="en-US" sz="1100" b="1" dirty="0">
                <a:solidFill>
                  <a:srgbClr val="C00000"/>
                </a:solidFill>
              </a:endParaRPr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41062B7F-5788-9119-06D0-4E49D2F1A5E4}"/>
                </a:ext>
              </a:extLst>
            </p:cNvPr>
            <p:cNvCxnSpPr>
              <a:cxnSpLocks/>
              <a:stCxn id="70" idx="2"/>
              <a:endCxn id="47" idx="0"/>
            </p:cNvCxnSpPr>
            <p:nvPr/>
          </p:nvCxnSpPr>
          <p:spPr>
            <a:xfrm>
              <a:off x="3768302" y="1786143"/>
              <a:ext cx="1" cy="807623"/>
            </a:xfrm>
            <a:prstGeom prst="straightConnector1">
              <a:avLst/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B5DC822-061F-694F-155E-1CE85872693D}"/>
                </a:ext>
              </a:extLst>
            </p:cNvPr>
            <p:cNvSpPr txBox="1"/>
            <p:nvPr/>
          </p:nvSpPr>
          <p:spPr>
            <a:xfrm>
              <a:off x="3064060" y="1979517"/>
              <a:ext cx="1401026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요구사항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(New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 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Feature)</a:t>
              </a: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상황 공유</a:t>
              </a: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775450FF-C4F6-09D7-353B-424341FA2B07}"/>
                </a:ext>
              </a:extLst>
            </p:cNvPr>
            <p:cNvSpPr/>
            <p:nvPr/>
          </p:nvSpPr>
          <p:spPr>
            <a:xfrm>
              <a:off x="3145411" y="2593766"/>
              <a:ext cx="1245783" cy="62289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설계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&amp; 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관리집단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(PM &amp; PL)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EE7A4CF7-9856-904D-3144-8A0FC1932B80}"/>
                </a:ext>
              </a:extLst>
            </p:cNvPr>
            <p:cNvSpPr/>
            <p:nvPr/>
          </p:nvSpPr>
          <p:spPr>
            <a:xfrm>
              <a:off x="5215147" y="3235911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유럽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Radio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F3FD90E8-7480-AFD8-BEA9-CD7E07558748}"/>
                </a:ext>
              </a:extLst>
            </p:cNvPr>
            <p:cNvSpPr/>
            <p:nvPr/>
          </p:nvSpPr>
          <p:spPr>
            <a:xfrm>
              <a:off x="5215146" y="4026515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DMB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854FA62D-FCAD-509B-45DE-65F33E9191E5}"/>
                </a:ext>
              </a:extLst>
            </p:cNvPr>
            <p:cNvSpPr/>
            <p:nvPr/>
          </p:nvSpPr>
          <p:spPr>
            <a:xfrm>
              <a:off x="5215147" y="2445307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내수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Radio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51" name="연결선: 꺾임 50">
              <a:extLst>
                <a:ext uri="{FF2B5EF4-FFF2-40B4-BE49-F238E27FC236}">
                  <a16:creationId xmlns:a16="http://schemas.microsoft.com/office/drawing/2014/main" id="{AEF3A7C6-593F-D1F8-77D5-8BA3C68FC592}"/>
                </a:ext>
              </a:extLst>
            </p:cNvPr>
            <p:cNvCxnSpPr>
              <a:cxnSpLocks/>
              <a:stCxn id="47" idx="3"/>
              <a:endCxn id="50" idx="1"/>
            </p:cNvCxnSpPr>
            <p:nvPr/>
          </p:nvCxnSpPr>
          <p:spPr>
            <a:xfrm flipV="1">
              <a:off x="4391194" y="2625307"/>
              <a:ext cx="823953" cy="279905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A8ABC365-319D-1FDA-E43A-395574E16A71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>
              <a:off x="2406253" y="2905212"/>
              <a:ext cx="739158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연결선: 꺾임 52">
              <a:extLst>
                <a:ext uri="{FF2B5EF4-FFF2-40B4-BE49-F238E27FC236}">
                  <a16:creationId xmlns:a16="http://schemas.microsoft.com/office/drawing/2014/main" id="{711A45A8-DFB3-CCC1-A7A1-D3E4F0060D4B}"/>
                </a:ext>
              </a:extLst>
            </p:cNvPr>
            <p:cNvCxnSpPr>
              <a:cxnSpLocks/>
              <a:stCxn id="47" idx="3"/>
              <a:endCxn id="48" idx="1"/>
            </p:cNvCxnSpPr>
            <p:nvPr/>
          </p:nvCxnSpPr>
          <p:spPr>
            <a:xfrm>
              <a:off x="4391194" y="2905212"/>
              <a:ext cx="823953" cy="510699"/>
            </a:xfrm>
            <a:prstGeom prst="bentConnector3">
              <a:avLst/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연결선: 꺾임 53">
              <a:extLst>
                <a:ext uri="{FF2B5EF4-FFF2-40B4-BE49-F238E27FC236}">
                  <a16:creationId xmlns:a16="http://schemas.microsoft.com/office/drawing/2014/main" id="{0D3F2C27-38DE-1151-B422-CBB7D9E04277}"/>
                </a:ext>
              </a:extLst>
            </p:cNvPr>
            <p:cNvCxnSpPr>
              <a:cxnSpLocks/>
              <a:stCxn id="47" idx="3"/>
              <a:endCxn id="49" idx="1"/>
            </p:cNvCxnSpPr>
            <p:nvPr/>
          </p:nvCxnSpPr>
          <p:spPr>
            <a:xfrm>
              <a:off x="4391194" y="2905212"/>
              <a:ext cx="823952" cy="1301303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714B60AF-7182-F8BD-894F-9C02D50A7591}"/>
                </a:ext>
              </a:extLst>
            </p:cNvPr>
            <p:cNvSpPr/>
            <p:nvPr/>
          </p:nvSpPr>
          <p:spPr>
            <a:xfrm>
              <a:off x="7288612" y="3681542"/>
              <a:ext cx="1245783" cy="62289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사내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QC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 팀</a:t>
              </a:r>
            </a:p>
          </p:txBody>
        </p:sp>
        <p:cxnSp>
          <p:nvCxnSpPr>
            <p:cNvPr id="56" name="연결선: 꺾임 55">
              <a:extLst>
                <a:ext uri="{FF2B5EF4-FFF2-40B4-BE49-F238E27FC236}">
                  <a16:creationId xmlns:a16="http://schemas.microsoft.com/office/drawing/2014/main" id="{31A38C77-C2B7-3860-EDA1-FE36A55323C9}"/>
                </a:ext>
              </a:extLst>
            </p:cNvPr>
            <p:cNvCxnSpPr>
              <a:cxnSpLocks/>
              <a:stCxn id="50" idx="3"/>
              <a:endCxn id="55" idx="1"/>
            </p:cNvCxnSpPr>
            <p:nvPr/>
          </p:nvCxnSpPr>
          <p:spPr>
            <a:xfrm>
              <a:off x="6460930" y="2625307"/>
              <a:ext cx="827682" cy="1367681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연결선: 꺾임 56">
              <a:extLst>
                <a:ext uri="{FF2B5EF4-FFF2-40B4-BE49-F238E27FC236}">
                  <a16:creationId xmlns:a16="http://schemas.microsoft.com/office/drawing/2014/main" id="{7A01993F-B5CC-9820-5C76-F5BCBE7DD037}"/>
                </a:ext>
              </a:extLst>
            </p:cNvPr>
            <p:cNvCxnSpPr>
              <a:cxnSpLocks/>
              <a:stCxn id="48" idx="3"/>
              <a:endCxn id="55" idx="1"/>
            </p:cNvCxnSpPr>
            <p:nvPr/>
          </p:nvCxnSpPr>
          <p:spPr>
            <a:xfrm>
              <a:off x="6460930" y="3415911"/>
              <a:ext cx="827682" cy="577077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연결선: 꺾임 57">
              <a:extLst>
                <a:ext uri="{FF2B5EF4-FFF2-40B4-BE49-F238E27FC236}">
                  <a16:creationId xmlns:a16="http://schemas.microsoft.com/office/drawing/2014/main" id="{78E68B67-0434-2542-EC91-461DCB801469}"/>
                </a:ext>
              </a:extLst>
            </p:cNvPr>
            <p:cNvCxnSpPr>
              <a:cxnSpLocks/>
              <a:stCxn id="55" idx="1"/>
              <a:endCxn id="49" idx="3"/>
            </p:cNvCxnSpPr>
            <p:nvPr/>
          </p:nvCxnSpPr>
          <p:spPr>
            <a:xfrm rot="10800000" flipV="1">
              <a:off x="6460930" y="3992987"/>
              <a:ext cx="827683" cy="213527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연결선: 꺾임 58">
              <a:extLst>
                <a:ext uri="{FF2B5EF4-FFF2-40B4-BE49-F238E27FC236}">
                  <a16:creationId xmlns:a16="http://schemas.microsoft.com/office/drawing/2014/main" id="{802EE835-1D18-C6C0-591A-35305CA4EC62}"/>
                </a:ext>
              </a:extLst>
            </p:cNvPr>
            <p:cNvCxnSpPr>
              <a:cxnSpLocks/>
              <a:stCxn id="55" idx="2"/>
              <a:endCxn id="47" idx="2"/>
            </p:cNvCxnSpPr>
            <p:nvPr/>
          </p:nvCxnSpPr>
          <p:spPr>
            <a:xfrm rot="5400000" flipH="1">
              <a:off x="5296016" y="1688946"/>
              <a:ext cx="1087776" cy="4143201"/>
            </a:xfrm>
            <a:prstGeom prst="bentConnector3">
              <a:avLst>
                <a:gd name="adj1" fmla="val -170417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6429DCEE-7B03-F4DA-E9B4-EC93D0F9E0B4}"/>
                </a:ext>
              </a:extLst>
            </p:cNvPr>
            <p:cNvSpPr/>
            <p:nvPr/>
          </p:nvSpPr>
          <p:spPr>
            <a:xfrm>
              <a:off x="7288612" y="1182500"/>
              <a:ext cx="1245783" cy="6228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모비스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 QA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12A058A1-F407-95C4-9755-5AC3E84C3CED}"/>
                </a:ext>
              </a:extLst>
            </p:cNvPr>
            <p:cNvCxnSpPr>
              <a:cxnSpLocks/>
              <a:stCxn id="55" idx="0"/>
              <a:endCxn id="60" idx="2"/>
            </p:cNvCxnSpPr>
            <p:nvPr/>
          </p:nvCxnSpPr>
          <p:spPr>
            <a:xfrm flipV="1">
              <a:off x="7911504" y="1805392"/>
              <a:ext cx="0" cy="1876150"/>
            </a:xfrm>
            <a:prstGeom prst="straightConnector1">
              <a:avLst/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81E488-6D35-823A-E3B0-F70B575A4072}"/>
                </a:ext>
              </a:extLst>
            </p:cNvPr>
            <p:cNvSpPr txBox="1"/>
            <p:nvPr/>
          </p:nvSpPr>
          <p:spPr>
            <a:xfrm>
              <a:off x="7456252" y="2689874"/>
              <a:ext cx="91050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배포 버전 전달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4C16C26-60B4-0CA0-A3AF-B85BAF4D4FF1}"/>
                </a:ext>
              </a:extLst>
            </p:cNvPr>
            <p:cNvSpPr txBox="1"/>
            <p:nvPr/>
          </p:nvSpPr>
          <p:spPr>
            <a:xfrm>
              <a:off x="3365273" y="4088990"/>
              <a:ext cx="727763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분석</a:t>
              </a:r>
              <a:endParaRPr lang="en-US" altLang="ko-KR" sz="11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업무 등록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29C18FA-4730-79B7-4D37-FF305404D9F9}"/>
                </a:ext>
              </a:extLst>
            </p:cNvPr>
            <p:cNvSpPr txBox="1"/>
            <p:nvPr/>
          </p:nvSpPr>
          <p:spPr>
            <a:xfrm>
              <a:off x="7247525" y="4676485"/>
              <a:ext cx="1340110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보고</a:t>
              </a:r>
              <a:endParaRPr lang="en-US" altLang="ko-KR" sz="1100" b="1" dirty="0">
                <a:solidFill>
                  <a:srgbClr val="C00000"/>
                </a:solidFill>
              </a:endParaRPr>
            </a:p>
            <a:p>
              <a:pPr algn="ctr"/>
              <a:r>
                <a:rPr lang="en-US" altLang="ko-KR" sz="1100" b="1" dirty="0">
                  <a:solidFill>
                    <a:srgbClr val="C00000"/>
                  </a:solidFill>
                </a:rPr>
                <a:t>(Defect, Improvement)</a:t>
              </a:r>
              <a:endParaRPr lang="ko-KR" altLang="en-US" sz="1100" b="1" dirty="0">
                <a:solidFill>
                  <a:srgbClr val="C00000"/>
                </a:solidFill>
              </a:endParaRPr>
            </a:p>
          </p:txBody>
        </p: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951E0D1B-6824-9567-D25F-D8D2B3E3B19C}"/>
                </a:ext>
              </a:extLst>
            </p:cNvPr>
            <p:cNvSpPr/>
            <p:nvPr/>
          </p:nvSpPr>
          <p:spPr>
            <a:xfrm>
              <a:off x="5215146" y="1182500"/>
              <a:ext cx="1245783" cy="62289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 dirty="0" err="1">
                  <a:solidFill>
                    <a:schemeClr val="tx1"/>
                  </a:solidFill>
                  <a:latin typeface="+mn-ea"/>
                </a:rPr>
                <a:t>인포방송</a:t>
              </a:r>
              <a:endParaRPr lang="en-US" altLang="ko-KR" sz="1200" b="1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미디어 </a:t>
              </a:r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APP</a:t>
              </a:r>
              <a:r>
                <a:rPr lang="ko-KR" altLang="en-US" sz="1200" b="1" dirty="0">
                  <a:solidFill>
                    <a:schemeClr val="tx1"/>
                  </a:solidFill>
                  <a:latin typeface="+mn-ea"/>
                </a:rPr>
                <a:t>팀</a:t>
              </a:r>
            </a:p>
          </p:txBody>
        </p: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DA9D2C75-98AA-DC04-2FD6-8D66FAF4EE05}"/>
                </a:ext>
              </a:extLst>
            </p:cNvPr>
            <p:cNvCxnSpPr>
              <a:cxnSpLocks/>
              <a:stCxn id="70" idx="3"/>
              <a:endCxn id="65" idx="1"/>
            </p:cNvCxnSpPr>
            <p:nvPr/>
          </p:nvCxnSpPr>
          <p:spPr>
            <a:xfrm>
              <a:off x="4391194" y="1493946"/>
              <a:ext cx="823952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C2099E86-FBDB-B4A9-EA01-CF4F65BB5D13}"/>
                </a:ext>
              </a:extLst>
            </p:cNvPr>
            <p:cNvCxnSpPr>
              <a:cxnSpLocks/>
              <a:stCxn id="65" idx="3"/>
              <a:endCxn id="60" idx="1"/>
            </p:cNvCxnSpPr>
            <p:nvPr/>
          </p:nvCxnSpPr>
          <p:spPr>
            <a:xfrm>
              <a:off x="6460929" y="1493946"/>
              <a:ext cx="827683" cy="0"/>
            </a:xfrm>
            <a:prstGeom prst="straightConnector1">
              <a:avLst/>
            </a:prstGeom>
            <a:ln w="12700"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9B1D01D-8FDE-4F43-C9EC-35A23F378F74}"/>
                </a:ext>
              </a:extLst>
            </p:cNvPr>
            <p:cNvSpPr txBox="1"/>
            <p:nvPr/>
          </p:nvSpPr>
          <p:spPr>
            <a:xfrm>
              <a:off x="5539879" y="1955163"/>
              <a:ext cx="596318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r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연동 수행</a:t>
              </a:r>
            </a:p>
          </p:txBody>
        </p:sp>
        <p:pic>
          <p:nvPicPr>
            <p:cNvPr id="69" name="Picture 2" descr="회장님차 납시오... 미국의 현대기아 그리고 제네시스 - 카가이">
              <a:extLst>
                <a:ext uri="{FF2B5EF4-FFF2-40B4-BE49-F238E27FC236}">
                  <a16:creationId xmlns:a16="http://schemas.microsoft.com/office/drawing/2014/main" id="{D180B286-7F81-597D-5AFF-A904B4FB02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2971" y="1099759"/>
              <a:ext cx="1094964" cy="78837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0" name="Picture 4" descr="현대모비스 로고">
              <a:extLst>
                <a:ext uri="{FF2B5EF4-FFF2-40B4-BE49-F238E27FC236}">
                  <a16:creationId xmlns:a16="http://schemas.microsoft.com/office/drawing/2014/main" id="{A59AC653-DE7A-E044-C597-3CD54A22C0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5410" y="1201749"/>
              <a:ext cx="1245784" cy="584394"/>
            </a:xfrm>
            <a:prstGeom prst="round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" name="그림 70" descr="텍스트, 식탁용기구, 플레이트, 접시이(가) 표시된 사진&#10;&#10;자동 생성된 설명">
              <a:extLst>
                <a:ext uri="{FF2B5EF4-FFF2-40B4-BE49-F238E27FC236}">
                  <a16:creationId xmlns:a16="http://schemas.microsoft.com/office/drawing/2014/main" id="{903873E4-1443-1F42-57A7-AF65CAA57E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2514"/>
            <a:stretch/>
          </p:blipFill>
          <p:spPr>
            <a:xfrm>
              <a:off x="1071946" y="2631972"/>
              <a:ext cx="1443790" cy="40656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</p:pic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6198E6B1-C67F-5708-5685-5B77D9AC73C2}"/>
                </a:ext>
              </a:extLst>
            </p:cNvPr>
            <p:cNvSpPr/>
            <p:nvPr/>
          </p:nvSpPr>
          <p:spPr>
            <a:xfrm>
              <a:off x="5210854" y="4817119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MiniPlayer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3" name="연결선: 꺾임 72">
              <a:extLst>
                <a:ext uri="{FF2B5EF4-FFF2-40B4-BE49-F238E27FC236}">
                  <a16:creationId xmlns:a16="http://schemas.microsoft.com/office/drawing/2014/main" id="{85EEE390-0307-D096-D576-FE71F7AD9C2A}"/>
                </a:ext>
              </a:extLst>
            </p:cNvPr>
            <p:cNvCxnSpPr>
              <a:cxnSpLocks/>
              <a:stCxn id="47" idx="3"/>
              <a:endCxn id="72" idx="1"/>
            </p:cNvCxnSpPr>
            <p:nvPr/>
          </p:nvCxnSpPr>
          <p:spPr>
            <a:xfrm>
              <a:off x="4391194" y="2905212"/>
              <a:ext cx="819660" cy="2091907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연결선: 꺾임 73">
              <a:extLst>
                <a:ext uri="{FF2B5EF4-FFF2-40B4-BE49-F238E27FC236}">
                  <a16:creationId xmlns:a16="http://schemas.microsoft.com/office/drawing/2014/main" id="{E5870420-0A5E-7F36-5007-2296D568ED8B}"/>
                </a:ext>
              </a:extLst>
            </p:cNvPr>
            <p:cNvCxnSpPr>
              <a:cxnSpLocks/>
              <a:stCxn id="72" idx="3"/>
              <a:endCxn id="55" idx="1"/>
            </p:cNvCxnSpPr>
            <p:nvPr/>
          </p:nvCxnSpPr>
          <p:spPr>
            <a:xfrm flipV="1">
              <a:off x="6456637" y="3992988"/>
              <a:ext cx="831975" cy="1004131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CA336638-1E26-9553-9830-91A55234DD5C}"/>
                </a:ext>
              </a:extLst>
            </p:cNvPr>
            <p:cNvSpPr/>
            <p:nvPr/>
          </p:nvSpPr>
          <p:spPr>
            <a:xfrm>
              <a:off x="5206561" y="5607722"/>
              <a:ext cx="1245783" cy="360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b="1" dirty="0">
                  <a:solidFill>
                    <a:schemeClr val="tx1"/>
                  </a:solidFill>
                  <a:latin typeface="+mn-ea"/>
                </a:rPr>
                <a:t>RearCareMode</a:t>
              </a:r>
              <a:endParaRPr lang="ko-KR" altLang="en-US" sz="1200" b="1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76" name="연결선: 꺾임 75">
              <a:extLst>
                <a:ext uri="{FF2B5EF4-FFF2-40B4-BE49-F238E27FC236}">
                  <a16:creationId xmlns:a16="http://schemas.microsoft.com/office/drawing/2014/main" id="{3D3FF9B8-E07B-8A93-C6B1-AA74D9878CEA}"/>
                </a:ext>
              </a:extLst>
            </p:cNvPr>
            <p:cNvCxnSpPr>
              <a:cxnSpLocks/>
              <a:stCxn id="47" idx="3"/>
              <a:endCxn id="75" idx="1"/>
            </p:cNvCxnSpPr>
            <p:nvPr/>
          </p:nvCxnSpPr>
          <p:spPr>
            <a:xfrm>
              <a:off x="4391194" y="2905212"/>
              <a:ext cx="815367" cy="2882510"/>
            </a:xfrm>
            <a:prstGeom prst="bentConnector3">
              <a:avLst>
                <a:gd name="adj1" fmla="val 50000"/>
              </a:avLst>
            </a:prstGeom>
            <a:ln w="127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연결선: 꺾임 76">
              <a:extLst>
                <a:ext uri="{FF2B5EF4-FFF2-40B4-BE49-F238E27FC236}">
                  <a16:creationId xmlns:a16="http://schemas.microsoft.com/office/drawing/2014/main" id="{56AFC327-A274-5F96-0C8B-347549620D7D}"/>
                </a:ext>
              </a:extLst>
            </p:cNvPr>
            <p:cNvCxnSpPr>
              <a:cxnSpLocks/>
              <a:stCxn id="55" idx="1"/>
              <a:endCxn id="75" idx="3"/>
            </p:cNvCxnSpPr>
            <p:nvPr/>
          </p:nvCxnSpPr>
          <p:spPr>
            <a:xfrm rot="10800000" flipV="1">
              <a:off x="6452344" y="3992988"/>
              <a:ext cx="836268" cy="1794734"/>
            </a:xfrm>
            <a:prstGeom prst="bentConnector3">
              <a:avLst>
                <a:gd name="adj1" fmla="val 50000"/>
              </a:avLst>
            </a:prstGeom>
            <a:ln w="12700">
              <a:headEnd type="triangle" w="lg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2AAECC8-CAEF-53E4-FBDE-7920A23AB203}"/>
                </a:ext>
              </a:extLst>
            </p:cNvPr>
            <p:cNvSpPr txBox="1"/>
            <p:nvPr/>
          </p:nvSpPr>
          <p:spPr>
            <a:xfrm>
              <a:off x="6579593" y="3649072"/>
              <a:ext cx="62281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이슈 공유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50DF72F4-9846-622C-B3BC-62213483CB3E}"/>
                </a:ext>
              </a:extLst>
            </p:cNvPr>
            <p:cNvSpPr txBox="1"/>
            <p:nvPr/>
          </p:nvSpPr>
          <p:spPr>
            <a:xfrm>
              <a:off x="4329118" y="3595911"/>
              <a:ext cx="72776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업무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(Task)</a:t>
              </a:r>
            </a:p>
            <a:p>
              <a:pPr algn="ctr"/>
              <a:r>
                <a:rPr lang="ko-KR" altLang="en-US" sz="1100" b="1" dirty="0">
                  <a:solidFill>
                    <a:srgbClr val="C00000"/>
                  </a:solidFill>
                </a:rPr>
                <a:t>분석 </a:t>
              </a:r>
              <a:r>
                <a:rPr lang="en-US" altLang="ko-KR" sz="1100" b="1" dirty="0">
                  <a:solidFill>
                    <a:srgbClr val="C00000"/>
                  </a:solidFill>
                </a:rPr>
                <a:t>&amp; </a:t>
              </a:r>
              <a:r>
                <a:rPr lang="ko-KR" altLang="en-US" sz="1100" b="1" dirty="0">
                  <a:solidFill>
                    <a:srgbClr val="C00000"/>
                  </a:solidFill>
                </a:rPr>
                <a:t>분배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014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4. </a:t>
            </a:r>
            <a:r>
              <a:rPr lang="ko-KR" altLang="en-US" sz="2400" b="0" dirty="0">
                <a:latin typeface="+mn-ea"/>
                <a:ea typeface="+mn-ea"/>
              </a:rPr>
              <a:t>월별 유지 보수 현황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A46649F4-32F0-FAA7-7384-F7E7A7D8B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255967"/>
              </p:ext>
            </p:extLst>
          </p:nvPr>
        </p:nvGraphicFramePr>
        <p:xfrm>
          <a:off x="530077" y="1112272"/>
          <a:ext cx="7936804" cy="485337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434074">
                  <a:extLst>
                    <a:ext uri="{9D8B030D-6E8A-4147-A177-3AD203B41FA5}">
                      <a16:colId xmlns:a16="http://schemas.microsoft.com/office/drawing/2014/main" val="321113157"/>
                    </a:ext>
                  </a:extLst>
                </a:gridCol>
                <a:gridCol w="1068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1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362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1077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017">
                  <a:extLst>
                    <a:ext uri="{9D8B030D-6E8A-4147-A177-3AD203B41FA5}">
                      <a16:colId xmlns:a16="http://schemas.microsoft.com/office/drawing/2014/main" val="1033553221"/>
                    </a:ext>
                  </a:extLst>
                </a:gridCol>
                <a:gridCol w="1127538">
                  <a:extLst>
                    <a:ext uri="{9D8B030D-6E8A-4147-A177-3AD203B41FA5}">
                      <a16:colId xmlns:a16="http://schemas.microsoft.com/office/drawing/2014/main" val="2236798028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26.01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26.02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26.03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26.04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26.05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26.06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1067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DMB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1067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MiniPlayer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847510"/>
                  </a:ext>
                </a:extLst>
              </a:tr>
              <a:tr h="931067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RearCare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8677124"/>
                  </a:ext>
                </a:extLst>
              </a:tr>
              <a:tr h="931067"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-16891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661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0716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59F25-4CA8-09B2-B046-DE853C2C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A6ADEE-6978-180D-A3E3-3FFB4C435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193D4C-3305-762E-9262-1AE597EDE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440FA41A-E9E4-1920-63EA-2C14705E1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53200"/>
              </p:ext>
            </p:extLst>
          </p:nvPr>
        </p:nvGraphicFramePr>
        <p:xfrm>
          <a:off x="681038" y="639313"/>
          <a:ext cx="8656953" cy="580495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인천 옹진군 FM 106.7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febc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극동방송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미수신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2026-01-22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[IVI-SQA][GUI][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Bulgarian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설정 시 TA (LID_10011) 문구 여백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미존재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26-01-26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리스트 내 표시된 모든 방송 즐겨찾기 저장한 상태이나 SAVE ALL 버튼 비활성화되지 않음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2026-02-03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896535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Phone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통화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진입 시 통화 중 진입 불가 토스트 팝업 중복 출력 됨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2026-02-05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672630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방송국명이 있는 주파수 재생 중 동일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방송없고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동일 주파수의 다른 방송국이 없는 지역으로 이동 시 방송국명 유지 안함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2026-02-05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[VT][SyT2][DAB]APP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View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상태인데 DAB/FM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2026-02-23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398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5579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1CD6C-B6AC-CD91-07E1-0E4A215A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67E8FC-2692-B417-A7A5-73525FB69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C3286D-189F-5F72-E01C-8BB2E6D93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D71BE286-AFB3-A821-B27F-BE2030DB87FA}"/>
              </a:ext>
            </a:extLst>
          </p:cNvPr>
          <p:cNvGraphicFramePr>
            <a:graphicFrameLocks noGrp="1"/>
          </p:cNvGraphicFramePr>
          <p:nvPr/>
        </p:nvGraphicFramePr>
        <p:xfrm>
          <a:off x="681038" y="639313"/>
          <a:ext cx="8656953" cy="563640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게스트 프로필 초기화 동작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앱 초기화 되지 않음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2026-03-24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즐겨찾기 2개 이상 저장된 상태에서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버튼 밴드 탭 영역까지 드래그 시 간헐적으로 해당 방송이 상단에 고정되며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버튼 활성화 상태이나 위치 변경 안됨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2026-04-01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버튼 드래그 시 활성화 되지 않은 방송 움직임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2026-04-15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Favorites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Reorder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pressed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효과 미적용됨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2026-04-14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언어변경후 재변경시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표시된 방송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검색되지 않음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2026-04-09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4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즐겨찾기 편집화면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Channel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UP/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Down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표시</a:t>
                      </a:r>
                    </a:p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2026-04-15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953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4243-8E9E-8139-69E8-EB7243D72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CEF354-99B2-57F2-0F6F-95653BFA0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35F3653-FA0A-D6BB-A37A-8BAA2743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B518C667-89ED-C6C2-CED1-2E31523DCE44}"/>
              </a:ext>
            </a:extLst>
          </p:cNvPr>
          <p:cNvGraphicFramePr>
            <a:graphicFrameLocks noGrp="1"/>
          </p:cNvGraphicFramePr>
          <p:nvPr/>
        </p:nvGraphicFramePr>
        <p:xfrm>
          <a:off x="681038" y="639313"/>
          <a:ext cx="8656953" cy="563640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앱 위치 설정 진입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크기 상이함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2026-04-24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Favorites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화면에서 SWRC CH UP/DN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미표시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라디오 외 화면에서 라디오 재생 중 VR 실행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선택 시 VR 종료됨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[IVI-SQA][HMI][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PhoneProjection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전화 수신 보류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재생 중 &gt; SWRC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Channel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Down키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입력 시 무감 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2026-04-24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[VT][SyT2][FM] 라디오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앱뷰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잠시 표시되고 홈화면으로 튕김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4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언어 변경 후 라디오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Serach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화면에서 방송국명 초성 검색 시 검색 결과 표시 오류</a:t>
                      </a:r>
                    </a:p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2026-04-09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2741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C0729-3E27-FD07-8682-F8FBFA74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0E556-0AEC-9068-AC49-DEFDBC0E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B864676-591A-6F28-1BC4-0B28FD0F3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B7DC0F1A-2704-E11A-19F9-EC4342B63BE9}"/>
              </a:ext>
            </a:extLst>
          </p:cNvPr>
          <p:cNvGraphicFramePr>
            <a:graphicFrameLocks noGrp="1"/>
          </p:cNvGraphicFramePr>
          <p:nvPr/>
        </p:nvGraphicFramePr>
        <p:xfrm>
          <a:off x="681038" y="639313"/>
          <a:ext cx="8656953" cy="563640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전화 수신 보류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재생 중 &gt; SWRC CH UP/DN 입력됨 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2026-05-07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[SyT2][VT][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라디오 채널 검색 화면에서 키보드 출력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View와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키보드 겹치는 영역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시 앱 위치 이동 동작 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2026-05-22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라디오 즐겨찾기 편집 화면에서 SWRC UP/DN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Wrapping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Around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동작 안함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2026-05-08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EU] hr1 RDS/DAB 동일 방송 저장 후 RDS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SF발생시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Favourite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삭제 안됨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2026-05-13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미디어 BG 재생 중 통화 보류 상태에서 미디어 선택 입력 시 라디오 토스트 팝업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미출력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2026-05-29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4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라디오 키보드 표시 중 목적지 설정 키보드로 포커스 변경 후 복귀 시 키보드만 출력 시키고 포커스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안잡힘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2026-05-29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603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C0026-7D66-598C-D824-A7C974C6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94800-93F4-FB78-6966-437CC753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AF519-6209-3A98-C452-F5C65F7E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1AF7538-9E22-0EA0-3C27-EE16EEA800FE}"/>
              </a:ext>
            </a:extLst>
          </p:cNvPr>
          <p:cNvGraphicFramePr>
            <a:graphicFrameLocks noGrp="1"/>
          </p:cNvGraphicFramePr>
          <p:nvPr/>
        </p:nvGraphicFramePr>
        <p:xfrm>
          <a:off x="681038" y="639313"/>
          <a:ext cx="8656953" cy="563640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00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2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557">
                  <a:extLst>
                    <a:ext uri="{9D8B030D-6E8A-4147-A177-3AD203B41FA5}">
                      <a16:colId xmlns:a16="http://schemas.microsoft.com/office/drawing/2014/main" val="1938543412"/>
                    </a:ext>
                  </a:extLst>
                </a:gridCol>
                <a:gridCol w="94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1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982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로직 변경 건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활성화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Navigation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검색 터치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터치 후 검색어 입력 시 무감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2026-05-27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SW1 27MY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중동향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내장AMP_CCS_SVM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#9 KNR 2차 1ST 전화 통화 중 2ST전화 수신, 팝업에서 메시지 터치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전체앱에서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라디오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진입시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진입됨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2026-05-28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013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RadioEU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SVR,VI 실행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TA,Alarm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신호 인가 후 SVR,VI 해제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TA,Alarm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팝업 미 출력 상태 및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아이콘 상태로 사운드 출력됨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2026-05-22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TCIEXTORG-7776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 라디오 방송국명 표시 기능 개발</a:t>
                      </a:r>
                      <a:endParaRPr lang="ko-KR" altLang="en-US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2026-03-12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3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days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74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[ESTRACK20-2296] 일본 라디오 방송국명 표시 기능 개발 (26년 1차)_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DB갱신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2026-05-27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846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7864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66FE6-3DBE-C706-049A-995F5B09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541D7-D5AC-68E4-6B29-506DFC81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DD3065-E704-D2FA-D64C-121F6400E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CB1857E-68CC-5D50-AC0F-AAC464F8F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593728"/>
              </p:ext>
            </p:extLst>
          </p:nvPr>
        </p:nvGraphicFramePr>
        <p:xfrm>
          <a:off x="575310" y="713375"/>
          <a:ext cx="8769985" cy="530545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1742303811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2"/>
                        </a:rPr>
                        <a:t>MPI-98498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전화 수신 보류 후 미디어 전환 시 FM, AM, DMB </a:t>
                      </a:r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1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모드는 팝업 안됨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26-05-20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3"/>
                        </a:rPr>
                        <a:t>MPI-98623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재난정보 편집화면 내 확장버튼 표시됨 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26-05-19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4"/>
                        </a:rPr>
                        <a:t>MPI-98392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전체화면에서 재생 중 카메라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하드키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입력 후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선택 시 블랙화면 잠시 표시됨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26-05-14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5"/>
                        </a:rPr>
                        <a:t>MPI-97557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 화면에서 키보드 출력 상태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Control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Center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시도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Text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Field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포커스 유지됨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1d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6"/>
                        </a:rPr>
                        <a:t>MPI-97580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검색 화면 내 띄어쓰기 하여 검색 시 결과 내 하이라이트 표시 안됨 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26-04-29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7"/>
                        </a:rPr>
                        <a:t>MPI-96918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DMB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미수신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 상태에서 사운드 &gt; </a:t>
                      </a:r>
                      <a:r>
                        <a:rPr lang="ko-KR" sz="1200" dirty="0" err="1">
                          <a:effectLst/>
                          <a:latin typeface="+mn-ea"/>
                          <a:ea typeface="+mn-ea"/>
                        </a:rPr>
                        <a:t>안내음량</a:t>
                      </a:r>
                      <a:r>
                        <a:rPr lang="ko-KR" sz="1200" dirty="0">
                          <a:effectLst/>
                          <a:latin typeface="+mn-ea"/>
                          <a:ea typeface="+mn-ea"/>
                        </a:rPr>
                        <a:t> 진입 시 "수신 가능 지역 이동 시 자동 재생됩니다" 문구 없어짐</a:t>
                      </a: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26-04-22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8"/>
                        </a:rPr>
                        <a:t>MPI-95796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Media 재생 전환될 때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잠깐 표시되고 사라짐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26-04-02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9" tooltip="https://jira.mobis.co.kr/browse/MPI-94833"/>
                        </a:rPr>
                        <a:t>MPI-94833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미표시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채널 변경 시 DMB 채널 정보 팝업 2번 출력됨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26-03-18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508632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10" tooltip="https://jira.mobis.co.kr/browse/MPI-94714"/>
                        </a:rPr>
                        <a:t>MPI-94714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실행 중 계정 연동 &gt; DMB 진입 시 하이라이트 표시 된 방송이 아닌 이전 채널 재생됨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26-03-17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689082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l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11" tooltip="https://jira.mobis.co.kr/browse/MPI-93973"/>
                        </a:rPr>
                        <a:t>MPI-93973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 뷰 아이콘 입력 시 앱마다 동작 상이함</a:t>
                      </a:r>
                      <a:endParaRPr lang="en-US" altLang="ko-KR" sz="12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26-03-12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2d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</a:t>
                      </a: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6628769"/>
                  </a:ext>
                </a:extLst>
              </a:tr>
              <a:tr h="304557">
                <a:tc vMerge="1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12" tooltip="https://jira.mobis.co.kr/browse/TCIEXTORG-8583"/>
                        </a:rPr>
                        <a:t>TCIEXTORG-8583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각 앱에서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홈화면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천이 요청할 경우 수신 통화 화면이 내려가는 문제가 발생할 수 있어서,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미디어앱에서는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소스원복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26-03-03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223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881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0A0C2-5DD7-6974-6D50-F9CDA1D2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6FAFB-7E34-15A4-EA27-EB04ACF5D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5</a:t>
            </a:r>
            <a:r>
              <a:rPr lang="en-US" altLang="ko-KR" sz="2400" b="0" dirty="0">
                <a:latin typeface="+mn-ea"/>
                <a:ea typeface="+mn-ea"/>
              </a:rPr>
              <a:t>. </a:t>
            </a:r>
            <a:r>
              <a:rPr lang="ko-KR" altLang="en-US" sz="2400" b="0" dirty="0">
                <a:latin typeface="+mn-ea"/>
                <a:ea typeface="+mn-ea"/>
              </a:rPr>
              <a:t>유지보수 내역</a:t>
            </a:r>
            <a:r>
              <a:rPr lang="en-US" altLang="ko-KR" sz="2400" b="0" dirty="0">
                <a:latin typeface="+mn-ea"/>
                <a:ea typeface="+mn-ea"/>
              </a:rPr>
              <a:t>(</a:t>
            </a:r>
            <a:r>
              <a:rPr lang="en-US" altLang="ko-KR" dirty="0" err="1">
                <a:latin typeface="+mn-ea"/>
                <a:ea typeface="+mn-ea"/>
              </a:rPr>
              <a:t>MiniPlayer</a:t>
            </a:r>
            <a:r>
              <a:rPr lang="en-US" altLang="ko-KR" sz="2400" b="0" dirty="0">
                <a:latin typeface="+mn-ea"/>
                <a:ea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AF863B-5768-9AF5-0BFD-EC9CC4936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08EA6A4-244B-503D-91D7-C6A396268E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985662"/>
              </p:ext>
            </p:extLst>
          </p:nvPr>
        </p:nvGraphicFramePr>
        <p:xfrm>
          <a:off x="575310" y="860125"/>
          <a:ext cx="8769985" cy="420157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6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로직 변경 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MPI-91825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DMB의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icon이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GUI 가이드 이미지와 상이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differs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GUI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DMB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01-27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1672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TCI-72214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][MPI-95142]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marquee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 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TCI-71923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[SyT2][DMB]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미수신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상태 Media 외 화면에서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Change로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변경 시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표시 //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Unreceived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non-media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screen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TCI-76157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MPI-98184 손코딩으로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브랜치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전개하기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TCI-76364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FM -&gt; AM 모드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앨범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깜빡이지않게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수정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TCI-75754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선택 시 통화 중이 아닌데 "통화 중에는 사용할 수 없습니다. 통화 종료 후 사용해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주십시오."팝업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241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1F426-0EFE-A89E-15DF-BDEBBDC1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C673BA-D216-675F-F5C0-ACFEE278B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2C64E3-1D24-21B4-3DD3-88BF3B90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82162CC4-7354-6CCF-B045-51004FE94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05955"/>
              </p:ext>
            </p:extLst>
          </p:nvPr>
        </p:nvGraphicFramePr>
        <p:xfrm>
          <a:off x="575310" y="966470"/>
          <a:ext cx="8769985" cy="7915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4129591717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로직 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TCI-76472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Passenger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상태에서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대화 실행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Toast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팝업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미출력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26-05-29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795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67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05CAE-BDFB-4E5C-DB44-667FC9A7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181F9C-BD5D-7E5C-5215-9A2D3FEB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(Radio)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D4280D-49F6-B5B4-DE2C-15FB19B3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4374E06C-6596-9E08-2564-FC0BC7BD8A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2568194"/>
              </p:ext>
            </p:extLst>
          </p:nvPr>
        </p:nvGraphicFramePr>
        <p:xfrm>
          <a:off x="575310" y="1106606"/>
          <a:ext cx="8769985" cy="17721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3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5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4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1week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1week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세트 설치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2026-01-29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1week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내수 라디오 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1week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2243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0BC5-0E52-6A66-B71C-FB9EA609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59D36-A170-3BF2-2A1C-AE7C6385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D19D1AD-92C4-46A4-03A4-CA5501E0D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DB339E07-5C44-D8D9-C33F-5679B1E0F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9282539"/>
              </p:ext>
            </p:extLst>
          </p:nvPr>
        </p:nvGraphicFramePr>
        <p:xfrm>
          <a:off x="575310" y="672556"/>
          <a:ext cx="8769985" cy="57199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  <a:p>
                      <a:pPr algn="ctr"/>
                      <a:endParaRPr lang="ko-KR" altLang="en-US" kern="1200" dirty="0"/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2"/>
                        </a:rPr>
                        <a:t>MPI-98390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미디어 변경 동작 반복 DMB 모드변경후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Off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b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26-05-14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</a:tabLst>
                        <a:defRPr/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3"/>
                        </a:rPr>
                        <a:t>MPI-97572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주행 규제 문구 그레이 색상으로 처리 되어 있음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26-04-29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4"/>
                        </a:rPr>
                        <a:t>MPI-96465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강원도, 충청북도, 전라도, 제주도에서 재난 정보 수신 시 공유 권역의 재난 정보 팝업 출력되지 않음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26-04-15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5"/>
                        </a:rPr>
                        <a:t>MPI-96267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BG로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Station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반복변경 후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실행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Delayed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26-04-10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Noto Sans CJK KR" charset="0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6"/>
                        </a:rPr>
                        <a:t>MPI-95932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재난정보와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Tmoney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위젯 동시 출력 중 STR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그리팅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화면에서 재난 정보 노티 팝업 잠깐 출력 후 자동 소거됨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26-04-02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7"/>
                        </a:rPr>
                        <a:t>MPI-95806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옵션 메뉴 내 재난 정보 메뉴 비활성화 상태에서 길게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비프음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발생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8"/>
                        </a:rPr>
                        <a:t>MPI-95767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채널 편집 화면 체크 해제된 목록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Dim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안됨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9" tooltip="https://jira.mobis.co.kr/browse/MPI-94994"/>
                        </a:rPr>
                        <a:t>MPI-94994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미수신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상태 Media 외 화면에서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변경 시 DMB -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null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표시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47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sng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10" tooltip="https://jira.mobis.co.kr/browse/MPI-94106"/>
                        </a:rPr>
                        <a:t>MPI-94106</a:t>
                      </a:r>
                      <a:r>
                        <a:rPr lang="en-US" altLang="ko-KR" sz="1200" b="0" i="0" u="sng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진입 시 리스트에 없는 방송 재생됨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26-03-05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844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sng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11" tooltip="https://jira.mobis.co.kr/browse/MPI-93424"/>
                        </a:rPr>
                        <a:t>MPI-93424</a:t>
                      </a:r>
                      <a:r>
                        <a:rPr lang="en-US" altLang="ko-KR" sz="1200" b="0" i="0" u="sng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미니 플레이어는 BT 오디오 표시되고, DMB 사운드와 BT 오디오 사운드 동시에 출력됨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035698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12"/>
                        </a:rPr>
                        <a:t>MPI-93299</a:t>
                      </a:r>
                      <a:r>
                        <a:rPr lang="en-US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TCI-69608 DMB 수신감도 불량 이슈분석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21776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13" tooltip="https://jira.mobis.co.kr/browse/MPI-89649"/>
                        </a:rPr>
                        <a:t>MPI-89649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라디오 모드 (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FM모드전환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스테이션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변경시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DMB) 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AA모드로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전환됨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26-02-10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672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890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0EB2-D1E7-AD77-1D54-F2CEAC249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264CC-027A-783C-CD16-28467AE1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E79E46-2D92-4396-E216-86F94490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376ECB64-633D-F912-9CB4-638F1F7E80A5}"/>
              </a:ext>
            </a:extLst>
          </p:cNvPr>
          <p:cNvGraphicFramePr>
            <a:graphicFrameLocks noGrp="1"/>
          </p:cNvGraphicFramePr>
          <p:nvPr/>
        </p:nvGraphicFramePr>
        <p:xfrm>
          <a:off x="575310" y="672556"/>
          <a:ext cx="8769985" cy="5433496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1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2"/>
                        </a:rPr>
                        <a:t>MPI-90308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Press로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AppView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이동불가(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앱위치변경불가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u="sng" dirty="0">
                          <a:solidFill>
                            <a:srgbClr val="0052CC"/>
                          </a:solidFill>
                          <a:effectLst/>
                          <a:latin typeface="+mn-ea"/>
                          <a:ea typeface="+mn-ea"/>
                          <a:hlinkClick r:id="rId3" tooltip="https://jira.mobis.co.kr/browse/MPI-90313"/>
                        </a:rPr>
                        <a:t>MPI-90313</a:t>
                      </a:r>
                      <a:r>
                        <a:rPr lang="en-US" altLang="ko-KR" sz="1200" u="sng" dirty="0">
                          <a:solidFill>
                            <a:srgbClr val="0052CC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알림센터에서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재난 정보 알림 </a:t>
                      </a:r>
                      <a:r>
                        <a:rPr lang="ko-KR" altLang="ko-KR" sz="1200" dirty="0" err="1">
                          <a:effectLst/>
                          <a:latin typeface="+mn-ea"/>
                          <a:ea typeface="+mn-ea"/>
                        </a:rPr>
                        <a:t>선택시</a:t>
                      </a:r>
                      <a:r>
                        <a:rPr lang="ko-KR" altLang="ko-KR" sz="1200" dirty="0">
                          <a:effectLst/>
                          <a:latin typeface="+mn-ea"/>
                          <a:ea typeface="+mn-ea"/>
                        </a:rPr>
                        <a:t> 무반응</a:t>
                      </a: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4" tooltip="https://jira.mobis.co.kr/browse/MPI-91275"/>
                        </a:rPr>
                        <a:t>MPI-91275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서브화면에서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타앱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이동후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재진입시 간헐적으로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메인화면이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아닌 옵션표시 (1/10)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0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5" tooltip="https://jira.mobis.co.kr/browse/MPI-91809"/>
                        </a:rPr>
                        <a:t>MPI-91809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DMB 진입 시 편집된 리스트 출력되나 리스트에 없는 채널 재생됨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  <a:hlinkClick r:id="rId6"/>
                        </a:rPr>
                        <a:t>MPI-91982</a:t>
                      </a:r>
                      <a:r>
                        <a:rPr lang="en-US" altLang="ko-KR" sz="1200" b="0" i="0" u="sng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통화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Apps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진입 시 통화 중 진입 불가 토스트 팝업 중복 출력 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모비스 접속환경 및 계정, 보안관련 설정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26-01-09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세트설치 및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DMB개발환경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세팅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26-01-16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방문하여 DMB 개발관련 장비사용법 인수인계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26-01-12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CCU/DCU </a:t>
                      </a:r>
                      <a:r>
                        <a:rPr lang="ko-KR" altLang="ko-KR" sz="1200" b="0" i="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장비세팅</a:t>
                      </a:r>
                      <a:r>
                        <a:rPr lang="ko-KR" altLang="ko-KR" sz="1200" b="0" i="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사용방법 숙지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4961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26-05-31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8449"/>
                  </a:ext>
                </a:extLst>
              </a:tr>
              <a:tr h="261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26-04-30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02810"/>
                  </a:ext>
                </a:extLst>
              </a:tr>
              <a:tr h="1961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26-03-31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829481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26-02-28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3499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월 소스분석 및 문서정리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26-01-31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2d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1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1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940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250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BD23-381E-2D6B-C822-0CD46FEB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4D205D-C0B6-50DF-8C9A-500EF330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761571-6881-2AB5-6573-D74035DE8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3" name="Table 5">
            <a:extLst>
              <a:ext uri="{FF2B5EF4-FFF2-40B4-BE49-F238E27FC236}">
                <a16:creationId xmlns:a16="http://schemas.microsoft.com/office/drawing/2014/main" id="{26997C4B-40D8-31A8-5003-04E53739BB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642577"/>
              </p:ext>
            </p:extLst>
          </p:nvPr>
        </p:nvGraphicFramePr>
        <p:xfrm>
          <a:off x="575310" y="680720"/>
          <a:ext cx="8769985" cy="48148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327330368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분류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내 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 rowSpan="7"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검토 및 조사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TCI-70562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[SWUPDATE][26년1차][PBV][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SW택시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연결후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CP화면에서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노래재생하고 지도 화면 천이시 상단에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바 미표시됨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26-02-2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13248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TCI-71722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[MPI-94638]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&gt;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입력 시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재생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미출력됨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DMB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&gt;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entered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displayed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TCI-71012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TCI-71735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[MPI-94573][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중동지역앱에서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통화중일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때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전화아이콘 반전 안됨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26-03-16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TCI-70745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MiniPlayerService와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AndroidMediaRepository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코드 분석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26-02-26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TCI-70714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MPI-92418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26-02-25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 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TCI-70725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MPI-91901 재현 시도([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카메라 화면에서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발신 후 종료 시 홈화면으로 튕기고 미니 플레이어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표시안됨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26-02-23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endParaRPr lang="ko-KR" alt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20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523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27422-8650-2AD7-6EC9-28F822D7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C45D7-72BF-F9FB-8267-3531B588B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80462A-76D4-2327-7428-A1E144144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7667FC53-BA8A-A9F5-210F-3064CEA44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850376"/>
              </p:ext>
            </p:extLst>
          </p:nvPr>
        </p:nvGraphicFramePr>
        <p:xfrm>
          <a:off x="575310" y="730427"/>
          <a:ext cx="8769985" cy="49063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8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TCI-76609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미디어 재생 중 사용자 선택 화면에서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수신 &gt; 보류 &gt; 기존 사용자 로그인 시 Media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Bar와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동시 출력됨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TCI-74998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곡 변경 1초 전 VR 실행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Player에서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곡 정보 업데이트 안되고,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Pause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버튼 표시 유지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26-04-30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TCI-74997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AA음악재생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중 홈화면에서 미니플레이어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표시중e-Call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통화 연결/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종료시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미니플레이어 3번표시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26-04-30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TCI-74397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MPI-96955 PBV IVI HMI 사양서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통합릴리즈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- 04월 (260422)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TCI-74396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CP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곡 변경 1초 전 VR 실행 후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Player에서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곡 정보 업데이트 안되고,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Pause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버튼 표시 유지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TCI-7439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RadioNA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수신중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PS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표시됨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26-04-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TCI-72557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]홈화면에서 모드변경시 AM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오동작/The AM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malfunctions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home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screen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03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4h 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TCI-71911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3월 UX 사양서 검토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788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6A000-18AD-8AC6-6A6F-B6FE5A502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0BEB6-B7A6-A08B-9B25-AB6A97CC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FD085C-EE89-9644-AD07-8297BACAD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E5DA0D40-5AB2-E543-0A0B-3759E70AB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596783"/>
              </p:ext>
            </p:extLst>
          </p:nvPr>
        </p:nvGraphicFramePr>
        <p:xfrm>
          <a:off x="575310" y="730427"/>
          <a:ext cx="8769985" cy="1837048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4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MPI-92211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방문하여 미니플레이어 인수인계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MPI-92214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세트 설치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4h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MPI-92216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개발환경 세팅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2d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MPI-92222</a:t>
                      </a: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MiniPlayer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소스 분석</a:t>
                      </a:r>
                    </a:p>
                    <a:p>
                      <a:pPr marL="0" marR="0" lvl="1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 defTabSz="914400" rtl="0" eaLnBrk="1" latinLnBrk="1" hangingPunct="1">
                        <a:lnSpc>
                          <a:spcPct val="100000"/>
                        </a:lnSpc>
                        <a:buFontTx/>
                        <a:buNone/>
                        <a:tabLst>
                          <a:tab pos="0" algn="l"/>
                        </a:tabLst>
                      </a:pPr>
                      <a:r>
                        <a:rPr lang="en-US" altLang="ko-KR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1w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660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BC76-77E9-E6AE-C78A-DF2958B93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596C9-CBF5-865A-C1AD-A2B75961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40CC63-09BA-4969-EC00-E9466BE08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5609ADEA-50BC-B826-E1C5-661B48BF3F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017597"/>
              </p:ext>
            </p:extLst>
          </p:nvPr>
        </p:nvGraphicFramePr>
        <p:xfrm>
          <a:off x="575310" y="672556"/>
          <a:ext cx="8769985" cy="57687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9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MPI-92212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마북연구소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방문하여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인수인계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MPI-92215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PBV 세트 설치</a:t>
                      </a:r>
                    </a:p>
                    <a:p>
                      <a:pPr algn="l" fontAlgn="b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MPI-92217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개발환경 세팅</a:t>
                      </a:r>
                    </a:p>
                    <a:p>
                      <a:pPr algn="l" fontAlgn="b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26-01-28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2d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MPI-92228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RearCareMode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소스 분석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26-01-27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4d 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TCI-70715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지도 다운로드하여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PBV에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넣기</a:t>
                      </a:r>
                    </a:p>
                    <a:p>
                      <a:pPr algn="l" fontAlgn="b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26-02-26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1w 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TCI-72567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]3월 PBV UI 사양서 변경사항 검토</a:t>
                      </a: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929612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8"/>
                        </a:rPr>
                        <a:t>TCI-71916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[syt2][VT][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setup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Quite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커스텀키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동작 작동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간헐적동작안됨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027338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9"/>
                        </a:rPr>
                        <a:t>TCI-71915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PassengerTalk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게스트 프로필 초기화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동작시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후석대화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초기화되지 않음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931139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10"/>
                        </a:rPr>
                        <a:t>TCI-71913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[SyT2][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Passenger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Talk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AA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재생 중 구글 어시스턴트 실행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대화 입력 시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후석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대화 실행됨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Google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Assistant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while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playing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AA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Music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&gt;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Launch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conversation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when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conversation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26-03-19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8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2323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240DB-5ECC-333D-F5DB-C7BBE68F2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2C15D-0347-C317-DC38-2A00688F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RearCareMode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16ED29-0E6F-635F-7B56-E9122CC1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22018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1EEBF6DA-D9D9-5715-8758-E177A84F34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727980"/>
              </p:ext>
            </p:extLst>
          </p:nvPr>
        </p:nvGraphicFramePr>
        <p:xfrm>
          <a:off x="575310" y="672556"/>
          <a:ext cx="8769985" cy="22682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3367832594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36">
                <a:tc rowSpan="2"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검토 및 조사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TCI-71013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[PBV IVI][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RearMode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Incoming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Hold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(수신보류) 관련 사양서 수정 및 개발 상황 확인 검토 요청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26-03-03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096">
                <a:tc vMerge="1">
                  <a:txBody>
                    <a:bodyPr/>
                    <a:lstStyle/>
                    <a:p>
                      <a:endParaRPr lang="ko-KR" altLang="en-US" kern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TCI-72774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BT 기기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페어링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중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후석대화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비활성화 되지 않고 BT 연결 직전에 비활성화 후 활성화됨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dialogue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disabled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during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device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pairing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activated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after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disabling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immediately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before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connection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 fontAlgn="b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72000" marB="72000" anchor="b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kern="1200" dirty="0">
                          <a:solidFill>
                            <a:srgbClr val="000000"/>
                          </a:solidFill>
                          <a:latin typeface="Droid Sans Mono" charset="0"/>
                          <a:ea typeface="Droid Sans Mono" charset="0"/>
                        </a:rPr>
                        <a:t>26-04-02</a:t>
                      </a: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  <a:p>
                      <a:pPr marL="171450" marR="0" lvl="1" indent="-16891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5h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5861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03D61-3709-8F41-EC37-9D1403BA0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8373F-2F88-304C-B944-097671263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(DMB)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D47C348-A9DF-6262-C618-D63798276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087A46E2-B0FF-A02F-92DA-91CB2D0C9D39}"/>
              </a:ext>
            </a:extLst>
          </p:cNvPr>
          <p:cNvGraphicFramePr>
            <a:graphicFrameLocks noGrp="1"/>
          </p:cNvGraphicFramePr>
          <p:nvPr/>
        </p:nvGraphicFramePr>
        <p:xfrm>
          <a:off x="568007" y="1034144"/>
          <a:ext cx="8769985" cy="4546694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2524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dirty="0">
                          <a:solidFill>
                            <a:srgbClr val="0052CC"/>
                          </a:solidFill>
                          <a:effectLst/>
                          <a:latin typeface="+mj-ea"/>
                          <a:ea typeface="+mj-ea"/>
                          <a:hlinkClick r:id="rId2"/>
                        </a:rPr>
                        <a:t>MPI-98619</a:t>
                      </a:r>
                      <a:r>
                        <a:rPr lang="en-US" altLang="ko-KR" sz="1200" dirty="0">
                          <a:solidFill>
                            <a:srgbClr val="0052CC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j-ea"/>
                          <a:ea typeface="+mj-ea"/>
                        </a:rPr>
                        <a:t>Radio</a:t>
                      </a:r>
                      <a:r>
                        <a:rPr lang="ko-KR" altLang="ko-KR" sz="1200" dirty="0">
                          <a:effectLst/>
                          <a:latin typeface="+mj-ea"/>
                          <a:ea typeface="+mj-ea"/>
                        </a:rPr>
                        <a:t> DMB </a:t>
                      </a:r>
                      <a:r>
                        <a:rPr lang="ko-KR" altLang="ko-KR" sz="1200" dirty="0" err="1">
                          <a:effectLst/>
                          <a:latin typeface="+mj-ea"/>
                          <a:ea typeface="+mj-ea"/>
                        </a:rPr>
                        <a:t>재생중</a:t>
                      </a:r>
                      <a:r>
                        <a:rPr lang="ko-KR" altLang="ko-KR" sz="1200" dirty="0">
                          <a:effectLst/>
                          <a:latin typeface="+mj-ea"/>
                          <a:ea typeface="+mj-ea"/>
                        </a:rPr>
                        <a:t> 표시되는 </a:t>
                      </a:r>
                      <a:r>
                        <a:rPr lang="ko-KR" altLang="ko-KR" sz="1200" dirty="0" err="1">
                          <a:effectLst/>
                          <a:latin typeface="+mj-ea"/>
                          <a:ea typeface="+mj-ea"/>
                        </a:rPr>
                        <a:t>Default</a:t>
                      </a:r>
                      <a:r>
                        <a:rPr lang="ko-KR" altLang="ko-KR" sz="1200" dirty="0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ko-KR" sz="1200" dirty="0" err="1">
                          <a:effectLst/>
                          <a:latin typeface="+mj-ea"/>
                          <a:ea typeface="+mj-ea"/>
                        </a:rPr>
                        <a:t>Image</a:t>
                      </a:r>
                      <a:r>
                        <a:rPr lang="ko-KR" altLang="ko-KR" sz="1200" dirty="0">
                          <a:effectLst/>
                          <a:latin typeface="+mj-ea"/>
                          <a:ea typeface="+mj-ea"/>
                        </a:rPr>
                        <a:t> GUI 가이드 이미지와 상이</a:t>
                      </a:r>
                    </a:p>
                    <a:p>
                      <a:pPr algn="l" fontAlgn="t">
                        <a:buNone/>
                      </a:pPr>
                      <a:endParaRPr lang="ko-KR" dirty="0">
                        <a:effectLst/>
                      </a:endParaRPr>
                    </a:p>
                  </a:txBody>
                  <a:tcPr marL="76200" marR="76200" marT="53340" marB="5334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altLang="ko-KR" sz="1100" dirty="0">
                          <a:effectLst/>
                        </a:rPr>
                        <a:t>2026-05-19</a:t>
                      </a:r>
                      <a:endParaRPr lang="ko-KR" sz="1100" dirty="0">
                        <a:effectLst/>
                      </a:endParaRPr>
                    </a:p>
                  </a:txBody>
                  <a:tcPr marL="76200" marR="76200" marT="53340" marB="5334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1d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O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23191F1-4D5A-1036-16C2-5D2E14D547EA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solidFill>
                  <a:srgbClr val="0033CC"/>
                </a:solidFill>
              </a:rPr>
              <a:t>요청 사항 이행 현황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817EE9-2D43-E19A-0C8C-F3E1539ED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660" y="2040167"/>
            <a:ext cx="3633594" cy="204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258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7AD3A-7CA9-629B-AE90-34603872A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BA293-0E8A-CFC5-D180-D5A9AC274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5. </a:t>
            </a:r>
            <a:r>
              <a:rPr lang="ko-KR" altLang="en-US" dirty="0">
                <a:latin typeface="+mn-ea"/>
              </a:rPr>
              <a:t>유지보수 내역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dirty="0" err="1">
                <a:latin typeface="+mn-ea"/>
              </a:rPr>
              <a:t>MiniPlayer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BDB576-84F5-ABD2-E071-A3F0DD41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8179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85FECA08-EA5B-91C7-BC72-EC2685A66C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662093"/>
              </p:ext>
            </p:extLst>
          </p:nvPr>
        </p:nvGraphicFramePr>
        <p:xfrm>
          <a:off x="568007" y="1034144"/>
          <a:ext cx="8769985" cy="4546693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131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4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749583956"/>
                    </a:ext>
                  </a:extLst>
                </a:gridCol>
                <a:gridCol w="9615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내 용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>
                          <a:solidFill>
                            <a:srgbClr val="000000"/>
                          </a:solidFill>
                          <a:latin typeface="Calibri" charset="0"/>
                        </a:rPr>
                        <a:t>처리 일자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altLang="en-US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공수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ko-KR" sz="1400" b="1" i="0" strike="noStrike" kern="1200" dirty="0">
                          <a:solidFill>
                            <a:srgbClr val="000000"/>
                          </a:solidFill>
                          <a:latin typeface="Calibri" charset="0"/>
                        </a:rPr>
                        <a:t>비 고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2523"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UI </a:t>
                      </a:r>
                      <a:r>
                        <a:rPr lang="ko-KR" alt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변경 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MPI-91825</a:t>
                      </a:r>
                      <a:endParaRPr lang="ko-KR" altLang="ko-KR" sz="12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[IVI-SQA][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DMB의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icon이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GUI 가이드 이미지와 상이 //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Contextual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differs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from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GUI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guide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BT </a:t>
                      </a:r>
                      <a:r>
                        <a:rPr lang="ko-KR" altLang="ko-KR" sz="12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Audio</a:t>
                      </a:r>
                      <a:r>
                        <a:rPr lang="ko-KR" altLang="ko-KR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DMB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ko-KR" altLang="en-US" sz="1200" dirty="0"/>
                      </a:b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altLang="ko-KR" sz="1200" b="0" i="0" strike="noStrike" kern="1200" dirty="0">
                        <a:solidFill>
                          <a:srgbClr val="000000"/>
                        </a:solidFill>
                        <a:latin typeface="Droid Sans Mono" charset="0"/>
                      </a:endParaRPr>
                    </a:p>
                    <a:p>
                      <a:pPr marL="171450" lvl="1" indent="-16891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ko-KR" altLang="en-US" sz="12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lvl="1" indent="-16891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26-01-22</a:t>
                      </a:r>
                      <a:endParaRPr lang="ko-KR" altLang="en-US" sz="1100" b="0" i="0" strike="noStrike" kern="1200" dirty="0">
                        <a:solidFill>
                          <a:srgbClr val="000000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r>
                        <a:rPr lang="en-US" altLang="ko-KR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4h</a:t>
                      </a: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75EE2253-FB80-9DA4-BABF-64DEA2B52BAF}"/>
              </a:ext>
            </a:extLst>
          </p:cNvPr>
          <p:cNvSpPr txBox="1"/>
          <p:nvPr/>
        </p:nvSpPr>
        <p:spPr>
          <a:xfrm>
            <a:off x="408372" y="669059"/>
            <a:ext cx="3918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solidFill>
                  <a:srgbClr val="0033CC"/>
                </a:solidFill>
              </a:rPr>
              <a:t>요청 사항 이행 현황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E61A61-E86E-4006-37EE-DCBFE8E2F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9" y="2793955"/>
            <a:ext cx="3365383" cy="187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92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04C141-5549-2F72-ACEF-32F6BA3EE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DDE3495-9545-97D1-EEA7-491F0B304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5F559457-AB4D-9FE0-E055-C8B01582D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476085"/>
              </p:ext>
            </p:extLst>
          </p:nvPr>
        </p:nvGraphicFramePr>
        <p:xfrm>
          <a:off x="436389" y="643585"/>
          <a:ext cx="8769985" cy="33061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[REQ_01]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보안 관련 위반 발생 주의 요청 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en-US" sz="1200" b="0" i="0" strike="noStrike" kern="1200" dirty="0">
                          <a:solidFill>
                            <a:schemeClr val="tx1"/>
                          </a:solidFill>
                          <a:latin typeface="Noto Sans CJK KR" charset="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금지에 대한 조치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내용을 전달시에는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공유하도록 요청 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USB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미허가된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저장장치에 업무 내용 저장 금지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는 회사 내부에 보유 및 정보 문서화하여 관리하고 있고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미등록된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USB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업무 내용을 저장하는 것을 금지 시켰습니다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아래의 내용을 투비원솔루션즈 개발자와 관계자에게 배포 및 별도 교육을 실시하였습니다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보안 관련 교육 사항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 전송 금지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 메일로 업무 관련 내용을 전송 하는 것을 절대 금지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관련 내용 전달시에는 </a:t>
                      </a: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Moibis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Jira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통해 내용을 공유 바랍니다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전산장비 및 저장매체 관리 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1)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허가 및 미리 협의되지 않은 저장매체 사용 불가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     - USB,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외장하드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노트북     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2)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저장매체는 반드시 보안담당자에게 신고 후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사용셔야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 3)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비대면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개발실 외부로 전산장비 및 저장매체 절대 이동 해서는 안됩니다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  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*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위의 사항 위반시에는 엄중한 조치가 내려질 것이니 본인에게 불이익이 가지 않도록 주의 요청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바립니다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BB0DC85-DA45-236D-B5B5-A2F1615CA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178857"/>
              </p:ext>
            </p:extLst>
          </p:nvPr>
        </p:nvGraphicFramePr>
        <p:xfrm>
          <a:off x="436388" y="3816594"/>
          <a:ext cx="8769985" cy="27422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[REQ_02]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업무 공수 입력 요청 건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인원이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Jira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공수 입력을 빠짐없이 하고 있는지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매달 마지막 주마다 팀원 전원에게 공수 입력을 지시 및 매달 초 필터 검색을 통해 공수 입력 사항을 확인하고 있습니다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공수 확인을 위한 필터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=&gt;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지라 공수 필터 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월별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시작일자 포함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생성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Radio: </a:t>
                      </a:r>
                      <a:r>
                        <a:rPr lang="ko-KR" altLang="ko-KR" sz="1200" dirty="0">
                          <a:hlinkClick r:id="rId2"/>
                        </a:rPr>
                        <a:t>[</a:t>
                      </a:r>
                      <a:r>
                        <a:rPr lang="ko-KR" altLang="ko-KR" sz="1200" dirty="0" err="1">
                          <a:hlinkClick r:id="rId2"/>
                        </a:rPr>
                        <a:t>투비원</a:t>
                      </a:r>
                      <a:r>
                        <a:rPr lang="ko-KR" altLang="ko-KR" sz="1200" dirty="0">
                          <a:hlinkClick r:id="rId2"/>
                        </a:rPr>
                        <a:t>]PBV </a:t>
                      </a:r>
                      <a:r>
                        <a:rPr lang="ko-KR" altLang="ko-KR" sz="1200" dirty="0" err="1">
                          <a:hlinkClick r:id="rId2"/>
                        </a:rPr>
                        <a:t>Radio</a:t>
                      </a:r>
                      <a:r>
                        <a:rPr lang="ko-KR" altLang="ko-KR" sz="1200" dirty="0">
                          <a:hlinkClick r:id="rId2"/>
                        </a:rPr>
                        <a:t> 공수 - 정명훈 기타협력사 - </a:t>
                      </a:r>
                      <a:r>
                        <a:rPr lang="ko-KR" altLang="ko-KR" sz="1200" dirty="0" err="1">
                          <a:hlinkClick r:id="rId2"/>
                        </a:rPr>
                        <a:t>Confluence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DMB : </a:t>
                      </a:r>
                      <a:r>
                        <a:rPr lang="ko-KR" altLang="ko-KR" sz="1200" dirty="0">
                          <a:hlinkClick r:id="rId3"/>
                        </a:rPr>
                        <a:t>[</a:t>
                      </a:r>
                      <a:r>
                        <a:rPr lang="ko-KR" altLang="ko-KR" sz="1200" dirty="0" err="1">
                          <a:hlinkClick r:id="rId3"/>
                        </a:rPr>
                        <a:t>투비원</a:t>
                      </a:r>
                      <a:r>
                        <a:rPr lang="ko-KR" altLang="ko-KR" sz="1200" dirty="0">
                          <a:hlinkClick r:id="rId3"/>
                        </a:rPr>
                        <a:t>] PBV DMB 공수 - 노진일 기타협력사 - </a:t>
                      </a:r>
                      <a:r>
                        <a:rPr lang="ko-KR" altLang="ko-KR" sz="1200" dirty="0" err="1">
                          <a:hlinkClick r:id="rId3"/>
                        </a:rPr>
                        <a:t>Confluence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ko-KR" sz="1100" dirty="0">
                          <a:hlinkClick r:id="rId4"/>
                        </a:rPr>
                        <a:t>[</a:t>
                      </a:r>
                      <a:r>
                        <a:rPr lang="ko-KR" altLang="ko-KR" sz="1100" dirty="0" err="1">
                          <a:hlinkClick r:id="rId4"/>
                        </a:rPr>
                        <a:t>투비원</a:t>
                      </a:r>
                      <a:r>
                        <a:rPr lang="ko-KR" altLang="ko-KR" sz="1100" dirty="0">
                          <a:hlinkClick r:id="rId4"/>
                        </a:rPr>
                        <a:t>]PBV </a:t>
                      </a:r>
                      <a:r>
                        <a:rPr lang="ko-KR" altLang="ko-KR" sz="1100" dirty="0" err="1">
                          <a:hlinkClick r:id="rId4"/>
                        </a:rPr>
                        <a:t>MiniPlayer</a:t>
                      </a:r>
                      <a:r>
                        <a:rPr lang="ko-KR" altLang="ko-KR" sz="1100" dirty="0">
                          <a:hlinkClick r:id="rId4"/>
                        </a:rPr>
                        <a:t> 공수 - 부재식 기타협력사 - </a:t>
                      </a:r>
                      <a:r>
                        <a:rPr lang="ko-KR" altLang="ko-KR" sz="1100" dirty="0" err="1">
                          <a:hlinkClick r:id="rId4"/>
                        </a:rPr>
                        <a:t>Confluence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en-US" altLang="ko-KR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RearCareMode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ko-KR" sz="1100" dirty="0">
                          <a:hlinkClick r:id="rId5"/>
                        </a:rPr>
                        <a:t>[</a:t>
                      </a:r>
                      <a:r>
                        <a:rPr lang="ko-KR" altLang="ko-KR" sz="1100" dirty="0" err="1">
                          <a:hlinkClick r:id="rId5"/>
                        </a:rPr>
                        <a:t>투비원</a:t>
                      </a:r>
                      <a:r>
                        <a:rPr lang="ko-KR" altLang="ko-KR" sz="1100" dirty="0">
                          <a:hlinkClick r:id="rId5"/>
                        </a:rPr>
                        <a:t>]PBV </a:t>
                      </a:r>
                      <a:r>
                        <a:rPr lang="ko-KR" altLang="ko-KR" sz="1100" dirty="0" err="1">
                          <a:hlinkClick r:id="rId5"/>
                        </a:rPr>
                        <a:t>RearCareMode</a:t>
                      </a:r>
                      <a:r>
                        <a:rPr lang="ko-KR" altLang="ko-KR" sz="1100" dirty="0">
                          <a:hlinkClick r:id="rId5"/>
                        </a:rPr>
                        <a:t> 공수 - 부재식 기타협력사 - </a:t>
                      </a:r>
                      <a:r>
                        <a:rPr lang="ko-KR" altLang="ko-KR" sz="1100" dirty="0" err="1">
                          <a:hlinkClick r:id="rId5"/>
                        </a:rPr>
                        <a:t>Confluence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lvl="1" indent="0" algn="ctr">
                        <a:tabLst>
                          <a:tab pos="0" algn="l"/>
                        </a:tabLst>
                      </a:pP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06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DEA13-F325-369A-B520-5769AC30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69D21-D206-EEFC-AC06-E8D85767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</a:rPr>
              <a:t>6. </a:t>
            </a:r>
            <a:r>
              <a:rPr lang="ko-KR" altLang="en-US" dirty="0">
                <a:latin typeface="+mn-ea"/>
              </a:rPr>
              <a:t>유지보수 요청사항 처리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93ECDA-0FD2-1024-656A-1092E58A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graphicFrame>
        <p:nvGraphicFramePr>
          <p:cNvPr id="9" name="Table 5">
            <a:extLst>
              <a:ext uri="{FF2B5EF4-FFF2-40B4-BE49-F238E27FC236}">
                <a16:creationId xmlns:a16="http://schemas.microsoft.com/office/drawing/2014/main" id="{B32606C4-95DD-F378-687D-3DD6B27B0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677944"/>
              </p:ext>
            </p:extLst>
          </p:nvPr>
        </p:nvGraphicFramePr>
        <p:xfrm>
          <a:off x="436389" y="916915"/>
          <a:ext cx="8769985" cy="7915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8769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320">
                <a:tc>
                  <a:txBody>
                    <a:bodyPr/>
                    <a:lstStyle/>
                    <a:p>
                      <a:pPr marL="0" lvl="1" indent="0" algn="ctr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[REQ_03] UI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</a:rPr>
                        <a:t>변경건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스크린샷 첨부</a:t>
                      </a:r>
                      <a:endParaRPr lang="ko-KR" altLang="en-US" sz="1400" b="1" i="0" strike="noStrike" kern="1200" dirty="0">
                        <a:solidFill>
                          <a:srgbClr val="000000"/>
                        </a:solidFill>
                        <a:latin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0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보고서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21, 22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페이지에 첨부완료</a:t>
                      </a:r>
                      <a:br>
                        <a:rPr lang="en-US" altLang="ko-KR" sz="1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endParaRPr lang="ko-KR" altLang="en-US" sz="1200" b="0" i="0" strike="noStrike" kern="1200" dirty="0">
                        <a:solidFill>
                          <a:schemeClr val="tx1"/>
                        </a:solidFill>
                        <a:latin typeface="Noto Sans CJK KR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903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935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735719"/>
              </p:ext>
            </p:extLst>
          </p:nvPr>
        </p:nvGraphicFramePr>
        <p:xfrm>
          <a:off x="457629" y="1022625"/>
          <a:ext cx="8925359" cy="53177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883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979487663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6692295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255193698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504472991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467304969"/>
                    </a:ext>
                  </a:extLst>
                </a:gridCol>
                <a:gridCol w="656123">
                  <a:extLst>
                    <a:ext uri="{9D8B030D-6E8A-4147-A177-3AD203B41FA5}">
                      <a16:colId xmlns:a16="http://schemas.microsoft.com/office/drawing/2014/main" val="1462757947"/>
                    </a:ext>
                  </a:extLst>
                </a:gridCol>
              </a:tblGrid>
              <a:tr h="49629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투입 개월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4511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ko-KR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spc="-4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4060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01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 02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26’06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598976"/>
                  </a:ext>
                </a:extLst>
              </a:tr>
              <a:tr h="9461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용역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0181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spc="-50" baseline="0" dirty="0"/>
                        <a:t>PBV</a:t>
                      </a:r>
                    </a:p>
                    <a:p>
                      <a:pPr algn="ctr" latinLnBrk="1"/>
                      <a:r>
                        <a:rPr lang="en-US" altLang="ko-KR" sz="1400" spc="-50" baseline="0" dirty="0"/>
                        <a:t>IVI</a:t>
                      </a:r>
                      <a:endParaRPr lang="ko-KR" altLang="en-US" sz="1400" spc="-50" baseline="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31620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2400" b="0" dirty="0">
                <a:latin typeface="+mn-ea"/>
                <a:ea typeface="+mn-ea"/>
              </a:rPr>
              <a:t>7. </a:t>
            </a:r>
            <a:r>
              <a:rPr lang="ko-KR" altLang="en-US" dirty="0"/>
              <a:t>용역 일정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069723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653292"/>
            <a:ext cx="2694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유지보수 일정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B141202-69F1-40FD-9FA6-5EE0B6311A8A}"/>
              </a:ext>
            </a:extLst>
          </p:cNvPr>
          <p:cNvSpPr txBox="1"/>
          <p:nvPr/>
        </p:nvSpPr>
        <p:spPr>
          <a:xfrm>
            <a:off x="1490457" y="2320399"/>
            <a:ext cx="641769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착수 보고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27E5189-CCC0-40DA-9BA7-BC925D6D1C38}"/>
              </a:ext>
            </a:extLst>
          </p:cNvPr>
          <p:cNvSpPr txBox="1"/>
          <p:nvPr/>
        </p:nvSpPr>
        <p:spPr>
          <a:xfrm>
            <a:off x="5336476" y="2359121"/>
            <a:ext cx="325978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en-US" altLang="ko-KR" sz="1050" b="1" dirty="0"/>
              <a:t>M+6</a:t>
            </a:r>
            <a:endParaRPr lang="ko-KR" altLang="en-US" sz="1050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A80F51E-A3B3-425C-AEEA-A42584C5DBF3}"/>
              </a:ext>
            </a:extLst>
          </p:cNvPr>
          <p:cNvSpPr txBox="1"/>
          <p:nvPr/>
        </p:nvSpPr>
        <p:spPr>
          <a:xfrm>
            <a:off x="5193808" y="2241232"/>
            <a:ext cx="611313" cy="253916"/>
          </a:xfrm>
          <a:prstGeom prst="rect">
            <a:avLst/>
          </a:prstGeom>
          <a:noFill/>
        </p:spPr>
        <p:txBody>
          <a:bodyPr wrap="none" lIns="36000" rIns="36000" rtlCol="0">
            <a:spAutoFit/>
          </a:bodyPr>
          <a:lstStyle/>
          <a:p>
            <a:pPr algn="ctr"/>
            <a:r>
              <a:rPr lang="ko-KR" altLang="en-US" sz="1050" b="1" dirty="0"/>
              <a:t>완료보고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C3B4EE9-A406-4EC5-BF11-D2E34AFDA1F2}"/>
              </a:ext>
            </a:extLst>
          </p:cNvPr>
          <p:cNvSpPr txBox="1"/>
          <p:nvPr/>
        </p:nvSpPr>
        <p:spPr>
          <a:xfrm>
            <a:off x="2076229" y="2898076"/>
            <a:ext cx="3175549" cy="230832"/>
          </a:xfrm>
          <a:prstGeom prst="rect">
            <a:avLst/>
          </a:prstGeom>
          <a:noFill/>
          <a:ln>
            <a:noFill/>
          </a:ln>
        </p:spPr>
        <p:txBody>
          <a:bodyPr wrap="non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Radio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유지보수 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6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6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855A1-306A-4900-DE27-5E48BE24756A}"/>
              </a:ext>
            </a:extLst>
          </p:cNvPr>
          <p:cNvSpPr txBox="1"/>
          <p:nvPr/>
        </p:nvSpPr>
        <p:spPr>
          <a:xfrm>
            <a:off x="1912319" y="3764321"/>
            <a:ext cx="3504769" cy="23083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DMB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047D48-0D45-FBF7-996A-A0ACF032E08E}"/>
              </a:ext>
            </a:extLst>
          </p:cNvPr>
          <p:cNvSpPr txBox="1"/>
          <p:nvPr/>
        </p:nvSpPr>
        <p:spPr>
          <a:xfrm>
            <a:off x="1632250" y="5212473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rgbClr val="0070C0"/>
                </a:solidFill>
              </a:rPr>
              <a:t>RearCareMode</a:t>
            </a:r>
            <a:r>
              <a:rPr lang="ko-KR" altLang="en-US" sz="900" b="1" dirty="0">
                <a:solidFill>
                  <a:srgbClr val="0070C0"/>
                </a:solidFill>
              </a:rPr>
              <a:t> 유지보수 </a:t>
            </a:r>
            <a:r>
              <a:rPr lang="en-US" altLang="ko-KR" sz="900" b="1" dirty="0">
                <a:solidFill>
                  <a:srgbClr val="0070C0"/>
                </a:solidFill>
              </a:rPr>
              <a:t>(</a:t>
            </a:r>
            <a:r>
              <a:rPr lang="ko-KR" altLang="en-US" sz="900" b="1" dirty="0">
                <a:solidFill>
                  <a:srgbClr val="0070C0"/>
                </a:solidFill>
              </a:rPr>
              <a:t>기능변경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수정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예외상황 예방</a:t>
            </a:r>
            <a:r>
              <a:rPr lang="en-US" altLang="ko-KR" sz="900" b="1" dirty="0">
                <a:solidFill>
                  <a:srgbClr val="0070C0"/>
                </a:solidFill>
              </a:rPr>
              <a:t>/</a:t>
            </a:r>
            <a:r>
              <a:rPr lang="ko-KR" altLang="en-US" sz="900" b="1" dirty="0">
                <a:solidFill>
                  <a:srgbClr val="0070C0"/>
                </a:solidFill>
              </a:rPr>
              <a:t>처리</a:t>
            </a:r>
            <a:r>
              <a:rPr lang="en-US" altLang="ko-KR" sz="900" b="1" dirty="0">
                <a:solidFill>
                  <a:srgbClr val="0070C0"/>
                </a:solidFill>
              </a:rPr>
              <a:t>, </a:t>
            </a:r>
            <a:r>
              <a:rPr lang="ko-KR" altLang="en-US" sz="900" b="1" dirty="0">
                <a:solidFill>
                  <a:srgbClr val="0070C0"/>
                </a:solidFill>
              </a:rPr>
              <a:t>성능육성</a:t>
            </a:r>
            <a:r>
              <a:rPr lang="en-US" altLang="ko-KR" sz="900" b="1" dirty="0">
                <a:solidFill>
                  <a:srgbClr val="0070C0"/>
                </a:solidFill>
              </a:rPr>
              <a:t>) </a:t>
            </a:r>
            <a:endParaRPr lang="ko-KR" altLang="en-US" sz="900" b="1" dirty="0">
              <a:solidFill>
                <a:srgbClr val="0070C0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6C16AD5B-A9A5-229C-6B08-469196B9DEC3}"/>
              </a:ext>
            </a:extLst>
          </p:cNvPr>
          <p:cNvCxnSpPr>
            <a:cxnSpLocks/>
            <a:endCxn id="28" idx="0"/>
          </p:cNvCxnSpPr>
          <p:nvPr/>
        </p:nvCxnSpPr>
        <p:spPr>
          <a:xfrm flipH="1">
            <a:off x="1543800" y="3189367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6220C664-1447-173E-6145-40CBCD6106D5}"/>
              </a:ext>
            </a:extLst>
          </p:cNvPr>
          <p:cNvSpPr/>
          <p:nvPr/>
        </p:nvSpPr>
        <p:spPr>
          <a:xfrm rot="5400000">
            <a:off x="1471756" y="3182082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이등변 삼각형 28">
            <a:extLst>
              <a:ext uri="{FF2B5EF4-FFF2-40B4-BE49-F238E27FC236}">
                <a16:creationId xmlns:a16="http://schemas.microsoft.com/office/drawing/2014/main" id="{14D4D28E-EDE5-082D-F7BF-C1794756FC88}"/>
              </a:ext>
            </a:extLst>
          </p:cNvPr>
          <p:cNvSpPr/>
          <p:nvPr/>
        </p:nvSpPr>
        <p:spPr>
          <a:xfrm rot="16200000">
            <a:off x="5362203" y="3168580"/>
            <a:ext cx="106532" cy="37556"/>
          </a:xfrm>
          <a:prstGeom prst="triangl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3E9E7526-36F7-BC50-50EE-4FCFF7F1BEC1}"/>
              </a:ext>
            </a:extLst>
          </p:cNvPr>
          <p:cNvGrpSpPr/>
          <p:nvPr/>
        </p:nvGrpSpPr>
        <p:grpSpPr>
          <a:xfrm>
            <a:off x="1497617" y="2573683"/>
            <a:ext cx="4001849" cy="160507"/>
            <a:chOff x="1806388" y="2050604"/>
            <a:chExt cx="3693078" cy="135072"/>
          </a:xfrm>
        </p:grpSpPr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9A3C3C24-7A5A-4B4D-A9DA-80019F70FCF7}"/>
                </a:ext>
              </a:extLst>
            </p:cNvPr>
            <p:cNvCxnSpPr>
              <a:cxnSpLocks/>
            </p:cNvCxnSpPr>
            <p:nvPr/>
          </p:nvCxnSpPr>
          <p:spPr>
            <a:xfrm>
              <a:off x="1835206" y="2122197"/>
              <a:ext cx="3580856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타원 149">
              <a:extLst>
                <a:ext uri="{FF2B5EF4-FFF2-40B4-BE49-F238E27FC236}">
                  <a16:creationId xmlns:a16="http://schemas.microsoft.com/office/drawing/2014/main" id="{88AB993D-8034-44C5-BEA1-58D4594B1B01}"/>
                </a:ext>
              </a:extLst>
            </p:cNvPr>
            <p:cNvSpPr/>
            <p:nvPr/>
          </p:nvSpPr>
          <p:spPr>
            <a:xfrm>
              <a:off x="5369029" y="2058718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E11F6B90-1539-189B-3CD9-43443473BA4C}"/>
                </a:ext>
              </a:extLst>
            </p:cNvPr>
            <p:cNvSpPr/>
            <p:nvPr/>
          </p:nvSpPr>
          <p:spPr>
            <a:xfrm>
              <a:off x="1806388" y="2050604"/>
              <a:ext cx="130437" cy="12695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B91CAAD8-930B-13CD-435A-0DD0932AD18D}"/>
              </a:ext>
            </a:extLst>
          </p:cNvPr>
          <p:cNvCxnSpPr>
            <a:cxnSpLocks/>
          </p:cNvCxnSpPr>
          <p:nvPr/>
        </p:nvCxnSpPr>
        <p:spPr>
          <a:xfrm flipH="1">
            <a:off x="1543800" y="4054759"/>
            <a:ext cx="3872262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tx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4E00658D-344A-F14E-2B14-933D186CF6C2}"/>
              </a:ext>
            </a:extLst>
          </p:cNvPr>
          <p:cNvSpPr/>
          <p:nvPr/>
        </p:nvSpPr>
        <p:spPr>
          <a:xfrm rot="5400000">
            <a:off x="1463129" y="4047474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5" name="이등변 삼각형 34">
            <a:extLst>
              <a:ext uri="{FF2B5EF4-FFF2-40B4-BE49-F238E27FC236}">
                <a16:creationId xmlns:a16="http://schemas.microsoft.com/office/drawing/2014/main" id="{3B4DF110-DEB3-2F77-234F-E81499C4C5BA}"/>
              </a:ext>
            </a:extLst>
          </p:cNvPr>
          <p:cNvSpPr/>
          <p:nvPr/>
        </p:nvSpPr>
        <p:spPr>
          <a:xfrm rot="16200000">
            <a:off x="5362203" y="4033972"/>
            <a:ext cx="106532" cy="37556"/>
          </a:xfrm>
          <a:prstGeom prst="triangle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7DF7E5F-EAA5-D545-151E-7BC8CEAACEB1}"/>
              </a:ext>
            </a:extLst>
          </p:cNvPr>
          <p:cNvCxnSpPr>
            <a:cxnSpLocks/>
            <a:endCxn id="37" idx="0"/>
          </p:cNvCxnSpPr>
          <p:nvPr/>
        </p:nvCxnSpPr>
        <p:spPr>
          <a:xfrm flipH="1">
            <a:off x="1552436" y="5513445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rgbClr val="197EC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이등변 삼각형 36">
            <a:extLst>
              <a:ext uri="{FF2B5EF4-FFF2-40B4-BE49-F238E27FC236}">
                <a16:creationId xmlns:a16="http://schemas.microsoft.com/office/drawing/2014/main" id="{7DE43463-309A-B2C9-EF63-0AFC0CA6E135}"/>
              </a:ext>
            </a:extLst>
          </p:cNvPr>
          <p:cNvSpPr/>
          <p:nvPr/>
        </p:nvSpPr>
        <p:spPr>
          <a:xfrm rot="5400000">
            <a:off x="1480392" y="5506160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5E79B03E-0F3B-8700-98EE-91E359CFFEBB}"/>
              </a:ext>
            </a:extLst>
          </p:cNvPr>
          <p:cNvSpPr/>
          <p:nvPr/>
        </p:nvSpPr>
        <p:spPr>
          <a:xfrm rot="16200000">
            <a:off x="5362203" y="5492658"/>
            <a:ext cx="106532" cy="37556"/>
          </a:xfrm>
          <a:prstGeom prst="triangle">
            <a:avLst/>
          </a:prstGeom>
          <a:solidFill>
            <a:srgbClr val="197EC6"/>
          </a:solidFill>
          <a:ln>
            <a:solidFill>
              <a:srgbClr val="197E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50867-6752-ECD5-D411-B1CFFDC7236A}"/>
              </a:ext>
            </a:extLst>
          </p:cNvPr>
          <p:cNvSpPr txBox="1"/>
          <p:nvPr/>
        </p:nvSpPr>
        <p:spPr>
          <a:xfrm>
            <a:off x="1578324" y="4505848"/>
            <a:ext cx="3986768" cy="237012"/>
          </a:xfrm>
          <a:prstGeom prst="rect">
            <a:avLst/>
          </a:prstGeom>
          <a:noFill/>
          <a:ln>
            <a:noFill/>
          </a:ln>
        </p:spPr>
        <p:txBody>
          <a:bodyPr wrap="square" lIns="0" rIns="0" rtlCol="0">
            <a:spAutoFit/>
          </a:bodyPr>
          <a:lstStyle/>
          <a:p>
            <a:pPr algn="ctr"/>
            <a:r>
              <a:rPr lang="en-US" altLang="ko-KR" sz="900" b="1" dirty="0" err="1">
                <a:solidFill>
                  <a:schemeClr val="accent4">
                    <a:lumMod val="50000"/>
                  </a:schemeClr>
                </a:solidFill>
              </a:rPr>
              <a:t>MiniPlayer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 유지보수 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기능변경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수정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예외상황 예방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/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처리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900" b="1" dirty="0">
                <a:solidFill>
                  <a:schemeClr val="accent4">
                    <a:lumMod val="50000"/>
                  </a:schemeClr>
                </a:solidFill>
              </a:rPr>
              <a:t>성능육성</a:t>
            </a:r>
            <a:r>
              <a:rPr lang="en-US" altLang="ko-KR" sz="900" b="1" dirty="0">
                <a:solidFill>
                  <a:schemeClr val="accent4">
                    <a:lumMod val="50000"/>
                  </a:schemeClr>
                </a:solidFill>
              </a:rPr>
              <a:t>) </a:t>
            </a:r>
            <a:endParaRPr lang="ko-KR" altLang="en-US" sz="9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140D5FF-2414-3C10-5A1B-C137DCA1C78A}"/>
              </a:ext>
            </a:extLst>
          </p:cNvPr>
          <p:cNvCxnSpPr>
            <a:cxnSpLocks/>
          </p:cNvCxnSpPr>
          <p:nvPr/>
        </p:nvCxnSpPr>
        <p:spPr>
          <a:xfrm flipH="1">
            <a:off x="1525022" y="4862108"/>
            <a:ext cx="3863626" cy="11493"/>
          </a:xfrm>
          <a:prstGeom prst="line">
            <a:avLst/>
          </a:prstGeom>
          <a:solidFill>
            <a:schemeClr val="accent6">
              <a:lumMod val="50000"/>
            </a:schemeClr>
          </a:solidFill>
          <a:ln w="28575">
            <a:solidFill>
              <a:schemeClr val="accent4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3FDEF1EF-E4C0-6BBF-C18F-E623567FC829}"/>
              </a:ext>
            </a:extLst>
          </p:cNvPr>
          <p:cNvSpPr/>
          <p:nvPr/>
        </p:nvSpPr>
        <p:spPr>
          <a:xfrm rot="5400000">
            <a:off x="1480392" y="4854823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0C4483FA-9ACF-8DE4-68E0-E81C51C607BC}"/>
              </a:ext>
            </a:extLst>
          </p:cNvPr>
          <p:cNvSpPr/>
          <p:nvPr/>
        </p:nvSpPr>
        <p:spPr>
          <a:xfrm rot="16200000">
            <a:off x="5362203" y="4843330"/>
            <a:ext cx="106532" cy="37556"/>
          </a:xfrm>
          <a:prstGeom prst="triangl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176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8. </a:t>
            </a:r>
            <a:r>
              <a:rPr lang="ko-KR" altLang="en-US" dirty="0">
                <a:latin typeface="+mn-ea"/>
                <a:ea typeface="+mn-ea"/>
              </a:rPr>
              <a:t>최종개발 산출물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423525" cy="244608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12083-6108-4D69-B2EA-10CB2254CA9A}"/>
              </a:ext>
            </a:extLst>
          </p:cNvPr>
          <p:cNvSpPr txBox="1"/>
          <p:nvPr/>
        </p:nvSpPr>
        <p:spPr>
          <a:xfrm>
            <a:off x="408373" y="717066"/>
            <a:ext cx="15712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산출물 목록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7A873B-FF18-45D4-A660-45C942968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327817"/>
              </p:ext>
            </p:extLst>
          </p:nvPr>
        </p:nvGraphicFramePr>
        <p:xfrm>
          <a:off x="408373" y="1168372"/>
          <a:ext cx="9086377" cy="5332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9617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459037">
                  <a:extLst>
                    <a:ext uri="{9D8B030D-6E8A-4147-A177-3AD203B41FA5}">
                      <a16:colId xmlns:a16="http://schemas.microsoft.com/office/drawing/2014/main" val="2200296800"/>
                    </a:ext>
                  </a:extLst>
                </a:gridCol>
                <a:gridCol w="3354625">
                  <a:extLst>
                    <a:ext uri="{9D8B030D-6E8A-4147-A177-3AD203B41FA5}">
                      <a16:colId xmlns:a16="http://schemas.microsoft.com/office/drawing/2014/main" val="3571926780"/>
                    </a:ext>
                  </a:extLst>
                </a:gridCol>
                <a:gridCol w="1681722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1721376">
                  <a:extLst>
                    <a:ext uri="{9D8B030D-6E8A-4147-A177-3AD203B41FA5}">
                      <a16:colId xmlns:a16="http://schemas.microsoft.com/office/drawing/2014/main" val="344365675"/>
                    </a:ext>
                  </a:extLst>
                </a:gridCol>
              </a:tblGrid>
              <a:tr h="35365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분 류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목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 형태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제출일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72000" marB="7200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102006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보고서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완료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개발 내역 및 산출물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소스 코드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릴리즈 노트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S/W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검증 보고서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742950" lvl="1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QAC / </a:t>
                      </a: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CodeSonar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M+6</a:t>
                      </a:r>
                      <a:br>
                        <a:rPr lang="en-US" altLang="ko-KR" sz="1000" dirty="0">
                          <a:latin typeface="+mn-ea"/>
                          <a:ea typeface="+mn-ea"/>
                        </a:rPr>
                      </a:b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(2026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06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6 M/M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투입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매주 주간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보고</a:t>
                      </a: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3742257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바이너리</a:t>
                      </a:r>
                      <a:endParaRPr lang="en-US" altLang="ko-KR" sz="10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&amp;</a:t>
                      </a:r>
                    </a:p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소스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완료보고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b="0" strike="noStrike" spc="-1" dirty="0">
                        <a:latin typeface="Noto Serif CJK KR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Radio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hlinkClick r:id="rId2"/>
                        </a:rPr>
                        <a:t>Browse</a:t>
                      </a:r>
                      <a:r>
                        <a:rPr lang="ko-KR" altLang="ko-KR" sz="1000" dirty="0">
                          <a:hlinkClick r:id="rId2"/>
                        </a:rPr>
                        <a:t> M.HMI / </a:t>
                      </a:r>
                      <a:r>
                        <a:rPr lang="ko-KR" altLang="ko-KR" sz="1000" dirty="0" err="1">
                          <a:hlinkClick r:id="rId2"/>
                        </a:rPr>
                        <a:t>platform.vendor.mobis.packages.apps.radio</a:t>
                      </a:r>
                      <a:r>
                        <a:rPr lang="ko-KR" altLang="ko-KR" sz="1000" dirty="0">
                          <a:hlinkClick r:id="rId2"/>
                        </a:rPr>
                        <a:t> - </a:t>
                      </a:r>
                      <a:r>
                        <a:rPr lang="ko-KR" altLang="ko-KR" sz="1000" dirty="0" err="1">
                          <a:hlinkClick r:id="rId2"/>
                        </a:rPr>
                        <a:t>Bitbucket</a:t>
                      </a:r>
                      <a:endParaRPr lang="en-US" altLang="ko-KR" sz="1000" b="0" strike="noStrike" spc="-1" dirty="0">
                        <a:latin typeface="Noto Serif CJK KR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DMB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hlinkClick r:id="rId3"/>
                        </a:rPr>
                        <a:t>Browse</a:t>
                      </a:r>
                      <a:r>
                        <a:rPr lang="ko-KR" altLang="ko-KR" sz="1000" dirty="0">
                          <a:hlinkClick r:id="rId3"/>
                        </a:rPr>
                        <a:t> M.HMI / </a:t>
                      </a:r>
                      <a:r>
                        <a:rPr lang="ko-KR" altLang="ko-KR" sz="1000" dirty="0" err="1">
                          <a:hlinkClick r:id="rId3"/>
                        </a:rPr>
                        <a:t>platform.vendor.mobis.packages.apps.DMB</a:t>
                      </a:r>
                      <a:r>
                        <a:rPr lang="ko-KR" altLang="ko-KR" sz="1000" dirty="0">
                          <a:hlinkClick r:id="rId3"/>
                        </a:rPr>
                        <a:t> - </a:t>
                      </a:r>
                      <a:r>
                        <a:rPr lang="ko-KR" altLang="ko-KR" sz="1000" dirty="0" err="1">
                          <a:hlinkClick r:id="rId3"/>
                        </a:rPr>
                        <a:t>Bitbucket</a:t>
                      </a:r>
                      <a:endParaRPr lang="en-US" altLang="ko-KR" sz="1000" dirty="0"/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MiniPlayer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hlinkClick r:id="rId4"/>
                        </a:rPr>
                        <a:t>Browse</a:t>
                      </a:r>
                      <a:r>
                        <a:rPr lang="ko-KR" altLang="ko-KR" sz="1000" dirty="0">
                          <a:hlinkClick r:id="rId4"/>
                        </a:rPr>
                        <a:t> M.HMI / </a:t>
                      </a:r>
                      <a:r>
                        <a:rPr lang="ko-KR" altLang="ko-KR" sz="1000" dirty="0" err="1">
                          <a:hlinkClick r:id="rId4"/>
                        </a:rPr>
                        <a:t>platform.vendor.mobis.packages.apps.MiniPlayer</a:t>
                      </a:r>
                      <a:r>
                        <a:rPr lang="ko-KR" altLang="ko-KR" sz="1000" dirty="0">
                          <a:hlinkClick r:id="rId4"/>
                        </a:rPr>
                        <a:t> </a:t>
                      </a:r>
                      <a:r>
                        <a:rPr lang="en-US" altLang="ko-KR" sz="1000" dirty="0">
                          <a:hlinkClick r:id="rId4"/>
                        </a:rPr>
                        <a:t>–</a:t>
                      </a:r>
                      <a:r>
                        <a:rPr lang="ko-KR" altLang="ko-KR" sz="1000" dirty="0">
                          <a:hlinkClick r:id="rId4"/>
                        </a:rPr>
                        <a:t> </a:t>
                      </a:r>
                      <a:r>
                        <a:rPr lang="ko-KR" altLang="ko-KR" sz="1000" dirty="0" err="1">
                          <a:hlinkClick r:id="rId4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  <a:p>
                      <a:pPr marL="285750" indent="-285750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dirty="0" err="1">
                          <a:latin typeface="+mn-ea"/>
                          <a:ea typeface="+mn-ea"/>
                        </a:rPr>
                        <a:t>RearCare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전체 소스 경로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: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ko-KR" sz="1000" dirty="0" err="1">
                          <a:hlinkClick r:id="rId5"/>
                        </a:rPr>
                        <a:t>Browse</a:t>
                      </a:r>
                      <a:r>
                        <a:rPr lang="ko-KR" altLang="ko-KR" sz="1000" dirty="0">
                          <a:hlinkClick r:id="rId5"/>
                        </a:rPr>
                        <a:t> M.HMI / </a:t>
                      </a:r>
                      <a:r>
                        <a:rPr lang="ko-KR" altLang="ko-KR" sz="1000" dirty="0" err="1">
                          <a:hlinkClick r:id="rId5"/>
                        </a:rPr>
                        <a:t>platform.vendor.mobis.packages.apps.RearCareMode</a:t>
                      </a:r>
                      <a:r>
                        <a:rPr lang="ko-KR" altLang="ko-KR" sz="1000" dirty="0">
                          <a:hlinkClick r:id="rId5"/>
                        </a:rPr>
                        <a:t> </a:t>
                      </a:r>
                      <a:r>
                        <a:rPr lang="en-US" altLang="ko-KR" sz="1000" dirty="0">
                          <a:hlinkClick r:id="rId5"/>
                        </a:rPr>
                        <a:t>–</a:t>
                      </a:r>
                      <a:r>
                        <a:rPr lang="ko-KR" altLang="ko-KR" sz="1000" dirty="0">
                          <a:hlinkClick r:id="rId5"/>
                        </a:rPr>
                        <a:t> </a:t>
                      </a:r>
                      <a:r>
                        <a:rPr lang="ko-KR" altLang="ko-KR" sz="1000" dirty="0" err="1">
                          <a:hlinkClick r:id="rId5"/>
                        </a:rPr>
                        <a:t>Bitbucket</a:t>
                      </a:r>
                      <a:endParaRPr lang="en-US" altLang="ko-KR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10800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735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4534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236DC7-DB8E-4BE9-8A67-AC807CD8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9-1.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계약공수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01132AB-5168-41B7-BB10-B417DDC0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8B1DF5-25DC-3317-FD0B-76C1E2E69A7C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2026.06.30)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B6E68C4-4E57-164B-5583-2F1A4E143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30126"/>
              </p:ext>
            </p:extLst>
          </p:nvPr>
        </p:nvGraphicFramePr>
        <p:xfrm>
          <a:off x="528199" y="1044734"/>
          <a:ext cx="8807391" cy="543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00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062166">
                  <a:extLst>
                    <a:ext uri="{9D8B030D-6E8A-4147-A177-3AD203B41FA5}">
                      <a16:colId xmlns:a16="http://schemas.microsoft.com/office/drawing/2014/main" val="151910043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946833">
                  <a:extLst>
                    <a:ext uri="{9D8B030D-6E8A-4147-A177-3AD203B41FA5}">
                      <a16:colId xmlns:a16="http://schemas.microsoft.com/office/drawing/2014/main" val="4218837671"/>
                    </a:ext>
                  </a:extLst>
                </a:gridCol>
              </a:tblGrid>
              <a:tr h="34954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인력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등급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17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/>
                        <a:t>내수</a:t>
                      </a:r>
                      <a:r>
                        <a:rPr lang="en-US" altLang="ko-KR" sz="1000" spc="-50" baseline="0" dirty="0"/>
                        <a:t> Radio</a:t>
                      </a:r>
                      <a:endParaRPr lang="ko-KR" altLang="en-US" sz="10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3962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7177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83139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68183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/>
                        <a:t>유럽</a:t>
                      </a:r>
                      <a:r>
                        <a:rPr lang="en-US" altLang="ko-KR" sz="1000" spc="-50" baseline="0" dirty="0"/>
                        <a:t> Radio</a:t>
                      </a:r>
                      <a:endParaRPr lang="ko-KR" altLang="en-US" sz="10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798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4874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3065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7859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/>
                        <a:t>DMB</a:t>
                      </a:r>
                      <a:endParaRPr lang="ko-KR" altLang="en-US" sz="10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7099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423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1316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18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06676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/>
                        <a:t>MiniPlayer</a:t>
                      </a:r>
                      <a:endParaRPr lang="ko-KR" altLang="en-US" sz="10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7066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08599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552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5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19862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 err="1"/>
                        <a:t>RearCareMod</a:t>
                      </a:r>
                      <a:endParaRPr lang="ko-KR" altLang="en-US" sz="10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111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7303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2731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5266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997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/>
                        <a:t>총합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82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07463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97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11740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2.7</a:t>
                      </a:r>
                      <a:endParaRPr lang="en-US" altLang="ko-KR" sz="1000" b="1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16.2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5802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321FC-67FB-27D3-8C14-EA491680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763FB-3F0D-D94C-981D-4F205E70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+mn-ea"/>
                <a:ea typeface="+mn-ea"/>
              </a:rPr>
              <a:t>9-2. </a:t>
            </a:r>
            <a:r>
              <a:rPr lang="ko-KR" altLang="en-US" dirty="0">
                <a:latin typeface="+mn-ea"/>
                <a:ea typeface="+mn-ea"/>
              </a:rPr>
              <a:t>인력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투입</a:t>
            </a: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 err="1">
                <a:latin typeface="+mn-ea"/>
                <a:ea typeface="+mn-ea"/>
              </a:rPr>
              <a:t>실제투입공수</a:t>
            </a:r>
            <a:r>
              <a:rPr lang="en-US" altLang="ko-KR" dirty="0">
                <a:latin typeface="+mn-ea"/>
                <a:ea typeface="+mn-ea"/>
              </a:rPr>
              <a:t>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B8C3F7-8A82-9C85-3E86-42E2AE96D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1038" y="6613392"/>
            <a:ext cx="4209014" cy="237874"/>
          </a:xfrm>
        </p:spPr>
        <p:txBody>
          <a:bodyPr/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2026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년도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PBV IVI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유지보수 개발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9ADC1-A20B-C593-354E-9FD1C1777C3F}"/>
              </a:ext>
            </a:extLst>
          </p:cNvPr>
          <p:cNvSpPr txBox="1"/>
          <p:nvPr/>
        </p:nvSpPr>
        <p:spPr>
          <a:xfrm>
            <a:off x="390160" y="651908"/>
            <a:ext cx="58016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>
                <a:latin typeface="+mn-ea"/>
              </a:rPr>
              <a:t>용역 기간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총 </a:t>
            </a:r>
            <a:r>
              <a:rPr lang="en-US" altLang="ko-KR" sz="1600" dirty="0">
                <a:latin typeface="+mn-ea"/>
              </a:rPr>
              <a:t>6</a:t>
            </a:r>
            <a:r>
              <a:rPr lang="ko-KR" altLang="en-US" sz="1600" dirty="0">
                <a:latin typeface="+mn-ea"/>
              </a:rPr>
              <a:t>개월</a:t>
            </a:r>
            <a:r>
              <a:rPr lang="en-US" altLang="ko-KR" sz="1600" dirty="0">
                <a:latin typeface="+mn-ea"/>
              </a:rPr>
              <a:t>(2026.01.01 ~ 2026.06.30)</a:t>
            </a:r>
            <a:endParaRPr lang="ko-KR" altLang="en-US" sz="1600" dirty="0">
              <a:latin typeface="+mn-ea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26ADF0C-5CC5-E011-5595-231CDF7E56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251495"/>
              </p:ext>
            </p:extLst>
          </p:nvPr>
        </p:nvGraphicFramePr>
        <p:xfrm>
          <a:off x="528199" y="1062095"/>
          <a:ext cx="8807391" cy="54338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008">
                  <a:extLst>
                    <a:ext uri="{9D8B030D-6E8A-4147-A177-3AD203B41FA5}">
                      <a16:colId xmlns:a16="http://schemas.microsoft.com/office/drawing/2014/main" val="3564559499"/>
                    </a:ext>
                  </a:extLst>
                </a:gridCol>
                <a:gridCol w="1062166">
                  <a:extLst>
                    <a:ext uri="{9D8B030D-6E8A-4147-A177-3AD203B41FA5}">
                      <a16:colId xmlns:a16="http://schemas.microsoft.com/office/drawing/2014/main" val="151910043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359348606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153496661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688814761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02110034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148098593"/>
                    </a:ext>
                  </a:extLst>
                </a:gridCol>
                <a:gridCol w="836564">
                  <a:extLst>
                    <a:ext uri="{9D8B030D-6E8A-4147-A177-3AD203B41FA5}">
                      <a16:colId xmlns:a16="http://schemas.microsoft.com/office/drawing/2014/main" val="3770331782"/>
                    </a:ext>
                  </a:extLst>
                </a:gridCol>
                <a:gridCol w="946833">
                  <a:extLst>
                    <a:ext uri="{9D8B030D-6E8A-4147-A177-3AD203B41FA5}">
                      <a16:colId xmlns:a16="http://schemas.microsoft.com/office/drawing/2014/main" val="4218837671"/>
                    </a:ext>
                  </a:extLst>
                </a:gridCol>
              </a:tblGrid>
              <a:tr h="34954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인력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등급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M+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합계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087584"/>
                  </a:ext>
                </a:extLst>
              </a:tr>
              <a:tr h="3177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spc="-4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-4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spc="-4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061218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/>
                        <a:t>내수</a:t>
                      </a:r>
                      <a:r>
                        <a:rPr lang="en-US" altLang="ko-KR" sz="1000" spc="-50" baseline="0" dirty="0"/>
                        <a:t> Radio</a:t>
                      </a:r>
                      <a:endParaRPr lang="ko-KR" altLang="en-US" sz="10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909031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1.29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13962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7177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5583139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68183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/>
                        <a:t>유럽</a:t>
                      </a:r>
                      <a:r>
                        <a:rPr lang="en-US" altLang="ko-KR" sz="1000" spc="-50" baseline="0" dirty="0"/>
                        <a:t> Radio</a:t>
                      </a:r>
                      <a:endParaRPr lang="ko-KR" altLang="en-US" sz="10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1181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0.55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0.58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0.57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0.57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0.58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097988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4874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63065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6.0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767859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/>
                        <a:t>DMB</a:t>
                      </a:r>
                      <a:endParaRPr lang="ko-KR" altLang="en-US" sz="10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2.25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387099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1.17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3423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441316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65185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0.62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0.53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0.57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0.64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0.55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3.41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206676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/>
                        <a:t>MiniPlayer</a:t>
                      </a:r>
                      <a:endParaRPr lang="ko-KR" altLang="en-US" sz="10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17066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08599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1.64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5526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3965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0.47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1.64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419862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50" baseline="0" dirty="0" err="1"/>
                        <a:t>RearCareMod</a:t>
                      </a:r>
                      <a:endParaRPr lang="ko-KR" altLang="en-US" sz="10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951112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347303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1.09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2731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5552665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0.38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0.35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0.2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0.03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0.1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1.09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840997"/>
                  </a:ext>
                </a:extLst>
              </a:tr>
              <a:tr h="158885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/>
                        <a:t>총합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특급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5.92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78827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고급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0.99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1.06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0.94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5.81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507463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중급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0.78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0.82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0.35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2.73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0974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50" baseline="0" dirty="0">
                          <a:latin typeface="+mn-ea"/>
                          <a:ea typeface="+mn-ea"/>
                        </a:rPr>
                        <a:t>초급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911740"/>
                  </a:ext>
                </a:extLst>
              </a:tr>
              <a:tr h="15888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spc="-50" baseline="0" dirty="0"/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50" baseline="0" dirty="0">
                          <a:latin typeface="+mn-ea"/>
                          <a:ea typeface="+mn-ea"/>
                        </a:rPr>
                        <a:t>합계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2.65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2.7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2.59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2.18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2.09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2.25</a:t>
                      </a:r>
                      <a:endParaRPr lang="en-US" altLang="ko-KR" sz="1000" b="1" i="0" u="none" strike="noStrike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>
                          <a:effectLst/>
                          <a:latin typeface="+mn-ea"/>
                          <a:ea typeface="+mn-ea"/>
                        </a:rPr>
                        <a:t>14.46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20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279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20318</TotalTime>
  <Words>4267</Words>
  <Application>Microsoft Office PowerPoint</Application>
  <PresentationFormat>A4 용지(210x297mm)</PresentationFormat>
  <Paragraphs>1299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Droid Sans Mono</vt:lpstr>
      <vt:lpstr>Noto Sans CJK KR</vt:lpstr>
      <vt:lpstr>Noto Serif CJK KR</vt:lpstr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  <vt:lpstr>1. 용역 개요</vt:lpstr>
      <vt:lpstr>2. 용역 내용 및 범위</vt:lpstr>
      <vt:lpstr>3. 유지보수 업무 절차</vt:lpstr>
      <vt:lpstr>4. 월별 유지 보수 현황</vt:lpstr>
      <vt:lpstr>5. 유지보수 내역(Radio)</vt:lpstr>
      <vt:lpstr>5. 유지보수 내역(Radio)</vt:lpstr>
      <vt:lpstr>5. 유지보수 내역(Radio)</vt:lpstr>
      <vt:lpstr>5. 유지보수 내역(Radio)</vt:lpstr>
      <vt:lpstr>5. 유지보수 내역(Radio)</vt:lpstr>
      <vt:lpstr>5. 유지보수 내역(DMB)</vt:lpstr>
      <vt:lpstr>5. 유지보수 내역(MiniPlayer)</vt:lpstr>
      <vt:lpstr>5. 유지보수 내역(RearCareMode)</vt:lpstr>
      <vt:lpstr>5. 유지보수 내역(Radio)</vt:lpstr>
      <vt:lpstr>5. 유지보수 내역(DMB)</vt:lpstr>
      <vt:lpstr>5. 유지보수 내역(DMB)</vt:lpstr>
      <vt:lpstr>5. 유지보수 내역(MiniPlayer)</vt:lpstr>
      <vt:lpstr>5. 유지보수 내역(MiniPlayer)</vt:lpstr>
      <vt:lpstr>5. 유지보수 내역(MiniPlayer)</vt:lpstr>
      <vt:lpstr>5. 유지보수 내역(RearCareMode)</vt:lpstr>
      <vt:lpstr>5. 유지보수 내역(RearCareMode)</vt:lpstr>
      <vt:lpstr>5. 유지보수 내역(DMB)</vt:lpstr>
      <vt:lpstr>5. 유지보수 내역(MiniPlayer)</vt:lpstr>
      <vt:lpstr>6. 유지보수 요청사항 처리</vt:lpstr>
      <vt:lpstr>6. 유지보수 요청사항 처리</vt:lpstr>
      <vt:lpstr>7. 용역 일정</vt:lpstr>
      <vt:lpstr>8. 최종개발 산출물</vt:lpstr>
      <vt:lpstr>9-1. 인력 투입(계약공수)</vt:lpstr>
      <vt:lpstr>9-2. 인력 투입(실제투입공수)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Kwon Huh</dc:creator>
  <cp:lastModifiedBy>부재식 (주)투비원솔루션즈</cp:lastModifiedBy>
  <cp:revision>515</cp:revision>
  <cp:lastPrinted>2018-07-16T02:44:16Z</cp:lastPrinted>
  <dcterms:created xsi:type="dcterms:W3CDTF">2017-09-07T02:36:35Z</dcterms:created>
  <dcterms:modified xsi:type="dcterms:W3CDTF">2026-06-04T10:59:43Z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d0bc021-0c43-4029-a072-964d39f3070b_Enabled">
    <vt:lpwstr>true</vt:lpwstr>
  </property>
  <property fmtid="{D5CDD505-2E9C-101B-9397-08002B2CF9AE}" pid="3" name="MSIP_Label_cd0bc021-0c43-4029-a072-964d39f3070b_SetDate">
    <vt:lpwstr>2022-09-05T07:40:19Z</vt:lpwstr>
  </property>
  <property fmtid="{D5CDD505-2E9C-101B-9397-08002B2CF9AE}" pid="4" name="MSIP_Label_cd0bc021-0c43-4029-a072-964d39f3070b_Method">
    <vt:lpwstr>Privileged</vt:lpwstr>
  </property>
  <property fmtid="{D5CDD505-2E9C-101B-9397-08002B2CF9AE}" pid="5" name="MSIP_Label_cd0bc021-0c43-4029-a072-964d39f3070b_Name">
    <vt:lpwstr>일반(General)</vt:lpwstr>
  </property>
  <property fmtid="{D5CDD505-2E9C-101B-9397-08002B2CF9AE}" pid="6" name="MSIP_Label_cd0bc021-0c43-4029-a072-964d39f3070b_SiteId">
    <vt:lpwstr>7cf932c0-bced-4490-b11f-48d23b1fe0d9</vt:lpwstr>
  </property>
  <property fmtid="{D5CDD505-2E9C-101B-9397-08002B2CF9AE}" pid="7" name="MSIP_Label_cd0bc021-0c43-4029-a072-964d39f3070b_ActionId">
    <vt:lpwstr>5341107d-1e13-4f28-9255-ed4bbdf875f1</vt:lpwstr>
  </property>
  <property fmtid="{D5CDD505-2E9C-101B-9397-08002B2CF9AE}" pid="8" name="MSIP_Label_cd0bc021-0c43-4029-a072-964d39f3070b_ContentBits">
    <vt:lpwstr>0</vt:lpwstr>
  </property>
</Properties>
</file>